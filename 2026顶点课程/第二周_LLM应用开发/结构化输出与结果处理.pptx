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9001" r:id="rId3"/>
    <p:sldId id="9002" r:id="rId5"/>
    <p:sldId id="9003" r:id="rId6"/>
    <p:sldId id="9004" r:id="rId7"/>
    <p:sldId id="9005" r:id="rId8"/>
    <p:sldId id="9006" r:id="rId9"/>
    <p:sldId id="9007" r:id="rId10"/>
    <p:sldId id="9008" r:id="rId11"/>
    <p:sldId id="9009" r:id="rId12"/>
    <p:sldId id="9010" r:id="rId13"/>
    <p:sldId id="9011" r:id="rId14"/>
    <p:sldId id="9012" r:id="rId15"/>
    <p:sldId id="9013" r:id="rId16"/>
    <p:sldId id="9014" r:id="rId17"/>
    <p:sldId id="9015" r:id="rId18"/>
    <p:sldId id="9016" r:id="rId19"/>
    <p:sldId id="9017" r:id="rId20"/>
    <p:sldId id="9018" r:id="rId21"/>
    <p:sldId id="9019" r:id="rId22"/>
    <p:sldId id="9020" r:id="rId23"/>
    <p:sldId id="9021" r:id="rId24"/>
    <p:sldId id="9022" r:id="rId25"/>
    <p:sldId id="9023" r:id="rId26"/>
    <p:sldId id="9024" r:id="rId27"/>
    <p:sldId id="9025" r:id="rId28"/>
    <p:sldId id="9026" r:id="rId29"/>
    <p:sldId id="9027" r:id="rId30"/>
    <p:sldId id="9028" r:id="rId31"/>
    <p:sldId id="9029" r:id="rId32"/>
    <p:sldId id="9030" r:id="rId33"/>
    <p:sldId id="9036" r:id="rId34"/>
    <p:sldId id="9031" r:id="rId35"/>
    <p:sldId id="9032" r:id="rId36"/>
    <p:sldId id="9033" r:id="rId37"/>
    <p:sldId id="9035" r:id="rId38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4" userDrawn="1">
          <p15:clr>
            <a:srgbClr val="A4A3A4"/>
          </p15:clr>
        </p15:guide>
        <p15:guide id="2" orient="horz" pos="21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599C"/>
    <a:srgbClr val="003C8B"/>
    <a:srgbClr val="39B099"/>
    <a:srgbClr val="2A9195"/>
    <a:srgbClr val="ABCFFF"/>
    <a:srgbClr val="D3EEE9"/>
    <a:srgbClr val="8FBFFF"/>
    <a:srgbClr val="C52E37"/>
    <a:srgbClr val="E7E7E8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45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138" y="180"/>
      </p:cViewPr>
      <p:guideLst>
        <p:guide pos="3834"/>
        <p:guide orient="horz" pos="211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gs" Target="tags/tag9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F67BDE9-2D55-407C-98B2-E2DF74583E4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第二周第二次课。承接上一讲的 Prompt、Python Client、HTTP/API 和 Streaming。本次主讲约68.5分钟，讨论生成内容怎样成为可检查、可消费的应用数据。课件只包含正式讲授内容。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沿课程表四部分授课。主讲内容不重复上一讲的 HTTP 与流式基础。对编程细节只解释关键接口和分支；对受约束生成、契约与失败处理保留机制深度。目录只呈现正式授课部分。</a:t>
            </a:r>
          </a:p>
          <a:p/>
          <a:p>
            <a:r>
              <a:t>讲授预算：0.5分钟</a:t>
            </a:r>
          </a:p>
          <a:p/>
          <a:p>
            <a:r>
              <a:t>[Sources]</a:t>
            </a:r>
          </a:p>
          <a:p/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例子沿用 OpenAI Cookbook 的 Math tutor。Notebook 保存了四步结果：减去7、化简、除以8、化简分数。左侧为其 JSON 结构节选（省略号表示删节，并非可直接解析的完整 JSON），右侧将四步合并成两个板书步骤，中文为讲解翻译。这里要说明的是应用需要稳定的字段来渲染和读取数据，因此结构本身就是接口的一部分。不要逐行读 JSON，指出 steps 是数组、每一步包含 explanation/output、final_answer 可以独立使用。完整已保存输出保存在配套资料目录。</a:t>
            </a:r>
          </a:p>
          <a:p/>
          <a:p>
            <a:r>
              <a:t>讲授预算：2.5分钟</a:t>
            </a:r>
          </a:p>
          <a:p/>
          <a:p>
            <a:r>
              <a:t>[Sources]</a:t>
            </a:r>
          </a:p>
          <a:p>
            <a:r>
              <a:t>OpenAI Cookbook · Introduction to Structured Outputs</a:t>
            </a:r>
          </a:p>
          <a:p>
            <a:r>
              <a:t>https://cookbook.openai.com/examples/structured_outputs_intro</a:t>
            </a:r>
          </a:p>
          <a:p>
            <a:r>
              <a:t>定位：Example 1: Math tutor; saved output for 8x + 7 = -23</a:t>
            </a:r>
          </a:p>
          <a:p>
            <a:r>
              <a:t>引用：示例改编自 openai/openai-cookbook，MIT License；解题记录来自 notebook 的已保存输出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保留教师在旧版第4页手动补充的重点：SDK 已解析外层 HTTP JSON，但没有因此自动证明生成文本符合业务约定。图中 content 是显示用节选，省略号不是有效 JSON 实例。finish_reason 位于 choice，content/refusal 位于 message，usage 位于 response。普通 create 返回内容字符串，parse helper 可以把内容转成模型类。此处只定位响应字段，拒答和不完整状态在第4部分统一处理。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OpenAI Python SDK · Parsing helpers</a:t>
            </a:r>
          </a:p>
          <a:p>
            <a:r>
              <a:t>https://github.com/openai/openai-python/blob/main/helpers.md</a:t>
            </a:r>
          </a:p>
          <a:p>
            <a:r>
              <a:t>定位：Auto-parsing response content; Differences from create; Streaming helpers</a:t>
            </a:r>
          </a:p>
          <a:p>
            <a:r>
              <a:t>引用：示例改编自 openai/openai-python，Apache-2.0 License</a:t>
            </a:r>
          </a:p>
          <a:p/>
          <a:p>
            <a:r>
              <a:t>OpenAI · Structured Outputs</a:t>
            </a:r>
          </a:p>
          <a:p>
            <a:r>
              <a:t>https://developers.openai.com/api/docs/guides/structured-outputs</a:t>
            </a:r>
          </a:p>
          <a:p>
            <a:r>
              <a:t>定位：Introduction; Supported schemas; Handling edge cases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代码改编自官方 Structured Outputs 指南，为 Chat Completions create 的请求片段。messages、MODEL_ID 和 MATH_SCHEMA 是已定义变量，Schema 会在第3部分展开。strict 与 name 位于 API 包装层，strict 不是 JSON Schema 标准关键字。Python 客户端负责序列化并发送配置，生成期约束由服务端执行。仅在 Prompt 中放一个 JSON 模板不会自动启用严格解码。不支持该能力的模型服务可能拒绝 response_format 字段，需要实际检查服务契约。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OpenAI · Structured Outputs</a:t>
            </a:r>
          </a:p>
          <a:p>
            <a:r>
              <a:t>https://developers.openai.com/api/docs/guides/structured-outputs</a:t>
            </a:r>
          </a:p>
          <a:p>
            <a:r>
              <a:t>定位：Introduction; Supported schemas; Handling edge cases</a:t>
            </a:r>
          </a:p>
          <a:p>
            <a:r>
              <a:t>引用：教学概述与来源链接，短代码按注明来源改编</a:t>
            </a:r>
          </a:p>
          <a:p/>
          <a:p>
            <a:r>
              <a:t>OpenAI Cookbook · Introduction to Structured Outputs</a:t>
            </a:r>
          </a:p>
          <a:p>
            <a:r>
              <a:t>https://cookbook.openai.com/examples/structured_outputs_intro</a:t>
            </a:r>
          </a:p>
          <a:p>
            <a:r>
              <a:t>定位：Example 1: Math tutor; saved output for 8x + 7 = -23</a:t>
            </a:r>
          </a:p>
          <a:p>
            <a:r>
              <a:t>引用：示例改编自 openai/openai-cookbook，MIT License；解题记录来自 notebook 的已保存输出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这页回答三个名称的层级关系。OpenAI API 是服务接口总称，并不只包括这两种生成接口。Chat Completions 和 Responses 是分别位于 /v1/chat/completions 与 /v1/responses 的接口。Python SDK 是客户端库，同一个 client 可以调用这两套接口。代码中的省略号仅表示未展开的参数。可以用“两代接口设计”理解其演进，但它们并存且请求和响应结构不同，不是把同一端点的版本号由 v1 改成 v2，也不是两种模型。模型由请求中的 model 字段选择。官方推荐新项目使用 Responses，Chat Completions 仍受支持。接口能力还取决于选用模型和服务端，不能只改 URL 就假定功能等价。</a:t>
            </a:r>
          </a:p>
          <a:p/>
          <a:p>
            <a:r>
              <a:t>讲授预算：1.5分钟</a:t>
            </a:r>
          </a:p>
          <a:p/>
          <a:p>
            <a:r>
              <a:t>[Sources]</a:t>
            </a:r>
          </a:p>
          <a:p>
            <a:r>
              <a:t>OpenAI: Migrate to the Responses API</a:t>
            </a:r>
          </a:p>
          <a:p>
            <a:r>
              <a:t>https://developers.openai.com/api/docs/guides/migrate-to-responses</a:t>
            </a:r>
          </a:p>
          <a:p>
            <a:r>
              <a:t>定位：Responses recommendation; Messages vs Items; migration examples</a:t>
            </a:r>
          </a:p>
          <a:p>
            <a:r>
              <a:t>引用：官方文档内容的教学概述，2026-09-17 核对。</a:t>
            </a:r>
          </a:p>
          <a:p/>
          <a:p>
            <a:r>
              <a:t>OpenAI Python SDK · README</a:t>
            </a:r>
          </a:p>
          <a:p>
            <a:r>
              <a:t>https://github.com/openai/openai-python</a:t>
            </a:r>
          </a:p>
          <a:p>
            <a:r>
              <a:t>定位：Handling errors; Request IDs; Retries; Timeouts; Responses API</a:t>
            </a:r>
          </a:p>
          <a:p>
            <a:r>
              <a:t>引用：示例改编自 openai/openai-python，Apache-2.0 License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两列是数据组织的示意，不是可以直接发送的完整 JSON。任务示例：模型请求读取 main.py，应用执行 read_file 并把内容回传，模型再解释代码。Chat Completions 中 tool_calls 放在 assistant 消息里，工具返回使用 role=tool 并以 tool_call_id 对应请求。Responses 把 function_call 和 function_call_output 表示为不同类型的 item，通过 call_id 关联，最终回答可以是 message item，某些模型还有 reasoning item。单次 response.output 不一定包含所有这些类型，function_call_output 通常由应用提交为后续 input。两者都能在支持的模型上实现自定义函数调用，工具执行与授权仍归应用负责。Responses 提供平台内置工具并支持推理项的延续。状态方面，Responses 可以手动传入上下文，也可通过 previous_response_id 或 Conversations 关联服务端上下文。previous_response_id 不等于模型拥有无限记忆，历史输入依然计费并受上下文窗口限制。API 模型、SDK 版本与兼容服务的支持范围需分别核对。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OpenAI: Migrate to the Responses API</a:t>
            </a:r>
          </a:p>
          <a:p>
            <a:r>
              <a:t>https://developers.openai.com/api/docs/guides/migrate-to-responses</a:t>
            </a:r>
          </a:p>
          <a:p>
            <a:r>
              <a:t>定位：Responses recommendation; Messages vs Items; migration examples</a:t>
            </a:r>
          </a:p>
          <a:p>
            <a:r>
              <a:t>引用：官方文档内容的教学概述，2026-09-17 核对。</a:t>
            </a:r>
          </a:p>
          <a:p/>
          <a:p>
            <a:r>
              <a:t>OpenAI: Conversation state</a:t>
            </a:r>
          </a:p>
          <a:p>
            <a:r>
              <a:t>https://developers.openai.com/api/docs/guides/conversation-state</a:t>
            </a:r>
          </a:p>
          <a:p>
            <a:r>
              <a:t>定位：Manual state management; previous_response_id; context and billing</a:t>
            </a:r>
          </a:p>
          <a:p>
            <a:r>
              <a:t>引用：官方文档内容的教学概述，2026-09-17 核对。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接口关系与组织方式见前两页，这里只对照 Structured Outputs 的用法。表里的 Model 是 Pydantic 数据模型类，例如 MathReasoning，不是请求中 model 字段指定的大语言模型。Chat Completions create 的 response_format 接收配置字典，parse 的同名参数可以接收 Pydantic 类。Responses create 的原始配置是 text.format，parse helper 参数是 text_format。output_parsed 是 SDK 解析助手提供的对象，并不表示 response.output 的每个 item 都是文本。课程主体沿用 Chat Completions 是为了衔接上一讲和集中讨论数据契约，不表示它比 Responses 更新或更适合新 Agent 项目。选择接口需检查具体模型和部署是否支持所需功能。</a:t>
            </a:r>
          </a:p>
          <a:p/>
          <a:p>
            <a:r>
              <a:t>讲授预算：1.5分钟</a:t>
            </a:r>
          </a:p>
          <a:p/>
          <a:p>
            <a:r>
              <a:t>[Sources]</a:t>
            </a:r>
          </a:p>
          <a:p>
            <a:r>
              <a:t>OpenAI · Structured Outputs</a:t>
            </a:r>
          </a:p>
          <a:p>
            <a:r>
              <a:t>https://developers.openai.com/api/docs/guides/structured-outputs</a:t>
            </a:r>
          </a:p>
          <a:p>
            <a:r>
              <a:t>定位：Introduction; Supported schemas; Handling edge cases</a:t>
            </a:r>
          </a:p>
          <a:p>
            <a:r>
              <a:t>引用：教学概述与来源链接，短代码按注明来源改编</a:t>
            </a:r>
          </a:p>
          <a:p/>
          <a:p>
            <a:r>
              <a:t>OpenAI Python SDK · Parsing helpers</a:t>
            </a:r>
          </a:p>
          <a:p>
            <a:r>
              <a:t>https://github.com/openai/openai-python/blob/main/helpers.md</a:t>
            </a:r>
          </a:p>
          <a:p>
            <a:r>
              <a:t>定位：Auto-parsing response content; Differences from create; Streaming helpers</a:t>
            </a:r>
          </a:p>
          <a:p>
            <a:r>
              <a:t>引用：示例改编自 openai/openai-python，Apache-2.0 License</a:t>
            </a:r>
          </a:p>
          <a:p/>
          <a:p>
            <a:r>
              <a:t>OpenAI Python SDK · README</a:t>
            </a:r>
          </a:p>
          <a:p>
            <a:r>
              <a:t>https://github.com/openai/openai-python</a:t>
            </a:r>
          </a:p>
          <a:p>
            <a:r>
              <a:t>定位：Handling errors; Request IDs; Retries; Timeouts; Responses API</a:t>
            </a:r>
          </a:p>
          <a:p>
            <a:r>
              <a:t>引用：示例改编自 openai/openai-python，Apache-2.0 License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左侧是课程 Math tutor，右侧 read_file 为工具调用接口的简化示意。Schema 可以约束回答，也可以约束工具参数，但这不是同一种后续动作。模型发出工具调用请求，应用实际执行工具，回传 tool_call_id 对应的结果。SDK 可以帮助解析 arguments，却不能决定文件是否允许读取、工具调用是否成功或何时终止循环。工具参数合法不等于授权或执行成功。此处明确纠正旧版“函数调用结果中的 arguments”的模糊表述，arguments 属于调用请求。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OpenAI · Structured Outputs</a:t>
            </a:r>
          </a:p>
          <a:p>
            <a:r>
              <a:t>https://developers.openai.com/api/docs/guides/structured-outputs</a:t>
            </a:r>
          </a:p>
          <a:p>
            <a:r>
              <a:t>定位：Introduction; Supported schemas; Handling edge cases</a:t>
            </a:r>
          </a:p>
          <a:p>
            <a:r>
              <a:t>引用：教学概述与来源链接，短代码按注明来源改编</a:t>
            </a:r>
          </a:p>
          <a:p/>
          <a:p>
            <a:r>
              <a:t>OpenAI Python SDK · Parsing helpers</a:t>
            </a:r>
          </a:p>
          <a:p>
            <a:r>
              <a:t>https://github.com/openai/openai-python/blob/main/helpers.md</a:t>
            </a:r>
          </a:p>
          <a:p>
            <a:r>
              <a:t>定位：Auto-parsing response content; Differences from create; Streaming helpers</a:t>
            </a:r>
          </a:p>
          <a:p>
            <a:r>
              <a:t>引用：示例改编自 openai/openai-python，Apache-2.0 License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表格只用于真正的并列比较。Prompt-only 是行为期待，JSON mode 是语法约束，严格 Structured Outputs 是 Schema 约束。保证须结合模型、服务端和支持的关键字，并排除拒答、截断等非正常完整结果。合法 JSON 可以完全缺少应用要用的字段。通过这个具体的缺字段反例区分两种约束。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OpenAI · Structured Outputs</a:t>
            </a:r>
          </a:p>
          <a:p>
            <a:r>
              <a:t>https://developers.openai.com/api/docs/guides/structured-outputs</a:t>
            </a:r>
          </a:p>
          <a:p>
            <a:r>
              <a:t>定位：Introduction; Supported schemas; Handling edge cases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两个 final_answer 都是字符串，均可以装入相同的合法数据结构。这里的错误答案 x=4 是教师构造的反例，不是 Cookbook 的模型运行输出。先讲 Prompt 定义任务语义，再用代入方程说明验证结构的边界。字段 description 可以解释含义，不能证明数学结果正确。这个例子将“格式”和“任务正确性”具体化，后面 Pydantic validator 再讨论程序怎样检查可计算的业务关系。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OpenAI Cookbook · Introduction to Structured Outputs</a:t>
            </a:r>
          </a:p>
          <a:p>
            <a:r>
              <a:t>https://cookbook.openai.com/examples/structured_outputs_intro</a:t>
            </a:r>
          </a:p>
          <a:p>
            <a:r>
              <a:t>定位：Example 1: Math tutor; saved output for 8x + 7 = -23</a:t>
            </a:r>
          </a:p>
          <a:p>
            <a:r>
              <a:t>引用：示例改编自 openai/openai-cookbook，MIT License；解题记录来自 notebook 的已保存输出</a:t>
            </a:r>
          </a:p>
          <a:p/>
          <a:p>
            <a:r>
              <a:t>OpenAI · Structured Outputs</a:t>
            </a:r>
          </a:p>
          <a:p>
            <a:r>
              <a:t>https://developers.openai.com/api/docs/guides/structured-outputs</a:t>
            </a:r>
          </a:p>
          <a:p>
            <a:r>
              <a:t>定位：Introduction; Supported schemas; Handling edge cases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原图为 XGrammar 作者博客 Figure3 的下半部分。左边生成前缀停在 done 冒号后，布尔值合法，apple/task 等不合法。生成 true 后，右边的候选集合改变，允许接续 JSON 分隔符。每个 Token 可能对应多个字节，不能把语法字符与模型 Token 一一对应；需要检验完整 Token 能否成为合法前缀。嵌套结构要保留解析栈。实现中通常把不合法候选的 logit 置为负无穷，再在合法候选中采样。图上的候选只是示意，并非实际词表。模型仍选择 true 或 false，因此事实错误仍可能发生。</a:t>
            </a:r>
          </a:p>
          <a:p/>
          <a:p>
            <a:r>
              <a:t>讲授预算：3分钟</a:t>
            </a:r>
          </a:p>
          <a:p/>
          <a:p>
            <a:r>
              <a:t>[Sources]</a:t>
            </a:r>
          </a:p>
          <a:p>
            <a:r>
              <a:t>XGrammar · Efficient, Flexible and Portable Structured Generation</a:t>
            </a:r>
          </a:p>
          <a:p>
            <a:r>
              <a:t>https://blog.mlc.ai/2024/11/22/achieving-efficient-flexible-portable-structured-generation-with-xgrammar</a:t>
            </a:r>
          </a:p>
          <a:p>
            <a:r>
              <a:t>定位：Constrained Decoding; Overlapping CPU Computation with GPU Computation</a:t>
            </a:r>
          </a:p>
          <a:p>
            <a:r>
              <a:t>引用：原图引用自 XGrammar 作者技术博客，2024-11-22；保留原图标识与作者链接</a:t>
            </a:r>
          </a:p>
          <a:p/>
          <a:p>
            <a:r>
              <a:t>XGrammar: Flexible and Efficient Structured Generation Engine for Large Language Models</a:t>
            </a:r>
          </a:p>
          <a:p>
            <a:r>
              <a:t>https://proceedings.mlsys.org/paper_files/paper/2025/file/5c20ca4b0b20b0bd2f1d839dc605e70f-Paper-Conference.pdf</a:t>
            </a:r>
          </a:p>
          <a:p>
            <a:r>
              <a:t>定位：Context-independent/context-dependent tokens; runtime optimization</a:t>
            </a:r>
          </a:p>
          <a:p>
            <a:r>
              <a:t>引用：论文方法概述；引用原作者公开论文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原图是 XGrammar 作者博客 Figure7。横向表示执行顺序和耗时区间，图中没有量化横轴。上半部分先做 Grammar Compilation，之后 Mask Gen 和 GPU 工作存在等待。下半部分把编译与 Prefill 重叠，并把可预先计算的掩码与 Decode 重叠。由于当前步采样结果影响后续状态，不是任意步骤都能无条件并行。XGrammar 还利用 Token 分类、缓存等减少计算。此处保留 Serving 视角，但不从图中推导固定加速倍数或宣称零开销。复杂 Schema、词表、缓存命中、批量和实现均影响成本。</a:t>
            </a:r>
          </a:p>
          <a:p/>
          <a:p>
            <a:r>
              <a:t>讲授预算：2.5分钟</a:t>
            </a:r>
          </a:p>
          <a:p/>
          <a:p>
            <a:r>
              <a:t>[Sources]</a:t>
            </a:r>
          </a:p>
          <a:p>
            <a:r>
              <a:t>XGrammar · Efficient, Flexible and Portable Structured Generation</a:t>
            </a:r>
          </a:p>
          <a:p>
            <a:r>
              <a:t>https://blog.mlc.ai/2024/11/22/achieving-efficient-flexible-portable-structured-generation-with-xgrammar</a:t>
            </a:r>
          </a:p>
          <a:p>
            <a:r>
              <a:t>定位：Constrained Decoding; Overlapping CPU Computation with GPU Computation</a:t>
            </a:r>
          </a:p>
          <a:p>
            <a:r>
              <a:t>引用：原图引用自 XGrammar 作者技术博客，2024-11-22；保留原图标识与作者链接</a:t>
            </a:r>
          </a:p>
          <a:p/>
          <a:p>
            <a:r>
              <a:t>XGrammar: Flexible and Efficient Structured Generation Engine for Large Language Models</a:t>
            </a:r>
          </a:p>
          <a:p>
            <a:r>
              <a:t>https://proceedings.mlsys.org/paper_files/paper/2025/file/5c20ca4b0b20b0bd2f1d839dc605e70f-Paper-Conference.pdf</a:t>
            </a:r>
          </a:p>
          <a:p>
            <a:r>
              <a:t>定位：Context-independent/context-dependent tokens; runtime optimization</a:t>
            </a:r>
          </a:p>
          <a:p>
            <a:r>
              <a:t>引用：论文方法概述；引用原作者公开论文</a:t>
            </a:r>
          </a:p>
          <a:p>
            <a:r>
              <a:t>[/Sources]</a:t>
            </a:r>
          </a:p>
          <a:p>
            <a:r>
              <a:t>图中模块：Grammar Compilation 将结构规则编译成运行时表示；Mask Gen 根据当前语法状态计算合法 token 掩码；Apply Mask 将掩码应用到 logits；Sampling 从合法候选中选出 token；Prefilling / Decoding 是 GPU 上的输入处理与逐步生成计算。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JSON Schema 自身也是 JSON。验证器接收一个数据实例和一份 Schema，判断是否满足约束。properties 指定出现该字段时的值应该是什么类型，required 才约束字段存在。去掉 required，这里的空对象就可能通过；保留 required，缺字段会失败。示例使用标准 JSON Schema 语义，后面会指出 OpenAI strict 子集要求所有声明字段都列入 required。可以让学生看两个输入的区别，不再给字段定义做大表。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Understanding JSON Schema · object</a:t>
            </a:r>
          </a:p>
          <a:p>
            <a:r>
              <a:t>https://json-schema.org/understanding-json-schema/reference/object</a:t>
            </a:r>
          </a:p>
          <a:p>
            <a:r>
              <a:t>定位：Properties; Required Properties; Additional Properties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标准 JSON Schema 默认允许额外字段。将 additionalProperties 设置为 false 后，实例只能包含这里允许的键。严格关闭接口便于应用发现字段拼写漂移或意外结构变化；开放对象则更易扩展，两者是接口设计选择。每一个嵌套对象都有自己的约束，外层 false 不会自动作用到内部对象。OpenAI strict 要求所有对象关闭额外字段。</a:t>
            </a:r>
          </a:p>
          <a:p/>
          <a:p>
            <a:r>
              <a:t>讲授预算：1.5分钟</a:t>
            </a:r>
          </a:p>
          <a:p/>
          <a:p>
            <a:r>
              <a:t>[Sources]</a:t>
            </a:r>
          </a:p>
          <a:p>
            <a:r>
              <a:t>Understanding JSON Schema · object</a:t>
            </a:r>
          </a:p>
          <a:p>
            <a:r>
              <a:t>https://json-schema.org/understanding-json-schema/reference/object</a:t>
            </a:r>
          </a:p>
          <a:p>
            <a:r>
              <a:t>定位：Properties; Required Properties; Additional Properties</a:t>
            </a:r>
          </a:p>
          <a:p>
            <a:r>
              <a:t>引用：教学概述与来源链接，短代码按注明来源改编</a:t>
            </a:r>
          </a:p>
          <a:p/>
          <a:p>
            <a:r>
              <a:t>OpenAI · Structured Outputs</a:t>
            </a:r>
          </a:p>
          <a:p>
            <a:r>
              <a:t>https://developers.openai.com/api/docs/guides/structured-outputs</a:t>
            </a:r>
          </a:p>
          <a:p>
            <a:r>
              <a:t>定位：Introduction; Supported schemas; Handling edge cases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 Schema 片段，假定外层为 object。required 决定键是否存在，联合类型决定值能否为 null。三种输入展示两个维度互相独立。在严格 API 中所有字段必填时，无答案可通过 null 表示，但业务必须定义允许无答案的条件。若同时使用 enum，需要把 null 也放进 enum，不能仅靠 type 中的 null。Pydantic 中 answer: str | None 没有默认值时仍是必填字段，默认值是另一回事。</a:t>
            </a:r>
          </a:p>
          <a:p/>
          <a:p>
            <a:r>
              <a:t>讲授预算：1.5分钟</a:t>
            </a:r>
          </a:p>
          <a:p/>
          <a:p>
            <a:r>
              <a:t>[Sources]</a:t>
            </a:r>
          </a:p>
          <a:p>
            <a:r>
              <a:t>Understanding JSON Schema · object</a:t>
            </a:r>
          </a:p>
          <a:p>
            <a:r>
              <a:t>https://json-schema.org/understanding-json-schema/reference/object</a:t>
            </a:r>
          </a:p>
          <a:p>
            <a:r>
              <a:t>定位：Properties; Required Properties; Additional Properties</a:t>
            </a:r>
          </a:p>
          <a:p>
            <a:r>
              <a:t>引用：教学概述与来源链接，短代码按注明来源改编</a:t>
            </a:r>
          </a:p>
          <a:p/>
          <a:p>
            <a:r>
              <a:t>OpenAI · Structured Outputs</a:t>
            </a:r>
          </a:p>
          <a:p>
            <a:r>
              <a:t>https://developers.openai.com/api/docs/guides/structured-outputs</a:t>
            </a:r>
          </a:p>
          <a:p>
            <a:r>
              <a:t>定位：Introduction; Supported schemas; Handling edge cases</a:t>
            </a:r>
          </a:p>
          <a:p>
            <a:r>
              <a:t>引用：教学概述与来源链接，短代码按注明来源改编</a:t>
            </a:r>
          </a:p>
          <a:p/>
          <a:p>
            <a:r>
              <a:t>Understanding JSON Schema · enum / const</a:t>
            </a:r>
          </a:p>
          <a:p>
            <a:r>
              <a:t>https://json-schema.org/understanding-json-schema/reference/enum</a:t>
            </a:r>
          </a:p>
          <a:p>
            <a:r>
              <a:t>定位：Enumerated values; enum containing null</a:t>
            </a:r>
          </a:p>
          <a:p>
            <a:r>
              <a:t>引用：教学概述与来源链接，短代码按注明来源改编</a:t>
            </a:r>
          </a:p>
          <a:p/>
          <a:p>
            <a:r>
              <a:t>Pydantic · Models</a:t>
            </a:r>
          </a:p>
          <a:p>
            <a:r>
              <a:t>https://docs.pydantic.dev/latest/concepts/models/</a:t>
            </a:r>
          </a:p>
          <a:p>
            <a:r>
              <a:t>定位：model_validate_json; model_dump; Extra data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左侧给出可复用定义，右侧是 properties.steps 的片段。外层 MathReasoning 自己也需要 type、properties、required 和 additionalProperties。$ref 只是引用已有 Schema，不是复制实例中的数据；多个位置可以复用同一个 Step。items 会对数组每个元素验证，minItems 保证不是空数组，但不会证明推导顺序正确或结果一致。标准与官方严格输出均可表达递归 Schema，不能误称 JSON Schema 无法描述递归。这里的核心是沿树形结构逐层约束，后面用 Pydantic 自动导出完整定义。</a:t>
            </a:r>
          </a:p>
          <a:p/>
          <a:p>
            <a:r>
              <a:t>讲授预算：3分钟</a:t>
            </a:r>
          </a:p>
          <a:p/>
          <a:p>
            <a:r>
              <a:t>[Sources]</a:t>
            </a:r>
          </a:p>
          <a:p>
            <a:r>
              <a:t>Understanding JSON Schema · array</a:t>
            </a:r>
          </a:p>
          <a:p>
            <a:r>
              <a:t>https://json-schema.org/understanding-json-schema/reference/array</a:t>
            </a:r>
          </a:p>
          <a:p>
            <a:r>
              <a:t>定位：Items; Length; Uniqueness</a:t>
            </a:r>
          </a:p>
          <a:p>
            <a:r>
              <a:t>引用：教学概述与来源链接，短代码按注明来源改编</a:t>
            </a:r>
          </a:p>
          <a:p/>
          <a:p>
            <a:r>
              <a:t>Understanding JSON Schema · structuring</a:t>
            </a:r>
          </a:p>
          <a:p>
            <a:r>
              <a:t>https://json-schema.org/understanding-json-schema/structuring</a:t>
            </a:r>
          </a:p>
          <a:p>
            <a:r>
              <a:t>定位：Schema identification; $defs; $ref</a:t>
            </a:r>
          </a:p>
          <a:p>
            <a:r>
              <a:t>引用：教学概述与来源链接，短代码按注明来源改编</a:t>
            </a:r>
          </a:p>
          <a:p/>
          <a:p>
            <a:r>
              <a:t>OpenAI Cookbook · Introduction to Structured Outputs</a:t>
            </a:r>
          </a:p>
          <a:p>
            <a:r>
              <a:t>https://cookbook.openai.com/examples/structured_outputs_intro</a:t>
            </a:r>
          </a:p>
          <a:p>
            <a:r>
              <a:t>定位：Example 1: Math tutor; saved output for 8x + 7 = -23</a:t>
            </a:r>
          </a:p>
          <a:p>
            <a:r>
              <a:t>引用：示例改编自 openai/openai-cookbook，MIT License；解题记录来自 notebook 的已保存输出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这里显示的是字段约束片段。enum 定义离散值域，numeric keywords 定义数值区间。minimum 含边界，exclusiveMinimum 不含边界；number 和 integer 不同，标准 JSON Schema 以数值性质理解整数，数值1.0可以属于 integer。标准验证器不把字符串3自动转换为数字3。范围约束可以发现明显非法值，但 confidence 在0至1范围内并不代表它是经过校准的正确概率。</a:t>
            </a:r>
          </a:p>
          <a:p/>
          <a:p>
            <a:r>
              <a:t>讲授预算：1.5分钟</a:t>
            </a:r>
          </a:p>
          <a:p/>
          <a:p>
            <a:r>
              <a:t>[Sources]</a:t>
            </a:r>
          </a:p>
          <a:p>
            <a:r>
              <a:t>Understanding JSON Schema · enum / const</a:t>
            </a:r>
          </a:p>
          <a:p>
            <a:r>
              <a:t>https://json-schema.org/understanding-json-schema/reference/enum</a:t>
            </a:r>
          </a:p>
          <a:p>
            <a:r>
              <a:t>定位：Enumerated values; enum containing null</a:t>
            </a:r>
          </a:p>
          <a:p>
            <a:r>
              <a:t>引用：教学概述与来源链接，短代码按注明来源改编</a:t>
            </a:r>
          </a:p>
          <a:p/>
          <a:p>
            <a:r>
              <a:t>Understanding JSON Schema · numeric</a:t>
            </a:r>
          </a:p>
          <a:p>
            <a:r>
              <a:t>https://json-schema.org/understanding-json-schema/reference/numeric</a:t>
            </a:r>
          </a:p>
          <a:p>
            <a:r>
              <a:t>定位：Integer; Number; Range; Multiples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工单编号是说明正则匹配的教学示例，不引入新的贯穿任务。description、title、examples、default 是描述性注解，单靠它们不会强制数据满足某个规则，default 也不会让标准验证器自动补值。format 是否作为断言检查取决于验证器和配置，不能把写了 format=email 当作所有本地工具必定验证邮箱。平台的 Schema 子集与模型限制还可能不同。</a:t>
            </a:r>
          </a:p>
          <a:p/>
          <a:p>
            <a:r>
              <a:t>讲授预算：1.5分钟</a:t>
            </a:r>
          </a:p>
          <a:p/>
          <a:p>
            <a:r>
              <a:t>[Sources]</a:t>
            </a:r>
          </a:p>
          <a:p>
            <a:r>
              <a:t>Understanding JSON Schema · string</a:t>
            </a:r>
          </a:p>
          <a:p>
            <a:r>
              <a:t>https://json-schema.org/understanding-json-schema/reference/string</a:t>
            </a:r>
          </a:p>
          <a:p>
            <a:r>
              <a:t>定位：Length; Regular Expressions; Format</a:t>
            </a:r>
          </a:p>
          <a:p>
            <a:r>
              <a:t>引用：教学概述与来源链接，短代码按注明来源改编</a:t>
            </a:r>
          </a:p>
          <a:p/>
          <a:p>
            <a:r>
              <a:t>Understanding JSON Schema · Annotations</a:t>
            </a:r>
          </a:p>
          <a:p>
            <a:r>
              <a:t>https://json-schema.org/understanding-json-schema/reference/annotations</a:t>
            </a:r>
          </a:p>
          <a:p>
            <a:r>
              <a:t>定位：title; description; default; examples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用一个可直接理解的 nullable result 说明 anyOf；也可写成 type 数组。复杂业务可使用带 status 常量的对象分支，避免让所有不相关字段都同时必填。oneOf 恰好匹配一个，若分支重叠就会失败；allOf 是交集验证，不是把对象字段自动合并。不要默认标准关键字都能交给某个生成服务：官方严格输出支持有限子集，根节点仍需 object，不支持根 anyOf。这里只讲选择分支的用途，不把所有组合关键字展开成一张规格表。</a:t>
            </a:r>
          </a:p>
          <a:p/>
          <a:p>
            <a:r>
              <a:t>讲授预算：1.5分钟</a:t>
            </a:r>
          </a:p>
          <a:p/>
          <a:p>
            <a:r>
              <a:t>[Sources]</a:t>
            </a:r>
          </a:p>
          <a:p>
            <a:r>
              <a:t>Understanding JSON Schema · combining</a:t>
            </a:r>
          </a:p>
          <a:p>
            <a:r>
              <a:t>https://json-schema.org/understanding-json-schema/reference/combining</a:t>
            </a:r>
          </a:p>
          <a:p>
            <a:r>
              <a:t>定位：anyOf; oneOf; allOf; not</a:t>
            </a:r>
          </a:p>
          <a:p>
            <a:r>
              <a:t>引用：教学概述与来源链接，短代码按注明来源改编</a:t>
            </a:r>
          </a:p>
          <a:p/>
          <a:p>
            <a:r>
              <a:t>OpenAI · Structured Outputs</a:t>
            </a:r>
          </a:p>
          <a:p>
            <a:r>
              <a:t>https://developers.openai.com/api/docs/guides/structured-outputs</a:t>
            </a:r>
          </a:p>
          <a:p>
            <a:r>
              <a:t>定位：Introduction; Supported schemas; Handling edge cases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需要从 pydantic 导入 BaseModel、ConfigDict、Field。model_json_schema 得到标准 Schema；OpenAI parse helper 会做服务所需的严格输出转换，而不是直接把任意通用 Schema 当成可用协议。Pydantic 默认可能进行类型转换，例如字符串3转成整数；strict=True 用于收紧本地转换，和 API strict=True 控制生成约束不是同一开关。JSON 输入下某些日期类型仍有特定规则，不宜说 strict 一律禁止所有转换。extra 默认行为不是 forbid，因此两个对象层都显式声明。</a:t>
            </a:r>
          </a:p>
          <a:p/>
          <a:p>
            <a:r>
              <a:t>讲授预算：3分钟</a:t>
            </a:r>
          </a:p>
          <a:p/>
          <a:p>
            <a:r>
              <a:t>[Sources]</a:t>
            </a:r>
          </a:p>
          <a:p>
            <a:r>
              <a:t>Pydantic · Models</a:t>
            </a:r>
          </a:p>
          <a:p>
            <a:r>
              <a:t>https://docs.pydantic.dev/latest/concepts/models/</a:t>
            </a:r>
          </a:p>
          <a:p>
            <a:r>
              <a:t>定位：model_validate_json; model_dump; Extra data</a:t>
            </a:r>
          </a:p>
          <a:p>
            <a:r>
              <a:t>引用：教学概述与来源链接，短代码按注明来源改编</a:t>
            </a:r>
          </a:p>
          <a:p/>
          <a:p>
            <a:r>
              <a:t>Pydantic · JSON Schema</a:t>
            </a:r>
          </a:p>
          <a:p>
            <a:r>
              <a:t>https://docs.pydantic.dev/latest/concepts/json_schema/</a:t>
            </a:r>
          </a:p>
          <a:p>
            <a:r>
              <a:t>定位：model_json_schema; Field constraints; JSON Schema Draft 2020-12</a:t>
            </a:r>
          </a:p>
          <a:p>
            <a:r>
              <a:t>引用：教学概述与来源链接，短代码按注明来源改编</a:t>
            </a:r>
          </a:p>
          <a:p/>
          <a:p>
            <a:r>
              <a:t>Pydantic · Strict Mode</a:t>
            </a:r>
          </a:p>
          <a:p>
            <a:r>
              <a:t>https://docs.pydantic.dev/latest/concepts/strict_mode/</a:t>
            </a:r>
          </a:p>
          <a:p>
            <a:r>
              <a:t>定位：Lax vs strict validation; JSON inputs may retain specific conversions</a:t>
            </a:r>
          </a:p>
          <a:p>
            <a:r>
              <a:t>引用：教学概述与来源链接，短代码按注明来源改编</a:t>
            </a:r>
          </a:p>
          <a:p/>
          <a:p>
            <a:r>
              <a:t>OpenAI Python SDK · Parsing helpers</a:t>
            </a:r>
          </a:p>
          <a:p>
            <a:r>
              <a:t>https://github.com/openai/openai-python/blob/main/helpers.md</a:t>
            </a:r>
          </a:p>
          <a:p>
            <a:r>
              <a:t>定位：Auto-parsing response content; Differences from create; Streaming helpers</a:t>
            </a:r>
          </a:p>
          <a:p>
            <a:r>
              <a:t>引用：示例改编自 openai/openai-python，Apache-2.0 License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MathReasoning使用上一页定义。SDK parse helper负责将Pydantic模型转成严格输出配置、发送请求、解析成功返回的内容。它不在客户端拦截服务端每个Token；约束解码仍在模型服务中执行。message.parsed为对应的Pydantic对象；拒答时还需查看message.refusal，长度或内容过滤可能触发helper异常，第4部分统一讲。None检查只用于说明取值入口，并非完整异常策略。应用自己的语义校验、状态更新和恢复策略仍需显式编写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OpenAI Python SDK · Parsing helpers</a:t>
            </a:r>
          </a:p>
          <a:p>
            <a:r>
              <a:t>https://github.com/openai/openai-python/blob/main/helpers.md</a:t>
            </a:r>
          </a:p>
          <a:p>
            <a:r>
              <a:t>定位：Auto-parsing response content; Differences from create; Streaming helpers</a:t>
            </a:r>
          </a:p>
          <a:p>
            <a:r>
              <a:t>引用：示例改编自 openai/openai-python，Apache-2.0 License</a:t>
            </a:r>
          </a:p>
          <a:p/>
          <a:p>
            <a:r>
              <a:t>OpenAI · Structured Outputs</a:t>
            </a:r>
          </a:p>
          <a:p>
            <a:r>
              <a:t>https://developers.openai.com/api/docs/guides/structured-outputs</a:t>
            </a:r>
          </a:p>
          <a:p>
            <a:r>
              <a:t>定位：Introduction; Supported schemas; Handling edge cases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示例可用本地Pydantic直接复现。左边允许把字符串3转换成整数，右边strict报int_type。标准JSON Schema验证不做这种类型转换。Pydantic strict控制本地类型转换，OpenAI strict控制服务端生成约束，两个相同拼写的参数处于不同层级。不要把Pydantic严格模式解释为所有类型和输入方式绝无转换；例如JSON中部分日期类型有特定处理。此页以明确的整数反例说明常见用法，不再罗列所有转换规则。</a:t>
            </a:r>
          </a:p>
          <a:p/>
          <a:p>
            <a:r>
              <a:t>讲授预算：1.5分钟</a:t>
            </a:r>
          </a:p>
          <a:p/>
          <a:p>
            <a:r>
              <a:t>[Sources]</a:t>
            </a:r>
          </a:p>
          <a:p>
            <a:r>
              <a:t>Pydantic · Strict Mode</a:t>
            </a:r>
          </a:p>
          <a:p>
            <a:r>
              <a:t>https://docs.pydantic.dev/latest/concepts/strict_mode/</a:t>
            </a:r>
          </a:p>
          <a:p>
            <a:r>
              <a:t>定位：Lax vs strict validation; JSON inputs may retain specific conversions</a:t>
            </a:r>
          </a:p>
          <a:p>
            <a:r>
              <a:t>引用：教学概述与来源链接，短代码按注明来源改编</a:t>
            </a:r>
          </a:p>
          <a:p/>
          <a:p>
            <a:r>
              <a:t>Pydantic · Models</a:t>
            </a:r>
          </a:p>
          <a:p>
            <a:r>
              <a:t>https://docs.pydantic.dev/latest/concepts/models/</a:t>
            </a:r>
          </a:p>
          <a:p>
            <a:r>
              <a:t>定位：model_validate_json; model_dump; Extra data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例子改编自 Pydantic after model validator 的用法。导入 model_validator 后，模型级校验器能够同时访问多个字段。错误信息可以明确指出 start&gt;end。对于模型输出的任务相关约束，如结束时间早于开始时间，可以在这个层级检查。任意 Python 逻辑并不会自动写入 JSON Schema，更不会由远端模型服务逐 Token 执行。数学证明、生成代码的行为正确性，还可能需要专门业务检查或测试。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Pydantic · Validators</a:t>
            </a:r>
          </a:p>
          <a:p>
            <a:r>
              <a:t>https://docs.pydantic.dev/latest/concepts/validators/</a:t>
            </a:r>
          </a:p>
          <a:p>
            <a:r>
              <a:t>定位：Field validators; Model validators; after model validator</a:t>
            </a:r>
          </a:p>
          <a:p>
            <a:r>
              <a:t>引用：教学概述与来源链接，短代码按注明来源改编</a:t>
            </a:r>
          </a:p>
          <a:p/>
          <a:p>
            <a:r>
              <a:t>Pydantic · JSON Schema</a:t>
            </a:r>
          </a:p>
          <a:p>
            <a:r>
              <a:t>https://docs.pydantic.dev/latest/concepts/json_schema/</a:t>
            </a:r>
          </a:p>
          <a:p>
            <a:r>
              <a:t>定位：model_json_schema; Field constraints; JSON Schema Draft 2020-12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左侧是标准 JSON Schema 可以验证的非负整数交集示例，不是 API 错误响应截图。官方 strict 当前要求根对象、所有字段 required、每个对象 additionalProperties=false，且不支持 allOf、not、条件依赖等部分关键字。不要沿用旧资料笼统说 pattern、minimum、minItems 全部不支持：当前不同模型类别有不同支持范围，微调模型有额外限制。本地验证通过不能证明服务兼容，服务能接收 Schema 也不能只凭参数名推断实际约束执行。关键字细表放参考资料，课堂不逐项背诵。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OpenAI · Structured Outputs</a:t>
            </a:r>
          </a:p>
          <a:p>
            <a:r>
              <a:t>https://developers.openai.com/api/docs/guides/structured-outputs</a:t>
            </a:r>
          </a:p>
          <a:p>
            <a:r>
              <a:t>定位：Introduction; Supported schemas; Handling edge cases</a:t>
            </a:r>
          </a:p>
          <a:p>
            <a:r>
              <a:t>引用：教学概述与来源链接，短代码按注明来源改编</a:t>
            </a:r>
          </a:p>
          <a:p/>
          <a:p>
            <a:r>
              <a:t>python-jsonschema · Schema Validation</a:t>
            </a:r>
          </a:p>
          <a:p>
            <a:r>
              <a:t>https://python-jsonschema.readthedocs.io/en/stable/validate/</a:t>
            </a:r>
          </a:p>
          <a:p>
            <a:r>
              <a:t>定位：Draft202012Validator; check_schema; iter_errors; FormatChecker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这是应用分支示意，show_refusal 等函数需要应用实现，并非 SDK 自带的业务功能。stop 表示自然结束或命中停止条件，还需检查正文与 Schema，不应自动当成业务成功。length 通常是长度预算，content_filter 为内容过滤，tool_calls 要进入工具分支。Responses 使用 status/incomplete_details 等不同字段。Chat parse helper 在 length/content_filter 下会抛特定异常，而不是把所有情形都作为普通对象返回。即使 HTTP200，应用也必须区分这些结果。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OpenAI · Structured Outputs</a:t>
            </a:r>
          </a:p>
          <a:p>
            <a:r>
              <a:t>https://developers.openai.com/api/docs/guides/structured-outputs</a:t>
            </a:r>
          </a:p>
          <a:p>
            <a:r>
              <a:t>定位：Introduction; Supported schemas; Handling edge cases</a:t>
            </a:r>
          </a:p>
          <a:p>
            <a:r>
              <a:t>引用：教学概述与来源链接，短代码按注明来源改编</a:t>
            </a:r>
          </a:p>
          <a:p/>
          <a:p>
            <a:r>
              <a:t>OpenAI Python SDK · Parsing helpers</a:t>
            </a:r>
          </a:p>
          <a:p>
            <a:r>
              <a:t>https://github.com/openai/openai-python/blob/main/helpers.md</a:t>
            </a:r>
          </a:p>
          <a:p>
            <a:r>
              <a:t>定位：Auto-parsing response content; Differences from create; Streaming helpers</a:t>
            </a:r>
          </a:p>
          <a:p>
            <a:r>
              <a:t>引用：示例改编自 openai/openai-python，Apache-2.0 License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上一页负责状态分支，此页接在完整正文分支后。model_validate_json 一步完成 JSON 解析与类型/约束验证，ValidationError 可描述 JSON 语法和字段问题。若业务检查也可能失败，需要按其错误类型处理，此处 check_business_rules/render_steps/show_answer 是应用定义的占位函数，不属于 SDK。OpenAI parse helper 可替代其中部分解析工作，把 Pydantic 模型传给 response_format 后访问 message.parsed；但仍要处理拒答、特定终止异常以及应用自己的检查。异常发生后不继续读取不存在的字段。</a:t>
            </a:r>
          </a:p>
          <a:p/>
          <a:p>
            <a:r>
              <a:t>讲授预算：2.5分钟</a:t>
            </a:r>
          </a:p>
          <a:p/>
          <a:p>
            <a:r>
              <a:t>[Sources]</a:t>
            </a:r>
          </a:p>
          <a:p>
            <a:r>
              <a:t>Pydantic · Models</a:t>
            </a:r>
          </a:p>
          <a:p>
            <a:r>
              <a:t>https://docs.pydantic.dev/latest/concepts/models/</a:t>
            </a:r>
          </a:p>
          <a:p>
            <a:r>
              <a:t>定位：model_validate_json; model_dump; Extra data</a:t>
            </a:r>
          </a:p>
          <a:p>
            <a:r>
              <a:t>引用：教学概述与来源链接，短代码按注明来源改编</a:t>
            </a:r>
          </a:p>
          <a:p/>
          <a:p>
            <a:r>
              <a:t>OpenAI Python SDK · Parsing helpers</a:t>
            </a:r>
          </a:p>
          <a:p>
            <a:r>
              <a:t>https://github.com/openai/openai-python/blob/main/helpers.md</a:t>
            </a:r>
          </a:p>
          <a:p>
            <a:r>
              <a:t>定位：Auto-parsing response content; Differences from create; Streaming helpers</a:t>
            </a:r>
          </a:p>
          <a:p>
            <a:r>
              <a:t>引用：示例改编自 openai/openai-python，Apache-2.0 License</a:t>
            </a:r>
          </a:p>
          <a:p/>
          <a:p>
            <a:r>
              <a:t>Pydantic · Error Handling</a:t>
            </a:r>
          </a:p>
          <a:p>
            <a:r>
              <a:t>https://docs.pydantic.dev/latest/errors/errors/</a:t>
            </a:r>
          </a:p>
          <a:p>
            <a:r>
              <a:t>定位：ValidationError.errors; loc, type, msg, input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输入是人为构造的验证反例。Pydantic错误loc路径用0起始数组下标，因此定位到第一个步骤的output。与JSON语法错误相比，这段JSON可以正常解析，但字段类型不满足Schema。返回给模型做修复或返回给调用方时，可以只提供必要的loc、type和可读说明；不要无条件把完整敏感输入写入日志。修复后必须重新完整验证，而非仅看某个字段是否修改。显示的错误内容按真实Pydantic错误字段整理，换行仅为展示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Pydantic · Error Handling</a:t>
            </a:r>
          </a:p>
          <a:p>
            <a:r>
              <a:t>https://docs.pydantic.dev/latest/errors/errors/</a:t>
            </a:r>
          </a:p>
          <a:p>
            <a:r>
              <a:t>定位：ValidationError.errors; loc, type, msg, input</a:t>
            </a:r>
          </a:p>
          <a:p>
            <a:r>
              <a:t>引用：教学概述与来源链接，短代码按注明来源改编</a:t>
            </a:r>
          </a:p>
          <a:p/>
          <a:p>
            <a:r>
              <a:t>Pydantic · Strict Mode</a:t>
            </a:r>
          </a:p>
          <a:p>
            <a:r>
              <a:t>https://docs.pydantic.dev/latest/concepts/strict_mode/</a:t>
            </a:r>
          </a:p>
          <a:p>
            <a:r>
              <a:t>定位：Lax vs strict validation; JSON inputs may retain specific conversions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从openai导入对应异常。示例代码只定位捕获位置，handle_connection_failure等为应用策略。SDK默认对部分连接失败、408、409、429及5xx自动重试2次；若外层再做3次尝试，符合重试条件且均用尽时最多9次请求。应统一预算，而不是每层各自无限重试。超时表示客户端未收到确定结果，服务端可能仍在工作；后续工具若有副作用，需要业务幂等和完成记录。401/403先处理权限，429区分速率限制与配额。请求ID用于关联服务日志，错误类别和耗时用于诊断。</a:t>
            </a:r>
          </a:p>
          <a:p/>
          <a:p>
            <a:r>
              <a:t>讲授预算：3分钟</a:t>
            </a:r>
          </a:p>
          <a:p/>
          <a:p>
            <a:r>
              <a:t>[Sources]</a:t>
            </a:r>
          </a:p>
          <a:p>
            <a:r>
              <a:t>OpenAI Python SDK · README</a:t>
            </a:r>
          </a:p>
          <a:p>
            <a:r>
              <a:t>https://github.com/openai/openai-python</a:t>
            </a:r>
          </a:p>
          <a:p>
            <a:r>
              <a:t>定位：Handling errors; Request IDs; Retries; Timeouts; Responses API</a:t>
            </a:r>
          </a:p>
          <a:p>
            <a:r>
              <a:t>引用：示例改编自 openai/openai-python，Apache-2.0 License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承接上一页字段定位的具体错误，展示怎样组织修复反馈。页面是应用可采用的反馈示例，不是SDK自动提供的功能，也不是模型真实运行结果。不能简单把123强转成字符串123就认为数学答案正确，应让模型结合原任务重做相应内容。网络重试和内容修复不同：前者可能重发同一请求，后者改变上下文并重新生成。应为两类尝试设共同预算，保存原始失败记录，新输出再次经历完成状态与全量验证；失败超过预算时返回明确错误或交人工处理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Pydantic · Error Handling</a:t>
            </a:r>
          </a:p>
          <a:p>
            <a:r>
              <a:t>https://docs.pydantic.dev/latest/errors/errors/</a:t>
            </a:r>
          </a:p>
          <a:p>
            <a:r>
              <a:t>定位：ValidationError.errors; loc, type, msg, input</a:t>
            </a:r>
          </a:p>
          <a:p>
            <a:r>
              <a:t>引用：教学概述与来源链接，短代码按注明来源改编</a:t>
            </a:r>
          </a:p>
          <a:p/>
          <a:p>
            <a:r>
              <a:t>OpenAI · Structured Outputs</a:t>
            </a:r>
          </a:p>
          <a:p>
            <a:r>
              <a:t>https://developers.openai.com/api/docs/guides/structured-outputs</a:t>
            </a:r>
          </a:p>
          <a:p>
            <a:r>
              <a:t>定位：Introduction; Supported schemas; Handling edge cases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里只用read_file说明后续Agent循环的接口位置，不把今天扩展成完整Agent课。示例预先假设已把包含tool_calls的assistant消息加入messages，并确认工具名为read_file；ReadFileArgs、check_allowed_path、read_file都由应用定义。实际系统还需dispatch未知工具名、隔离工具异常、维护最大步数与预算。Schema保证参数结构；执行条件和状态由应用控制。调用ID把工具返回与对应请求关联。SDK不会替应用决定何时执行或如何恢复。这个收束把API、契约、解析和错误处理放进同一段真实应用结构中。</a:t>
            </a:r>
          </a:p>
          <a:p/>
          <a:p>
            <a:r>
              <a:t>讲授预算：3分钟</a:t>
            </a:r>
          </a:p>
          <a:p/>
          <a:p>
            <a:r>
              <a:t>[Sources]</a:t>
            </a:r>
          </a:p>
          <a:p>
            <a:r>
              <a:t>OpenAI Python SDK · Parsing helpers</a:t>
            </a:r>
          </a:p>
          <a:p>
            <a:r>
              <a:t>https://github.com/openai/openai-python/blob/main/helpers.md</a:t>
            </a:r>
          </a:p>
          <a:p>
            <a:r>
              <a:t>定位：Auto-parsing response content; Differences from create; Streaming helpers</a:t>
            </a:r>
          </a:p>
          <a:p>
            <a:r>
              <a:t>引用：示例改编自 openai/openai-python，Apache-2.0 License</a:t>
            </a:r>
          </a:p>
          <a:p/>
          <a:p>
            <a:r>
              <a:t>OpenAI · Structured Outputs</a:t>
            </a:r>
          </a:p>
          <a:p>
            <a:r>
              <a:t>https://developers.openai.com/api/docs/guides/structured-outputs</a:t>
            </a:r>
          </a:p>
          <a:p>
            <a:r>
              <a:t>定位：Introduction; Supported schemas; Handling edge cases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为展示前缀不完整而手工划分的片段，不是某模型的真实Token边界。SSE事件、网络字节片段和模型Token不是同一单位。逐块json.loads常在合法生成过程里报错。SDK的部分解析可以用于UI预览；是否形成最终可消费对象，仍需要完成状态和完整验证。若流中断，已显示的预览不能直接当成正式提交，更不能触发不可逆操作。代码省略收集finish_reason和usage的位置，实际应用需要同时保存完成状态与用量信息。</a:t>
            </a:r>
          </a:p>
          <a:p/>
          <a:p>
            <a:r>
              <a:t>讲授预算：2.5分钟</a:t>
            </a:r>
          </a:p>
          <a:p/>
          <a:p>
            <a:r>
              <a:t>[Sources]</a:t>
            </a:r>
          </a:p>
          <a:p>
            <a:r>
              <a:t>OpenAI Python SDK · Parsing helpers</a:t>
            </a:r>
          </a:p>
          <a:p>
            <a:r>
              <a:t>https://github.com/openai/openai-python/blob/main/helpers.md</a:t>
            </a:r>
          </a:p>
          <a:p>
            <a:r>
              <a:t>定位：Auto-parsing response content; Differences from create; Streaming helpers</a:t>
            </a:r>
          </a:p>
          <a:p>
            <a:r>
              <a:t>引用：示例改编自 openai/openai-python，Apache-2.0 License</a:t>
            </a:r>
          </a:p>
          <a:p/>
          <a:p>
            <a:r>
              <a:t>OpenAI · Structured Outputs</a:t>
            </a:r>
          </a:p>
          <a:p>
            <a:r>
              <a:t>https://developers.openai.com/api/docs/guides/structured-outputs</a:t>
            </a:r>
          </a:p>
          <a:p>
            <a:r>
              <a:t>定位：Introduction; Supported schemas; Handling edge cases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侧是日志字段设计示意，不是模型运行记录。request_id可以来自SDK公开的_request_id属性或错误对象，schema_version由应用维护，attempt用于计数。在结构成功时，功能仍可能没有验证。只记录success或failure会失去失败分层信息；记录API错误、未完成、JSON错误、Schema错误、业务错误便于定位。客户端请求总时长含传输、等待和服务端处理，不可直接称为纯Decode；首段正文到达时间也不是纯Prefill。涉及输入内容时只保留排查必要的信息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OpenAI Python SDK · README</a:t>
            </a:r>
          </a:p>
          <a:p>
            <a:r>
              <a:t>https://github.com/openai/openai-python</a:t>
            </a:r>
          </a:p>
          <a:p>
            <a:r>
              <a:t>定位：Handling errors; Request IDs; Retries; Timeouts; Responses API</a:t>
            </a:r>
          </a:p>
          <a:p>
            <a:r>
              <a:t>引用：示例改编自 openai/openai-python，Apache-2.0 License</a:t>
            </a:r>
          </a:p>
          <a:p/>
          <a:p>
            <a:r>
              <a:t>Pydantic · Error Handling</a:t>
            </a:r>
          </a:p>
          <a:p>
            <a:r>
              <a:t>https://docs.pydantic.dev/latest/errors/errors/</a:t>
            </a:r>
          </a:p>
          <a:p>
            <a:r>
              <a:t>定位：ValidationError.errors; loc, type, msg, input</a:t>
            </a:r>
          </a:p>
          <a:p>
            <a:r>
              <a:t>引用：教学概述与来源链接，短代码按注明来源改编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引用JSONSchemaBench v3论文Figure1原图，2025-02-27。A横轴为六类Schema集合、纵轴生成速度Token/s；B为不同Schema集合的支持覆盖率；C横轴为三个下游任务、纵轴准确率。色彩标识不同框架，LLM only是无约束基线，各子图并非包含完全相同的系列。这里只借原图说明评价维度，不把历史版本排名当成当前推荐，也不宣称任意任务都同幅度受益。论文以10K真实Schema加官方Test Suite考查效率、覆盖率和质量。课堂要读清轴与图例，强调约束支持和语义质量不能由吞吐一个指标替代。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JSONSchemaBench: A Rigorous Benchmark of Structured Outputs for Language Models</a:t>
            </a:r>
          </a:p>
          <a:p>
            <a:r>
              <a:t>https://arxiv.org/abs/2501.10868</a:t>
            </a:r>
          </a:p>
          <a:p>
            <a:r>
              <a:t>定位：Benchmark design; efficiency, coverage and quality; v3 (2025-02-27)</a:t>
            </a:r>
          </a:p>
          <a:p>
            <a:r>
              <a:t>引用：基于论文研究设计的概述，不复述整篇论文或展示未经核实的性能排名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只列代表性入口。更多精确出处已经放在各页页脚和讲者备注中，不需要学生一次读完所有材料。XGrammar原图对应Figure3与Figure7；JSONSchemaBench是评估结构化生成的研究入口。正式讲授至此结束，用时预算65分钟。</a:t>
            </a:r>
          </a:p>
          <a:p/>
          <a:p>
            <a:r>
              <a:t>讲授预算：0.5分钟</a:t>
            </a:r>
          </a:p>
          <a:p/>
          <a:p>
            <a:r>
              <a:t>[Sources]</a:t>
            </a:r>
          </a:p>
          <a:p>
            <a:r>
              <a:t>OpenAI Cookbook · Introduction to Structured Outputs</a:t>
            </a:r>
          </a:p>
          <a:p>
            <a:r>
              <a:t>https://cookbook.openai.com/examples/structured_outputs_intro</a:t>
            </a:r>
          </a:p>
          <a:p>
            <a:r>
              <a:t>定位：Example 1: Math tutor; saved output for 8x + 7 = -23</a:t>
            </a:r>
          </a:p>
          <a:p>
            <a:r>
              <a:t>引用：示例改编自 openai/openai-cookbook，MIT License；解题记录来自 notebook 的已保存输出</a:t>
            </a:r>
          </a:p>
          <a:p/>
          <a:p>
            <a:r>
              <a:t>Understanding JSON Schema · object</a:t>
            </a:r>
          </a:p>
          <a:p>
            <a:r>
              <a:t>https://json-schema.org/understanding-json-schema/reference/object</a:t>
            </a:r>
          </a:p>
          <a:p>
            <a:r>
              <a:t>定位：Properties; Required Properties; Additional Properties</a:t>
            </a:r>
          </a:p>
          <a:p>
            <a:r>
              <a:t>引用：教学概述与来源链接，短代码按注明来源改编</a:t>
            </a:r>
          </a:p>
          <a:p/>
          <a:p>
            <a:r>
              <a:t>Pydantic · Models</a:t>
            </a:r>
          </a:p>
          <a:p>
            <a:r>
              <a:t>https://docs.pydantic.dev/latest/concepts/models/</a:t>
            </a:r>
          </a:p>
          <a:p>
            <a:r>
              <a:t>定位：model_validate_json; model_dump; Extra data</a:t>
            </a:r>
          </a:p>
          <a:p>
            <a:r>
              <a:t>引用：教学概述与来源链接，短代码按注明来源改编</a:t>
            </a:r>
          </a:p>
          <a:p/>
          <a:p>
            <a:r>
              <a:t>XGrammar · Efficient, Flexible and Portable Structured Generation</a:t>
            </a:r>
          </a:p>
          <a:p>
            <a:r>
              <a:t>https://blog.mlc.ai/2024/11/22/achieving-efficient-flexible-portable-structured-generation-with-xgrammar</a:t>
            </a:r>
          </a:p>
          <a:p>
            <a:r>
              <a:t>定位：Constrained Decoding; Overlapping CPU Computation with GPU Computation</a:t>
            </a:r>
          </a:p>
          <a:p>
            <a:r>
              <a:t>引用：原图引用自 XGrammar 作者技术博客，2024-11-22；保留原图标识与作者链接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-13594" y="0"/>
            <a:ext cx="12201063" cy="2655066"/>
            <a:chOff x="-9063" y="2259345"/>
            <a:chExt cx="12201063" cy="2655066"/>
          </a:xfrm>
        </p:grpSpPr>
        <p:pic>
          <p:nvPicPr>
            <p:cNvPr id="22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-51" r="-5" b="67386"/>
            <a:stretch>
              <a:fillRect/>
            </a:stretch>
          </p:blipFill>
          <p:spPr bwMode="auto">
            <a:xfrm>
              <a:off x="0" y="2259345"/>
              <a:ext cx="12192000" cy="265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/>
            <p:cNvSpPr/>
            <p:nvPr userDrawn="1"/>
          </p:nvSpPr>
          <p:spPr>
            <a:xfrm>
              <a:off x="-9063" y="2259345"/>
              <a:ext cx="12201062" cy="26550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0" y="2372478"/>
            <a:ext cx="12201062" cy="4485522"/>
            <a:chOff x="-9062" y="1894960"/>
            <a:chExt cx="12201062" cy="4485522"/>
          </a:xfrm>
        </p:grpSpPr>
        <p:pic>
          <p:nvPicPr>
            <p:cNvPr id="19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10675" r="-5" b="34293"/>
            <a:stretch>
              <a:fillRect/>
            </a:stretch>
          </p:blipFill>
          <p:spPr bwMode="auto">
            <a:xfrm>
              <a:off x="-9062" y="1907463"/>
              <a:ext cx="12192000" cy="4473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矩形 19"/>
            <p:cNvSpPr/>
            <p:nvPr userDrawn="1"/>
          </p:nvSpPr>
          <p:spPr>
            <a:xfrm>
              <a:off x="-9062" y="1894960"/>
              <a:ext cx="12201062" cy="448552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0" y="1649743"/>
            <a:ext cx="12187468" cy="1999209"/>
          </a:xfrm>
          <a:prstGeom prst="rect">
            <a:avLst/>
          </a:prstGeom>
          <a:gradFill flip="none" rotWithShape="1">
            <a:gsLst>
              <a:gs pos="46000">
                <a:srgbClr val="1D7692"/>
              </a:gs>
              <a:gs pos="96000">
                <a:srgbClr val="003C8B">
                  <a:alpha val="85000"/>
                </a:srgbClr>
              </a:gs>
              <a:gs pos="0">
                <a:srgbClr val="39B099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39550" y="2015538"/>
            <a:ext cx="10294776" cy="1311965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8531" y="4345244"/>
            <a:ext cx="9144000" cy="15273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917203" y="518762"/>
            <a:ext cx="2357594" cy="667477"/>
            <a:chOff x="9644502" y="109966"/>
            <a:chExt cx="2357594" cy="667477"/>
          </a:xfrm>
          <a:noFill/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5" r="53350"/>
            <a:stretch>
              <a:fillRect/>
            </a:stretch>
          </p:blipFill>
          <p:spPr>
            <a:xfrm>
              <a:off x="11299485" y="109966"/>
              <a:ext cx="702611" cy="667477"/>
            </a:xfrm>
            <a:prstGeom prst="rect">
              <a:avLst/>
            </a:prstGeom>
            <a:grpFill/>
          </p:spPr>
        </p:pic>
        <p:pic>
          <p:nvPicPr>
            <p:cNvPr id="10" name="Picture 2" descr="http://www.buaa.edu.cn/__local/B/CD/A6/968D8F6600C0B8195CD59008BF5_9249A080_12AB7.jpg?e=.jpg"/>
            <p:cNvPicPr>
              <a:picLocks noChangeAspect="1" noChangeArrowheads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4502" y="145963"/>
              <a:ext cx="618977" cy="618977"/>
            </a:xfrm>
            <a:prstGeom prst="rect">
              <a:avLst/>
            </a:prstGeom>
            <a:grpFill/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6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3" r="81714"/>
            <a:stretch>
              <a:fillRect/>
            </a:stretch>
          </p:blipFill>
          <p:spPr>
            <a:xfrm>
              <a:off x="10444440" y="216261"/>
              <a:ext cx="739594" cy="490019"/>
            </a:xfrm>
            <a:prstGeom prst="rect">
              <a:avLst/>
            </a:prstGeom>
            <a:grpFill/>
          </p:spPr>
        </p:pic>
      </p:grpSp>
      <p:cxnSp>
        <p:nvCxnSpPr>
          <p:cNvPr id="40" name="直接连接符 39"/>
          <p:cNvCxnSpPr/>
          <p:nvPr userDrawn="1"/>
        </p:nvCxnSpPr>
        <p:spPr>
          <a:xfrm>
            <a:off x="0" y="3794126"/>
            <a:ext cx="12201062" cy="0"/>
          </a:xfrm>
          <a:prstGeom prst="line">
            <a:avLst/>
          </a:prstGeom>
          <a:ln w="63500">
            <a:solidFill>
              <a:srgbClr val="2A91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04" y="136525"/>
            <a:ext cx="9030296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872283"/>
            <a:ext cx="11235193" cy="4392054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lt"/>
                <a:ea typeface="微软雅黑" panose="020B0503020204020204" pitchFamily="34" charset="-122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lt"/>
                <a:ea typeface="微软雅黑" panose="020B0503020204020204" pitchFamily="34" charset="-122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lt"/>
                <a:ea typeface="微软雅黑" panose="020B0503020204020204" pitchFamily="34" charset="-122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lt"/>
                <a:ea typeface="微软雅黑" panose="020B0503020204020204" pitchFamily="34" charset="-122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1" y="6536805"/>
            <a:ext cx="1247775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283209" y="1644336"/>
            <a:ext cx="1592243" cy="0"/>
          </a:xfrm>
          <a:prstGeom prst="line">
            <a:avLst/>
          </a:prstGeom>
          <a:ln w="38100">
            <a:solidFill>
              <a:srgbClr val="C52E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28"/>
          <p:cNvSpPr>
            <a:spLocks noGrp="1"/>
          </p:cNvSpPr>
          <p:nvPr>
            <p:ph type="body" sz="quarter" idx="13"/>
          </p:nvPr>
        </p:nvSpPr>
        <p:spPr>
          <a:xfrm>
            <a:off x="189904" y="1081386"/>
            <a:ext cx="3397250" cy="5984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04" y="136525"/>
            <a:ext cx="9030296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081386"/>
            <a:ext cx="11235193" cy="5182951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lt"/>
                <a:ea typeface="微软雅黑" panose="020B0503020204020204" pitchFamily="34" charset="-122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lt"/>
                <a:ea typeface="微软雅黑" panose="020B0503020204020204" pitchFamily="34" charset="-122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lt"/>
                <a:ea typeface="微软雅黑" panose="020B0503020204020204" pitchFamily="34" charset="-122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lt"/>
                <a:ea typeface="微软雅黑" panose="020B0503020204020204" pitchFamily="34" charset="-122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1" y="6536805"/>
            <a:ext cx="1247775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10675" r="-5" b="34293"/>
          <a:stretch>
            <a:fillRect/>
          </a:stretch>
        </p:blipFill>
        <p:spPr bwMode="auto">
          <a:xfrm>
            <a:off x="-9064" y="2384981"/>
            <a:ext cx="12192000" cy="447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-51" r="-5" b="67386"/>
          <a:stretch>
            <a:fillRect/>
          </a:stretch>
        </p:blipFill>
        <p:spPr bwMode="auto">
          <a:xfrm>
            <a:off x="-9064" y="0"/>
            <a:ext cx="12192000" cy="265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矩形 22"/>
          <p:cNvSpPr/>
          <p:nvPr userDrawn="1"/>
        </p:nvSpPr>
        <p:spPr>
          <a:xfrm>
            <a:off x="-18127" y="0"/>
            <a:ext cx="12201062" cy="6858000"/>
          </a:xfrm>
          <a:prstGeom prst="rect">
            <a:avLst/>
          </a:prstGeom>
          <a:gradFill flip="none" rotWithShape="1">
            <a:gsLst>
              <a:gs pos="62000">
                <a:srgbClr val="FFFFFF">
                  <a:alpha val="90000"/>
                </a:srgbClr>
              </a:gs>
              <a:gs pos="100000">
                <a:schemeClr val="bg1">
                  <a:alpha val="78000"/>
                </a:schemeClr>
              </a:gs>
              <a:gs pos="0">
                <a:schemeClr val="bg1">
                  <a:alpha val="7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75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标题 1"/>
          <p:cNvSpPr>
            <a:spLocks noGrp="1"/>
          </p:cNvSpPr>
          <p:nvPr>
            <p:ph type="ctrTitle"/>
          </p:nvPr>
        </p:nvSpPr>
        <p:spPr>
          <a:xfrm>
            <a:off x="935016" y="2165350"/>
            <a:ext cx="10294776" cy="25272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sz="60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cookbook.openai.com/examples/structured_outputs_intro" TargetMode="Externa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evelopers.openai.com/api/docs/guides/structured-outputs" TargetMode="External"/><Relationship Id="rId1" Type="http://schemas.openxmlformats.org/officeDocument/2006/relationships/hyperlink" Target="https://github.com/openai/openai-python/blob/main/helpers.md" TargetMode="Externa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cookbook.openai.com/examples/structured_outputs_intro" TargetMode="External"/><Relationship Id="rId1" Type="http://schemas.openxmlformats.org/officeDocument/2006/relationships/hyperlink" Target="https://developers.openai.com/api/docs/guides/structured-outputs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github.com/openai/openai-python" TargetMode="External"/><Relationship Id="rId1" Type="http://schemas.openxmlformats.org/officeDocument/2006/relationships/hyperlink" Target="https://developers.openai.com/api/docs/guides/migrate-to-responses" TargetMode="Externa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evelopers.openai.com/api/docs/guides/conversation-state" TargetMode="External"/><Relationship Id="rId1" Type="http://schemas.openxmlformats.org/officeDocument/2006/relationships/hyperlink" Target="https://developers.openai.com/api/docs/guides/migrate-to-responses" TargetMode="Externa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github.com/openai/openai-python" TargetMode="External"/><Relationship Id="rId2" Type="http://schemas.openxmlformats.org/officeDocument/2006/relationships/hyperlink" Target="https://github.com/openai/openai-python/blob/main/helpers.md" TargetMode="External"/><Relationship Id="rId1" Type="http://schemas.openxmlformats.org/officeDocument/2006/relationships/hyperlink" Target="https://developers.openai.com/api/docs/guides/structured-outputs" TargetMode="Externa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github.com/openai/openai-python/blob/main/helpers.md" TargetMode="External"/><Relationship Id="rId1" Type="http://schemas.openxmlformats.org/officeDocument/2006/relationships/hyperlink" Target="https://developers.openai.com/api/docs/guides/structured-output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developers.openai.com/api/docs/guides/structured-outputs" TargetMode="Externa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evelopers.openai.com/api/docs/guides/structured-outputs" TargetMode="External"/><Relationship Id="rId1" Type="http://schemas.openxmlformats.org/officeDocument/2006/relationships/hyperlink" Target="https://cookbook.openai.com/examples/structured_outputs_intro" TargetMode="Externa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proceedings.mlsys.org/paper_files/paper/2025/file/5c20ca4b0b20b0bd2f1d839dc605e70f-Paper-Conference.pdf" TargetMode="External"/><Relationship Id="rId2" Type="http://schemas.openxmlformats.org/officeDocument/2006/relationships/hyperlink" Target="https://blog.mlc.ai/2024/11/22/achieving-efficient-flexible-portable-structured-generation-with-xgrammar" TargetMode="Externa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hyperlink" Target="https://proceedings.mlsys.org/paper_files/paper/2025/file/5c20ca4b0b20b0bd2f1d839dc605e70f-Paper-Conference.pdf" TargetMode="External"/><Relationship Id="rId2" Type="http://schemas.openxmlformats.org/officeDocument/2006/relationships/hyperlink" Target="https://blog.mlc.ai/2024/11/22/achieving-efficient-flexible-portable-structured-generation-with-xgrammar" TargetMode="External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json-schema.org/understanding-json-schema/reference/object" TargetMode="Externa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evelopers.openai.com/api/docs/guides/structured-outputs" TargetMode="External"/><Relationship Id="rId1" Type="http://schemas.openxmlformats.org/officeDocument/2006/relationships/hyperlink" Target="https://json-schema.org/understanding-json-schema/reference/object" TargetMode="Externa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3.xml"/><Relationship Id="rId4" Type="http://schemas.openxmlformats.org/officeDocument/2006/relationships/hyperlink" Target="https://docs.pydantic.dev/latest/concepts/models/" TargetMode="External"/><Relationship Id="rId3" Type="http://schemas.openxmlformats.org/officeDocument/2006/relationships/hyperlink" Target="https://json-schema.org/understanding-json-schema/reference/enum" TargetMode="External"/><Relationship Id="rId2" Type="http://schemas.openxmlformats.org/officeDocument/2006/relationships/hyperlink" Target="https://developers.openai.com/api/docs/guides/structured-outputs" TargetMode="External"/><Relationship Id="rId1" Type="http://schemas.openxmlformats.org/officeDocument/2006/relationships/hyperlink" Target="https://json-schema.org/understanding-json-schema/reference/object" TargetMode="Externa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cookbook.openai.com/examples/structured_outputs_intro" TargetMode="External"/><Relationship Id="rId2" Type="http://schemas.openxmlformats.org/officeDocument/2006/relationships/hyperlink" Target="https://json-schema.org/understanding-json-schema/structuring" TargetMode="External"/><Relationship Id="rId1" Type="http://schemas.openxmlformats.org/officeDocument/2006/relationships/hyperlink" Target="https://json-schema.org/understanding-json-schema/reference/array" TargetMode="Externa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json-schema.org/understanding-json-schema/reference/numeric" TargetMode="External"/><Relationship Id="rId1" Type="http://schemas.openxmlformats.org/officeDocument/2006/relationships/hyperlink" Target="https://json-schema.org/understanding-json-schema/reference/enum" TargetMode="Externa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json-schema.org/understanding-json-schema/reference/annotations" TargetMode="External"/><Relationship Id="rId1" Type="http://schemas.openxmlformats.org/officeDocument/2006/relationships/hyperlink" Target="https://json-schema.org/understanding-json-schema/reference/string" TargetMode="Externa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evelopers.openai.com/api/docs/guides/structured-outputs" TargetMode="External"/><Relationship Id="rId1" Type="http://schemas.openxmlformats.org/officeDocument/2006/relationships/hyperlink" Target="https://json-schema.org/understanding-json-schema/reference/combining" TargetMode="Externa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3.xml"/><Relationship Id="rId4" Type="http://schemas.openxmlformats.org/officeDocument/2006/relationships/hyperlink" Target="https://github.com/openai/openai-python/blob/main/helpers.md" TargetMode="External"/><Relationship Id="rId3" Type="http://schemas.openxmlformats.org/officeDocument/2006/relationships/hyperlink" Target="https://docs.pydantic.dev/latest/concepts/strict_mode/" TargetMode="External"/><Relationship Id="rId2" Type="http://schemas.openxmlformats.org/officeDocument/2006/relationships/hyperlink" Target="https://docs.pydantic.dev/latest/concepts/json_schema/" TargetMode="External"/><Relationship Id="rId1" Type="http://schemas.openxmlformats.org/officeDocument/2006/relationships/hyperlink" Target="https://docs.pydantic.dev/latest/concepts/models/" TargetMode="Externa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evelopers.openai.com/api/docs/guides/structured-outputs" TargetMode="External"/><Relationship Id="rId1" Type="http://schemas.openxmlformats.org/officeDocument/2006/relationships/hyperlink" Target="https://github.com/openai/openai-python/blob/main/helpers.md" TargetMode="Externa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ocs.pydantic.dev/latest/concepts/models/" TargetMode="External"/><Relationship Id="rId1" Type="http://schemas.openxmlformats.org/officeDocument/2006/relationships/hyperlink" Target="https://docs.pydantic.dev/latest/concepts/strict_mode/" TargetMode="Externa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ocs.pydantic.dev/latest/concepts/json_schema/" TargetMode="External"/><Relationship Id="rId1" Type="http://schemas.openxmlformats.org/officeDocument/2006/relationships/hyperlink" Target="https://docs.pydantic.dev/latest/concepts/validators/" TargetMode="Externa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python-jsonschema.readthedocs.io/en/stable/validate/" TargetMode="External"/><Relationship Id="rId1" Type="http://schemas.openxmlformats.org/officeDocument/2006/relationships/hyperlink" Target="https://developers.openai.com/api/docs/guides/structured-outputs" TargetMode="Externa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github.com/openai/openai-python/blob/main/helpers.md" TargetMode="External"/><Relationship Id="rId1" Type="http://schemas.openxmlformats.org/officeDocument/2006/relationships/hyperlink" Target="https://developers.openai.com/api/docs/guides/structured-outputs" TargetMode="Externa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pydantic.dev/latest/errors/errors/" TargetMode="External"/><Relationship Id="rId2" Type="http://schemas.openxmlformats.org/officeDocument/2006/relationships/hyperlink" Target="https://github.com/openai/openai-python/blob/main/helpers.md" TargetMode="External"/><Relationship Id="rId1" Type="http://schemas.openxmlformats.org/officeDocument/2006/relationships/hyperlink" Target="https://docs.pydantic.dev/latest/concepts/models/" TargetMode="Externa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ocs.pydantic.dev/latest/concepts/strict_mode/" TargetMode="External"/><Relationship Id="rId1" Type="http://schemas.openxmlformats.org/officeDocument/2006/relationships/hyperlink" Target="https://docs.pydantic.dev/latest/errors/errors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github.com/openai/openai-python" TargetMode="Externa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evelopers.openai.com/api/docs/guides/structured-outputs" TargetMode="External"/><Relationship Id="rId1" Type="http://schemas.openxmlformats.org/officeDocument/2006/relationships/hyperlink" Target="https://docs.pydantic.dev/latest/errors/errors/" TargetMode="Externa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evelopers.openai.com/api/docs/guides/structured-outputs" TargetMode="External"/><Relationship Id="rId1" Type="http://schemas.openxmlformats.org/officeDocument/2006/relationships/hyperlink" Target="https://github.com/openai/openai-python/blob/main/helpers.md" TargetMode="Externa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evelopers.openai.com/api/docs/guides/structured-outputs" TargetMode="External"/><Relationship Id="rId1" Type="http://schemas.openxmlformats.org/officeDocument/2006/relationships/hyperlink" Target="https://github.com/openai/openai-python/blob/main/helpers.md" TargetMode="Externa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ocs.pydantic.dev/latest/errors/errors/" TargetMode="External"/><Relationship Id="rId1" Type="http://schemas.openxmlformats.org/officeDocument/2006/relationships/hyperlink" Target="https://github.com/openai/openai-python" TargetMode="Externa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arxiv.org/abs/2501.10868" TargetMode="External"/><Relationship Id="rId1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3.xml"/><Relationship Id="rId4" Type="http://schemas.openxmlformats.org/officeDocument/2006/relationships/hyperlink" Target="https://blog.mlc.ai/2024/11/22/achieving-efficient-flexible-portable-structured-generation-with-xgrammar" TargetMode="External"/><Relationship Id="rId3" Type="http://schemas.openxmlformats.org/officeDocument/2006/relationships/hyperlink" Target="https://docs.pydantic.dev/latest/concepts/models/" TargetMode="External"/><Relationship Id="rId2" Type="http://schemas.openxmlformats.org/officeDocument/2006/relationships/hyperlink" Target="https://json-schema.org/understanding-json-schema/reference/object" TargetMode="External"/><Relationship Id="rId1" Type="http://schemas.openxmlformats.org/officeDocument/2006/relationships/hyperlink" Target="https://cookbook.openai.com/examples/structured_outputs_intr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LLM Application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97255" y="4345305"/>
            <a:ext cx="10379075" cy="1527175"/>
          </a:xfrm>
        </p:spPr>
        <p:txBody>
          <a:bodyPr/>
          <a:lstStyle/>
          <a:p>
            <a:pPr>
              <a:defRPr sz="2250"/>
            </a:pPr>
            <a:r>
              <a:rPr lang="en-US" altLang="zh-CN" sz="2300" dirty="0">
                <a:sym typeface="+mn-ea"/>
              </a:rPr>
              <a:t>OpenAI API、Structured Output、JSON Schema</a:t>
            </a:r>
            <a:r>
              <a:rPr lang="zh-CN" altLang="en-US" sz="2300" dirty="0">
                <a:sym typeface="+mn-ea"/>
              </a:rPr>
              <a:t>、</a:t>
            </a:r>
            <a:r>
              <a:rPr lang="en-US" altLang="zh-CN" sz="2300" dirty="0">
                <a:sym typeface="+mn-ea"/>
              </a:rPr>
              <a:t>异常处理与结果解析</a:t>
            </a:r>
            <a:endParaRPr lang="en-US" altLang="zh-CN" sz="2300" dirty="0">
              <a:sym typeface="+mn-ea"/>
            </a:endParaRPr>
          </a:p>
          <a:p>
            <a:pPr>
              <a:defRPr sz="2250"/>
            </a:pPr>
            <a:r>
              <a:rPr lang="en-US" altLang="zh-CN" sz="2300" dirty="0">
                <a:sym typeface="+mn-ea"/>
              </a:rPr>
              <a:t>2026 秋季</a:t>
            </a:r>
            <a:endParaRPr lang="en-US" altLang="zh-CN" sz="2300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本次课程内容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46430" y="209423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2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2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sz="322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1446530" y="2094230"/>
            <a:ext cx="4714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7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7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OpenAI API</a:t>
            </a:r>
            <a:endParaRPr sz="27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1446530" y="2656205"/>
            <a:ext cx="47148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请求描述结果，响应进入程序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46430" y="37020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2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2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sz="322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1446530" y="3702050"/>
            <a:ext cx="4714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7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7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Structured Output</a:t>
            </a:r>
            <a:endParaRPr sz="27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1446530" y="4264025"/>
            <a:ext cx="47148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受约束解码及其系统开销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6723380" y="2094230"/>
            <a:ext cx="6191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2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2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sz="322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body-7"/>
          <p:cNvSpPr>
            <a:spLocks noGrp="1"/>
          </p:cNvSpPr>
          <p:nvPr/>
        </p:nvSpPr>
        <p:spPr>
          <a:xfrm>
            <a:off x="7523480" y="2094230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7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7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 Schema</a:t>
            </a:r>
            <a:endParaRPr sz="27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body-8"/>
          <p:cNvSpPr>
            <a:spLocks noGrp="1"/>
          </p:cNvSpPr>
          <p:nvPr/>
        </p:nvSpPr>
        <p:spPr>
          <a:xfrm>
            <a:off x="7523480" y="2656205"/>
            <a:ext cx="400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数据约束与 Python 类型定义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4" name="body-9"/>
          <p:cNvSpPr>
            <a:spLocks noGrp="1"/>
          </p:cNvSpPr>
          <p:nvPr/>
        </p:nvSpPr>
        <p:spPr>
          <a:xfrm>
            <a:off x="6723380" y="3702050"/>
            <a:ext cx="6191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2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2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endParaRPr sz="322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5" name="body-10"/>
          <p:cNvSpPr>
            <a:spLocks noGrp="1"/>
          </p:cNvSpPr>
          <p:nvPr/>
        </p:nvSpPr>
        <p:spPr>
          <a:xfrm>
            <a:off x="7523480" y="3702050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异常处理与结果解析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6" name="body-11"/>
          <p:cNvSpPr>
            <a:spLocks noGrp="1"/>
          </p:cNvSpPr>
          <p:nvPr/>
        </p:nvSpPr>
        <p:spPr>
          <a:xfrm>
            <a:off x="7523480" y="4264025"/>
            <a:ext cx="4000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完成状态、验证、重试与流式结果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 数学辅导应用的结果结构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同一份模型回答，需要分步骤显示，也需要单独读取答案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8859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输入：how can I solve 8x + 7 = −23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code-1"/>
          <p:cNvSpPr>
            <a:spLocks noGrp="1"/>
          </p:cNvSpPr>
          <p:nvPr/>
        </p:nvSpPr>
        <p:spPr>
          <a:xfrm>
            <a:off x="609600" y="2447925"/>
            <a:ext cx="6229350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172B3A"/>
                </a:solidFill>
              </a:rPr>
              <a:t>"steps"</a:t>
            </a:r>
            <a:r>
              <a:rPr b="0">
                <a:solidFill>
                  <a:srgbClr val="172B3A"/>
                </a:solidFill>
              </a:rPr>
              <a:t>: [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{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</a:t>
            </a:r>
            <a:r>
              <a:rPr b="0">
                <a:solidFill>
                  <a:srgbClr val="172B3A"/>
                </a:solidFill>
              </a:rPr>
              <a:t>"explanation"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"Subtract 7 ..."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  </a:t>
            </a:r>
            <a:r>
              <a:rPr b="1">
                <a:solidFill>
                  <a:srgbClr val="172B3A"/>
                </a:solidFill>
              </a:rPr>
              <a:t>"output"</a:t>
            </a:r>
            <a:r>
              <a:rPr>
                <a:solidFill>
                  <a:srgbClr val="003C8B"/>
                </a:solidFill>
              </a:rPr>
              <a:t>: </a:t>
            </a:r>
            <a:r>
              <a:rPr b="1">
                <a:solidFill>
                  <a:srgbClr val="172B3A"/>
                </a:solidFill>
              </a:rPr>
              <a:t>"8x + 7 - 7 = -23 - 7"</a:t>
            </a:r>
            <a:endParaRPr b="1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},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...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],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</a:t>
            </a:r>
            <a:r>
              <a:rPr b="1">
                <a:solidFill>
                  <a:srgbClr val="172B3A"/>
                </a:solidFill>
              </a:rPr>
              <a:t>"final_answer"</a:t>
            </a:r>
            <a:r>
              <a:rPr>
                <a:solidFill>
                  <a:srgbClr val="003C8B"/>
                </a:solidFill>
              </a:rPr>
              <a:t>: </a:t>
            </a:r>
            <a:r>
              <a:rPr b="1">
                <a:solidFill>
                  <a:srgbClr val="172B3A"/>
                </a:solidFill>
              </a:rPr>
              <a:t>"x = -15/4"</a:t>
            </a:r>
            <a:endParaRPr b="1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467600" y="2133600"/>
            <a:ext cx="40100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应用按字段展示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467600" y="2752725"/>
            <a:ext cx="4010025" cy="2076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 两边同时减去 7</a:t>
            </a:r>
            <a:endParaRPr sz="22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8x = −30</a:t>
            </a:r>
            <a:endParaRPr sz="22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250"/>
          </a:p>
          <a:p>
            <a:pPr>
              <a:lnSpc>
                <a:spcPct val="108000"/>
              </a:lnSpc>
              <a:buNone/>
              <a:def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 两边同时除以 8</a:t>
            </a:r>
            <a:endParaRPr sz="22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x = −15/4</a:t>
            </a:r>
            <a:endParaRPr sz="22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467600" y="5124450"/>
            <a:ext cx="4010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最终答案   x = −15/4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Cookbook: Structured Outputs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1.2 API 响应与模型生成内容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外层描述一次调用，message.content 承载模型生成的字符串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6496050" cy="3714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choice = response.choices[0]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message = choice.message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choice.finish_reason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60717E"/>
                </a:solidFill>
              </a:rPr>
              <a:t># "stop"</a:t>
            </a:r>
            <a:endParaRPr b="0">
              <a:solidFill>
                <a:srgbClr val="60717E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message.content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60717E"/>
                </a:solidFill>
              </a:rPr>
              <a:t># '{"steps": [...],</a:t>
            </a:r>
            <a:endParaRPr b="0">
              <a:solidFill>
                <a:srgbClr val="60717E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60717E"/>
                </a:solidFill>
              </a:rPr>
              <a:t>#   "final_answer": "x = -15/4"}'</a:t>
            </a:r>
            <a:endParaRPr b="0">
              <a:solidFill>
                <a:srgbClr val="60717E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response.usage</a:t>
            </a:r>
            <a:endParaRPr b="1">
              <a:solidFill>
                <a:srgbClr val="003C8B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7515225" y="2047875"/>
            <a:ext cx="4029075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SDK 已处理 HTTP 响应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并构造 response 对象。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515225" y="3476625"/>
            <a:ext cx="4029075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 仍是字符串。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需要继续解析其中的 JSON，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再检查应用需要的字段。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515225" y="5295900"/>
            <a:ext cx="40290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请求完成状态和内容校验分别读取。</a:t>
            </a:r>
            <a:endParaRPr sz="195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Python SDK: Parsing helpers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；OpenAI: Structured Outputs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1.3 结构化请求的组成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Prompt 给出任务，response_format 将结构约束发给服务端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7286625" cy="3714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response = client.chat.completions.create(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model=MODEL_ID,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messages=messages,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response_format={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  </a:t>
            </a:r>
            <a:r>
              <a:rPr b="0">
                <a:solidFill>
                  <a:srgbClr val="238773"/>
                </a:solidFill>
              </a:rPr>
              <a:t>"type"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"json_schema"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  </a:t>
            </a:r>
            <a:r>
              <a:rPr b="0">
                <a:solidFill>
                  <a:srgbClr val="238773"/>
                </a:solidFill>
              </a:rPr>
              <a:t>"json_schema"</a:t>
            </a:r>
            <a:r>
              <a:rPr b="0">
                <a:solidFill>
                  <a:srgbClr val="172B3A"/>
                </a:solidFill>
              </a:rPr>
              <a:t>: 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      </a:t>
            </a:r>
            <a:r>
              <a:rPr b="0">
                <a:solidFill>
                  <a:srgbClr val="238773"/>
                </a:solidFill>
              </a:rPr>
              <a:t>"name"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"math_reasoning"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        </a:t>
            </a:r>
            <a:r>
              <a:rPr b="1">
                <a:solidFill>
                  <a:srgbClr val="238773"/>
                </a:solidFill>
              </a:rPr>
              <a:t>"strict"</a:t>
            </a:r>
            <a:r>
              <a:rPr>
                <a:solidFill>
                  <a:srgbClr val="003C8B"/>
                </a:solidFill>
              </a:rPr>
              <a:t>: </a:t>
            </a:r>
            <a:r>
              <a:rPr b="1">
                <a:solidFill>
                  <a:srgbClr val="003C8B"/>
                </a:solidFill>
              </a:rPr>
              <a:t>True</a:t>
            </a:r>
            <a:r>
              <a:rPr b="1">
                <a:solidFill>
                  <a:srgbClr val="003C8B"/>
                </a:solidFill>
              </a:rPr>
              <a:t>,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        </a:t>
            </a:r>
            <a:r>
              <a:rPr b="1">
                <a:solidFill>
                  <a:srgbClr val="238773"/>
                </a:solidFill>
              </a:rPr>
              <a:t>"schema"</a:t>
            </a:r>
            <a:r>
              <a:rPr b="1">
                <a:solidFill>
                  <a:srgbClr val="003C8B"/>
                </a:solidFill>
              </a:rPr>
              <a:t>: MATH_SCHEMA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    }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}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)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8191500" y="2305050"/>
            <a:ext cx="3295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messages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8191500" y="2781300"/>
            <a:ext cx="32956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描述要解决的问题。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8191500" y="3695700"/>
            <a:ext cx="3295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MATH_SCHEMA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8191500" y="4219575"/>
            <a:ext cx="329565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定义结果的字段和类型。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模型与服务端需要支持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这项生成约束。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参考：OpenAI: Structured Outputs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Cookbook: Structured Outputs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1.4 OpenAI API、接口与 Python SDK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Chat Completions 与 Responses 都属于 OpenAI API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914525"/>
            <a:ext cx="3238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5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5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OpenAI API</a:t>
            </a:r>
            <a:endParaRPr sz="25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3571875" y="1971675"/>
            <a:ext cx="79724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模型服务接口的总称，下面是其中两套生成接口。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2686050"/>
            <a:ext cx="52673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Chat Completions API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ode-3"/>
          <p:cNvSpPr>
            <a:spLocks noGrp="1"/>
          </p:cNvSpPr>
          <p:nvPr/>
        </p:nvSpPr>
        <p:spPr>
          <a:xfrm>
            <a:off x="609600" y="3238500"/>
            <a:ext cx="5257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POST /v1/chat/completions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3781425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以对话消息组织一次生成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667500" y="2686050"/>
            <a:ext cx="4876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Responses API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ode-6"/>
          <p:cNvSpPr>
            <a:spLocks noGrp="1"/>
          </p:cNvSpPr>
          <p:nvPr/>
        </p:nvSpPr>
        <p:spPr>
          <a:xfrm>
            <a:off x="6667500" y="3238500"/>
            <a:ext cx="4876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POST /v1/responses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12" name="body-7"/>
          <p:cNvSpPr>
            <a:spLocks noGrp="1"/>
          </p:cNvSpPr>
          <p:nvPr/>
        </p:nvSpPr>
        <p:spPr>
          <a:xfrm>
            <a:off x="6667500" y="3781425"/>
            <a:ext cx="4876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以不同类型的 item 表达生成过程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body-8"/>
          <p:cNvSpPr>
            <a:spLocks noGrp="1"/>
          </p:cNvSpPr>
          <p:nvPr/>
        </p:nvSpPr>
        <p:spPr>
          <a:xfrm>
            <a:off x="609600" y="4629150"/>
            <a:ext cx="1076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同一个 Python SDK 可以调用两套接口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4" name="code-9"/>
          <p:cNvSpPr>
            <a:spLocks noGrp="1"/>
          </p:cNvSpPr>
          <p:nvPr/>
        </p:nvSpPr>
        <p:spPr>
          <a:xfrm>
            <a:off x="609600" y="5191125"/>
            <a:ext cx="56959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client.chat.completions.create(...)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15" name="code-10"/>
          <p:cNvSpPr>
            <a:spLocks noGrp="1"/>
          </p:cNvSpPr>
          <p:nvPr/>
        </p:nvSpPr>
        <p:spPr>
          <a:xfrm>
            <a:off x="6667500" y="5191125"/>
            <a:ext cx="4876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client.responses.create(...)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16" name="body-11"/>
          <p:cNvSpPr>
            <a:spLocks noGrp="1"/>
          </p:cNvSpPr>
          <p:nvPr/>
        </p:nvSpPr>
        <p:spPr>
          <a:xfrm>
            <a:off x="609600" y="57531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Responses 是后续演进的接口。官方推荐新项目使用它，Chat Completions 仍受支持。</a:t>
            </a:r>
            <a:endParaRPr sz="16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参考：OpenAI: Migrate to the Responses API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Python SDK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1.5 消息、工具调用与上下文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的工具交互需要表示中间步骤，并将结果交回模型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943100"/>
            <a:ext cx="5381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Chat Completions：messages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638925" y="1943100"/>
            <a:ext cx="4905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Responses：typed items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ode-2"/>
          <p:cNvSpPr>
            <a:spLocks noGrp="1"/>
          </p:cNvSpPr>
          <p:nvPr/>
        </p:nvSpPr>
        <p:spPr>
          <a:xfrm>
            <a:off x="609600" y="2562225"/>
            <a:ext cx="5314950" cy="163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assistant.message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tool_calls: [...]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tool.message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tool_call_id: </a:t>
            </a:r>
            <a:r>
              <a:rPr b="0">
                <a:solidFill>
                  <a:srgbClr val="238773"/>
                </a:solidFill>
              </a:rPr>
              <a:t>"call_1"</a:t>
            </a:r>
            <a:endParaRPr b="0">
              <a:solidFill>
                <a:srgbClr val="238773"/>
              </a:solidFill>
            </a:endParaRPr>
          </a:p>
        </p:txBody>
      </p:sp>
      <p:sp>
        <p:nvSpPr>
          <p:cNvPr id="108" name="code-3"/>
          <p:cNvSpPr>
            <a:spLocks noGrp="1"/>
          </p:cNvSpPr>
          <p:nvPr/>
        </p:nvSpPr>
        <p:spPr>
          <a:xfrm>
            <a:off x="6638925" y="2562225"/>
            <a:ext cx="4905375" cy="163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function_call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call_id: </a:t>
            </a:r>
            <a:r>
              <a:rPr b="0">
                <a:solidFill>
                  <a:srgbClr val="238773"/>
                </a:solidFill>
              </a:rPr>
              <a:t>"call_1"</a:t>
            </a:r>
            <a:endParaRPr b="0">
              <a:solidFill>
                <a:srgbClr val="238773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function_call_output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call_id: </a:t>
            </a:r>
            <a:r>
              <a:rPr b="0">
                <a:solidFill>
                  <a:srgbClr val="238773"/>
                </a:solidFill>
              </a:rPr>
              <a:t>"call_1"</a:t>
            </a:r>
            <a:endParaRPr b="0">
              <a:solidFill>
                <a:srgbClr val="238773"/>
              </a:solidFill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4457700"/>
            <a:ext cx="53149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通常由应用维护消息列表，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下一次请求带上所需历史。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638925" y="4457700"/>
            <a:ext cx="49053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可手动维护，也可使用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previous_response_id 关联上次调用。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609600" y="5457825"/>
            <a:ext cx="10972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自定义函数仍由应用执行。Responses 另提供平台内置工具及推理项支持。</a:t>
            </a:r>
            <a:endParaRPr sz="18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body-7"/>
          <p:cNvSpPr>
            <a:spLocks noGrp="1"/>
          </p:cNvSpPr>
          <p:nvPr/>
        </p:nvSpPr>
        <p:spPr>
          <a:xfrm>
            <a:off x="609600" y="58769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关联历史仍受上下文窗口限制，历史输入仍计入 token 费用。</a:t>
            </a:r>
            <a:endParaRPr sz="1575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参考：OpenAI: Migrate to the Responses API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；OpenAI: Conversation state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1.6 结构化输出的两套接口用法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同一个结果类型，使用不同的参数和解析结果入口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2047875"/>
          <a:ext cx="10972800" cy="3152775"/>
        </p:xfrm>
        <a:graphic>
          <a:graphicData uri="http://schemas.openxmlformats.org/drawingml/2006/table">
            <a:tbl>
              <a:tblPr/>
              <a:tblGrid>
                <a:gridCol w="2190750"/>
                <a:gridCol w="4391025"/>
                <a:gridCol w="4391025"/>
              </a:tblGrid>
              <a:tr h="63055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位置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Chat Completions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Responses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输入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messages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input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原始结构配置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response_format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text.format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Pydantic helper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chat.completions.parse(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response_format=Model)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responses.parse(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text_format=Model)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解析后对象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choices[0].message.parsed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output_parsed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48640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示例沿用 Chat Completions 以衔接上一讲。Schema、解析与校验原则适用于两套接口。</a:t>
            </a:r>
            <a:endParaRPr sz="18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参考：OpenAI: Structured Outputs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Python SDK: Parsing helpers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；OpenAI Python SDK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1.7 结构化回答与工具调用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结果交给谁，决定应用随后执行什么操作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885950"/>
            <a:ext cx="5191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结构化回答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code-1"/>
          <p:cNvSpPr>
            <a:spLocks noGrp="1"/>
          </p:cNvSpPr>
          <p:nvPr/>
        </p:nvSpPr>
        <p:spPr>
          <a:xfrm>
            <a:off x="609600" y="2543175"/>
            <a:ext cx="5286375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172B3A"/>
                </a:solidFill>
              </a:rPr>
              <a:t>"steps"</a:t>
            </a:r>
            <a:r>
              <a:rPr b="0">
                <a:solidFill>
                  <a:srgbClr val="172B3A"/>
                </a:solidFill>
              </a:rPr>
              <a:t>: [...],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172B3A"/>
                </a:solidFill>
              </a:rPr>
              <a:t>"final_answer"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"x = -15/4"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4467225"/>
            <a:ext cx="5238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 MathReasoning</a:t>
            </a:r>
            <a:endParaRPr sz="225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2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交给页面显示</a:t>
            </a:r>
            <a:endParaRPr sz="225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743700" y="188595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模型返回的工具调用请求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ode-4"/>
          <p:cNvSpPr>
            <a:spLocks noGrp="1"/>
          </p:cNvSpPr>
          <p:nvPr/>
        </p:nvSpPr>
        <p:spPr>
          <a:xfrm>
            <a:off x="6743700" y="2543175"/>
            <a:ext cx="4762500" cy="1857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tool_call.function.name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60717E"/>
                </a:solidFill>
              </a:rPr>
              <a:t># "read_file"</a:t>
            </a:r>
            <a:endParaRPr b="0">
              <a:solidFill>
                <a:srgbClr val="60717E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tool_call.function.arguments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60717E"/>
                </a:solidFill>
              </a:rPr>
              <a:t># '{"path":"main.py"}'</a:t>
            </a:r>
            <a:endParaRPr b="0">
              <a:solidFill>
                <a:srgbClr val="60717E"/>
              </a:solidFill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743700" y="4772025"/>
            <a:ext cx="47625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校验参数与执行条件</a:t>
            </a:r>
            <a:endParaRPr sz="21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应用调用工具，再回传结果</a:t>
            </a:r>
            <a:endParaRPr sz="21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参考：OpenAI: Structured Outputs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Python SDK: Parsing helpers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2.1 输出模式提供不同的约束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 语法正确，与满足应用 Schema，是不同的检查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2047875"/>
          <a:ext cx="10972800" cy="2771776"/>
        </p:xfrm>
        <a:graphic>
          <a:graphicData uri="http://schemas.openxmlformats.org/drawingml/2006/table">
            <a:tbl>
              <a:tblPr/>
              <a:tblGrid>
                <a:gridCol w="2714625"/>
                <a:gridCol w="4048125"/>
                <a:gridCol w="4210050"/>
              </a:tblGrid>
              <a:tr h="69294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方式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生成侧约束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仍要检查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9294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Prompt 要求 JSON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模型遵循文字要求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JSON 语法、字段和类型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9294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JSON mode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正常完整输出为合法 JSON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字段和类型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294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Structured Outputs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strict: true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遵守受支持的 Schema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完成状态、拒答与业务正确性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06" name="code-1"/>
          <p:cNvSpPr>
            <a:spLocks noGrp="1"/>
          </p:cNvSpPr>
          <p:nvPr/>
        </p:nvSpPr>
        <p:spPr>
          <a:xfrm>
            <a:off x="609600" y="5124450"/>
            <a:ext cx="4667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2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{</a:t>
            </a:r>
            <a:r>
              <a:rPr b="0">
                <a:solidFill>
                  <a:srgbClr val="172B3A"/>
                </a:solidFill>
              </a:rPr>
              <a:t>"answer"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"-15/4"</a:t>
            </a: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5057775" y="5172075"/>
            <a:ext cx="64865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 合法，但缺少 steps / final_answer。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参考：OpenAI: Structured Outputs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2.2 Prompt 与 Schema 的分工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结构约束确定可接受的形状，Prompt 描述应该完成的任务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8859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任务要求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409825"/>
            <a:ext cx="107156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逐步求解方程，解释每次等式变换，给出化简后的答案。</a:t>
            </a:r>
            <a:endParaRPr sz="22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3371850"/>
            <a:ext cx="1076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 Schema 下的两个 final_answer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ode-3"/>
          <p:cNvSpPr>
            <a:spLocks noGrp="1"/>
          </p:cNvSpPr>
          <p:nvPr/>
        </p:nvSpPr>
        <p:spPr>
          <a:xfrm>
            <a:off x="609600" y="3962400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8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238773"/>
                </a:solidFill>
              </a:rPr>
              <a:t>"x = -15/4"</a:t>
            </a:r>
            <a:endParaRPr b="0">
              <a:solidFill>
                <a:srgbClr val="238773"/>
              </a:solidFill>
            </a:endParaRPr>
          </a:p>
        </p:txBody>
      </p:sp>
      <p:sp>
        <p:nvSpPr>
          <p:cNvPr id="109" name="code-4"/>
          <p:cNvSpPr>
            <a:spLocks noGrp="1"/>
          </p:cNvSpPr>
          <p:nvPr/>
        </p:nvSpPr>
        <p:spPr>
          <a:xfrm>
            <a:off x="7029450" y="3962400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8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238773"/>
                </a:solidFill>
              </a:rPr>
              <a:t>"x = 4"</a:t>
            </a:r>
            <a:endParaRPr b="0">
              <a:solidFill>
                <a:srgbClr val="238773"/>
              </a:solidFill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09600" y="4819650"/>
            <a:ext cx="53340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 × (−15/4) + 7 = −23</a:t>
            </a:r>
            <a:endParaRPr sz="2175" b="0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75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满足原方程</a:t>
            </a:r>
            <a:endParaRPr sz="2175" b="0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7029450" y="4819650"/>
            <a:ext cx="4476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 × 4 + 7 = 39</a:t>
            </a:r>
            <a:endParaRPr sz="2175" b="0">
              <a:solidFill>
                <a:srgbClr val="AD3B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7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不满足原方程</a:t>
            </a:r>
            <a:endParaRPr sz="2175" b="0">
              <a:solidFill>
                <a:srgbClr val="AD3B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Cookbook: Structured Outputs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；OpenAI: Structured Outputs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2.3 受约束解码的下一 Token 选择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语法状态根据当前前缀，动态排除不合法的候选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87642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Schema 规定 done 为布尔值。图中展示连续两个生成位置。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1"/>
          <a:srcRect t="46000" b="4000"/>
          <a:stretch>
            <a:fillRect/>
          </a:stretch>
        </p:blipFill>
        <p:spPr>
          <a:xfrm>
            <a:off x="609600" y="2647950"/>
            <a:ext cx="10972800" cy="2695575"/>
          </a:xfrm>
          <a:prstGeom prst="rect">
            <a:avLst/>
          </a:prstGeom>
        </p:spPr>
      </p:pic>
      <p:sp>
        <p:nvSpPr>
          <p:cNvPr id="107" name="body-2"/>
          <p:cNvSpPr>
            <a:spLocks noGrp="1"/>
          </p:cNvSpPr>
          <p:nvPr/>
        </p:nvSpPr>
        <p:spPr>
          <a:xfrm>
            <a:off x="609600" y="54673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冒号后允许 true / false；值生成完成后，合法延续变为分隔符。</a:t>
            </a:r>
            <a:endParaRPr sz="195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参考：MLC: XGrammar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；XGrammar, MLSys 2025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2.4 受约束生成的系统开销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Schema 编译与逐步掩码计算，也进入生成的关键路径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324100"/>
            <a:ext cx="7429500" cy="2505075"/>
          </a:xfrm>
          <a:prstGeom prst="rect">
            <a:avLst/>
          </a:prstGeom>
        </p:spPr>
      </p:pic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参考：MLC: XGrammar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；XGrammar, MLSys 2025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  <p:sp>
        <p:nvSpPr>
          <p:cNvPr id="110" name="legend-title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420100" y="1799590"/>
            <a:ext cx="31623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Grammar Compilation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legend-body-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420100" y="2094865"/>
            <a:ext cx="3162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将结构规则编译成</a:t>
            </a:r>
            <a:endParaRPr sz="15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运行时可使用的表示。</a:t>
            </a:r>
            <a:endParaRPr sz="15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legend-title-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420100" y="2778125"/>
            <a:ext cx="31623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Mask Gen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legend-body-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420100" y="3073400"/>
            <a:ext cx="3162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根据当前语法状态，</a:t>
            </a:r>
            <a:endParaRPr sz="15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计算合法 token 掩码。</a:t>
            </a:r>
            <a:endParaRPr sz="15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4" name="legend-title-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420100" y="3843020"/>
            <a:ext cx="31623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Apply Mask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5" name="legend-body-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420100" y="4138295"/>
            <a:ext cx="3162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将掩码应用到 logits，</a:t>
            </a:r>
            <a:endParaRPr sz="15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屏蔽不合法的候选。</a:t>
            </a:r>
            <a:endParaRPr sz="15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6" name="legend-title-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420100" y="4938395"/>
            <a:ext cx="31623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Sampling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7" name="legend-body-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420100" y="5233670"/>
            <a:ext cx="3162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从合法候选中</a:t>
            </a:r>
            <a:endParaRPr sz="15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选出下一个 token。</a:t>
            </a:r>
            <a:endParaRPr sz="15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0" name="pipeline-caption"/>
          <p:cNvSpPr>
            <a:spLocks noGrp="1"/>
          </p:cNvSpPr>
          <p:nvPr/>
        </p:nvSpPr>
        <p:spPr>
          <a:xfrm>
            <a:off x="609600" y="5248275"/>
            <a:ext cx="7429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上：CPU / GPU 相互等待。</a:t>
            </a:r>
            <a:endParaRPr sz="18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下：编译、掩码计算与 GPU 工作部分重叠。</a:t>
            </a:r>
            <a:endParaRPr sz="18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 properties 与 required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定义字段约束后，还要明确该字段是否必须出现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6343650" cy="281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172B3A"/>
                </a:solidFill>
              </a:rPr>
              <a:t>"type"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"object"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</a:t>
            </a:r>
            <a:r>
              <a:rPr b="1">
                <a:solidFill>
                  <a:srgbClr val="172B3A"/>
                </a:solidFill>
              </a:rPr>
              <a:t>"properties"</a:t>
            </a:r>
            <a:r>
              <a:rPr b="1">
                <a:solidFill>
                  <a:srgbClr val="003C8B"/>
                </a:solidFill>
              </a:rPr>
              <a:t>: {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</a:t>
            </a:r>
            <a:r>
              <a:rPr b="0">
                <a:solidFill>
                  <a:srgbClr val="172B3A"/>
                </a:solidFill>
              </a:rPr>
              <a:t>"final_answer"</a:t>
            </a:r>
            <a:r>
              <a:rPr>
                <a:solidFill>
                  <a:srgbClr val="172B3A"/>
                </a:solidFill>
              </a:rPr>
              <a:t>: {</a:t>
            </a:r>
            <a:r>
              <a:rPr b="0">
                <a:solidFill>
                  <a:srgbClr val="172B3A"/>
                </a:solidFill>
              </a:rPr>
              <a:t>"type"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"string"</a:t>
            </a: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},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</a:t>
            </a:r>
            <a:r>
              <a:rPr b="1">
                <a:solidFill>
                  <a:srgbClr val="172B3A"/>
                </a:solidFill>
              </a:rPr>
              <a:t>"required"</a:t>
            </a:r>
            <a:r>
              <a:rPr>
                <a:solidFill>
                  <a:srgbClr val="003C8B"/>
                </a:solidFill>
              </a:rPr>
              <a:t>: [</a:t>
            </a:r>
            <a:r>
              <a:rPr b="1">
                <a:solidFill>
                  <a:srgbClr val="172B3A"/>
                </a:solidFill>
              </a:rPr>
              <a:t>"final_answer"</a:t>
            </a:r>
            <a:r>
              <a:rPr b="1">
                <a:solidFill>
                  <a:srgbClr val="003C8B"/>
                </a:solidFill>
              </a:rPr>
              <a:t>]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7791450" y="2095500"/>
            <a:ext cx="3676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不通过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ode-2"/>
          <p:cNvSpPr>
            <a:spLocks noGrp="1"/>
          </p:cNvSpPr>
          <p:nvPr/>
        </p:nvSpPr>
        <p:spPr>
          <a:xfrm>
            <a:off x="7791450" y="2590800"/>
            <a:ext cx="36766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5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{}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791450" y="3200400"/>
            <a:ext cx="36766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缺少 final_answer</a:t>
            </a:r>
            <a:endParaRPr sz="2025" b="0">
              <a:solidFill>
                <a:srgbClr val="AD3B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791450" y="4057650"/>
            <a:ext cx="3676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ode-5"/>
          <p:cNvSpPr>
            <a:spLocks noGrp="1"/>
          </p:cNvSpPr>
          <p:nvPr/>
        </p:nvSpPr>
        <p:spPr>
          <a:xfrm>
            <a:off x="6715125" y="4552950"/>
            <a:ext cx="47910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{</a:t>
            </a:r>
            <a:r>
              <a:rPr b="0">
                <a:solidFill>
                  <a:srgbClr val="172B3A"/>
                </a:solidFill>
              </a:rPr>
              <a:t>"final_answer"</a:t>
            </a:r>
            <a:r>
              <a:rPr>
                <a:solidFill>
                  <a:srgbClr val="172B3A"/>
                </a:solidFill>
              </a:rPr>
              <a:t>:</a:t>
            </a:r>
            <a:r>
              <a:rPr b="0">
                <a:solidFill>
                  <a:srgbClr val="172B3A"/>
                </a:solidFill>
              </a:rPr>
              <a:t>"x = -15/4"</a:t>
            </a: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609600" y="54578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properties 本身不会要求字段存在。</a:t>
            </a:r>
            <a:endParaRPr sz="210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参考：JSON Schema: object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 additionalProperties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对象默认允许未知字段，需要显式关闭额外字段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6486525" cy="3209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172B3A"/>
                </a:solidFill>
              </a:rPr>
              <a:t>"type"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"object"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172B3A"/>
                </a:solidFill>
              </a:rPr>
              <a:t>"properties"</a:t>
            </a:r>
            <a:r>
              <a:rPr b="0">
                <a:solidFill>
                  <a:srgbClr val="172B3A"/>
                </a:solidFill>
              </a:rPr>
              <a:t>: 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</a:t>
            </a:r>
            <a:r>
              <a:rPr b="0">
                <a:solidFill>
                  <a:srgbClr val="172B3A"/>
                </a:solidFill>
              </a:rPr>
              <a:t>"final_answer"</a:t>
            </a:r>
            <a:r>
              <a:rPr>
                <a:solidFill>
                  <a:srgbClr val="172B3A"/>
                </a:solidFill>
              </a:rPr>
              <a:t>: {</a:t>
            </a:r>
            <a:r>
              <a:rPr b="0">
                <a:solidFill>
                  <a:srgbClr val="172B3A"/>
                </a:solidFill>
              </a:rPr>
              <a:t>"type"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"string"</a:t>
            </a: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},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172B3A"/>
                </a:solidFill>
              </a:rPr>
              <a:t>"required"</a:t>
            </a:r>
            <a:r>
              <a:rPr>
                <a:solidFill>
                  <a:srgbClr val="172B3A"/>
                </a:solidFill>
              </a:rPr>
              <a:t>: [</a:t>
            </a:r>
            <a:r>
              <a:rPr b="0">
                <a:solidFill>
                  <a:srgbClr val="172B3A"/>
                </a:solidFill>
              </a:rPr>
              <a:t>"final_answer"</a:t>
            </a:r>
            <a:r>
              <a:rPr b="0">
                <a:solidFill>
                  <a:srgbClr val="172B3A"/>
                </a:solidFill>
              </a:rPr>
              <a:t>],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</a:t>
            </a:r>
            <a:r>
              <a:rPr b="1">
                <a:solidFill>
                  <a:srgbClr val="172B3A"/>
                </a:solidFill>
              </a:rPr>
              <a:t>"additionalProperties"</a:t>
            </a:r>
            <a:r>
              <a:rPr b="1">
                <a:solidFill>
                  <a:srgbClr val="003C8B"/>
                </a:solidFill>
              </a:rPr>
              <a:t>: false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7886700" y="2076450"/>
            <a:ext cx="35909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ode-2"/>
          <p:cNvSpPr>
            <a:spLocks noGrp="1"/>
          </p:cNvSpPr>
          <p:nvPr/>
        </p:nvSpPr>
        <p:spPr>
          <a:xfrm>
            <a:off x="6962775" y="2657475"/>
            <a:ext cx="4572000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172B3A"/>
                </a:solidFill>
              </a:rPr>
              <a:t>"final_answer"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"x = -15/4"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</a:t>
            </a:r>
            <a:r>
              <a:rPr b="1">
                <a:solidFill>
                  <a:srgbClr val="172B3A"/>
                </a:solidFill>
              </a:rPr>
              <a:t>"confidence"</a:t>
            </a:r>
            <a:r>
              <a:rPr b="1">
                <a:solidFill>
                  <a:srgbClr val="003C8B"/>
                </a:solidFill>
              </a:rPr>
              <a:t>: 0.99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810500" y="4638675"/>
            <a:ext cx="37338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confidence 没有被声明，</a:t>
            </a:r>
            <a:endParaRPr sz="2100" b="0">
              <a:solidFill>
                <a:srgbClr val="AD3B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00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因此验证失败。</a:t>
            </a:r>
            <a:endParaRPr sz="2100" b="0">
              <a:solidFill>
                <a:srgbClr val="AD3B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参考：JSON Schema: object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；OpenAI: Structured Outputs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 缺失字段与 null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“没有这个字段”和“这个字段的值未知”可以分别表达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5972175" cy="2600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238773"/>
                </a:solidFill>
              </a:rPr>
              <a:t>"properties"</a:t>
            </a:r>
            <a:r>
              <a:rPr b="0">
                <a:solidFill>
                  <a:srgbClr val="172B3A"/>
                </a:solidFill>
              </a:rPr>
              <a:t>: 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238773"/>
                </a:solidFill>
              </a:rPr>
              <a:t>"answer"</a:t>
            </a:r>
            <a:r>
              <a:rPr b="0">
                <a:solidFill>
                  <a:srgbClr val="172B3A"/>
                </a:solidFill>
              </a:rPr>
              <a:t>: 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</a:t>
            </a:r>
            <a:r>
              <a:rPr b="1">
                <a:solidFill>
                  <a:srgbClr val="238773"/>
                </a:solidFill>
              </a:rPr>
              <a:t>"type"</a:t>
            </a:r>
            <a:r>
              <a:rPr>
                <a:solidFill>
                  <a:srgbClr val="003C8B"/>
                </a:solidFill>
              </a:rPr>
              <a:t>: [</a:t>
            </a:r>
            <a:r>
              <a:rPr b="1">
                <a:solidFill>
                  <a:srgbClr val="238773"/>
                </a:solidFill>
              </a:rPr>
              <a:t>"string"</a:t>
            </a:r>
            <a:r>
              <a:rPr>
                <a:solidFill>
                  <a:srgbClr val="003C8B"/>
                </a:solidFill>
              </a:rPr>
              <a:t>, </a:t>
            </a:r>
            <a:r>
              <a:rPr b="1">
                <a:solidFill>
                  <a:srgbClr val="238773"/>
                </a:solidFill>
              </a:rPr>
              <a:t>"null"</a:t>
            </a:r>
            <a:r>
              <a:rPr b="1">
                <a:solidFill>
                  <a:srgbClr val="003C8B"/>
                </a:solidFill>
              </a:rPr>
              <a:t>]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}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238773"/>
                </a:solidFill>
              </a:rPr>
              <a:t>"required"</a:t>
            </a:r>
            <a:r>
              <a:rPr>
                <a:solidFill>
                  <a:srgbClr val="003C8B"/>
                </a:solidFill>
              </a:rPr>
              <a:t>: [</a:t>
            </a:r>
            <a:r>
              <a:rPr b="1">
                <a:solidFill>
                  <a:srgbClr val="238773"/>
                </a:solidFill>
              </a:rPr>
              <a:t>"answer"</a:t>
            </a:r>
            <a:r>
              <a:rPr b="1">
                <a:solidFill>
                  <a:srgbClr val="003C8B"/>
                </a:solidFill>
              </a:rPr>
              <a:t>]</a:t>
            </a:r>
            <a:endParaRPr b="1">
              <a:solidFill>
                <a:srgbClr val="003C8B"/>
              </a:solidFill>
            </a:endParaRPr>
          </a:p>
        </p:txBody>
      </p:sp>
      <p:sp>
        <p:nvSpPr>
          <p:cNvPr id="106" name="code-1"/>
          <p:cNvSpPr>
            <a:spLocks noGrp="1"/>
          </p:cNvSpPr>
          <p:nvPr/>
        </p:nvSpPr>
        <p:spPr>
          <a:xfrm>
            <a:off x="7705725" y="2076450"/>
            <a:ext cx="37242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4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{}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705725" y="2628900"/>
            <a:ext cx="37814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不通过：字段缺失</a:t>
            </a:r>
            <a:endParaRPr sz="2025" b="0">
              <a:solidFill>
                <a:srgbClr val="AD3B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ode-3"/>
          <p:cNvSpPr>
            <a:spLocks noGrp="1"/>
          </p:cNvSpPr>
          <p:nvPr/>
        </p:nvSpPr>
        <p:spPr>
          <a:xfrm>
            <a:off x="7705725" y="3476625"/>
            <a:ext cx="37242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2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{</a:t>
            </a:r>
            <a:r>
              <a:rPr b="0">
                <a:solidFill>
                  <a:srgbClr val="172B3A"/>
                </a:solidFill>
              </a:rPr>
              <a:t>"answer"</a:t>
            </a:r>
            <a:r>
              <a:rPr b="0">
                <a:solidFill>
                  <a:srgbClr val="172B3A"/>
                </a:solidFill>
              </a:rPr>
              <a:t>: null}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705725" y="4057650"/>
            <a:ext cx="37814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通过：值可为 null</a:t>
            </a:r>
            <a:endParaRPr sz="2025" b="0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ode-5"/>
          <p:cNvSpPr>
            <a:spLocks noGrp="1"/>
          </p:cNvSpPr>
          <p:nvPr/>
        </p:nvSpPr>
        <p:spPr>
          <a:xfrm>
            <a:off x="7705725" y="4905375"/>
            <a:ext cx="37242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2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{</a:t>
            </a:r>
            <a:r>
              <a:rPr b="0">
                <a:solidFill>
                  <a:srgbClr val="172B3A"/>
                </a:solidFill>
              </a:rPr>
              <a:t>"answer"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"42"</a:t>
            </a: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609600" y="553402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API 要求字段必填时，可用包含 null 的类型表示无答案。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参考：JSON Schema: object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；OpenAI: Structured Outputs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；JSON Schema: enum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；Pydantic: Models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嵌套对象、数组与 $ref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MathReasoning 的 steps 是 Step 对象组成的数组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7048500" cy="3743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172B3A"/>
                </a:solidFill>
              </a:rPr>
              <a:t>"$defs"</a:t>
            </a:r>
            <a:r>
              <a:rPr b="0">
                <a:solidFill>
                  <a:srgbClr val="172B3A"/>
                </a:solidFill>
              </a:rPr>
              <a:t>: 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</a:t>
            </a:r>
            <a:r>
              <a:rPr b="1">
                <a:solidFill>
                  <a:srgbClr val="172B3A"/>
                </a:solidFill>
              </a:rPr>
              <a:t>"Step"</a:t>
            </a:r>
            <a:r>
              <a:rPr b="1">
                <a:solidFill>
                  <a:srgbClr val="003C8B"/>
                </a:solidFill>
              </a:rPr>
              <a:t>: {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</a:t>
            </a:r>
            <a:r>
              <a:rPr b="0">
                <a:solidFill>
                  <a:srgbClr val="172B3A"/>
                </a:solidFill>
              </a:rPr>
              <a:t>"type"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"object"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</a:t>
            </a:r>
            <a:r>
              <a:rPr b="0">
                <a:solidFill>
                  <a:srgbClr val="172B3A"/>
                </a:solidFill>
              </a:rPr>
              <a:t>"properties"</a:t>
            </a:r>
            <a:r>
              <a:rPr b="0">
                <a:solidFill>
                  <a:srgbClr val="172B3A"/>
                </a:solidFill>
              </a:rPr>
              <a:t>: 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  </a:t>
            </a:r>
            <a:r>
              <a:rPr b="0">
                <a:solidFill>
                  <a:srgbClr val="172B3A"/>
                </a:solidFill>
              </a:rPr>
              <a:t>"explanation"</a:t>
            </a:r>
            <a:r>
              <a:rPr>
                <a:solidFill>
                  <a:srgbClr val="172B3A"/>
                </a:solidFill>
              </a:rPr>
              <a:t>: {</a:t>
            </a:r>
            <a:r>
              <a:rPr b="0">
                <a:solidFill>
                  <a:srgbClr val="172B3A"/>
                </a:solidFill>
              </a:rPr>
              <a:t>"type"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"string"</a:t>
            </a:r>
            <a:r>
              <a:rPr b="0">
                <a:solidFill>
                  <a:srgbClr val="172B3A"/>
                </a:solidFill>
              </a:rPr>
              <a:t>},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  </a:t>
            </a:r>
            <a:r>
              <a:rPr b="0">
                <a:solidFill>
                  <a:srgbClr val="172B3A"/>
                </a:solidFill>
              </a:rPr>
              <a:t>"output"</a:t>
            </a:r>
            <a:r>
              <a:rPr>
                <a:solidFill>
                  <a:srgbClr val="172B3A"/>
                </a:solidFill>
              </a:rPr>
              <a:t>: {</a:t>
            </a:r>
            <a:r>
              <a:rPr b="0">
                <a:solidFill>
                  <a:srgbClr val="172B3A"/>
                </a:solidFill>
              </a:rPr>
              <a:t>"type"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"string"</a:t>
            </a: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  },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  </a:t>
            </a:r>
            <a:r>
              <a:rPr b="1">
                <a:solidFill>
                  <a:srgbClr val="172B3A"/>
                </a:solidFill>
              </a:rPr>
              <a:t>"required"</a:t>
            </a:r>
            <a:r>
              <a:rPr>
                <a:solidFill>
                  <a:srgbClr val="003C8B"/>
                </a:solidFill>
              </a:rPr>
              <a:t>: [</a:t>
            </a:r>
            <a:r>
              <a:rPr b="1">
                <a:solidFill>
                  <a:srgbClr val="172B3A"/>
                </a:solidFill>
              </a:rPr>
              <a:t>"explanation"</a:t>
            </a:r>
            <a:r>
              <a:rPr>
                <a:solidFill>
                  <a:srgbClr val="003C8B"/>
                </a:solidFill>
              </a:rPr>
              <a:t>, </a:t>
            </a:r>
            <a:r>
              <a:rPr b="1">
                <a:solidFill>
                  <a:srgbClr val="172B3A"/>
                </a:solidFill>
              </a:rPr>
              <a:t>"output"</a:t>
            </a:r>
            <a:r>
              <a:rPr b="1">
                <a:solidFill>
                  <a:srgbClr val="003C8B"/>
                </a:solidFill>
              </a:rPr>
              <a:t>],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  </a:t>
            </a:r>
            <a:r>
              <a:rPr b="1">
                <a:solidFill>
                  <a:srgbClr val="172B3A"/>
                </a:solidFill>
              </a:rPr>
              <a:t>"additionalProperties"</a:t>
            </a:r>
            <a:r>
              <a:rPr b="1">
                <a:solidFill>
                  <a:srgbClr val="003C8B"/>
                </a:solidFill>
              </a:rPr>
              <a:t>: false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}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}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7981950" y="1905000"/>
            <a:ext cx="3571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外层 steps 字段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ode-2"/>
          <p:cNvSpPr>
            <a:spLocks noGrp="1"/>
          </p:cNvSpPr>
          <p:nvPr/>
        </p:nvSpPr>
        <p:spPr>
          <a:xfrm>
            <a:off x="7686675" y="2486025"/>
            <a:ext cx="3857625" cy="2371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238773"/>
                </a:solidFill>
              </a:rPr>
              <a:t>"steps"</a:t>
            </a:r>
            <a:r>
              <a:rPr b="0">
                <a:solidFill>
                  <a:srgbClr val="172B3A"/>
                </a:solidFill>
              </a:rPr>
              <a:t>: 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238773"/>
                </a:solidFill>
              </a:rPr>
              <a:t>"type"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"array"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238773"/>
                </a:solidFill>
              </a:rPr>
              <a:t>"items"</a:t>
            </a:r>
            <a:r>
              <a:rPr b="0">
                <a:solidFill>
                  <a:srgbClr val="172B3A"/>
                </a:solidFill>
              </a:rPr>
              <a:t>: 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</a:t>
            </a:r>
            <a:r>
              <a:rPr b="1">
                <a:solidFill>
                  <a:srgbClr val="238773"/>
                </a:solidFill>
              </a:rPr>
              <a:t>"$ref"</a:t>
            </a:r>
            <a:r>
              <a:rPr>
                <a:solidFill>
                  <a:srgbClr val="003C8B"/>
                </a:solidFill>
              </a:rPr>
              <a:t>: </a:t>
            </a:r>
            <a:r>
              <a:rPr b="1">
                <a:solidFill>
                  <a:srgbClr val="238773"/>
                </a:solidFill>
              </a:rPr>
              <a:t>"#/$defs/Step"</a:t>
            </a:r>
            <a:endParaRPr b="1">
              <a:solidFill>
                <a:srgbClr val="238773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},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</a:t>
            </a:r>
            <a:r>
              <a:rPr b="1">
                <a:solidFill>
                  <a:srgbClr val="238773"/>
                </a:solidFill>
              </a:rPr>
              <a:t>"minItems"</a:t>
            </a:r>
            <a:r>
              <a:rPr b="1">
                <a:solidFill>
                  <a:srgbClr val="003C8B"/>
                </a:solidFill>
              </a:rPr>
              <a:t>: 1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686675" y="5238750"/>
            <a:ext cx="38576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items 检查每个元素。</a:t>
            </a:r>
            <a:endParaRPr sz="18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minItems 限制元素数量。</a:t>
            </a:r>
            <a:endParaRPr sz="18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参考：JSON Schema: array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；JSON Schema: structuring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；OpenAI Cookbook: Structured Outputs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3.5 枚举与数值范围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能由数据契约表达的边界，应交给验证器检查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88595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状态枚举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code-1"/>
          <p:cNvSpPr>
            <a:spLocks noGrp="1"/>
          </p:cNvSpPr>
          <p:nvPr/>
        </p:nvSpPr>
        <p:spPr>
          <a:xfrm>
            <a:off x="609600" y="2457450"/>
            <a:ext cx="5191125" cy="163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238773"/>
                </a:solidFill>
              </a:rPr>
              <a:t>"status"</a:t>
            </a:r>
            <a:r>
              <a:rPr b="0">
                <a:solidFill>
                  <a:srgbClr val="172B3A"/>
                </a:solidFill>
              </a:rPr>
              <a:t>: 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238773"/>
                </a:solidFill>
              </a:rPr>
              <a:t>"type"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"string"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238773"/>
                </a:solidFill>
              </a:rPr>
              <a:t>"enum"</a:t>
            </a:r>
            <a:r>
              <a:rPr>
                <a:solidFill>
                  <a:srgbClr val="172B3A"/>
                </a:solidFill>
              </a:rPr>
              <a:t>: [</a:t>
            </a:r>
            <a:r>
              <a:rPr b="0">
                <a:solidFill>
                  <a:srgbClr val="238773"/>
                </a:solidFill>
              </a:rPr>
              <a:t>"ok"</a:t>
            </a:r>
            <a:r>
              <a:rPr>
                <a:solidFill>
                  <a:srgbClr val="172B3A"/>
                </a:solidFill>
              </a:rPr>
              <a:t>, </a:t>
            </a:r>
            <a:r>
              <a:rPr b="0">
                <a:solidFill>
                  <a:srgbClr val="238773"/>
                </a:solidFill>
              </a:rPr>
              <a:t>"unknown"</a:t>
            </a:r>
            <a:r>
              <a:rPr b="0">
                <a:solidFill>
                  <a:srgbClr val="172B3A"/>
                </a:solidFill>
              </a:rPr>
              <a:t>]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7" name="code-2"/>
          <p:cNvSpPr>
            <a:spLocks noGrp="1"/>
          </p:cNvSpPr>
          <p:nvPr/>
        </p:nvSpPr>
        <p:spPr>
          <a:xfrm>
            <a:off x="609600" y="4591050"/>
            <a:ext cx="5191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3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238773"/>
                </a:solidFill>
              </a:rPr>
              <a:t>"status"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"maybe"</a:t>
            </a:r>
            <a:endParaRPr b="0">
              <a:solidFill>
                <a:srgbClr val="238773"/>
              </a:solidFill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09600" y="5219700"/>
            <a:ext cx="51911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失败：值不在允许的集合中。</a:t>
            </a:r>
            <a:endParaRPr sz="2025" b="0">
              <a:solidFill>
                <a:srgbClr val="AD3B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105650" y="1885950"/>
            <a:ext cx="4438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非负整数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ode-5"/>
          <p:cNvSpPr>
            <a:spLocks noGrp="1"/>
          </p:cNvSpPr>
          <p:nvPr/>
        </p:nvSpPr>
        <p:spPr>
          <a:xfrm>
            <a:off x="7105650" y="2457450"/>
            <a:ext cx="4438650" cy="163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238773"/>
                </a:solidFill>
              </a:rPr>
              <a:t>"count"</a:t>
            </a:r>
            <a:r>
              <a:rPr b="0">
                <a:solidFill>
                  <a:srgbClr val="172B3A"/>
                </a:solidFill>
              </a:rPr>
              <a:t>: 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238773"/>
                </a:solidFill>
              </a:rPr>
              <a:t>"type"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"integer"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238773"/>
                </a:solidFill>
              </a:rPr>
              <a:t>"minimum"</a:t>
            </a:r>
            <a:r>
              <a:rPr b="0">
                <a:solidFill>
                  <a:srgbClr val="172B3A"/>
                </a:solidFill>
              </a:rPr>
              <a:t>: 0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11" name="code-6"/>
          <p:cNvSpPr>
            <a:spLocks noGrp="1"/>
          </p:cNvSpPr>
          <p:nvPr/>
        </p:nvSpPr>
        <p:spPr>
          <a:xfrm>
            <a:off x="7105650" y="4591050"/>
            <a:ext cx="44386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3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238773"/>
                </a:solidFill>
              </a:rPr>
              <a:t>"count"</a:t>
            </a:r>
            <a:r>
              <a:rPr b="0">
                <a:solidFill>
                  <a:srgbClr val="172B3A"/>
                </a:solidFill>
              </a:rPr>
              <a:t>: -1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12" name="body-7"/>
          <p:cNvSpPr>
            <a:spLocks noGrp="1"/>
          </p:cNvSpPr>
          <p:nvPr/>
        </p:nvSpPr>
        <p:spPr>
          <a:xfrm>
            <a:off x="7105650" y="5219700"/>
            <a:ext cx="44386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失败：整数类型正确，范围错误。</a:t>
            </a:r>
            <a:endParaRPr sz="2025" b="0">
              <a:solidFill>
                <a:srgbClr val="AD3B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参考：JSON Schema: enum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；JSON Schema: numeric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3.6 pattern 与描述性注解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pattern 可以被检查，description 用于解释字段含义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7429500" cy="2066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238773"/>
                </a:solidFill>
              </a:rPr>
              <a:t>"ticket_id"</a:t>
            </a:r>
            <a:r>
              <a:rPr b="0">
                <a:solidFill>
                  <a:srgbClr val="172B3A"/>
                </a:solidFill>
              </a:rPr>
              <a:t>: 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238773"/>
                </a:solidFill>
              </a:rPr>
              <a:t>"type"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"string"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</a:t>
            </a:r>
            <a:r>
              <a:rPr b="1">
                <a:solidFill>
                  <a:srgbClr val="238773"/>
                </a:solidFill>
              </a:rPr>
              <a:t>"pattern"</a:t>
            </a:r>
            <a:r>
              <a:rPr>
                <a:solidFill>
                  <a:srgbClr val="003C8B"/>
                </a:solidFill>
              </a:rPr>
              <a:t>: </a:t>
            </a:r>
            <a:r>
              <a:rPr b="1">
                <a:solidFill>
                  <a:srgbClr val="238773"/>
                </a:solidFill>
              </a:rPr>
              <a:t>"^[A-Z]{3}-[0-9]{4}$"</a:t>
            </a:r>
            <a:r>
              <a:rPr b="1">
                <a:solidFill>
                  <a:srgbClr val="003C8B"/>
                </a:solidFill>
              </a:rPr>
              <a:t>,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</a:t>
            </a:r>
            <a:r>
              <a:rPr b="1">
                <a:solidFill>
                  <a:srgbClr val="238773"/>
                </a:solidFill>
              </a:rPr>
              <a:t>"description"</a:t>
            </a:r>
            <a:r>
              <a:rPr>
                <a:solidFill>
                  <a:srgbClr val="003C8B"/>
                </a:solidFill>
              </a:rPr>
              <a:t>: </a:t>
            </a:r>
            <a:r>
              <a:rPr b="1">
                <a:solidFill>
                  <a:srgbClr val="238773"/>
                </a:solidFill>
              </a:rPr>
              <a:t>"工单编号，例如 ABC-2026"</a:t>
            </a:r>
            <a:endParaRPr b="1">
              <a:solidFill>
                <a:srgbClr val="238773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1057275" y="445770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匹配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ode-2"/>
          <p:cNvSpPr>
            <a:spLocks noGrp="1"/>
          </p:cNvSpPr>
          <p:nvPr/>
        </p:nvSpPr>
        <p:spPr>
          <a:xfrm>
            <a:off x="1057275" y="5029200"/>
            <a:ext cx="333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7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238773"/>
                </a:solidFill>
              </a:rPr>
              <a:t>"ABC-2026"</a:t>
            </a:r>
            <a:endParaRPr b="0">
              <a:solidFill>
                <a:srgbClr val="238773"/>
              </a:solidFill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105525" y="4457700"/>
            <a:ext cx="5010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不匹配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ode-4"/>
          <p:cNvSpPr>
            <a:spLocks noGrp="1"/>
          </p:cNvSpPr>
          <p:nvPr/>
        </p:nvSpPr>
        <p:spPr>
          <a:xfrm>
            <a:off x="6105525" y="5029200"/>
            <a:ext cx="50101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7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238773"/>
                </a:solidFill>
              </a:rPr>
              <a:t>"abc-2026"</a:t>
            </a:r>
            <a:endParaRPr b="0">
              <a:solidFill>
                <a:srgbClr val="238773"/>
              </a:solidFill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8201025" y="2381250"/>
            <a:ext cx="3343275" cy="1628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^ 与 $ 约束整串。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缺少锚点时，通常按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“存在匹配子串”检查。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参考：JSON Schema: string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；JSON Schema: annotations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3.7 anyOf 与结果分支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一个字段可以承载多种合法类型，分支必须有明确的数据约定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6534150" cy="2543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1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238773"/>
                </a:solidFill>
              </a:rPr>
              <a:t>"result"</a:t>
            </a:r>
            <a:r>
              <a:rPr b="0">
                <a:solidFill>
                  <a:srgbClr val="172B3A"/>
                </a:solidFill>
              </a:rPr>
              <a:t>: 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</a:t>
            </a:r>
            <a:r>
              <a:rPr b="1">
                <a:solidFill>
                  <a:srgbClr val="238773"/>
                </a:solidFill>
              </a:rPr>
              <a:t>"anyOf"</a:t>
            </a:r>
            <a:r>
              <a:rPr b="1">
                <a:solidFill>
                  <a:srgbClr val="003C8B"/>
                </a:solidFill>
              </a:rPr>
              <a:t>: [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{</a:t>
            </a:r>
            <a:r>
              <a:rPr b="1">
                <a:solidFill>
                  <a:srgbClr val="238773"/>
                </a:solidFill>
              </a:rPr>
              <a:t>"type"</a:t>
            </a:r>
            <a:r>
              <a:rPr>
                <a:solidFill>
                  <a:srgbClr val="003C8B"/>
                </a:solidFill>
              </a:rPr>
              <a:t>: </a:t>
            </a:r>
            <a:r>
              <a:rPr b="1">
                <a:solidFill>
                  <a:srgbClr val="238773"/>
                </a:solidFill>
              </a:rPr>
              <a:t>"string"</a:t>
            </a:r>
            <a:r>
              <a:rPr b="1">
                <a:solidFill>
                  <a:srgbClr val="003C8B"/>
                </a:solidFill>
              </a:rPr>
              <a:t>},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{</a:t>
            </a:r>
            <a:r>
              <a:rPr b="1">
                <a:solidFill>
                  <a:srgbClr val="238773"/>
                </a:solidFill>
              </a:rPr>
              <a:t>"type"</a:t>
            </a:r>
            <a:r>
              <a:rPr>
                <a:solidFill>
                  <a:srgbClr val="003C8B"/>
                </a:solidFill>
              </a:rPr>
              <a:t>: </a:t>
            </a:r>
            <a:r>
              <a:rPr b="1">
                <a:solidFill>
                  <a:srgbClr val="238773"/>
                </a:solidFill>
              </a:rPr>
              <a:t>"null"</a:t>
            </a:r>
            <a:r>
              <a:rPr b="1">
                <a:solidFill>
                  <a:srgbClr val="003C8B"/>
                </a:solidFill>
              </a:rPr>
              <a:t>}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]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7781925" y="2447925"/>
            <a:ext cx="37623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"有答案" 或 null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781925" y="3429000"/>
            <a:ext cx="3762375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至少满足一个分支。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复杂任务也可以让分支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各自拥有不同对象结构。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09600" y="542925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oneOf：恰好一个分支成立。  allOf：每个分支都成立。</a:t>
            </a:r>
            <a:endParaRPr sz="210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参考：JSON Schema: combining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；OpenAI: Structured Outputs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3.8 用 Pydantic 保持类型与 Schema 一致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21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同一份模型定义，可以导出 Schema，也可以验证返回文本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7953375" cy="308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003C8B"/>
                </a:solidFill>
              </a:rPr>
              <a:t>class</a:t>
            </a:r>
            <a:r>
              <a:rPr b="0">
                <a:solidFill>
                  <a:srgbClr val="172B3A"/>
                </a:solidFill>
              </a:rPr>
              <a:t> Step(BaseModel):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model_config = ConfigDict(extra=</a:t>
            </a:r>
            <a:r>
              <a:rPr b="1">
                <a:solidFill>
                  <a:srgbClr val="238773"/>
                </a:solidFill>
              </a:rPr>
              <a:t>"forbid"</a:t>
            </a:r>
            <a:r>
              <a:rPr b="1">
                <a:solidFill>
                  <a:srgbClr val="003C8B"/>
                </a:solidFill>
              </a:rPr>
              <a:t>)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explanation: str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output: str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003C8B"/>
                </a:solidFill>
              </a:rPr>
              <a:t>class</a:t>
            </a:r>
            <a:r>
              <a:rPr b="0">
                <a:solidFill>
                  <a:srgbClr val="172B3A"/>
                </a:solidFill>
              </a:rPr>
              <a:t> MathReasoning(BaseModel):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model_config = ConfigDict(extra=</a:t>
            </a:r>
            <a:r>
              <a:rPr b="1">
                <a:solidFill>
                  <a:srgbClr val="238773"/>
                </a:solidFill>
              </a:rPr>
              <a:t>"forbid"</a:t>
            </a:r>
            <a:r>
              <a:rPr b="1">
                <a:solidFill>
                  <a:srgbClr val="003C8B"/>
                </a:solidFill>
              </a:rPr>
              <a:t>)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steps: list[Step] = Field(min_length=1)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final_answer: str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6" name="code-1"/>
          <p:cNvSpPr>
            <a:spLocks noGrp="1"/>
          </p:cNvSpPr>
          <p:nvPr/>
        </p:nvSpPr>
        <p:spPr>
          <a:xfrm>
            <a:off x="609600" y="50673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schema = MathReasoning.model_json_schema()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obj = MathReasoning.model_validate_json(raw, strict=</a:t>
            </a:r>
            <a:r>
              <a:rPr b="0">
                <a:solidFill>
                  <a:srgbClr val="003C8B"/>
                </a:solidFill>
              </a:rPr>
              <a:t>True</a:t>
            </a:r>
            <a:r>
              <a:rPr b="0">
                <a:solidFill>
                  <a:srgbClr val="172B3A"/>
                </a:solidFill>
              </a:rPr>
              <a:t>)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8886825" y="2133600"/>
            <a:ext cx="2571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禁止额外字段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需要逐层声明。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8886825" y="3895725"/>
            <a:ext cx="26289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Field 约束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进入导出的 Schema。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参考：Pydantic: Models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；Pydantic: JSON Schema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；Pydantic: Strict Mode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；OpenAI Python SDK: Parsing helpers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3.9 SDK 的 parse helper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Pydantic 模型可以直接交给 SDK，用于请求配置与响应解析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8039100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completion = client.chat.completions.parse(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model=MODEL_ID,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messages=messages,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response_format=MathReasoning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)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message = completion.choices[0].message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if</a:t>
            </a:r>
            <a:r>
              <a:rPr>
                <a:solidFill>
                  <a:srgbClr val="003C8B"/>
                </a:solidFill>
              </a:rPr>
              <a:t> message.parsed is </a:t>
            </a:r>
            <a:r>
              <a:rPr b="1">
                <a:solidFill>
                  <a:srgbClr val="003C8B"/>
                </a:solidFill>
              </a:rPr>
              <a:t>not</a:t>
            </a:r>
            <a:r>
              <a:rPr>
                <a:solidFill>
                  <a:srgbClr val="003C8B"/>
                </a:solidFill>
              </a:rPr>
              <a:t> </a:t>
            </a:r>
            <a:r>
              <a:rPr b="1">
                <a:solidFill>
                  <a:srgbClr val="003C8B"/>
                </a:solidFill>
              </a:rPr>
              <a:t>None</a:t>
            </a:r>
            <a:r>
              <a:rPr b="1">
                <a:solidFill>
                  <a:srgbClr val="003C8B"/>
                </a:solidFill>
              </a:rPr>
              <a:t>: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answer = message.parsed.final_answer</a:t>
            </a:r>
            <a:endParaRPr b="1">
              <a:solidFill>
                <a:srgbClr val="003C8B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9134475" y="2286000"/>
            <a:ext cx="2371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模型类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9134475" y="2819400"/>
            <a:ext cx="23717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SDK 根据模型类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生成严格 Schema。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9134475" y="4333875"/>
            <a:ext cx="2371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 对象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9134475" y="4867275"/>
            <a:ext cx="23717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解析后可以按属性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读取字段。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Python SDK: Parsing helpers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；OpenAI: Structured Outputs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3.10 Pydantic 的类型转换与 strict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是否允许字符串转成数字，是客户端验证策略的一部分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7019925" cy="1838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003C8B"/>
                </a:solidFill>
              </a:rPr>
              <a:t>class</a:t>
            </a:r>
            <a:r>
              <a:rPr b="0">
                <a:solidFill>
                  <a:srgbClr val="172B3A"/>
                </a:solidFill>
              </a:rPr>
              <a:t> Count(BaseModel):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count: int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data = {</a:t>
            </a:r>
            <a:r>
              <a:rPr b="0">
                <a:solidFill>
                  <a:srgbClr val="238773"/>
                </a:solidFill>
              </a:rPr>
              <a:t>"count"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"3"</a:t>
            </a: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4295775"/>
            <a:ext cx="533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默认验证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ode-2"/>
          <p:cNvSpPr>
            <a:spLocks noGrp="1"/>
          </p:cNvSpPr>
          <p:nvPr/>
        </p:nvSpPr>
        <p:spPr>
          <a:xfrm>
            <a:off x="609600" y="4829175"/>
            <a:ext cx="54673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Count.model_validate(data)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60717E"/>
                </a:solidFill>
              </a:rPr>
              <a:t># Count(count=3)</a:t>
            </a:r>
            <a:endParaRPr b="0">
              <a:solidFill>
                <a:srgbClr val="60717E"/>
              </a:solidFill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734175" y="4295775"/>
            <a:ext cx="4810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严格验证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ode-4"/>
          <p:cNvSpPr>
            <a:spLocks noGrp="1"/>
          </p:cNvSpPr>
          <p:nvPr/>
        </p:nvSpPr>
        <p:spPr>
          <a:xfrm>
            <a:off x="6267450" y="4829175"/>
            <a:ext cx="52768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Count.model_validate(data, strict=</a:t>
            </a:r>
            <a:r>
              <a:rPr b="0">
                <a:solidFill>
                  <a:srgbClr val="003C8B"/>
                </a:solidFill>
              </a:rPr>
              <a:t>True</a:t>
            </a:r>
            <a:r>
              <a:rPr b="0">
                <a:solidFill>
                  <a:srgbClr val="172B3A"/>
                </a:solidFill>
              </a:rPr>
              <a:t>)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60717E"/>
                </a:solidFill>
              </a:rPr>
              <a:t># ValidationError: int_type</a:t>
            </a:r>
            <a:endParaRPr b="0">
              <a:solidFill>
                <a:srgbClr val="60717E"/>
              </a:solidFill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8086725" y="2143125"/>
            <a:ext cx="3457575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输入值为字符串 "3"。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默认验证可转换为整数，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strict=True 拒绝该转换。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参考：Pydantic: Strict Mode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；Pydantic: Models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3.11 Schema 之外的业务关系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两个字段各自类型正确，合在一起仍可能不满足业务约束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7534275" cy="3152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003C8B"/>
                </a:solidFill>
              </a:rPr>
              <a:t>class</a:t>
            </a:r>
            <a:r>
              <a:rPr b="0">
                <a:solidFill>
                  <a:srgbClr val="172B3A"/>
                </a:solidFill>
              </a:rPr>
              <a:t> Range(BaseModel):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start: int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end: int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@model_validator(mode=</a:t>
            </a:r>
            <a:r>
              <a:rPr b="1">
                <a:solidFill>
                  <a:srgbClr val="238773"/>
                </a:solidFill>
              </a:rPr>
              <a:t>"after"</a:t>
            </a:r>
            <a:r>
              <a:rPr b="1">
                <a:solidFill>
                  <a:srgbClr val="003C8B"/>
                </a:solidFill>
              </a:rPr>
              <a:t>)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</a:t>
            </a:r>
            <a:r>
              <a:rPr b="0">
                <a:solidFill>
                  <a:srgbClr val="003C8B"/>
                </a:solidFill>
              </a:rPr>
              <a:t>def</a:t>
            </a:r>
            <a:r>
              <a:rPr b="0">
                <a:solidFill>
                  <a:srgbClr val="172B3A"/>
                </a:solidFill>
              </a:rPr>
              <a:t> check_order(self):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    </a:t>
            </a:r>
            <a:r>
              <a:rPr b="1">
                <a:solidFill>
                  <a:srgbClr val="003C8B"/>
                </a:solidFill>
              </a:rPr>
              <a:t>if</a:t>
            </a:r>
            <a:r>
              <a:rPr b="1">
                <a:solidFill>
                  <a:srgbClr val="003C8B"/>
                </a:solidFill>
              </a:rPr>
              <a:t> self.start &gt; self.end: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        </a:t>
            </a:r>
            <a:r>
              <a:rPr b="1">
                <a:solidFill>
                  <a:srgbClr val="003C8B"/>
                </a:solidFill>
              </a:rPr>
              <a:t>raise</a:t>
            </a:r>
            <a:r>
              <a:rPr>
                <a:solidFill>
                  <a:srgbClr val="003C8B"/>
                </a:solidFill>
              </a:rPr>
              <a:t> ValueError(</a:t>
            </a:r>
            <a:r>
              <a:rPr b="1">
                <a:solidFill>
                  <a:srgbClr val="238773"/>
                </a:solidFill>
              </a:rPr>
              <a:t>"start &gt; end"</a:t>
            </a:r>
            <a:r>
              <a:rPr b="1">
                <a:solidFill>
                  <a:srgbClr val="003C8B"/>
                </a:solidFill>
              </a:rPr>
              <a:t>)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  </a:t>
            </a:r>
            <a:r>
              <a:rPr b="0">
                <a:solidFill>
                  <a:srgbClr val="003C8B"/>
                </a:solidFill>
              </a:rPr>
              <a:t>return</a:t>
            </a:r>
            <a:r>
              <a:rPr b="0">
                <a:solidFill>
                  <a:srgbClr val="172B3A"/>
                </a:solidFill>
              </a:rPr>
              <a:t> self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6" name="code-1"/>
          <p:cNvSpPr>
            <a:spLocks noGrp="1"/>
          </p:cNvSpPr>
          <p:nvPr/>
        </p:nvSpPr>
        <p:spPr>
          <a:xfrm>
            <a:off x="8229600" y="2314575"/>
            <a:ext cx="3286125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{</a:t>
            </a:r>
            <a:r>
              <a:rPr b="0">
                <a:solidFill>
                  <a:srgbClr val="172B3A"/>
                </a:solidFill>
              </a:rPr>
              <a:t>"start"</a:t>
            </a:r>
            <a:r>
              <a:rPr>
                <a:solidFill>
                  <a:srgbClr val="172B3A"/>
                </a:solidFill>
              </a:rPr>
              <a:t>: 8, </a:t>
            </a:r>
            <a:r>
              <a:rPr b="0">
                <a:solidFill>
                  <a:srgbClr val="172B3A"/>
                </a:solidFill>
              </a:rPr>
              <a:t>"end"</a:t>
            </a:r>
            <a:r>
              <a:rPr b="0">
                <a:solidFill>
                  <a:srgbClr val="172B3A"/>
                </a:solidFill>
              </a:rPr>
              <a:t>: 3}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8229600" y="3752850"/>
            <a:ext cx="3286125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两个字段均为整数，</a:t>
            </a:r>
            <a:endParaRPr sz="2175" b="0">
              <a:solidFill>
                <a:srgbClr val="AD3B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7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但区间顺序错误。</a:t>
            </a:r>
            <a:endParaRPr sz="2175" b="0">
              <a:solidFill>
                <a:srgbClr val="AD3B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09600" y="550545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 validator 在本地运行，不会自动变成服务端的生成规则。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参考：Pydantic: Validators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；Pydantic: JSON Schema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3.12 标准 Schema 与服务支持范围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本地验证器认可的 Schema，生成 API 可能不接受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8859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本地可以定义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code-1"/>
          <p:cNvSpPr>
            <a:spLocks noGrp="1"/>
          </p:cNvSpPr>
          <p:nvPr/>
        </p:nvSpPr>
        <p:spPr>
          <a:xfrm>
            <a:off x="609600" y="2495550"/>
            <a:ext cx="6105525" cy="2238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1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172B3A"/>
                </a:solidFill>
              </a:rPr>
              <a:t>"allOf"</a:t>
            </a:r>
            <a:r>
              <a:rPr b="0">
                <a:solidFill>
                  <a:srgbClr val="172B3A"/>
                </a:solidFill>
              </a:rPr>
              <a:t>: [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{</a:t>
            </a:r>
            <a:r>
              <a:rPr b="0">
                <a:solidFill>
                  <a:srgbClr val="172B3A"/>
                </a:solidFill>
              </a:rPr>
              <a:t>"type"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"integer"</a:t>
            </a:r>
            <a:r>
              <a:rPr b="0">
                <a:solidFill>
                  <a:srgbClr val="172B3A"/>
                </a:solidFill>
              </a:rPr>
              <a:t>},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{</a:t>
            </a:r>
            <a:r>
              <a:rPr b="0">
                <a:solidFill>
                  <a:srgbClr val="172B3A"/>
                </a:solidFill>
              </a:rPr>
              <a:t>"minimum"</a:t>
            </a:r>
            <a:r>
              <a:rPr b="0">
                <a:solidFill>
                  <a:srgbClr val="172B3A"/>
                </a:solidFill>
              </a:rPr>
              <a:t>: 0}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]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677150" y="1885950"/>
            <a:ext cx="38004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OpenAI 严格输出的接口要求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677150" y="2543175"/>
            <a:ext cx="3800475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根节点为 object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所有字段列入 required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每层对象关闭额外字段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677150" y="4591050"/>
            <a:ext cx="3800475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allOf 不在支持子集中。</a:t>
            </a:r>
            <a:endParaRPr sz="2025" b="0">
              <a:solidFill>
                <a:srgbClr val="AD3B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AD3B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不能直接将左侧用作输出 Schema。</a:t>
            </a:r>
            <a:endParaRPr sz="2025" b="0">
              <a:solidFill>
                <a:srgbClr val="AD3B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09600" y="5457825"/>
            <a:ext cx="66103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固定模型、服务端与 Schema 版本，</a:t>
            </a:r>
            <a:endParaRPr sz="18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用一次请求验证兼容性。</a:t>
            </a:r>
            <a:endParaRPr sz="18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参考：OpenAI: Structured Outputs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；python-jsonschema: Validation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4.1 完成状态决定内容如何处理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检查正文之前，先区分正常回答、工具调用与未完成输出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8172450" cy="361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choice = response.choices[0]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msg = choice.message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if</a:t>
            </a:r>
            <a:r>
              <a:rPr b="1">
                <a:solidFill>
                  <a:srgbClr val="003C8B"/>
                </a:solidFill>
              </a:rPr>
              <a:t> msg.refusal: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show_refusal(msg.refusal)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elif</a:t>
            </a:r>
            <a:r>
              <a:rPr>
                <a:solidFill>
                  <a:srgbClr val="003C8B"/>
                </a:solidFill>
              </a:rPr>
              <a:t> choice.finish_reason == </a:t>
            </a:r>
            <a:r>
              <a:rPr b="1">
                <a:solidFill>
                  <a:srgbClr val="238773"/>
                </a:solidFill>
              </a:rPr>
              <a:t>"tool_calls"</a:t>
            </a:r>
            <a:r>
              <a:rPr b="1">
                <a:solidFill>
                  <a:srgbClr val="003C8B"/>
                </a:solidFill>
              </a:rPr>
              <a:t>: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handle_tool_calls(msg.tool_calls)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elif</a:t>
            </a:r>
            <a:r>
              <a:rPr>
                <a:solidFill>
                  <a:srgbClr val="003C8B"/>
                </a:solidFill>
              </a:rPr>
              <a:t> choice.finish_reason != </a:t>
            </a:r>
            <a:r>
              <a:rPr b="1">
                <a:solidFill>
                  <a:srgbClr val="238773"/>
                </a:solidFill>
              </a:rPr>
              <a:t>"stop"</a:t>
            </a:r>
            <a:r>
              <a:rPr b="1">
                <a:solidFill>
                  <a:srgbClr val="003C8B"/>
                </a:solidFill>
              </a:rPr>
              <a:t>: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record_incomplete(choice.finish_reason)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003C8B"/>
                </a:solidFill>
              </a:rPr>
              <a:t>else</a:t>
            </a:r>
            <a:r>
              <a:rPr b="0">
                <a:solidFill>
                  <a:srgbClr val="172B3A"/>
                </a:solidFill>
              </a:rPr>
              <a:t>: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consume_complete_text(msg.content)</a:t>
            </a:r>
            <a:endParaRPr b="1">
              <a:solidFill>
                <a:srgbClr val="003C8B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9353550" y="2600325"/>
            <a:ext cx="20097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拒答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9353550" y="3371850"/>
            <a:ext cx="20097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工具请求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9353550" y="4171950"/>
            <a:ext cx="20097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截断 / 过滤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9353550" y="5191125"/>
            <a:ext cx="20097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完整正文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参考：OpenAI: Structured Outputs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Python SDK: Parsing helpers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4.2 完整结果的解析与消费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只在完成状态通过后，将文本转成应用对象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7953375" cy="3476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003C8B"/>
                </a:solidFill>
              </a:rPr>
              <a:t>try</a:t>
            </a:r>
            <a:r>
              <a:rPr b="0">
                <a:solidFill>
                  <a:srgbClr val="172B3A"/>
                </a:solidFill>
              </a:rPr>
              <a:t>: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obj = MathReasoning.model_validate_json(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  raw_text, strict=</a:t>
            </a:r>
            <a:r>
              <a:rPr b="0">
                <a:solidFill>
                  <a:srgbClr val="003C8B"/>
                </a:solidFill>
              </a:rPr>
              <a:t>True</a:t>
            </a:r>
            <a:endParaRPr b="0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)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except</a:t>
            </a:r>
            <a:r>
              <a:rPr>
                <a:solidFill>
                  <a:srgbClr val="003C8B"/>
                </a:solidFill>
              </a:rPr>
              <a:t> ValidationError </a:t>
            </a:r>
            <a:r>
              <a:rPr b="1">
                <a:solidFill>
                  <a:srgbClr val="003C8B"/>
                </a:solidFill>
              </a:rPr>
              <a:t>as</a:t>
            </a:r>
            <a:r>
              <a:rPr b="1">
                <a:solidFill>
                  <a:srgbClr val="003C8B"/>
                </a:solidFill>
              </a:rPr>
              <a:t> exc: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save_validation_errors(exc.errors())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003C8B"/>
                </a:solidFill>
              </a:rPr>
              <a:t>else</a:t>
            </a:r>
            <a:r>
              <a:rPr b="0">
                <a:solidFill>
                  <a:srgbClr val="172B3A"/>
                </a:solidFill>
              </a:rPr>
              <a:t>: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check_business_rules(obj)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render_steps(obj.steps)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show_answer(obj.final_answer)</a:t>
            </a:r>
            <a:endParaRPr b="1">
              <a:solidFill>
                <a:srgbClr val="003C8B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9001125" y="2133600"/>
            <a:ext cx="2543175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解析 JSON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验证字段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9001125" y="3514725"/>
            <a:ext cx="2543175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保留错误位置，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再决定重试或反馈。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9001125" y="4914900"/>
            <a:ext cx="2543175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按业务规则检查后，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读取类型化字段。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参考：Pydantic: Models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Python SDK: Parsing helpers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；Pydantic: Error Handling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4.3 验证错误的字段定位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错误信息把“格式不对”定位到具体字段和预期类型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8859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输入对象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code-1"/>
          <p:cNvSpPr>
            <a:spLocks noGrp="1"/>
          </p:cNvSpPr>
          <p:nvPr/>
        </p:nvSpPr>
        <p:spPr>
          <a:xfrm>
            <a:off x="609600" y="2400300"/>
            <a:ext cx="6324600" cy="2628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172B3A"/>
                </a:solidFill>
              </a:rPr>
              <a:t>"steps"</a:t>
            </a:r>
            <a:r>
              <a:rPr b="0">
                <a:solidFill>
                  <a:srgbClr val="172B3A"/>
                </a:solidFill>
              </a:rPr>
              <a:t>: [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{</a:t>
            </a:r>
            <a:r>
              <a:rPr b="0">
                <a:solidFill>
                  <a:srgbClr val="172B3A"/>
                </a:solidFill>
              </a:rPr>
              <a:t>"explanation"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"Subtract 7."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 </a:t>
            </a:r>
            <a:r>
              <a:rPr b="1">
                <a:solidFill>
                  <a:srgbClr val="172B3A"/>
                </a:solidFill>
              </a:rPr>
              <a:t>"output"</a:t>
            </a:r>
            <a:r>
              <a:rPr b="1">
                <a:solidFill>
                  <a:srgbClr val="003C8B"/>
                </a:solidFill>
              </a:rPr>
              <a:t>: 123}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],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172B3A"/>
                </a:solidFill>
              </a:rPr>
              <a:t>"final_answer"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"x = -15/4"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410450" y="1885950"/>
            <a:ext cx="40862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ValidationError.errors() 节选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ode-3"/>
          <p:cNvSpPr>
            <a:spLocks noGrp="1"/>
          </p:cNvSpPr>
          <p:nvPr/>
        </p:nvSpPr>
        <p:spPr>
          <a:xfrm>
            <a:off x="7172325" y="2733675"/>
            <a:ext cx="4371975" cy="1914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loc: (</a:t>
            </a:r>
            <a:r>
              <a:rPr b="1">
                <a:solidFill>
                  <a:srgbClr val="238773"/>
                </a:solidFill>
              </a:rPr>
              <a:t>"steps"</a:t>
            </a:r>
            <a:r>
              <a:rPr>
                <a:solidFill>
                  <a:srgbClr val="003C8B"/>
                </a:solidFill>
              </a:rPr>
              <a:t>, 0, </a:t>
            </a:r>
            <a:r>
              <a:rPr b="1">
                <a:solidFill>
                  <a:srgbClr val="238773"/>
                </a:solidFill>
              </a:rPr>
              <a:t>"output"</a:t>
            </a:r>
            <a:r>
              <a:rPr b="1">
                <a:solidFill>
                  <a:srgbClr val="003C8B"/>
                </a:solidFill>
              </a:rPr>
              <a:t>)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type: </a:t>
            </a:r>
            <a:r>
              <a:rPr b="1">
                <a:solidFill>
                  <a:srgbClr val="238773"/>
                </a:solidFill>
              </a:rPr>
              <a:t>"string_type"</a:t>
            </a:r>
            <a:endParaRPr b="1">
              <a:solidFill>
                <a:srgbClr val="238773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msg: "Input should be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  a valid string"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544830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steps 数组的第 1 个元素中，output 应为字符串。</a:t>
            </a:r>
            <a:endParaRPr sz="225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参考：Pydantic: Error Handling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；Pydantic: Strict Mode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4.4 API 异常与重试预算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失败原因不同，重新发送同一个请求的价值也不同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109728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003C8B"/>
                </a:solidFill>
              </a:rPr>
              <a:t>try</a:t>
            </a:r>
            <a:r>
              <a:rPr b="0">
                <a:solidFill>
                  <a:srgbClr val="172B3A"/>
                </a:solidFill>
              </a:rPr>
              <a:t>: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response = client.chat.completions.create(...)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except</a:t>
            </a:r>
            <a:r>
              <a:rPr b="1">
                <a:solidFill>
                  <a:srgbClr val="003C8B"/>
                </a:solidFill>
              </a:rPr>
              <a:t> APIConnectionError: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handle_connection_failure()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except</a:t>
            </a:r>
            <a:r>
              <a:rPr>
                <a:solidFill>
                  <a:srgbClr val="003C8B"/>
                </a:solidFill>
              </a:rPr>
              <a:t> APIStatusError </a:t>
            </a:r>
            <a:r>
              <a:rPr b="1">
                <a:solidFill>
                  <a:srgbClr val="003C8B"/>
                </a:solidFill>
              </a:rPr>
              <a:t>as</a:t>
            </a:r>
            <a:r>
              <a:rPr b="1">
                <a:solidFill>
                  <a:srgbClr val="003C8B"/>
                </a:solidFill>
              </a:rPr>
              <a:t> exc: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record_error(exc.status_code, exc.request_id)</a:t>
            </a:r>
            <a:endParaRPr b="1">
              <a:solidFill>
                <a:srgbClr val="003C8B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4371975"/>
            <a:ext cx="350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请求本身有问题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4943475"/>
            <a:ext cx="35052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400 / 无效 Schema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修改请求后再试。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4591050" y="4371975"/>
            <a:ext cx="3095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临时失败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4591050" y="4943475"/>
            <a:ext cx="3095625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部分连接错误 / 5xx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限次退避，计入总预算。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8239125" y="4371975"/>
            <a:ext cx="33051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限流或配额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8239125" y="4943475"/>
            <a:ext cx="3305175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429 需要看错误详情，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配额耗尽不能靠重试解决。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Python SDK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4.5 校验失败后的修复反馈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把具体错误反馈给模型，限制次数，并重新验证完整结果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8859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验证器定位的问题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code-1"/>
          <p:cNvSpPr>
            <a:spLocks noGrp="1"/>
          </p:cNvSpPr>
          <p:nvPr/>
        </p:nvSpPr>
        <p:spPr>
          <a:xfrm>
            <a:off x="609600" y="2428875"/>
            <a:ext cx="6410325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loc: (</a:t>
            </a:r>
            <a:r>
              <a:rPr b="0">
                <a:solidFill>
                  <a:srgbClr val="238773"/>
                </a:solidFill>
              </a:rPr>
              <a:t>"steps"</a:t>
            </a:r>
            <a:r>
              <a:rPr>
                <a:solidFill>
                  <a:srgbClr val="172B3A"/>
                </a:solidFill>
              </a:rPr>
              <a:t>, 0, </a:t>
            </a:r>
            <a:r>
              <a:rPr b="0">
                <a:solidFill>
                  <a:srgbClr val="238773"/>
                </a:solidFill>
              </a:rPr>
              <a:t>"output"</a:t>
            </a:r>
            <a:r>
              <a:rPr b="0">
                <a:solidFill>
                  <a:srgbClr val="172B3A"/>
                </a:solidFill>
              </a:rPr>
              <a:t>)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1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type: </a:t>
            </a:r>
            <a:r>
              <a:rPr b="0">
                <a:solidFill>
                  <a:srgbClr val="238773"/>
                </a:solidFill>
              </a:rPr>
              <a:t>"string_type"</a:t>
            </a:r>
            <a:endParaRPr b="0">
              <a:solidFill>
                <a:srgbClr val="238773"/>
              </a:solidFill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3914775"/>
            <a:ext cx="1076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反馈内容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09600" y="4448175"/>
            <a:ext cx="10601325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steps[0].output 必须是字符串。请根据原方程重新检查，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返回完整结果，保留 steps 和 final_answer 的结构。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896225" y="1990725"/>
            <a:ext cx="3648075" cy="2076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记录本次原文与错误，</a:t>
            </a:r>
            <a:endParaRPr sz="195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9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只允许有限次重新生成。</a:t>
            </a:r>
            <a:endParaRPr sz="195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1950"/>
          </a:p>
          <a:p>
            <a:pPr>
              <a:lnSpc>
                <a:spcPct val="108000"/>
              </a:lnSpc>
              <a:buNone/>
              <a:defRPr sz="19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新结果仍需检查完成状态，</a:t>
            </a:r>
            <a:endParaRPr sz="195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9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并重新通过完整验证。</a:t>
            </a:r>
            <a:endParaRPr sz="195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参考：Pydantic: Error Handling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；OpenAI: Structured Outputs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lang="en-US"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结构化结果在 Agent 中的位置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模型提供结构化决策，应用保留执行控制与状态更新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7620000" cy="3629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003C8B"/>
                </a:solidFill>
              </a:rPr>
              <a:t>for</a:t>
            </a:r>
            <a:r>
              <a:rPr>
                <a:solidFill>
                  <a:srgbClr val="172B3A"/>
                </a:solidFill>
              </a:rPr>
              <a:t> call </a:t>
            </a:r>
            <a:r>
              <a:rPr b="0">
                <a:solidFill>
                  <a:srgbClr val="003C8B"/>
                </a:solidFill>
              </a:rPr>
              <a:t>in</a:t>
            </a:r>
            <a:r>
              <a:rPr>
                <a:solidFill>
                  <a:srgbClr val="172B3A"/>
                </a:solidFill>
              </a:rPr>
              <a:t> message.tool_calls </a:t>
            </a:r>
            <a:r>
              <a:rPr b="0">
                <a:solidFill>
                  <a:srgbClr val="003C8B"/>
                </a:solidFill>
              </a:rPr>
              <a:t>or</a:t>
            </a:r>
            <a:r>
              <a:rPr b="0">
                <a:solidFill>
                  <a:srgbClr val="172B3A"/>
                </a:solidFill>
              </a:rPr>
              <a:t> []: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args = ReadFileArgs.model_validate_json(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  call.function.arguments, strict=</a:t>
            </a:r>
            <a:r>
              <a:rPr b="0">
                <a:solidFill>
                  <a:srgbClr val="003C8B"/>
                </a:solidFill>
              </a:rPr>
              <a:t>True</a:t>
            </a:r>
            <a:endParaRPr b="0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)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check_allowed_path(args.path)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result = read_file(args.path)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messages.append({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  </a:t>
            </a:r>
            <a:r>
              <a:rPr b="0">
                <a:solidFill>
                  <a:srgbClr val="238773"/>
                </a:solidFill>
              </a:rPr>
              <a:t>"role"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"tool"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    </a:t>
            </a:r>
            <a:r>
              <a:rPr b="1">
                <a:solidFill>
                  <a:srgbClr val="238773"/>
                </a:solidFill>
              </a:rPr>
              <a:t>"tool_call_id"</a:t>
            </a:r>
            <a:r>
              <a:rPr b="1">
                <a:solidFill>
                  <a:srgbClr val="003C8B"/>
                </a:solidFill>
              </a:rPr>
              <a:t>: call.id,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  </a:t>
            </a:r>
            <a:r>
              <a:rPr b="0">
                <a:solidFill>
                  <a:srgbClr val="238773"/>
                </a:solidFill>
              </a:rPr>
              <a:t>"content"</a:t>
            </a:r>
            <a:r>
              <a:rPr b="0">
                <a:solidFill>
                  <a:srgbClr val="172B3A"/>
                </a:solidFill>
              </a:rPr>
              <a:t>: result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})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8896350" y="2352675"/>
            <a:ext cx="256222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参数解析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8896350" y="3362325"/>
            <a:ext cx="256222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执行条件检查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8896350" y="3990975"/>
            <a:ext cx="26003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工具执行与异常处理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8896350" y="5076825"/>
            <a:ext cx="260032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 ID 关联结果，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下一轮继续使用。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Python SDK: Parsing helpers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；OpenAI: Structured Outputs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lang="en-US"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Streaming 中的 JSON 前缀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31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一个合法完整结果，在中间时刻通常还不能解析成完整 JSON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885950"/>
            <a:ext cx="1076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连续收到的正文片段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code-1"/>
          <p:cNvSpPr>
            <a:spLocks noGrp="1"/>
          </p:cNvSpPr>
          <p:nvPr/>
        </p:nvSpPr>
        <p:spPr>
          <a:xfrm>
            <a:off x="609600" y="2562225"/>
            <a:ext cx="7410450" cy="1876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1   {</a:t>
            </a:r>
            <a:r>
              <a:rPr b="0">
                <a:solidFill>
                  <a:srgbClr val="238773"/>
                </a:solidFill>
              </a:rPr>
              <a:t>"steps"</a:t>
            </a:r>
            <a:r>
              <a:rPr b="0">
                <a:solidFill>
                  <a:srgbClr val="172B3A"/>
                </a:solidFill>
              </a:rPr>
              <a:t>:[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2   {</a:t>
            </a:r>
            <a:r>
              <a:rPr b="0">
                <a:solidFill>
                  <a:srgbClr val="238773"/>
                </a:solidFill>
              </a:rPr>
              <a:t>"explanation"</a:t>
            </a:r>
            <a:r>
              <a:rPr>
                <a:solidFill>
                  <a:srgbClr val="172B3A"/>
                </a:solidFill>
              </a:rPr>
              <a:t>:</a:t>
            </a:r>
            <a:r>
              <a:rPr b="0">
                <a:solidFill>
                  <a:srgbClr val="238773"/>
                </a:solidFill>
              </a:rPr>
              <a:t>"Subtract 7."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3   </a:t>
            </a:r>
            <a:r>
              <a:rPr b="0">
                <a:solidFill>
                  <a:srgbClr val="238773"/>
                </a:solidFill>
              </a:rPr>
              <a:t>"output"</a:t>
            </a:r>
            <a:r>
              <a:rPr>
                <a:solidFill>
                  <a:srgbClr val="172B3A"/>
                </a:solidFill>
              </a:rPr>
              <a:t>:</a:t>
            </a:r>
            <a:r>
              <a:rPr b="0">
                <a:solidFill>
                  <a:srgbClr val="238773"/>
                </a:solidFill>
              </a:rPr>
              <a:t>"8x = -30"</a:t>
            </a:r>
            <a:r>
              <a:rPr b="0">
                <a:solidFill>
                  <a:srgbClr val="172B3A"/>
                </a:solidFill>
              </a:rPr>
              <a:t>}],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4   </a:t>
            </a:r>
            <a:r>
              <a:rPr b="0">
                <a:solidFill>
                  <a:srgbClr val="238773"/>
                </a:solidFill>
              </a:rPr>
              <a:t>"final_answer"</a:t>
            </a:r>
            <a:r>
              <a:rPr>
                <a:solidFill>
                  <a:srgbClr val="172B3A"/>
                </a:solidFill>
              </a:rPr>
              <a:t>:</a:t>
            </a:r>
            <a:r>
              <a:rPr b="0">
                <a:solidFill>
                  <a:srgbClr val="238773"/>
                </a:solidFill>
              </a:rPr>
              <a:t>"x = -15/4"</a:t>
            </a: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8420100" y="2676525"/>
            <a:ext cx="30861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 3 段未闭合外层对象。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 4 段形成完整 JSON。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ode-3"/>
          <p:cNvSpPr>
            <a:spLocks noGrp="1"/>
          </p:cNvSpPr>
          <p:nvPr/>
        </p:nvSpPr>
        <p:spPr>
          <a:xfrm>
            <a:off x="609600" y="4810125"/>
            <a:ext cx="1097280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buffer += delta.content </a:t>
            </a:r>
            <a:r>
              <a:rPr b="0">
                <a:solidFill>
                  <a:srgbClr val="003C8B"/>
                </a:solidFill>
              </a:rPr>
              <a:t>or</a:t>
            </a:r>
            <a:r>
              <a:rPr>
                <a:solidFill>
                  <a:srgbClr val="172B3A"/>
                </a:solidFill>
              </a:rPr>
              <a:t> </a:t>
            </a:r>
            <a:r>
              <a:rPr b="0">
                <a:solidFill>
                  <a:srgbClr val="238773"/>
                </a:solidFill>
              </a:rPr>
              <a:t>""</a:t>
            </a:r>
            <a:endParaRPr b="0">
              <a:solidFill>
                <a:srgbClr val="238773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60717E"/>
                </a:solidFill>
              </a:rPr>
              <a:t># 结束事件确认完成后</a:t>
            </a:r>
            <a:endParaRPr b="0">
              <a:solidFill>
                <a:srgbClr val="60717E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9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obj = MathReasoning.model_validate_json(buffer)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9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Python SDK: Parsing helpers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；OpenAI: Structured Outputs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lang="en-US"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结果日志中的状态与计时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结构通过、业务通过和请求耗时，应分别记录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43100"/>
            <a:ext cx="7534275" cy="3000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172B3A"/>
                </a:solidFill>
              </a:rPr>
              <a:t>"request_id"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"..."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172B3A"/>
                </a:solidFill>
              </a:rPr>
              <a:t>"schema_version"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172B3A"/>
                </a:solidFill>
              </a:rPr>
              <a:t>"v1"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</a:t>
            </a:r>
            <a:r>
              <a:rPr b="1">
                <a:solidFill>
                  <a:srgbClr val="172B3A"/>
                </a:solidFill>
              </a:rPr>
              <a:t>"finish_reason"</a:t>
            </a:r>
            <a:r>
              <a:rPr>
                <a:solidFill>
                  <a:srgbClr val="003C8B"/>
                </a:solidFill>
              </a:rPr>
              <a:t>: </a:t>
            </a:r>
            <a:r>
              <a:rPr b="1">
                <a:solidFill>
                  <a:srgbClr val="172B3A"/>
                </a:solidFill>
              </a:rPr>
              <a:t>"stop"</a:t>
            </a:r>
            <a:r>
              <a:rPr b="1">
                <a:solidFill>
                  <a:srgbClr val="003C8B"/>
                </a:solidFill>
              </a:rPr>
              <a:t>,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</a:t>
            </a:r>
            <a:r>
              <a:rPr b="1">
                <a:solidFill>
                  <a:srgbClr val="172B3A"/>
                </a:solidFill>
              </a:rPr>
              <a:t>"status"</a:t>
            </a:r>
            <a:r>
              <a:rPr>
                <a:solidFill>
                  <a:srgbClr val="003C8B"/>
                </a:solidFill>
              </a:rPr>
              <a:t>: </a:t>
            </a:r>
            <a:r>
              <a:rPr b="1">
                <a:solidFill>
                  <a:srgbClr val="172B3A"/>
                </a:solidFill>
              </a:rPr>
              <a:t>"schema_valid"</a:t>
            </a:r>
            <a:r>
              <a:rPr b="1">
                <a:solidFill>
                  <a:srgbClr val="003C8B"/>
                </a:solidFill>
              </a:rPr>
              <a:t>,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</a:t>
            </a:r>
            <a:r>
              <a:rPr b="1">
                <a:solidFill>
                  <a:srgbClr val="172B3A"/>
                </a:solidFill>
              </a:rPr>
              <a:t>"functional_correctness"</a:t>
            </a:r>
            <a:r>
              <a:rPr>
                <a:solidFill>
                  <a:srgbClr val="003C8B"/>
                </a:solidFill>
              </a:rPr>
              <a:t>: </a:t>
            </a:r>
            <a:r>
              <a:rPr b="1">
                <a:solidFill>
                  <a:srgbClr val="172B3A"/>
                </a:solidFill>
              </a:rPr>
              <a:t>"not_tested"</a:t>
            </a:r>
            <a:r>
              <a:rPr b="1">
                <a:solidFill>
                  <a:srgbClr val="003C8B"/>
                </a:solidFill>
              </a:rPr>
              <a:t>,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172B3A"/>
                </a:solidFill>
              </a:rPr>
              <a:t>"attempt"</a:t>
            </a:r>
            <a:r>
              <a:rPr b="0">
                <a:solidFill>
                  <a:srgbClr val="172B3A"/>
                </a:solidFill>
              </a:rPr>
              <a:t>: 1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0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8743950" y="2200275"/>
            <a:ext cx="27717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状态区分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8743950" y="2819400"/>
            <a:ext cx="2771775" cy="156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请求是否成功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结果是否完成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字段是否通过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业务是否通过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8743950" y="4848225"/>
            <a:ext cx="27717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计时边界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8743950" y="5381625"/>
            <a:ext cx="27717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客户端总耗时与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服务端生成耗时分开。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09600" y="5524500"/>
            <a:ext cx="75533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日志字段示意；request_id 用于关联服务端请求。</a:t>
            </a:r>
            <a:endParaRPr sz="1875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Python SDK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；Pydantic: Error Handling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lang="en-US"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JSONSchemaBench 的评估视角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同一项研究同时检查生成速度、Schema 覆盖和任务准确率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rcRect l="27000" t="8700" r="27000" b="59900"/>
          <a:stretch>
            <a:fillRect/>
          </a:stretch>
        </p:blipFill>
        <p:spPr>
          <a:xfrm>
            <a:off x="790575" y="1762125"/>
            <a:ext cx="4591050" cy="405765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419850" y="1962150"/>
            <a:ext cx="52101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 效率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419850" y="2505075"/>
            <a:ext cx="521017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纵轴 Token/s，比较不同 Schema 集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上的生成速度。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419850" y="3378835"/>
            <a:ext cx="52101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  覆盖率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419850" y="3893185"/>
            <a:ext cx="52101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检验实际支持的 Schema，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不能只看是否接收某个配置字段。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419850" y="4807585"/>
            <a:ext cx="52101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  任务质量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6419850" y="5283835"/>
            <a:ext cx="52101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纵轴准确率，比较下游任务结果。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bottom-note"/>
          <p:cNvSpPr>
            <a:spLocks noGrp="1"/>
          </p:cNvSpPr>
          <p:nvPr/>
        </p:nvSpPr>
        <p:spPr>
          <a:xfrm>
            <a:off x="609600" y="5962650"/>
            <a:ext cx="10953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原图：JSONSchemaBench Figure 1，2025 年论文实验；不代表当前版本排名。</a:t>
            </a:r>
            <a:endParaRPr sz="1275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参考：JSONSchemaBench, 2025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课外参考资料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42938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OpenAI Cookbook / Python SDK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192468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Math tutor 示例、parse helper、流式事件与错误处理。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252476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Understanding JSON Schema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09600" y="3020060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对象、数组、组合约束与可直接验证的数据实例。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362013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Pydantic 文档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09600" y="411543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模型定义、Schema 导出、严格模式与自定义验证器。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609600" y="471551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XGrammar / JSONSchemaBench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4"/>
            </a:endParaRPr>
          </a:p>
        </p:txBody>
      </p:sp>
      <p:sp>
        <p:nvSpPr>
          <p:cNvPr id="112" name="body-7"/>
          <p:cNvSpPr>
            <a:spLocks noGrp="1"/>
          </p:cNvSpPr>
          <p:nvPr/>
        </p:nvSpPr>
        <p:spPr>
          <a:xfrm>
            <a:off x="609600" y="518223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生成约束的执行机制，以及效率、覆盖率和质量评估。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6,&quot;left&quot;:663,&quot;top&quot;:136.5,&quot;width&quot;:249}"/>
</p:tagLst>
</file>

<file path=ppt/tags/tag2.xml><?xml version="1.0" encoding="utf-8"?>
<p:tagLst xmlns:p="http://schemas.openxmlformats.org/presentationml/2006/main">
  <p:tag name="KSO_WM_DIAGRAM_VIRTUALLY_FRAME" val="{&quot;height&quot;:336,&quot;left&quot;:663,&quot;top&quot;:136.5,&quot;width&quot;:249}"/>
</p:tagLst>
</file>

<file path=ppt/tags/tag3.xml><?xml version="1.0" encoding="utf-8"?>
<p:tagLst xmlns:p="http://schemas.openxmlformats.org/presentationml/2006/main">
  <p:tag name="KSO_WM_DIAGRAM_VIRTUALLY_FRAME" val="{&quot;height&quot;:336,&quot;left&quot;:663,&quot;top&quot;:136.5,&quot;width&quot;:249}"/>
</p:tagLst>
</file>

<file path=ppt/tags/tag4.xml><?xml version="1.0" encoding="utf-8"?>
<p:tagLst xmlns:p="http://schemas.openxmlformats.org/presentationml/2006/main">
  <p:tag name="KSO_WM_DIAGRAM_VIRTUALLY_FRAME" val="{&quot;height&quot;:336,&quot;left&quot;:663,&quot;top&quot;:136.5,&quot;width&quot;:249}"/>
</p:tagLst>
</file>

<file path=ppt/tags/tag5.xml><?xml version="1.0" encoding="utf-8"?>
<p:tagLst xmlns:p="http://schemas.openxmlformats.org/presentationml/2006/main">
  <p:tag name="KSO_WM_DIAGRAM_VIRTUALLY_FRAME" val="{&quot;height&quot;:336,&quot;left&quot;:663,&quot;top&quot;:136.5,&quot;width&quot;:249}"/>
</p:tagLst>
</file>

<file path=ppt/tags/tag6.xml><?xml version="1.0" encoding="utf-8"?>
<p:tagLst xmlns:p="http://schemas.openxmlformats.org/presentationml/2006/main">
  <p:tag name="KSO_WM_DIAGRAM_VIRTUALLY_FRAME" val="{&quot;height&quot;:336,&quot;left&quot;:663,&quot;top&quot;:136.5,&quot;width&quot;:249}"/>
</p:tagLst>
</file>

<file path=ppt/tags/tag7.xml><?xml version="1.0" encoding="utf-8"?>
<p:tagLst xmlns:p="http://schemas.openxmlformats.org/presentationml/2006/main">
  <p:tag name="KSO_WM_DIAGRAM_VIRTUALLY_FRAME" val="{&quot;height&quot;:336,&quot;left&quot;:663,&quot;top&quot;:136.5,&quot;width&quot;:249}"/>
</p:tagLst>
</file>

<file path=ppt/tags/tag8.xml><?xml version="1.0" encoding="utf-8"?>
<p:tagLst xmlns:p="http://schemas.openxmlformats.org/presentationml/2006/main">
  <p:tag name="KSO_WM_DIAGRAM_VIRTUALLY_FRAME" val="{&quot;height&quot;:336,&quot;left&quot;:663,&quot;top&quot;:136.5,&quot;width&quot;:249}"/>
</p:tagLst>
</file>

<file path=ppt/tags/tag9.xml><?xml version="1.0" encoding="utf-8"?>
<p:tagLst xmlns:p="http://schemas.openxmlformats.org/presentationml/2006/main">
  <p:tag name="ISLIDE.GUIDESSETTING" val="{&quot;Id&quot;:&quot;90f36d3f-ffec-4fe5-9788-afc451dde4a9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C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309481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11047</Words>
  <Application>WPS 演示</Application>
  <PresentationFormat>宽屏</PresentationFormat>
  <Paragraphs>960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Arial</vt:lpstr>
      <vt:lpstr>宋体</vt:lpstr>
      <vt:lpstr>Wingdings</vt:lpstr>
      <vt:lpstr>微软雅黑</vt:lpstr>
      <vt:lpstr>Trebuchet MS</vt:lpstr>
      <vt:lpstr>Consolas</vt:lpstr>
      <vt:lpstr>Arial Unicode MS</vt:lpstr>
      <vt:lpstr>Calibri</vt:lpstr>
      <vt:lpstr>Office 主题​​</vt:lpstr>
      <vt:lpstr>LLM Application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苑泽兰</cp:lastModifiedBy>
  <cp:revision>108</cp:revision>
  <dcterms:created xsi:type="dcterms:W3CDTF">2021-12-28T08:11:00Z</dcterms:created>
  <dcterms:modified xsi:type="dcterms:W3CDTF">2026-09-17T04:10:47Z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B57AE2A8B969466CA4131FA5B0769B5E_12</vt:lpwstr>
  </property>
  <property fmtid="{D5CDD505-2E9C-101B-9397-08002B2CF9AE}" pid="3" name="KSOProductBuildVer">
    <vt:lpwstr>2052-12.1.0.28488</vt:lpwstr>
  </property>
</Properties>
</file>