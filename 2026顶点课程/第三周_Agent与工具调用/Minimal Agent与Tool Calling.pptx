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2" r:id="rId6"/>
    <p:sldId id="319" r:id="rId7"/>
    <p:sldId id="263" r:id="rId8"/>
    <p:sldId id="320" r:id="rId9"/>
    <p:sldId id="264" r:id="rId10"/>
    <p:sldId id="265" r:id="rId11"/>
    <p:sldId id="321" r:id="rId12"/>
    <p:sldId id="266" r:id="rId13"/>
    <p:sldId id="322" r:id="rId14"/>
    <p:sldId id="267" r:id="rId15"/>
    <p:sldId id="323" r:id="rId16"/>
    <p:sldId id="324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307" r:id="rId26"/>
    <p:sldId id="276" r:id="rId27"/>
    <p:sldId id="277" r:id="rId28"/>
    <p:sldId id="308" r:id="rId29"/>
    <p:sldId id="278" r:id="rId30"/>
    <p:sldId id="281" r:id="rId31"/>
    <p:sldId id="304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26" r:id="rId40"/>
    <p:sldId id="327" r:id="rId41"/>
    <p:sldId id="282" r:id="rId42"/>
    <p:sldId id="309" r:id="rId43"/>
    <p:sldId id="310" r:id="rId44"/>
    <p:sldId id="283" r:id="rId45"/>
    <p:sldId id="284" r:id="rId46"/>
    <p:sldId id="311" r:id="rId47"/>
    <p:sldId id="285" r:id="rId48"/>
    <p:sldId id="286" r:id="rId49"/>
    <p:sldId id="287" r:id="rId50"/>
    <p:sldId id="288" r:id="rId51"/>
    <p:sldId id="289" r:id="rId52"/>
    <p:sldId id="312" r:id="rId53"/>
    <p:sldId id="290" r:id="rId54"/>
    <p:sldId id="291" r:id="rId55"/>
    <p:sldId id="313" r:id="rId56"/>
    <p:sldId id="292" r:id="rId57"/>
    <p:sldId id="314" r:id="rId58"/>
    <p:sldId id="315" r:id="rId59"/>
    <p:sldId id="293" r:id="rId60"/>
    <p:sldId id="316" r:id="rId61"/>
    <p:sldId id="294" r:id="rId62"/>
    <p:sldId id="295" r:id="rId63"/>
    <p:sldId id="317" r:id="rId64"/>
    <p:sldId id="296" r:id="rId65"/>
    <p:sldId id="318" r:id="rId66"/>
    <p:sldId id="297" r:id="rId67"/>
    <p:sldId id="298" r:id="rId68"/>
    <p:sldId id="299" r:id="rId69"/>
    <p:sldId id="300" r:id="rId70"/>
    <p:sldId id="305" r:id="rId71"/>
    <p:sldId id="306" r:id="rId72"/>
  </p:sldIdLst>
  <p:sldSz cx="12192000" cy="6858000"/>
  <p:notesSz cx="6858000" cy="9144000"/>
  <p:custDataLst>
    <p:tags r:id="rId7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4" userDrawn="1">
          <p15:clr>
            <a:srgbClr val="A4A3A4"/>
          </p15:clr>
        </p15:guide>
        <p15:guide id="2" orient="horz" pos="21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99C"/>
    <a:srgbClr val="003C8B"/>
    <a:srgbClr val="39B099"/>
    <a:srgbClr val="2A9195"/>
    <a:srgbClr val="ABCFFF"/>
    <a:srgbClr val="D3EEE9"/>
    <a:srgbClr val="8FBFFF"/>
    <a:srgbClr val="C52E37"/>
    <a:srgbClr val="E7E7E8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5" autoAdjust="0"/>
    <p:restoredTop sz="56051" autoAdjust="0"/>
  </p:normalViewPr>
  <p:slideViewPr>
    <p:cSldViewPr snapToGrid="0" showGuides="1">
      <p:cViewPr varScale="1">
        <p:scale>
          <a:sx n="54" d="100"/>
          <a:sy n="54" d="100"/>
        </p:scale>
        <p:origin x="1365" y="24"/>
      </p:cViewPr>
      <p:guideLst>
        <p:guide pos="3834"/>
        <p:guide orient="horz" pos="211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F67BDE9-2D55-407C-98B2-E2DF74583E41}" type="datetimeFigureOut">
              <a:rPr lang="zh-CN" altLang="en-US" smtClean="0"/>
              <a:t>2026/9/24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2BD924A-1BD4-4D96-AE1B-CA9C4B79CE3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-13594" y="0"/>
            <a:ext cx="12201063" cy="2655066"/>
            <a:chOff x="-9063" y="2259345"/>
            <a:chExt cx="12201063" cy="2655066"/>
          </a:xfrm>
        </p:grpSpPr>
        <p:pic>
          <p:nvPicPr>
            <p:cNvPr id="22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-51" r="-5" b="67386"/>
            <a:stretch>
              <a:fillRect/>
            </a:stretch>
          </p:blipFill>
          <p:spPr bwMode="auto">
            <a:xfrm>
              <a:off x="0" y="2259345"/>
              <a:ext cx="12192000" cy="265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/>
            <p:cNvSpPr/>
            <p:nvPr userDrawn="1"/>
          </p:nvSpPr>
          <p:spPr>
            <a:xfrm>
              <a:off x="-9063" y="2259345"/>
              <a:ext cx="12201062" cy="26550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0" y="2372478"/>
            <a:ext cx="12201062" cy="4485522"/>
            <a:chOff x="-9062" y="1894960"/>
            <a:chExt cx="12201062" cy="4485522"/>
          </a:xfrm>
        </p:grpSpPr>
        <p:pic>
          <p:nvPicPr>
            <p:cNvPr id="19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10675" r="-5" b="34293"/>
            <a:stretch>
              <a:fillRect/>
            </a:stretch>
          </p:blipFill>
          <p:spPr bwMode="auto">
            <a:xfrm>
              <a:off x="-9062" y="1907463"/>
              <a:ext cx="12192000" cy="4473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19"/>
            <p:cNvSpPr/>
            <p:nvPr userDrawn="1"/>
          </p:nvSpPr>
          <p:spPr>
            <a:xfrm>
              <a:off x="-9062" y="1894960"/>
              <a:ext cx="12201062" cy="448552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0" y="1649743"/>
            <a:ext cx="12187468" cy="1999209"/>
          </a:xfrm>
          <a:prstGeom prst="rect">
            <a:avLst/>
          </a:prstGeom>
          <a:gradFill flip="none" rotWithShape="1">
            <a:gsLst>
              <a:gs pos="46000">
                <a:srgbClr val="1D7692"/>
              </a:gs>
              <a:gs pos="96000">
                <a:srgbClr val="003C8B">
                  <a:alpha val="85000"/>
                </a:srgbClr>
              </a:gs>
              <a:gs pos="0">
                <a:srgbClr val="39B099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39550" y="2015538"/>
            <a:ext cx="10294776" cy="1311965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8531" y="4345244"/>
            <a:ext cx="9144000" cy="15273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917203" y="518762"/>
            <a:ext cx="2357594" cy="667477"/>
            <a:chOff x="9644502" y="109966"/>
            <a:chExt cx="2357594" cy="667477"/>
          </a:xfrm>
          <a:noFill/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5" r="53350"/>
            <a:stretch>
              <a:fillRect/>
            </a:stretch>
          </p:blipFill>
          <p:spPr>
            <a:xfrm>
              <a:off x="11299485" y="109966"/>
              <a:ext cx="702611" cy="667477"/>
            </a:xfrm>
            <a:prstGeom prst="rect">
              <a:avLst/>
            </a:prstGeom>
            <a:grpFill/>
          </p:spPr>
        </p:pic>
        <p:pic>
          <p:nvPicPr>
            <p:cNvPr id="10" name="Picture 2" descr="http://www.buaa.edu.cn/__local/B/CD/A6/968D8F6600C0B8195CD59008BF5_9249A080_12AB7.jpg?e=.jpg"/>
            <p:cNvPicPr>
              <a:picLocks noChangeAspect="1" noChangeArrowheads="1"/>
            </p:cNvPicPr>
            <p:nvPr userDrawn="1"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4502" y="145963"/>
              <a:ext cx="618977" cy="618977"/>
            </a:xfrm>
            <a:prstGeom prst="rect">
              <a:avLst/>
            </a:prstGeom>
            <a:grpFill/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6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3" r="81714"/>
            <a:stretch>
              <a:fillRect/>
            </a:stretch>
          </p:blipFill>
          <p:spPr>
            <a:xfrm>
              <a:off x="10444440" y="216261"/>
              <a:ext cx="739594" cy="490019"/>
            </a:xfrm>
            <a:prstGeom prst="rect">
              <a:avLst/>
            </a:prstGeom>
            <a:grpFill/>
          </p:spPr>
        </p:pic>
      </p:grpSp>
      <p:cxnSp>
        <p:nvCxnSpPr>
          <p:cNvPr id="40" name="直接连接符 39"/>
          <p:cNvCxnSpPr/>
          <p:nvPr userDrawn="1"/>
        </p:nvCxnSpPr>
        <p:spPr>
          <a:xfrm>
            <a:off x="0" y="3794126"/>
            <a:ext cx="12201062" cy="0"/>
          </a:xfrm>
          <a:prstGeom prst="line">
            <a:avLst/>
          </a:prstGeom>
          <a:ln w="63500">
            <a:solidFill>
              <a:srgbClr val="2A91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04" y="136525"/>
            <a:ext cx="9030296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872283"/>
            <a:ext cx="11235193" cy="4392054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lt"/>
                <a:ea typeface="微软雅黑" panose="020B0503020204020204" pitchFamily="34" charset="-122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lt"/>
                <a:ea typeface="微软雅黑" panose="020B0503020204020204" pitchFamily="34" charset="-122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lt"/>
                <a:ea typeface="微软雅黑" panose="020B0503020204020204" pitchFamily="34" charset="-122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lt"/>
                <a:ea typeface="微软雅黑" panose="020B0503020204020204" pitchFamily="34" charset="-122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1" y="6536805"/>
            <a:ext cx="1247775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694AC3-6159-4530-81F2-715F87DA7557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283209" y="1644336"/>
            <a:ext cx="1592243" cy="0"/>
          </a:xfrm>
          <a:prstGeom prst="line">
            <a:avLst/>
          </a:prstGeom>
          <a:ln w="38100">
            <a:solidFill>
              <a:srgbClr val="C52E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28"/>
          <p:cNvSpPr>
            <a:spLocks noGrp="1"/>
          </p:cNvSpPr>
          <p:nvPr>
            <p:ph type="body" sz="quarter" idx="13"/>
          </p:nvPr>
        </p:nvSpPr>
        <p:spPr>
          <a:xfrm>
            <a:off x="189904" y="1081386"/>
            <a:ext cx="3397250" cy="5984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04" y="136525"/>
            <a:ext cx="9030296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081386"/>
            <a:ext cx="11235193" cy="5182951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lt"/>
                <a:ea typeface="微软雅黑" panose="020B0503020204020204" pitchFamily="34" charset="-122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lt"/>
                <a:ea typeface="微软雅黑" panose="020B0503020204020204" pitchFamily="34" charset="-122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lt"/>
                <a:ea typeface="微软雅黑" panose="020B0503020204020204" pitchFamily="34" charset="-122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lt"/>
                <a:ea typeface="微软雅黑" panose="020B0503020204020204" pitchFamily="34" charset="-122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1" y="6536805"/>
            <a:ext cx="1247775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694AC3-6159-4530-81F2-715F87DA7557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10675" r="-5" b="34293"/>
          <a:stretch>
            <a:fillRect/>
          </a:stretch>
        </p:blipFill>
        <p:spPr bwMode="auto">
          <a:xfrm>
            <a:off x="-9064" y="2384981"/>
            <a:ext cx="12192000" cy="447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-51" r="-5" b="67386"/>
          <a:stretch>
            <a:fillRect/>
          </a:stretch>
        </p:blipFill>
        <p:spPr bwMode="auto">
          <a:xfrm>
            <a:off x="-9064" y="0"/>
            <a:ext cx="12192000" cy="265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 22"/>
          <p:cNvSpPr/>
          <p:nvPr userDrawn="1"/>
        </p:nvSpPr>
        <p:spPr>
          <a:xfrm>
            <a:off x="-18127" y="0"/>
            <a:ext cx="12201062" cy="6858000"/>
          </a:xfrm>
          <a:prstGeom prst="rect">
            <a:avLst/>
          </a:prstGeom>
          <a:gradFill flip="none" rotWithShape="1">
            <a:gsLst>
              <a:gs pos="62000">
                <a:srgbClr val="FFFFFF">
                  <a:alpha val="90000"/>
                </a:srgbClr>
              </a:gs>
              <a:gs pos="100000">
                <a:schemeClr val="bg1">
                  <a:alpha val="78000"/>
                </a:schemeClr>
              </a:gs>
              <a:gs pos="0">
                <a:schemeClr val="bg1">
                  <a:alpha val="7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标题 1"/>
          <p:cNvSpPr>
            <a:spLocks noGrp="1"/>
          </p:cNvSpPr>
          <p:nvPr>
            <p:ph type="ctrTitle"/>
          </p:nvPr>
        </p:nvSpPr>
        <p:spPr>
          <a:xfrm>
            <a:off x="935016" y="2165350"/>
            <a:ext cx="10294776" cy="25272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sz="60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/>
              <a:t>Minimal Agent 与 Tool Calling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100"/>
              <a:t>Agent Loop、Observation、Function Schema 与工具执行</a:t>
            </a:r>
          </a:p>
          <a:p>
            <a:pPr algn="ctr"/>
            <a:r>
              <a:rPr sz="2100"/>
              <a:t>2026 秋季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本次课程内容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5" y="128016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第1次课 · Minimal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266944" cy="457200"/>
          </a:xfrm>
          <a:prstGeom prst="roundRect">
            <a:avLst>
              <a:gd name="adj" fmla="val 50000"/>
            </a:avLst>
          </a:prstGeom>
          <a:solidFill>
            <a:srgbClr val="238773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第2次课 · Tool Calling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5" y="21031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705" y="212140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从 LLM App 到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705" y="2651760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为什么需要循环；模型决策、应用执行；ReAct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5" y="36118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705" y="363016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Agent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705" y="4160520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状态、Observation、停止条件；最小循环代码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12140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Tool Calling 与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651760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工具调用的演进与往返；name / description / 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6118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63016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校验、执行与结果回传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160520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四道关卡；安全执行；错误反馈与自我修正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120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513892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Agent v0：集成与任务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5669280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四个稳定接口，承接两次课的收尾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16752" y="1280160"/>
            <a:ext cx="0" cy="4663440"/>
          </a:xfrm>
          <a:prstGeom prst="line">
            <a:avLst/>
          </a:prstGeom>
          <a:ln w="12700">
            <a:solidFill>
              <a:srgbClr val="9DB2C6"/>
            </a:solidFill>
            <a:prstDash val="das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本周在 16 周项目中的位置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第3周：把“会回答”的 LLM App，推进为“能行动”的 Agent v0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参考：顶点课程 16 周课程安排；2026 秋季顶点课程介绍 2.4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965960"/>
            <a:ext cx="1645920" cy="1874520"/>
          </a:xfrm>
          <a:prstGeom prst="roundRect">
            <a:avLst>
              <a:gd name="adj" fmla="val 8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LLM App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第2周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Prompt · API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Structured Output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55825" y="2907792"/>
            <a:ext cx="219456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2475281" y="1965960"/>
            <a:ext cx="1645920" cy="1874520"/>
          </a:xfrm>
          <a:prstGeom prst="roundRect">
            <a:avLst>
              <a:gd name="adj" fmla="val 8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v0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CFE0F5"/>
                </a:solidFill>
                <a:latin typeface="微软雅黑"/>
                <a:ea typeface="微软雅黑"/>
                <a:cs typeface="微软雅黑"/>
              </a:rPr>
              <a:t>第3周 · 本周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Loop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Tool Calling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21201" y="2907792"/>
            <a:ext cx="219456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4340657" y="1965960"/>
            <a:ext cx="1645920" cy="1874520"/>
          </a:xfrm>
          <a:prstGeom prst="roundRect">
            <a:avLst>
              <a:gd name="adj" fmla="val 8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Agent v1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第5–6周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Memory · Tools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知识库 RAG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6577" y="2907792"/>
            <a:ext cx="219456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6206033" y="1965960"/>
            <a:ext cx="1645920" cy="1874520"/>
          </a:xfrm>
          <a:prstGeom prst="roundRect">
            <a:avLst>
              <a:gd name="adj" fmla="val 8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Private Agent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第6–8周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DGX Spark · vLLM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中期验收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51953" y="2907792"/>
            <a:ext cx="219456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8071409" y="1965960"/>
            <a:ext cx="1645920" cy="1874520"/>
          </a:xfrm>
          <a:prstGeom prst="roundRect">
            <a:avLst>
              <a:gd name="adj" fmla="val 8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Agent v2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第10–11周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Planning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评估与 Trace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17329" y="2907792"/>
            <a:ext cx="219456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9936785" y="1965960"/>
            <a:ext cx="1645920" cy="1874520"/>
          </a:xfrm>
          <a:prstGeom prst="roundRect">
            <a:avLst>
              <a:gd name="adj" fmla="val 8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优化与答辩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第12–16周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系统优化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综合评估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5" y="4617720"/>
            <a:ext cx="10972800" cy="118872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905" y="4617720"/>
            <a:ext cx="73152" cy="118872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5" y="461772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Agent v0 是所有后续能力的挂载点。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本周定下的四个接口——</a:t>
            </a:r>
            <a:r>
              <a:rPr sz="156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llm(messages)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56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TOOLS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注册表、</a:t>
            </a:r>
            <a:r>
              <a:rPr sz="156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messages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状态、</a:t>
            </a:r>
            <a:r>
              <a:rPr sz="156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trace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记录——之后的 Memory、RAG、Planning、vLLM 与评估都只是往里“挂”，基本不再推翻。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本周目标：Agent v0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理解机制，掌握做法，交付一个跑通闭环的最小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参考：顶点课程 16 周课程安排：第3周课后作业/项目推进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3520440" cy="45720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240280"/>
            <a:ext cx="3520440" cy="201168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4497" y="2331720"/>
            <a:ext cx="320040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Agent 与一次性 LLM App 的区别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循环、状态、Observation、停止条件为什么这样设计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决策在模型、执行在应用的责任边界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6085" y="1783080"/>
            <a:ext cx="3520440" cy="45720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掌握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6085" y="2240280"/>
            <a:ext cx="3520440" cy="201168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0677" y="2331720"/>
            <a:ext cx="320040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Function Schema 三要素与参数校验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工具执行的安全边界与异常隔离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结果回传：让模型看见工具结果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2265" y="1783080"/>
            <a:ext cx="3520440" cy="45720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2265" y="2240280"/>
            <a:ext cx="3520440" cy="201168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6857" y="2331720"/>
            <a:ext cx="320040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agent_v0.py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：可运行、自测全部通过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≥2 个工具，含 1 个贴近你们项目场景的工具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带调用链的运行记录，能定位失败原因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5" y="4480560"/>
            <a:ext cx="10972800" cy="263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本周的主线：</a:t>
            </a:r>
            <a:r>
              <a:rPr lang="en-US" sz="17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</a:t>
            </a:r>
            <a:r>
              <a:rPr lang="en-US" altLang="zh-CN" sz="17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gent</a:t>
            </a:r>
            <a:r>
              <a:rPr lang="zh-CN" altLang="en-US" sz="170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sz="17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一次完整</a:t>
            </a:r>
            <a:r>
              <a:rPr lang="zh-CN" altLang="en-US" sz="170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执行</a:t>
            </a:r>
            <a:endParaRPr sz="1700" b="1" i="0" dirty="0">
              <a:solidFill>
                <a:srgbClr val="003C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9905" y="49377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决定下一步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41625" y="5394960"/>
            <a:ext cx="54864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3490265" y="49377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工具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被应用执行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21985" y="5394960"/>
            <a:ext cx="54864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6370625" y="49377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结果回到模型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02345" y="5394960"/>
            <a:ext cx="54864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9250985" y="49377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4F3EF"/>
          </a:solidFill>
          <a:ln w="15875">
            <a:solidFill>
              <a:srgbClr val="238773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最终回答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满足停止条件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从 LLM App 到 Agent：本节导读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先回答五个问题：学什么、怎么学、抓什么、难在哪、怎么解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5" y="178308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78308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178308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说清 Agent 与一次性 LLM App 的区别，知道什么样的任务需要 Agent。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5" y="265176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65176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265176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对比“单次调用”与“循环调用”；用 ReAct 轨迹观察模型、工具、环境如何交替。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5" y="352044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352044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352044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Agent = 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模型 + 循环 + 工具 + 状态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决策在模型，执行在应用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5" y="438912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438912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438912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“模型调用了工具”是错觉：模型只产出文本，动作由应用解析、校验并执行。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5" y="525780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4A5F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525780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240" y="525780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从一个 LLM App 做不到的任务出发，逐步补上循环、工具与状态。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1.1 LLM 与 Agent：同一个问题，两种工作方式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LLM 答一次就结束；Agent 边做边看，直到完成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agents；Minimum Agent Lab 的对比方式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10972800" cy="18745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87452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普通 LLM · 生成一个答案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160020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用户问题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377440"/>
            <a:ext cx="160020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377440"/>
            <a:ext cx="1600200" cy="54864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377440"/>
            <a:ext cx="160020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回答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2651760"/>
            <a:ext cx="36576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4389120" y="2651760"/>
            <a:ext cx="36576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cxnSp>
        <p:nvCxnSpPr>
          <p:cNvPr id="14" name="Connector 13"/>
          <p:cNvCxnSpPr/>
          <p:nvPr/>
        </p:nvCxnSpPr>
        <p:spPr>
          <a:xfrm>
            <a:off x="6355080" y="2651760"/>
            <a:ext cx="36576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8595360" y="2377440"/>
            <a:ext cx="914400" cy="548640"/>
          </a:xfrm>
          <a:prstGeom prst="roundRect">
            <a:avLst>
              <a:gd name="adj" fmla="val 12000"/>
            </a:avLst>
          </a:prstGeom>
          <a:solidFill>
            <a:srgbClr val="D9E0E6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结束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0" y="2651760"/>
            <a:ext cx="274320" cy="0"/>
          </a:xfrm>
          <a:prstGeom prst="line">
            <a:avLst/>
          </a:prstGeom>
          <a:ln w="19050">
            <a:solidFill>
              <a:srgbClr val="60717E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822960" y="3063240"/>
            <a:ext cx="8686800" cy="45720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06324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问题：“agent.py 实现了什么功能？”　典型表现（示意）：说“我看不到这个文件”，或只凭文件名瞎猜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103120"/>
            <a:ext cx="1737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LLM 负责生成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回答结束，任务通常也就停止了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905" y="3794760"/>
            <a:ext cx="10972800" cy="224028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3886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38773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· 持续推进目标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343400"/>
            <a:ext cx="146304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343400"/>
            <a:ext cx="1463040" cy="548640"/>
          </a:xfrm>
          <a:prstGeom prst="roundRect">
            <a:avLst>
              <a:gd name="adj" fmla="val 12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343400"/>
            <a:ext cx="146304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行动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343400"/>
            <a:ext cx="1463040" cy="54864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观察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4343400"/>
            <a:ext cx="146304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回答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86000" y="4617720"/>
            <a:ext cx="320040" cy="0"/>
          </a:xfrm>
          <a:prstGeom prst="line">
            <a:avLst/>
          </a:prstGeom>
          <a:ln w="19050">
            <a:solidFill>
              <a:srgbClr val="238773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>
            <a:off x="4069080" y="4617720"/>
            <a:ext cx="320040" cy="0"/>
          </a:xfrm>
          <a:prstGeom prst="line">
            <a:avLst/>
          </a:prstGeom>
          <a:ln w="19050">
            <a:solidFill>
              <a:srgbClr val="238773"/>
            </a:solidFill>
            <a:tailEnd type="triangle" w="med" len="med"/>
          </a:ln>
        </p:spPr>
      </p:cxnSp>
      <p:cxnSp>
        <p:nvCxnSpPr>
          <p:cNvPr id="29" name="Connector 28"/>
          <p:cNvCxnSpPr/>
          <p:nvPr/>
        </p:nvCxnSpPr>
        <p:spPr>
          <a:xfrm>
            <a:off x="5852160" y="4617720"/>
            <a:ext cx="320040" cy="0"/>
          </a:xfrm>
          <a:prstGeom prst="line">
            <a:avLst/>
          </a:prstGeom>
          <a:ln w="19050">
            <a:solidFill>
              <a:srgbClr val="238773"/>
            </a:solidFill>
            <a:tailEnd type="triangle" w="med" len="med"/>
          </a:ln>
        </p:spPr>
      </p:cxnSp>
      <p:cxnSp>
        <p:nvCxnSpPr>
          <p:cNvPr id="30" name="Connector 29"/>
          <p:cNvCxnSpPr/>
          <p:nvPr/>
        </p:nvCxnSpPr>
        <p:spPr>
          <a:xfrm>
            <a:off x="7635240" y="4617720"/>
            <a:ext cx="320040" cy="0"/>
          </a:xfrm>
          <a:prstGeom prst="line">
            <a:avLst/>
          </a:prstGeom>
          <a:ln w="19050">
            <a:solidFill>
              <a:srgbClr val="238773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>
            <a:off x="6903720" y="4892040"/>
            <a:ext cx="0" cy="182880"/>
          </a:xfrm>
          <a:prstGeom prst="line">
            <a:avLst/>
          </a:prstGeom>
          <a:ln w="22225">
            <a:solidFill>
              <a:srgbClr val="B26A0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H="1">
            <a:off x="3337560" y="5074920"/>
            <a:ext cx="3566160" cy="0"/>
          </a:xfrm>
          <a:prstGeom prst="line">
            <a:avLst/>
          </a:prstGeom>
          <a:ln w="22225">
            <a:solidFill>
              <a:srgbClr val="B26A00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3337560" y="4892040"/>
            <a:ext cx="0" cy="182880"/>
          </a:xfrm>
          <a:prstGeom prst="line">
            <a:avLst/>
          </a:prstGeom>
          <a:ln w="22225">
            <a:solidFill>
              <a:srgbClr val="B26A00"/>
            </a:solidFill>
            <a:tailEnd type="triangle" w="med" len="med"/>
          </a:ln>
        </p:spPr>
      </p:cxnSp>
      <p:sp>
        <p:nvSpPr>
          <p:cNvPr id="34" name="TextBox 33"/>
          <p:cNvSpPr txBox="1"/>
          <p:nvPr/>
        </p:nvSpPr>
        <p:spPr>
          <a:xfrm>
            <a:off x="3840480" y="510235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未完成：带着观察回到决策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413248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第 1 轮：read_file(agent.py) → 读到 run_agent()、execute() 等约 40 行代码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第 2 轮：据代码回答：“实现了最小 Agent 循环：调模型、执行工具、回传结果”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297680"/>
            <a:ext cx="1737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Agent 负责让任务向前推进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读取反馈，决定下一步，必要时重复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1.2 单次调用的边界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一次 LLM 调用只能“说”，不能“查”，也不能“算”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 dirty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参考：第2周 LLM </a:t>
            </a:r>
            <a:r>
              <a:rPr sz="1050" b="0" i="0" dirty="0" err="1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Application；Lilian</a:t>
            </a:r>
            <a:r>
              <a:rPr sz="1050" b="0" i="0" dirty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 Weng: LLM Powered Autonomous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5" y="17830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194560"/>
            <a:ext cx="5120640" cy="77724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读取 test_report.txt，计算测试通过率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72968" y="2971800"/>
            <a:ext cx="0" cy="41148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9" name="Rectangle 8"/>
          <p:cNvSpPr/>
          <p:nvPr/>
        </p:nvSpPr>
        <p:spPr>
          <a:xfrm>
            <a:off x="609905" y="3383280"/>
            <a:ext cx="5120640" cy="68580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模型（单次调用）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72968" y="4069080"/>
            <a:ext cx="0" cy="41148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609905" y="4480560"/>
            <a:ext cx="5120640" cy="1188720"/>
          </a:xfrm>
          <a:prstGeom prst="rect">
            <a:avLst/>
          </a:prstGeom>
          <a:solidFill>
            <a:srgbClr val="FBEAEB"/>
          </a:solidFill>
          <a:ln w="15875">
            <a:solidFill>
              <a:srgbClr val="C52E37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典型表现（示意）</a:t>
            </a:r>
          </a:p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“我无法访问文件”  或  编造一个数字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276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单次调用做不到的三类事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94560"/>
            <a:ext cx="5276088" cy="10058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2194560"/>
            <a:ext cx="73152" cy="100584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2677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获取外部信息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517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文件、网页、数据库不在模型的输入里；知识也有截止时间。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337560"/>
            <a:ext cx="5276088" cy="10058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337560"/>
            <a:ext cx="73152" cy="100584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4107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精确计算与执行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7947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模型按概率生成文字，大数乘法、运行代码都不可靠。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480560"/>
            <a:ext cx="5276088" cy="10058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4480560"/>
            <a:ext cx="73152" cy="100584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45537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多步依赖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9377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下一步做什么，取决于上一步查到了什么，无法提前写死。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669280"/>
            <a:ext cx="52760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共同点：需要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行动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，并把行动的结果再交给模型。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1.3 来龙去脉：从“会说”到“会做”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每一步，都在回答上一步留下的问题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参考：Yao et al. ReAct 2022；OpenAI、Anthropic 官方发布（见备注）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2022-10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13025" y="1965960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609905" y="2286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ReAct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5" y="3200400"/>
            <a:ext cx="2103120" cy="10515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1345" y="32278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5" y="350215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让模型“想一步、做一步、看一步”，推理与行动交替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5" y="4389120"/>
            <a:ext cx="2103120" cy="9144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345" y="4416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留下的问题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5" y="4690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动作靠在文本里找，格式脆弱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27325" y="17830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2023-06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30445" y="1965960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2827325" y="2286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函数调用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27325" y="3200400"/>
            <a:ext cx="2103120" cy="10515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18765" y="32278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8765" y="350215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模型按声明输出结构化调用：工具名 + 参数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27325" y="4389120"/>
            <a:ext cx="2103120" cy="9144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18765" y="4416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留下的问题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8765" y="4690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每个工具都要各自适配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44745" y="17830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2024-11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47865" y="1965960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5044745" y="2286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MCP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44745" y="3200400"/>
            <a:ext cx="2103120" cy="10515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36185" y="32278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6185" y="350215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用统一协议发现并调用外部工具与数据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44745" y="4389120"/>
            <a:ext cx="2103120" cy="9144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36185" y="4416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留下的问题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6185" y="4690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什么时候真的需要 Agent？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2165" y="17830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2024-12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65285" y="1965960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35" name="Rounded Rectangle 34"/>
          <p:cNvSpPr/>
          <p:nvPr/>
        </p:nvSpPr>
        <p:spPr>
          <a:xfrm>
            <a:off x="7262165" y="2286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Building effective agents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2165" y="3200400"/>
            <a:ext cx="2103120" cy="10515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53605" y="32278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3605" y="350215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区分 Workflow 与 Agent，从简单、可组合的做起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2165" y="4389120"/>
            <a:ext cx="2103120" cy="9144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53605" y="4416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留下的问题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3605" y="4690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循环与校验仍要自己写好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79585" y="17830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238773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2025-03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79585" y="2286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Responses API 与 Agents SDK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79585" y="3200400"/>
            <a:ext cx="2103120" cy="10515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71025" y="32278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71025" y="350215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官方封装循环、内置工具与多 Agent 编排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79585" y="4389120"/>
            <a:ext cx="2103120" cy="9144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571025" y="4416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留下的问题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71025" y="4690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出问题时仍要看懂循环内部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905" y="5468112"/>
            <a:ext cx="10972800" cy="59436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09905" y="5468112"/>
            <a:ext cx="73152" cy="59436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8505" y="5468112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本课把这条脉络里最核心的部分——</a:t>
            </a: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循环 + 工具调用</a:t>
            </a: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——自己写一遍：先懂原理，再用框架，出问题时才看得懂。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1.4 Agent = 模型 + 循环 + 工具 + 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把一次调用改成“决策—执行—观察”的循环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agents；ReAct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5" y="17830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LLM App（第2周）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5" y="2103120"/>
            <a:ext cx="118872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用户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103120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118872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回答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01368" y="2377440"/>
            <a:ext cx="57607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11" name="Connector 10"/>
          <p:cNvCxnSpPr/>
          <p:nvPr/>
        </p:nvCxnSpPr>
        <p:spPr>
          <a:xfrm>
            <a:off x="3749040" y="2377440"/>
            <a:ext cx="59436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609905" y="28803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5" y="3200400"/>
            <a:ext cx="118872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用户任务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200400"/>
            <a:ext cx="1188720" cy="548640"/>
          </a:xfrm>
          <a:prstGeom prst="roundRect">
            <a:avLst>
              <a:gd name="adj" fmla="val 12000"/>
            </a:avLst>
          </a:prstGeom>
          <a:solidFill>
            <a:srgbClr val="E4F3EF"/>
          </a:solidFill>
          <a:ln w="15875">
            <a:solidFill>
              <a:srgbClr val="238773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最终回答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20040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452628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01368" y="3474720"/>
            <a:ext cx="30175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>
            <a:off x="3657600" y="3474720"/>
            <a:ext cx="68580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19" name="Connector 18"/>
          <p:cNvCxnSpPr/>
          <p:nvPr/>
        </p:nvCxnSpPr>
        <p:spPr>
          <a:xfrm>
            <a:off x="2606040" y="3749040"/>
            <a:ext cx="0" cy="777240"/>
          </a:xfrm>
          <a:prstGeom prst="line">
            <a:avLst/>
          </a:prstGeom>
          <a:ln w="28575">
            <a:solidFill>
              <a:srgbClr val="003C8B"/>
            </a:solidFill>
            <a:tailEnd type="triangle" w="med" len="med"/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200400" y="3749040"/>
            <a:ext cx="0" cy="777240"/>
          </a:xfrm>
          <a:prstGeom prst="line">
            <a:avLst/>
          </a:prstGeom>
          <a:ln w="28575">
            <a:solidFill>
              <a:srgbClr val="238773"/>
            </a:solidFill>
            <a:tailEnd type="triangle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609905" y="393192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5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Action</a:t>
            </a:r>
          </a:p>
          <a:p>
            <a:pPr algn="r">
              <a:lnSpc>
                <a:spcPct val="108000"/>
              </a:lnSpc>
            </a:pPr>
            <a:r>
              <a:rPr sz="125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工具调用请求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39319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执行结果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5" y="5349240"/>
            <a:ext cx="4937760" cy="502920"/>
          </a:xfrm>
          <a:prstGeom prst="rect">
            <a:avLst/>
          </a:prstGeom>
          <a:solidFill>
            <a:srgbClr val="FFF4E0"/>
          </a:solidFill>
          <a:ln w="15875">
            <a:solidFill>
              <a:srgbClr val="B26A00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状态：messages（任务、决策、Observation 逐轮追加）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80360" y="5074920"/>
            <a:ext cx="0" cy="274320"/>
          </a:xfrm>
          <a:prstGeom prst="line">
            <a:avLst/>
          </a:prstGeom>
          <a:ln w="19050">
            <a:solidFill>
              <a:srgbClr val="B26A00"/>
            </a:solidFill>
          </a:ln>
        </p:spPr>
      </p:cxnSp>
      <p:sp>
        <p:nvSpPr>
          <p:cNvPr id="25" name="Rounded Rectangle 24"/>
          <p:cNvSpPr/>
          <p:nvPr/>
        </p:nvSpPr>
        <p:spPr>
          <a:xfrm>
            <a:off x="6035040" y="182880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1783080"/>
            <a:ext cx="4480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读入当前状态，决定“下一步”：调用工具，或给出最终回答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283464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循环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788920"/>
            <a:ext cx="4480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反复推进，直到满足停止条件；没有循环就退化为单次问答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384048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794760"/>
            <a:ext cx="4480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模型可以请求的外部能力；没有工具，模型只能想、不能做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84632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800600"/>
            <a:ext cx="4480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跨轮次保留的信息；没有状态，模型记不住上一轮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5669280"/>
            <a:ext cx="55504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差别不在模型本身，而在模型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外面的这一圈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1.5 决策权与执行权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模型只“提出”动作，应用负责“执行”动作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calling；Anthropic: Building effective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5029200" cy="45720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模型侧：只产出文本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240280"/>
            <a:ext cx="5029200" cy="201168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75488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读取 messages 中的全部状态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输出一个决策：工具名 + 参数，或最终回答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不能访问文件、网络和系统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6248" y="1783080"/>
            <a:ext cx="5029200" cy="45720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应用侧：Agent 代码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6248" y="2240280"/>
            <a:ext cx="5029200" cy="201168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2331720"/>
            <a:ext cx="475488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解析决策、校验参数、检查权限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真正执行工具，隔离异常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把 Observation 写回状态；决定何时停止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0" y="2606040"/>
            <a:ext cx="859536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669280" y="3429000"/>
            <a:ext cx="859536" cy="0"/>
          </a:xfrm>
          <a:prstGeom prst="line">
            <a:avLst/>
          </a:prstGeom>
          <a:ln w="25400">
            <a:solidFill>
              <a:srgbClr val="238773"/>
            </a:solidFill>
            <a:tailEnd type="triangle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5641848" y="22860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34747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5" y="44348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模型的输出（此刻文件还没有被读取）：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5" y="4754880"/>
            <a:ext cx="10972800" cy="5486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6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"tool", "name": "read_file", "arguments": {"path": "test_report.txt"}}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5" y="5440680"/>
            <a:ext cx="10972800" cy="64008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905" y="5440680"/>
            <a:ext cx="73152" cy="64008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5" y="54406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责任落在应用：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安全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（权限、沙箱）、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可靠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（校验、异常）、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可控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（步数、预算）——正是后面几节的内容。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1.6 流程演示：一个任务，从输入到完成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跟着一个任务走完整个闭环，看清谁在做什么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60717E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用户输入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6976" y="1783080"/>
            <a:ext cx="8348472" cy="457200"/>
          </a:xfrm>
          <a:prstGeom prst="rect">
            <a:avLst/>
          </a:prstGeom>
          <a:solidFill>
            <a:srgbClr val="EDF0F2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读取 test_report.txt，计算测试通过率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5" y="233172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模型决策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6976" y="2331720"/>
            <a:ext cx="8348472" cy="45720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"tool", "name": "read_file", "arguments": {"path": "test_report.txt"}}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5" y="288036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应用执行工具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6976" y="2880360"/>
            <a:ext cx="8348472" cy="45720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execute → {"status": "ok", "result": "passed=47\nfailed=3\n"}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5" y="342900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Observation 回传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6976" y="3429000"/>
            <a:ext cx="8348472" cy="4572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"ok", "result": "passed=47\nfailed=3\n"}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5" y="397764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模型决策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6976" y="3977640"/>
            <a:ext cx="8348472" cy="45720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"tool", "name": "calculator", "arguments": {"expression": "47/(47+3)*100"}}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5" y="452628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执行并回传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6976" y="4526280"/>
            <a:ext cx="8348472" cy="45720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"ok", "result": 94.0}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5" y="507492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 最终回答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6976" y="5074920"/>
            <a:ext cx="8348472" cy="45720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"final", "answer": "测试通过率为 94%"}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5" y="56418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深蓝＝模型　青绿＝应用与工具　琥珀＝写回 messages　灰＝用户。模型只产生文本，动作都由应用执行。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1.7 ReAct：推理与行动交替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每次行动的结果，都进入下一步的判断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参考：Yao et al. ReAct: Synergizing Reasoning and Acting in Language Models. ICLR 2023, Fig. 1</a:t>
            </a:r>
          </a:p>
        </p:txBody>
      </p:sp>
      <p:pic>
        <p:nvPicPr>
          <p:cNvPr id="6" name="Picture 5" descr="react_图片_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5" y="1783080"/>
            <a:ext cx="7680960" cy="32330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49640" y="1783080"/>
            <a:ext cx="3035808" cy="10058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49640" y="1783080"/>
            <a:ext cx="73152" cy="100584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1837944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CoT（只推理）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167128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推理链看似合理，事实可能是编的。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2898648"/>
            <a:ext cx="3035808" cy="10058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49640" y="2898648"/>
            <a:ext cx="73152" cy="100584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20" y="295351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Act-only（只行动）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282696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有行动，但不会据结果调整。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4014216"/>
            <a:ext cx="3035808" cy="10058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49640" y="4014216"/>
            <a:ext cx="73152" cy="100584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406908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ReAct（交替）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398264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每步 Observation 修正下一步。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905" y="5257800"/>
            <a:ext cx="10972800" cy="77724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905" y="5257800"/>
            <a:ext cx="73152" cy="77724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8505" y="52578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图中 Act = 我们的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工具调用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，Obs = 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Observation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。Agent v0 不要求模型写出内部推理，只记录可观察的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决策、参数与结果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1.8 术语对照：论文里的词与代码里的词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同一件事有几套叫法，对上号，查资料才不迷路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参考：ReAct；OpenAI Function calling；Anthropic: Building effective agents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6118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概念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 / 文档里常叫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本课代码里叫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在循环的哪一步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推理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Thought, Reasoning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不单独记录；只保留可观察的决策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模型决策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Action, tool call, function call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决策 </a:t>
                      </a: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{"action":"tool",…}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</a:t>
                      </a: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ToolCall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解析 → ④ 执行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Observation, tool result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Observation: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消息；</a:t>
                      </a: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execute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返回的字典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 写回 messages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Runtime, harness, orchestrator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run_agent()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整个循环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Context, conversation, history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messages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列表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每轮发给模型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工具声明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 schema, function definition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Tool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（函数 + 参数模型 + 描述）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组装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停止条件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Stop condition, max turns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max_steps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、</a:t>
                      </a: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max_failures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、</a:t>
                      </a: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no_progress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⑥ 检查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577840"/>
            <a:ext cx="10972800" cy="50292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577840"/>
            <a:ext cx="73152" cy="50292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57784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遇到陌生词，先问两件事：它对应循环的哪一步？由模型还是应用负责？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1.9 Workflow 还是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路径能提前写死时，用 Workflow 更稳；路径未知时才需要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828800"/>
          <a:ext cx="10972800" cy="3337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Workflow（预设路径）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Agent（动态决策）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控制流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代码写死：A → B → C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模型逐步决定下一步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步骤固定、可枚举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步骤事先未知，依赖中间结果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成本与延迟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低，可预测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多轮调用，随步数增长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可靠性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高，行为可穷举测试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需要停止条件、校验与评估兜底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例子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拉代码 → 跑测试 → 生成报告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读报错 → 定位文件 → 改代码 → 再跑测试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394960"/>
            <a:ext cx="10972800" cy="68580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394960"/>
            <a:ext cx="73152" cy="68580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39496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顶点场景（资料与数据分析助手）属于右边：所以要用 Agent，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同时给它加边界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——这就是停止条件与参数校验存在的原因。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203204"/>
            <a:ext cx="10908792" cy="4887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1.10 小</a:t>
            </a:r>
            <a:r>
              <a:rPr lang="zh-CN" altLang="en-US" sz="31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练习</a:t>
            </a:r>
            <a:r>
              <a:rPr sz="315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3150" b="1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下面哪个是</a:t>
            </a:r>
            <a:r>
              <a:rPr sz="315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Agent？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四个系统，哪一个满足“决策 + 行动 + 观察 + 循环”？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参考：参考 Minimum Agent Lab 的“什么是 Agent”小测方式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5394960" cy="173736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2785" y="1965960"/>
            <a:ext cx="640080" cy="64008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5745" y="19659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问答机器人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5745" y="246888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用户问“什么是死锁？”，模型结合系统提示词回答一次，对话结束。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745" y="1783080"/>
            <a:ext cx="5394960" cy="173736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70625" y="1965960"/>
            <a:ext cx="640080" cy="64008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3585" y="19659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CI 流水线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3585" y="246888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程序按固定顺序：拉取代码 → 运行测试 → 让模型把失败日志总结成一段报告。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5" y="3657600"/>
            <a:ext cx="5394960" cy="173736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92785" y="3840480"/>
            <a:ext cx="640080" cy="64008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5745" y="38404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调试助手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5745" y="434340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模型先读报错日志，自己决定打开哪个文件、是否运行测试；看到结果后，再决定是否继续排查。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745" y="3657600"/>
            <a:ext cx="5394960" cy="173736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70625" y="3840480"/>
            <a:ext cx="640080" cy="64008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3585" y="38404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代码库问答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3585" y="434340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每次都固定检索 3 个相关代码片段，拼进 Prompt，模型据此回答一次。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5" y="5577840"/>
            <a:ext cx="10972800" cy="50292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9905" y="5577840"/>
            <a:ext cx="73152" cy="50292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505" y="557784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先投票，再说理由：你判断的依据是什么？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1.11 用五个问题拆开看任何一个系统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上一页的答案：谁决定路径，是区分的关键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agents（Workflow 与 Agent）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474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五个问题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问答机器人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CI 流水线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 调试助手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 代码库问答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能调用工具吗？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是（固定命令）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是（自选）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是（检索）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谁决定用哪个工具？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程序员写死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程序员写死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结果影响下一步吗？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会循环吗？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否，顺序执行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怎么结束？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答完即止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最后一步跑完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目标达成或触发停止条件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答完即止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单次调用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Workflow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Workflow（管道）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486400"/>
            <a:ext cx="10972800" cy="59436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486400"/>
            <a:ext cx="73152" cy="59436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48640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程序员写死路径 → Workflow；模型根据 Observation 选择路径 → Agent。决策权交给模型，就必须有停止条件、校验与权限兜底。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Agent </a:t>
            </a:r>
            <a:r>
              <a:rPr sz="3150" b="1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Loop：本节导读</a:t>
            </a:r>
            <a:endParaRPr sz="3150" b="1" i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先用脚本化模型把循环逻辑测对，再换真实模型看行为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5" y="178308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78308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178308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写出一个能跑通、能停止的最小 Agent Loop，并能说出每一行对应哪个要素。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5" y="265176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65176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2900694"/>
            <a:ext cx="9509760" cy="2793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拆成四个部件</a:t>
            </a:r>
            <a:r>
              <a:rPr sz="180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18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决策表示、状态、Observation、停止条件</a:t>
            </a:r>
            <a:r>
              <a:rPr sz="180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5" y="352044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352044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352044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messages 如何逐轮增长；Observation 必须回传；循环必须有出口。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5" y="438912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438912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438912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模型行为不可控：格式错、不收敛、重复调用。循环要把这些“意外”变成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可处理的分支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5" y="525780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4A5F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525780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240" y="5506734"/>
            <a:ext cx="9509760" cy="2793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先用</a:t>
            </a:r>
            <a:r>
              <a:rPr sz="18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脚本化模型</a:t>
            </a:r>
            <a:r>
              <a:rPr sz="180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确定地测试循环逻辑，再换真实模型观察差异</a:t>
            </a:r>
            <a:r>
              <a:rPr sz="180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2.1 一轮循环做什么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一轮 = 一次模型调用 + 至多一次工具执行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参考：ReAct；Anthropic: Building effective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96596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96596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llm(messages)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88152" y="196596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parse_decision</a:t>
            </a:r>
          </a:p>
        </p:txBody>
      </p:sp>
      <p:sp>
        <p:nvSpPr>
          <p:cNvPr id="9" name="Diamond 8"/>
          <p:cNvSpPr/>
          <p:nvPr/>
        </p:nvSpPr>
        <p:spPr>
          <a:xfrm>
            <a:off x="8321040" y="1783080"/>
            <a:ext cx="1645920" cy="1143000"/>
          </a:xfrm>
          <a:prstGeom prst="diamond">
            <a:avLst/>
          </a:prstGeom>
          <a:solidFill>
            <a:srgbClr val="FFF4E0"/>
          </a:solidFill>
          <a:ln w="15875">
            <a:solidFill>
              <a:srgbClr val="B26A00"/>
            </a:solidFill>
          </a:ln>
        </p:spPr>
        <p:txBody>
          <a:bodyPr wrap="non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action?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95560" y="1965960"/>
            <a:ext cx="1389888" cy="777240"/>
          </a:xfrm>
          <a:prstGeom prst="roundRect">
            <a:avLst>
              <a:gd name="adj" fmla="val 12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返回</a:t>
            </a:r>
          </a:p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最终回答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0048" y="2354580"/>
            <a:ext cx="53035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12" name="Connector 11"/>
          <p:cNvCxnSpPr/>
          <p:nvPr/>
        </p:nvCxnSpPr>
        <p:spPr>
          <a:xfrm>
            <a:off x="5257800" y="2354580"/>
            <a:ext cx="53035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7845552" y="2354580"/>
            <a:ext cx="475488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14" name="Connector 13"/>
          <p:cNvCxnSpPr/>
          <p:nvPr/>
        </p:nvCxnSpPr>
        <p:spPr>
          <a:xfrm>
            <a:off x="9966960" y="2354580"/>
            <a:ext cx="228600" cy="0"/>
          </a:xfrm>
          <a:prstGeom prst="line">
            <a:avLst/>
          </a:prstGeom>
          <a:ln w="25400">
            <a:solidFill>
              <a:srgbClr val="238773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9875520" y="162763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final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0" y="2926080"/>
            <a:ext cx="0" cy="100584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9235440" y="32461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tool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93192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E4F3EF"/>
          </a:solidFill>
          <a:ln w="15875">
            <a:solidFill>
              <a:srgbClr val="238773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④ 校验并执行工具</a:t>
            </a:r>
          </a:p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execute(...)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393192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 w="15875">
            <a:solidFill>
              <a:srgbClr val="B26A00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⑤ Observation</a:t>
            </a:r>
          </a:p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写回 messages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393192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498080" y="4320540"/>
            <a:ext cx="45720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22" name="Connector 21"/>
          <p:cNvCxnSpPr/>
          <p:nvPr/>
        </p:nvCxnSpPr>
        <p:spPr>
          <a:xfrm flipH="1">
            <a:off x="4663440" y="4320540"/>
            <a:ext cx="45720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 flipH="1">
            <a:off x="1636776" y="4320540"/>
            <a:ext cx="649224" cy="0"/>
          </a:xfrm>
          <a:prstGeom prst="line">
            <a:avLst/>
          </a:prstGeom>
          <a:ln w="25400">
            <a:solidFill>
              <a:srgbClr val="003C8B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1636776" y="2743200"/>
            <a:ext cx="0" cy="157734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609905" y="320040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未触发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下一轮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74720" y="4709160"/>
            <a:ext cx="0" cy="457200"/>
          </a:xfrm>
          <a:prstGeom prst="line">
            <a:avLst/>
          </a:prstGeom>
          <a:ln w="25400">
            <a:solidFill>
              <a:srgbClr val="C52E37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2103120" y="5166360"/>
            <a:ext cx="2743200" cy="685800"/>
          </a:xfrm>
          <a:prstGeom prst="roundRect">
            <a:avLst>
              <a:gd name="adj" fmla="val 12000"/>
            </a:avLst>
          </a:prstGeom>
          <a:solidFill>
            <a:srgbClr val="FBEAEB"/>
          </a:solidFill>
          <a:ln w="15875">
            <a:solidFill>
              <a:srgbClr val="C52E37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返回“未完成”+ 原因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7548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触发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166360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messages 是各步骤之间传递的唯一载体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；步数、失败次数等运行元数据留在应用里，不发给模型。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2.2 决策的表示：只允许两种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让循环“读得懂”模型：一个 action 字段区分两类决策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参考：第2周 Structured Output；Pydantic: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6035040" cy="32461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class ToolCall(BaseModel):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action: Literal["tool"]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name: str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arguments: dict[str, Any] = {}</a:t>
            </a:r>
          </a:p>
          <a:p>
            <a:pPr algn="l">
              <a:lnSpc>
                <a:spcPct val="104000"/>
              </a:lnSpc>
            </a:pPr>
            <a:endParaRPr sz="14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class Final(BaseModel):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action: Literal["final"]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answer: str</a:t>
            </a:r>
          </a:p>
          <a:p>
            <a:pPr algn="l">
              <a:lnSpc>
                <a:spcPct val="104000"/>
              </a:lnSpc>
            </a:pPr>
            <a:endParaRPr sz="14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Decision = Annotated[Union[ToolCall, Final],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         Field(discriminator="action")]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 = TypeAdapter(Decision).validate_json(text)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783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模型每一轮的输出（二选一）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2148840"/>
            <a:ext cx="4681728" cy="822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"tool", "name": "calculator",</a:t>
            </a: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"arguments": {"expression": "47/(47+3)*100"}}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3063240"/>
            <a:ext cx="4681728" cy="5486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"final", "answer": "94%"}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749040"/>
            <a:ext cx="46634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一次校验：既判定类型，又检查字段</a:t>
            </a:r>
          </a:p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解析容错：截取第一个 </a:t>
            </a:r>
            <a:r>
              <a:rPr sz="138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{</a:t>
            </a: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到最后一个 </a:t>
            </a:r>
            <a:r>
              <a:rPr sz="138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}</a:t>
            </a:r>
          </a:p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格式非法 → 计入失败预算，不崩溃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905" y="5257800"/>
            <a:ext cx="10972800" cy="77724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905" y="5257800"/>
            <a:ext cx="73152" cy="77724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5" y="52578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第2周“Prompt 约定 + 客户端校验”的直接应用；与原生 tool_calls 的对应关系见第 37 页。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 状态：下一轮模型能看到什么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状态</a:t>
            </a:r>
            <a:r>
              <a:rPr sz="240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 = </a:t>
            </a:r>
            <a:r>
              <a:rPr sz="24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下一轮模型能看到的全部信息，加上应用自己的运行元数据</a:t>
            </a:r>
            <a:endParaRPr sz="2400" b="1" i="0" dirty="0">
              <a:solidFill>
                <a:srgbClr val="003C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参考：第2周 3.5 无状态请求与有状态应用；OpenAI: Conversation state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828800"/>
          <a:ext cx="10972800" cy="3246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谁写入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 dirty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system </a:t>
                      </a:r>
                      <a:r>
                        <a:rPr sz="1500" b="1" i="0" dirty="0" err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消息</a:t>
                      </a:r>
                      <a:endParaRPr sz="1500" b="1" i="0" dirty="0">
                        <a:solidFill>
                          <a:srgbClr val="003C8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角色、工具说明、输出格式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应用（一次）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build_system_prompt()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user 任务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要完成的任务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读取 test_report.txt，计算测试通过率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assistant 决策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模型上一轮说了什么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模型（原样保存）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{"action":"tool",…}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Observation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工具的结果或错误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Observation: {"status":"ok",…}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运行元数据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步数、失败次数、trace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应用（不发给模型）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 dirty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step=2, failures=0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349240"/>
            <a:ext cx="10972800" cy="73152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349240"/>
            <a:ext cx="73152" cy="73152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34924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模型没有记忆（请求无状态）：状态在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应用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里，每一轮把 messages 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全量重发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。前四行模型可见，最后一行只留在应用里。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2.4 messages 在循环中如何增长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每轮都把完整 messages 重新发给模型，历史随步数线性增长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参考：第1周 Prefill / Decode；第2周 无状态请求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 次调用模型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286000"/>
            <a:ext cx="3520440" cy="402336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system：角色 + 工具说明 + 格式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905" y="2743200"/>
            <a:ext cx="3520440" cy="402336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user：读取 test_report.txt，计算测试通过率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6085" y="178308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2 次调用模型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6085" y="2286000"/>
            <a:ext cx="3520440" cy="402336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6085" y="2743200"/>
            <a:ext cx="3520440" cy="402336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user：读取 test_report.txt，计算…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6085" y="3200400"/>
            <a:ext cx="3520440" cy="402336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assistant：read_file(test_report.txt)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6085" y="3657600"/>
            <a:ext cx="3520440" cy="402336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Observation：passed=47, failed=3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2265" y="178308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3 次调用模型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2265" y="2286000"/>
            <a:ext cx="3520440" cy="402336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2265" y="2743200"/>
            <a:ext cx="3520440" cy="402336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user：读取 test_report.txt，计算…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2265" y="3200400"/>
            <a:ext cx="3520440" cy="402336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assistant：read_file(test_report.txt)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2265" y="3657600"/>
            <a:ext cx="3520440" cy="402336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Observation：passed=47, failed=3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2265" y="4114800"/>
            <a:ext cx="3520440" cy="402336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assistant：calculator(47/(47+3)*100)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2265" y="4572000"/>
            <a:ext cx="3520440" cy="402336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Observation：94.0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5" y="5138928"/>
            <a:ext cx="10911535" cy="0"/>
          </a:xfrm>
          <a:prstGeom prst="line">
            <a:avLst/>
          </a:prstGeom>
          <a:ln w="19050">
            <a:solidFill>
              <a:srgbClr val="60717E"/>
            </a:solidFill>
            <a:tailEnd type="triangle" w="med" len="med"/>
          </a:ln>
        </p:spPr>
      </p:cxnSp>
      <p:sp>
        <p:nvSpPr>
          <p:cNvPr id="22" name="TextBox 21"/>
          <p:cNvSpPr txBox="1"/>
          <p:nvPr/>
        </p:nvSpPr>
        <p:spPr>
          <a:xfrm>
            <a:off x="609905" y="5166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每轮输入更长 →  延迟与成本随步数增长；Observation 要控制长度；步数必须有上限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5" y="5623560"/>
            <a:ext cx="10972800" cy="232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后续如何处理增长</a:t>
            </a:r>
            <a:r>
              <a:rPr sz="150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150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会在后续课程</a:t>
            </a:r>
            <a:r>
              <a:rPr lang="zh-CN" altLang="en-US" sz="150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上下文压缩与缓存复用中提到</a:t>
            </a:r>
            <a:r>
              <a:rPr sz="150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2.5 Observation：把结果交回模型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闭环里最容易被漏掉的一环：成功与失败都要回传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calling；Anthropic: Building effective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5760720" cy="17373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 = execute(decision.name, decision.arguments)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messages.append({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"role": "user",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"content": </a:t>
            </a:r>
            <a:r>
              <a:rPr sz="145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"Observation: "</a:t>
            </a: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+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   json.dumps(obs, ensure_ascii=False)})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5" y="365760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Observation 的两种形态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905" y="4023360"/>
            <a:ext cx="5760720" cy="4572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"ok", "result": 94.0}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5" y="4572000"/>
            <a:ext cx="5760720" cy="7772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"error", "type": "invalid_arguments", "message": "expression: Field required; expr: Extra inputs are not permitted"}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783080"/>
            <a:ext cx="4910328" cy="160020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75120" y="1783080"/>
            <a:ext cx="73152" cy="160020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84708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没有回传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24028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模型下一轮看不到结果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→ 重复同一个调用，或凭空猜一个答案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566160"/>
            <a:ext cx="4910328" cy="178308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75120" y="3566160"/>
            <a:ext cx="73152" cy="178308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36301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回传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02336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下一轮基于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事实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继续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错误也回传：模型才有机会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自己修正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结构固定：status + result / type +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5" y="55321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选做：删掉回传这一行，用真实模型观察行为变化。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2.6 Observation 的设计原则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写给模型看：结构固定、长度受控、错误可纠正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agents（agent-computer interface）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828800"/>
          <a:ext cx="10972800" cy="309067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原则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差的写法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好的写法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结构固定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有时返回数字，有时返回一句话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统一为 </a:t>
                      </a: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{status, result}</a:t>
                      </a: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或 </a:t>
                      </a: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{status, type, message}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长度受控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 KB 文件原样塞回上下文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截断到上限，并注明“已截断”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错误可纠正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只返回 “Error”，或 500 行堆栈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指出</a:t>
                      </a: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哪个字段</a:t>
                      </a: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错；未知工具时列出可用工具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最小披露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返回绝对路径、环境变量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只返回完成任务所需的字段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257800"/>
            <a:ext cx="10972800" cy="77724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257800"/>
            <a:ext cx="73152" cy="77724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2578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Observation 就是模型的“界面”：像设计 UI 一样设计它。</a:t>
            </a: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observation_text()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里的长度上限（</a:t>
            </a: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MAX_OBS_CHARS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）就是第二条的实现。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2.7 停止条件：循环必须有出口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成功出口只有一个，失败出口要有多个，并且都带原因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828800"/>
          <a:ext cx="10972800" cy="313639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出口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触发条件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防止的问题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final（成功）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模型输出 final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status=ok</a:t>
                      </a: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回答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步数上限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步数 ≥ </a:t>
                      </a: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max_steps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max_steps</a:t>
                      </a: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调用链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无限循环、费用失控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失败预算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连续错误 &gt; </a:t>
                      </a: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max_failures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too_many_failures</a:t>
                      </a: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最后错误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模型持续犯同一类错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无进展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同一调用重复 ≥ 3 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no_progress</a:t>
                      </a: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重复的调用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卡住反复试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4892040"/>
            <a:ext cx="10972800" cy="109728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4892040"/>
            <a:ext cx="73152" cy="109728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4892040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失败不是异常，而是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一种带原因的结果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{status, answer, steps, trace}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。调用者靠 </a:t>
            </a: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status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区分成功与受控失败，靠 </a:t>
            </a: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trace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定位卡在哪一步。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2.8 循环里的分支：下一步去哪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每种情形下，状态怎么变、循环往哪走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6118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情形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触发条件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 messages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failures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模型给出 final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解析成功，</a:t>
                      </a: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action=final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不追加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不变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 </a:t>
                      </a: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status=ok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工具调用成功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execute</a:t>
                      </a: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返回 </a:t>
                      </a: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status=ok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追加结果 Observation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清零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进入下一轮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工具调用失败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execute</a:t>
                      </a: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返回 </a:t>
                      </a: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status=error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追加错误 Observation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未超预算：下一轮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输出格式错误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parse_decision</a:t>
                      </a: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抛 </a:t>
                      </a: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ValueError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追加“格式错误”提示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未超预算：下一轮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失败超预算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failures &gt; max_failures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已追加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 +1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too_many_failures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同一调用重复 3 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name 与 arguments 都相同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已追加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不变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no_progress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用完步数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step 超过 </a:t>
                      </a: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max_steps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max_steps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532120"/>
            <a:ext cx="10972800" cy="54864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532120"/>
            <a:ext cx="73152" cy="54864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5321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判断顺序固定：先 final → 再执行 → 再记 failures → 再查预算 → 最后查重复。每个分支都以“返回结果”结束，不靠抛异常跳出循环。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 常见失败模式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Agent 的失败大多发生在循环的边缘，而不是某一次生成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agents；BFCL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412394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常见原因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循环里的防护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输出不是合法 JSON，或多写解释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小模型格式遵循弱；Prompt 不够明确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解析容错 + 纠错 Observation + 失败预算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调用不存在的工具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幻觉；工具名记错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80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unknown_tool</a:t>
                      </a: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并列出可用工具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参数缺失或类型错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Schema 描述不清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校验并定位到字段，交还模型修正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反复调用同一个工具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没看到或没理解 Observation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无进展检测；确认 Observation 已回传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没查就直接 final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过度自信；Prompt 未强调先取事实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Prompt 要求；用固定任务集抽查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上下文越来越长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Observation 过长；步数多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截断、步数上限；后续用 Memory / 压缩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5" y="58521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“常见原因”为经验性归纳，请用自己的运行记录验证。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2.10 最小 Agent Loop：四个部件合成一段代码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约 40 行完整实现（这里是删去日志与 trace 后的骨架）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参考：本课配套 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7452360" cy="42062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run_agent(task, llm, max_steps=6, max_failures=2):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messages = [system_prompt(), user(task)]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① 状态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failures = 0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for step in range(1, max_steps + 1):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raw = llm(messages)                 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② 调用模型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messages.append(assistant(raw))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try: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d = parse_decision(raw)         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② 解析决策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except ValueError: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failures += 1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obs = error_obs('格式错误')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else: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if d.action == 'final':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    return done(d.answer)       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④ 成功停止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obs = execute(d.name, d.arguments)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③ 执行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failures = 0 if ok(obs) else failures + 1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messages.append(observation(obs))   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③ 回传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if failures &gt; max_failures: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return stop('too_many_failures')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④ 失败预算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stop('max_steps')                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④ 步数上限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1783080"/>
            <a:ext cx="457200" cy="45720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737360"/>
            <a:ext cx="2715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057400"/>
            <a:ext cx="27157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messages 初始为 system + user；之后只追加，不改写</a:t>
            </a:r>
          </a:p>
        </p:txBody>
      </p:sp>
      <p:sp>
        <p:nvSpPr>
          <p:cNvPr id="10" name="Oval 9"/>
          <p:cNvSpPr/>
          <p:nvPr/>
        </p:nvSpPr>
        <p:spPr>
          <a:xfrm>
            <a:off x="8275320" y="2697480"/>
            <a:ext cx="457200" cy="45720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651760"/>
            <a:ext cx="2715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调用与解析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971800"/>
            <a:ext cx="27157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模型输出先原样入列，再解析；格式错误走失败预算</a:t>
            </a:r>
          </a:p>
        </p:txBody>
      </p:sp>
      <p:sp>
        <p:nvSpPr>
          <p:cNvPr id="13" name="Oval 12"/>
          <p:cNvSpPr/>
          <p:nvPr/>
        </p:nvSpPr>
        <p:spPr>
          <a:xfrm>
            <a:off x="8275320" y="3657600"/>
            <a:ext cx="457200" cy="45720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611880"/>
            <a:ext cx="2715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执行与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931920"/>
            <a:ext cx="27157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execute 永远返回 dict；结果一定写回 messages</a:t>
            </a:r>
          </a:p>
        </p:txBody>
      </p:sp>
      <p:sp>
        <p:nvSpPr>
          <p:cNvPr id="16" name="Oval 15"/>
          <p:cNvSpPr/>
          <p:nvPr/>
        </p:nvSpPr>
        <p:spPr>
          <a:xfrm>
            <a:off x="8275320" y="4617720"/>
            <a:ext cx="457200" cy="45720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572000"/>
            <a:ext cx="2715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停止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892040"/>
            <a:ext cx="27157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final 成功返回；失败预算、步数上限受控退出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2.11 跟着代码走一遍：变量如何变化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226543"/>
            <a:ext cx="10972800" cy="372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lang="zh-CN" altLang="en-US" sz="2400" b="1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一个例子</a:t>
            </a:r>
            <a:r>
              <a:rPr sz="240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24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错一次、改对、给出回答</a:t>
            </a:r>
            <a:endParaRPr sz="2400" b="1" i="0" dirty="0">
              <a:solidFill>
                <a:srgbClr val="003C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243230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调用模型前 messages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模型输出（决策）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execute 的结果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failures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循环动作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条（system + user）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calculator {"expr": "1+1"}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invalid_arguments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→ 1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追加错误 Observation，继续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calculator {"expression": "1+1"}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ok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，result = 2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→ 0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追加结果 Observation，继续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final "2"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不执行工具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 </a:t>
                      </a: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status=ok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，answer = "2"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4617720"/>
            <a:ext cx="3547872" cy="14173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4617720"/>
            <a:ext cx="73152" cy="141732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4709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26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messages</a:t>
            </a: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　模型能看到的一切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505" y="51206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每轮追加 2 条：assistant 原文 + Observation；final 只追加 1 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2369" y="4617720"/>
            <a:ext cx="3547872" cy="14173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2369" y="4617720"/>
            <a:ext cx="73152" cy="141732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969" y="4709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26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failures</a:t>
            </a:r>
            <a:r>
              <a:rPr sz="15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　连续失败计数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0969" y="51206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失败 +1，成功清零；超过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max_failures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就停，并带上原因。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4833" y="4617720"/>
            <a:ext cx="3547872" cy="14173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34833" y="4617720"/>
            <a:ext cx="73152" cy="141732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3433" y="4709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26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seen</a:t>
            </a:r>
            <a:r>
              <a:rPr sz="155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　调用出现次数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3433" y="51206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以“工具名 + 参数”为键计数；同一调用累计 3 次判为无进展。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2.12 从第一天就记录调用链（Trace）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226543"/>
            <a:ext cx="10972800" cy="372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调试、评估都靠它</a:t>
            </a:r>
            <a:endParaRPr sz="2400" b="1" i="0" dirty="0">
              <a:solidFill>
                <a:srgbClr val="003C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参考：第4周任务集与判定；第11周 Agent 评估与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6675120" cy="36576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{"task": "读取 test_report.txt，计算测试通过率",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"status": "ok", "answer": "94%", "steps": 3,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"trace": [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{"step": 1,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"decision": {"action": "tool", "name": "read_file",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    "arguments": {"path": "test_report.txt"}},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"observation": {"status": "ok", "result": "passed=47\nfailed=3\n"}},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{"step": 2,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"decision": {"action": "tool", "name": "calculator",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    "arguments": {"expression": "47/(47+3)*100"}},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"observation": {"status": "ok", "result": 94.0}},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{"step": 3, "decision": {"action": "final"}}]}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另含每步的 raw（模型原文）与 latency_s（耗时）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7830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每一步记录什么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148840"/>
            <a:ext cx="4023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decision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：工具名、参数或 final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observation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：status、result / type、message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raw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latency_s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：模型原文与耗时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失败：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error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记录格式错误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374904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之后谁会用它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4114800"/>
            <a:ext cx="4023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第4周：任务集与成功判定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第7周：延迟与 Serving 基线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第11周：评估与失败分析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第1次课小结与过渡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2801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本次课三句话</a:t>
            </a:r>
          </a:p>
        </p:txBody>
      </p:sp>
      <p:sp>
        <p:nvSpPr>
          <p:cNvPr id="5" name="Oval 4"/>
          <p:cNvSpPr/>
          <p:nvPr/>
        </p:nvSpPr>
        <p:spPr>
          <a:xfrm>
            <a:off x="609905" y="1737360"/>
            <a:ext cx="502920" cy="50292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9164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Agent = 循环 + 工具 + 状态；</a:t>
            </a: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决策在模型，执行在应用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7" name="Oval 6"/>
          <p:cNvSpPr/>
          <p:nvPr/>
        </p:nvSpPr>
        <p:spPr>
          <a:xfrm>
            <a:off x="609905" y="3063240"/>
            <a:ext cx="502920" cy="50292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1752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循环靠 </a:t>
            </a: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messages 与 Observation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推进，靠</a:t>
            </a: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停止条件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保证可控。</a:t>
            </a:r>
          </a:p>
        </p:txBody>
      </p:sp>
      <p:sp>
        <p:nvSpPr>
          <p:cNvPr id="9" name="Oval 8"/>
          <p:cNvSpPr/>
          <p:nvPr/>
        </p:nvSpPr>
        <p:spPr>
          <a:xfrm>
            <a:off x="609905" y="4389120"/>
            <a:ext cx="502920" cy="50292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34340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失败是常态：格式错、参数错、执行错，都要变成</a:t>
            </a: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可处理的分支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留给第2次课的三个问题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5276088" cy="118872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模型怎么“知道”有哪些工具、参数怎么写？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 dirty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→ Function Schema（第3节）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063240"/>
            <a:ext cx="5276088" cy="118872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15468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模型给的 arguments 可信吗？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490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→ 参数校验（第4节）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389120"/>
            <a:ext cx="5276088" cy="118872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4805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工具怎么安全地执行，并把结果交回去？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749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 dirty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→ 执行与回传（第4节）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本周任务：Agent v0 —— 调参对比与调用链分析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226543"/>
            <a:ext cx="10972800" cy="372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从写循环、写工具，到用真实模型跑通、看懂调用链</a:t>
            </a:r>
            <a:endParaRPr sz="2400" b="1" i="0" dirty="0">
              <a:solidFill>
                <a:srgbClr val="003C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参考：作业.md；README.md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5" y="178308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5" y="2194560"/>
            <a:ext cx="5943600" cy="22092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5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跑通</a:t>
            </a:r>
            <a:r>
              <a:rPr sz="165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 agent_v0.py：--</a:t>
            </a:r>
            <a:r>
              <a:rPr sz="1650" i="0" dirty="0" err="1">
                <a:latin typeface="微软雅黑"/>
                <a:ea typeface="微软雅黑"/>
                <a:cs typeface="微软雅黑"/>
              </a:rPr>
              <a:t>selftest</a:t>
            </a:r>
            <a:r>
              <a:rPr sz="1650" i="0" dirty="0">
                <a:latin typeface="微软雅黑"/>
                <a:ea typeface="微软雅黑"/>
                <a:cs typeface="微软雅黑"/>
              </a:rPr>
              <a:t> </a:t>
            </a:r>
            <a:r>
              <a:rPr sz="1650" i="0" dirty="0" err="1">
                <a:latin typeface="微软雅黑"/>
                <a:ea typeface="微软雅黑"/>
                <a:cs typeface="微软雅黑"/>
              </a:rPr>
              <a:t>全部</a:t>
            </a:r>
            <a:r>
              <a:rPr sz="1650" i="0" dirty="0">
                <a:latin typeface="微软雅黑"/>
                <a:ea typeface="微软雅黑"/>
                <a:cs typeface="微软雅黑"/>
              </a:rPr>
              <a:t> PASS</a:t>
            </a:r>
          </a:p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5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固定同一个任务，每次只调一项运行参数，连续跑</a:t>
            </a:r>
            <a:r>
              <a:rPr sz="165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5 </a:t>
            </a:r>
            <a:r>
              <a:rPr sz="165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次（贪心</a:t>
            </a:r>
            <a:r>
              <a:rPr sz="165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65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采样、temperature</a:t>
            </a:r>
            <a:r>
              <a:rPr sz="165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/top-p/</a:t>
            </a:r>
            <a:r>
              <a:rPr sz="165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top-k、模型规模</a:t>
            </a:r>
            <a:r>
              <a:rPr sz="165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…）</a:t>
            </a:r>
          </a:p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5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调用链分析：选</a:t>
            </a:r>
            <a:r>
              <a:rPr sz="165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 ≥2 </a:t>
            </a:r>
            <a:r>
              <a:rPr sz="165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条代表性</a:t>
            </a:r>
            <a:r>
              <a:rPr sz="165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 trace </a:t>
            </a:r>
            <a:r>
              <a:rPr sz="165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逐步说明，横向对比</a:t>
            </a:r>
            <a:r>
              <a:rPr sz="165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 5 </a:t>
            </a:r>
            <a:r>
              <a:rPr sz="165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次的</a:t>
            </a:r>
            <a:r>
              <a:rPr sz="165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 status</a:t>
            </a:r>
          </a:p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5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65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可选加分）自选一项方法拓展：加生成停止条件</a:t>
            </a:r>
            <a:r>
              <a:rPr sz="165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/ 改 Prompt / </a:t>
            </a:r>
            <a:r>
              <a:rPr sz="165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加新工具</a:t>
            </a:r>
            <a:endParaRPr sz="1650" b="0" i="0" dirty="0">
              <a:solidFill>
                <a:srgbClr val="17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提交内容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94560"/>
            <a:ext cx="47274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results/*.json：5 次运行，保留完整 trace 与模型原文，不要手工修改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提交说明.md：按模板填写环境、5 次对照表、调用链分析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如做了拓展：改动后的 agent_v0.py（或改动说明）+ 对应运行结果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4297680"/>
            <a:ext cx="4727448" cy="123444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0" y="4297680"/>
            <a:ext cx="73152" cy="123444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6600" y="4343400"/>
            <a:ext cx="44348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评分不看成功率：真实模型能不能跑对不是重点，评分主要看参数调整是否合理、trace 分析是否清晰。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905" y="5623560"/>
            <a:ext cx="109728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905" y="5623560"/>
            <a:ext cx="73152" cy="45720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5" y="56235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截止时间与提交入口以课程通知为准。5 次运行请固定同一个任务，每次只改一项参数。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先看目标：这周要做什么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把前两次课讲过的循环和工具，合成一份能直接运行的实现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1850000"/>
            <a:ext cx="6350000" cy="3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目标：跑通“模型 → 工具 → Observation → 最终回答”这条完整闭环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范围：Agent Loop（run_agent）+ 三个工具（calculator/read_file/word_count）+ 三种模型后端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接下来按右边这张图，从①到⑥逐步说明每一步对应的代码与设计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00000" y="18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300000" y="24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sp>
        <p:nvSpPr>
          <p:cNvPr id="16" name="Rounded Rectangle 5"/>
          <p:cNvSpPr/>
          <p:nvPr/>
        </p:nvSpPr>
        <p:spPr>
          <a:xfrm>
            <a:off x="7300000" y="309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300000" y="383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7300000" y="44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回传 Observation</a:t>
            </a:r>
          </a:p>
        </p:txBody>
      </p:sp>
      <p:sp>
        <p:nvSpPr>
          <p:cNvPr id="19" name="Rounded Rectangle 5"/>
          <p:cNvSpPr/>
          <p:nvPr/>
        </p:nvSpPr>
        <p:spPr>
          <a:xfrm>
            <a:off x="7300000" y="50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23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295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0000" y="357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0717E"/>
                </a:solidFill>
                <a:latin typeface="微软雅黑"/>
              </a:rPr>
              <a:t>tool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370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238773"/>
                </a:solidFill>
                <a:latin typeface="微软雅黑"/>
              </a:rPr>
              <a:t>final → 结束，返回最终回答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31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0000" y="49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563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60717E"/>
                </a:solidFill>
                <a:latin typeface="微软雅黑"/>
              </a:rPr>
              <a:t>未触发停止条件 → 回到 ①，进入下一轮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组装 messages：初始状态从哪来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system 里放协议约定和工具列表，user 里放这次的任务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50000"/>
            <a:ext cx="6350000" cy="1890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 = [{"role": "system", "content": build_system_prompt()},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{"role": "user", "content": task}]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trace, failures, seen = [], 0, Counter()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build_system_prompt() -&gt; str: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specs = [{...} for n, t in TOOLS.items()]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# specs 是每个工具的 JSON Schema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SYSTEM_TEMPLATE.replace("{tools}", 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3920000"/>
            <a:ext cx="635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工具列表由 TOOLS 注册表自动导出 JSON Schema，不是手写的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system 约定：模型每轮只能输出 tool 或 final 之一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messages 只增不改——历史必须保持完整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0000" y="18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16" name="Rounded Rectangle 5"/>
          <p:cNvSpPr/>
          <p:nvPr/>
        </p:nvSpPr>
        <p:spPr>
          <a:xfrm>
            <a:off x="7300000" y="24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300000" y="309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7300000" y="383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sp>
        <p:nvSpPr>
          <p:cNvPr id="19" name="Rounded Rectangle 5"/>
          <p:cNvSpPr/>
          <p:nvPr/>
        </p:nvSpPr>
        <p:spPr>
          <a:xfrm>
            <a:off x="7300000" y="44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回传 Observation</a:t>
            </a:r>
          </a:p>
        </p:txBody>
      </p:sp>
      <p:sp>
        <p:nvSpPr>
          <p:cNvPr id="20" name="Rounded Rectangle 5"/>
          <p:cNvSpPr/>
          <p:nvPr/>
        </p:nvSpPr>
        <p:spPr>
          <a:xfrm>
            <a:off x="7300000" y="50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23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295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0000" y="357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0717E"/>
                </a:solidFill>
                <a:latin typeface="微软雅黑"/>
              </a:rPr>
              <a:t>tool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370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238773"/>
                </a:solidFill>
                <a:latin typeface="微软雅黑"/>
              </a:rPr>
              <a:t>final → 结束，返回最终回答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31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0000" y="49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563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60717E"/>
                </a:solidFill>
                <a:latin typeface="微软雅黑"/>
              </a:rPr>
              <a:t>未触发停止条件 → 回到 ①，进入下一轮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调用模型：llm(messages) -&gt; str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循环只依赖这一个接口，模型和服务换成什么都不影响循环本身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50000"/>
            <a:ext cx="6350000" cy="570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raw = llm(messages)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messages.append({"role": "assistant", "content": raw})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2600000"/>
            <a:ext cx="635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llm(messages) 是循环与模型之间唯一的接口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三种实现：ScriptedLLM／make_hf_llm／make_openai_llm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换模型或换服务只改这一层，循环本身不变</a:t>
            </a:r>
          </a:p>
        </p:txBody>
      </p:sp>
      <p:sp>
        <p:nvSpPr>
          <p:cNvPr id="16" name="Rounded Rectangle 5"/>
          <p:cNvSpPr/>
          <p:nvPr/>
        </p:nvSpPr>
        <p:spPr>
          <a:xfrm>
            <a:off x="7300000" y="18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0000" y="24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300000" y="309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7300000" y="383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sp>
        <p:nvSpPr>
          <p:cNvPr id="19" name="Rounded Rectangle 5"/>
          <p:cNvSpPr/>
          <p:nvPr/>
        </p:nvSpPr>
        <p:spPr>
          <a:xfrm>
            <a:off x="7300000" y="44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回传 Observation</a:t>
            </a:r>
          </a:p>
        </p:txBody>
      </p:sp>
      <p:sp>
        <p:nvSpPr>
          <p:cNvPr id="20" name="Rounded Rectangle 5"/>
          <p:cNvSpPr/>
          <p:nvPr/>
        </p:nvSpPr>
        <p:spPr>
          <a:xfrm>
            <a:off x="7300000" y="50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23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295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0000" y="357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0717E"/>
                </a:solidFill>
                <a:latin typeface="微软雅黑"/>
              </a:rPr>
              <a:t>tool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370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238773"/>
                </a:solidFill>
                <a:latin typeface="微软雅黑"/>
              </a:rPr>
              <a:t>final → 结束，返回最终回答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31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0000" y="49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563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60717E"/>
                </a:solidFill>
                <a:latin typeface="微软雅黑"/>
              </a:rPr>
              <a:t>未触发停止条件 → 回到 ①，进入下一轮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解析决策：两种合法输出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模型的原文先解析成结构化决策，再按 action 字段分流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50000"/>
            <a:ext cx="6350000" cy="1890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class ToolCall(BaseModel):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action: Literal["tool"]; name: str; arguments: dict = {}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class Final(BaseModel):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action: Literal["final"]; answer: str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decision = parse_decision(raw)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if decision.action == "final":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finish("ok", decision.answer)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3920000"/>
            <a:ext cx="635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ToolCall／Final 按 action 字段判别，自动选校验规则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解析失败是常态：计入失败预算，纠错提示回传给模型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final 直接结束循环；tool 才进入下一步真正执行</a:t>
            </a:r>
          </a:p>
        </p:txBody>
      </p:sp>
      <p:sp>
        <p:nvSpPr>
          <p:cNvPr id="16" name="Rounded Rectangle 5"/>
          <p:cNvSpPr/>
          <p:nvPr/>
        </p:nvSpPr>
        <p:spPr>
          <a:xfrm>
            <a:off x="7300000" y="18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300000" y="24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0000" y="309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7300000" y="383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sp>
        <p:nvSpPr>
          <p:cNvPr id="19" name="Rounded Rectangle 5"/>
          <p:cNvSpPr/>
          <p:nvPr/>
        </p:nvSpPr>
        <p:spPr>
          <a:xfrm>
            <a:off x="7300000" y="44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回传 Observation</a:t>
            </a:r>
          </a:p>
        </p:txBody>
      </p:sp>
      <p:sp>
        <p:nvSpPr>
          <p:cNvPr id="20" name="Rounded Rectangle 5"/>
          <p:cNvSpPr/>
          <p:nvPr/>
        </p:nvSpPr>
        <p:spPr>
          <a:xfrm>
            <a:off x="7300000" y="50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23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295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0000" y="357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0717E"/>
                </a:solidFill>
                <a:latin typeface="微软雅黑"/>
              </a:rPr>
              <a:t>tool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370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238773"/>
                </a:solidFill>
                <a:latin typeface="微软雅黑"/>
              </a:rPr>
              <a:t>final → 结束，返回最终回答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31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0000" y="49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563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60717E"/>
                </a:solidFill>
                <a:latin typeface="微软雅黑"/>
              </a:rPr>
              <a:t>未触发停止条件 → 回到 ①，进入下一轮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校验并执行：四道关卡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execute() 永远返回一个 dict，不向循环抛异常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50000"/>
            <a:ext cx="6350000" cy="2795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execute(name, arguments):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tool = TOOLS.get(name)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if tool is None: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_err("unknown_tool", ...)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try: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args = tool.args.model_validate(arguments)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except ValidationError as exc: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_err("invalid_arguments", ...)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try: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result = tool.fn(**args.model_dump())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{"status": "ok", "result": result}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except Exception as exc: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_err("execution_error", 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4825000"/>
            <a:ext cx="635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参数校验复用同一份 Pydantic 模型：一处定义，两处使用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工具不存在／参数错／执行异常，统一变成 error Observation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安全边界：read_file 路径沙箱、calculator 不用 eval</a:t>
            </a:r>
          </a:p>
        </p:txBody>
      </p:sp>
      <p:sp>
        <p:nvSpPr>
          <p:cNvPr id="16" name="Rounded Rectangle 5"/>
          <p:cNvSpPr/>
          <p:nvPr/>
        </p:nvSpPr>
        <p:spPr>
          <a:xfrm>
            <a:off x="7300000" y="18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300000" y="24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7300000" y="309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0000" y="383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sp>
        <p:nvSpPr>
          <p:cNvPr id="19" name="Rounded Rectangle 5"/>
          <p:cNvSpPr/>
          <p:nvPr/>
        </p:nvSpPr>
        <p:spPr>
          <a:xfrm>
            <a:off x="7300000" y="44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回传 Observation</a:t>
            </a:r>
          </a:p>
        </p:txBody>
      </p:sp>
      <p:sp>
        <p:nvSpPr>
          <p:cNvPr id="20" name="Rounded Rectangle 5"/>
          <p:cNvSpPr/>
          <p:nvPr/>
        </p:nvSpPr>
        <p:spPr>
          <a:xfrm>
            <a:off x="7300000" y="50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23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295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0000" y="357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0717E"/>
                </a:solidFill>
                <a:latin typeface="微软雅黑"/>
              </a:rPr>
              <a:t>tool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370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238773"/>
                </a:solidFill>
                <a:latin typeface="微软雅黑"/>
              </a:rPr>
              <a:t>final → 结束，返回最终回答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31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0000" y="49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563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60717E"/>
                </a:solidFill>
                <a:latin typeface="微软雅黑"/>
              </a:rPr>
              <a:t>未触发停止条件 → 回到 ①，进入下一轮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 Observation：结果怎么回到模型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工具真正做了什么，模型只能通过这段文字看到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50000"/>
            <a:ext cx="6350000" cy="1450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observation_text(obs):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text = "Observation: " + json.dumps(obs, ...)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text if len(text) &lt;= MAX_OBS_CHARS \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else text[:MAX_OBS_CHARS] + "…(已截断)"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messages.append({"role": "user", "content": observation_text(obs)})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3480000"/>
            <a:ext cx="635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成功或报错都统一写回 messages，模型才能自我修正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MAX_OBS_CHARS 截断：工具输出不可控，避免撑爆上下文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写回之后，新一轮从②调用模型重新开始</a:t>
            </a:r>
          </a:p>
        </p:txBody>
      </p:sp>
      <p:sp>
        <p:nvSpPr>
          <p:cNvPr id="16" name="Rounded Rectangle 5"/>
          <p:cNvSpPr/>
          <p:nvPr/>
        </p:nvSpPr>
        <p:spPr>
          <a:xfrm>
            <a:off x="7300000" y="18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300000" y="24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7300000" y="309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sp>
        <p:nvSpPr>
          <p:cNvPr id="19" name="Rounded Rectangle 5"/>
          <p:cNvSpPr/>
          <p:nvPr/>
        </p:nvSpPr>
        <p:spPr>
          <a:xfrm>
            <a:off x="7300000" y="383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0000" y="44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 回传 Observation</a:t>
            </a:r>
          </a:p>
        </p:txBody>
      </p:sp>
      <p:sp>
        <p:nvSpPr>
          <p:cNvPr id="20" name="Rounded Rectangle 5"/>
          <p:cNvSpPr/>
          <p:nvPr/>
        </p:nvSpPr>
        <p:spPr>
          <a:xfrm>
            <a:off x="7300000" y="50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23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295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0000" y="357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0717E"/>
                </a:solidFill>
                <a:latin typeface="微软雅黑"/>
              </a:rPr>
              <a:t>tool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370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238773"/>
                </a:solidFill>
                <a:latin typeface="微软雅黑"/>
              </a:rPr>
              <a:t>final → 结束，返回最终回答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31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0000" y="49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563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60717E"/>
                </a:solidFill>
                <a:latin typeface="微软雅黑"/>
              </a:rPr>
              <a:t>未触发停止条件 → 回到 ①，进入下一轮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⑥ 停止条件：循环必须有出口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决策权在模型，所以必须由应用兜住模型的不可控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50000"/>
            <a:ext cx="6350000" cy="2330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failures = failures + 1 if obs["status"] == "error" else 0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if failures &gt; max_failures: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finish("too_many_failures")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seen[(name, json.dumps(arguments, sort_keys=True))] += 1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if max(seen.values()) &gt;= 3: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finish("no_progress")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# 步数用完仍未 final：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return finish("max_steps")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4360000"/>
            <a:ext cx="635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四种 status：ok／max_steps／too_many_failures／no_progress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这四个出口就是 trace 里 status 字段的全部取值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都未触发就回到①，带着新 messages 进入下一轮</a:t>
            </a:r>
          </a:p>
        </p:txBody>
      </p:sp>
      <p:sp>
        <p:nvSpPr>
          <p:cNvPr id="16" name="Rounded Rectangle 5"/>
          <p:cNvSpPr/>
          <p:nvPr/>
        </p:nvSpPr>
        <p:spPr>
          <a:xfrm>
            <a:off x="7300000" y="18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300000" y="24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7300000" y="309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sp>
        <p:nvSpPr>
          <p:cNvPr id="19" name="Rounded Rectangle 5"/>
          <p:cNvSpPr/>
          <p:nvPr/>
        </p:nvSpPr>
        <p:spPr>
          <a:xfrm>
            <a:off x="7300000" y="383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sp>
        <p:nvSpPr>
          <p:cNvPr id="20" name="Rounded Rectangle 5"/>
          <p:cNvSpPr/>
          <p:nvPr/>
        </p:nvSpPr>
        <p:spPr>
          <a:xfrm>
            <a:off x="7300000" y="44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回传 Observation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0000" y="50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23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295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0000" y="357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0717E"/>
                </a:solidFill>
                <a:latin typeface="微软雅黑"/>
              </a:rPr>
              <a:t>tool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370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238773"/>
                </a:solidFill>
                <a:latin typeface="微软雅黑"/>
              </a:rPr>
              <a:t>final → 结束，返回最终回答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31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0000" y="49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563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60717E"/>
                </a:solidFill>
                <a:latin typeface="微软雅黑"/>
              </a:rPr>
              <a:t>未触发停止条件 → 回到 ①，进入下一轮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调用链示例：一次真实运行的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以作业默认任务为例，看 trace 里的每一步长什么样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 的 selftest T2；作业.md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5204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模型决策（raw）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执行结果（Observation）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 1 · read_file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{"action": "tool", "name": "read_file", "arguments": {"path": "test_report.txt"}}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Observation: {"status": "ok", "result": "passed=47\nfailed=3\n"}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 2 · calculator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{"action": "tool", "name": "calculator", "arguments": {"expression": "47/(47+3)*100"}}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80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Observation: {"status": "ok", "result": 94.0}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 3 · final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{"action": "final", "answer": "94%"}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不执行工具，循环在这一步直接结束，status=ok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5" y="58521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trace 里每一步还存了 latency_s；出问题先看卡在哪一步，再对照 raw/decision/observation 三者定位原因。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开始之前：几个注意事项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README 和作业里已经写过，这里再强调一遍，跑之前心里有数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参考：README.md；作业.md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5204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事项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具体来说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建议做法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小模型不好使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输出格式不稳定，甚至会编造工具调用结果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用调用链定位卡在哪一步，再判断是模型能力、Prompt 还是解码策略的问题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成功率不计分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真实模型的成功率不作为评分依据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80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评分主要看参数调整是否合理、trace 分析是否清晰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每次只改一项参数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次运行要能横向比较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固定同一个任务，一次只调一个变量（贪心/采样、temperature/top-p/top-k、模型规模）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工具有安全边界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read_file 只能读工作目录内文件；calculator 不用 eval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越权路径、非法表达式会被拒绝，属于预期行为，不是 bug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意外结果也要记录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可选拓展不要求做全套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达不到预期也如实记录改了什么、为什么、跑出什么效果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5" y="58521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这几条原话来自 README.md 和作业.md，动手前再读一遍这两个文件更保险。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Tool Calling 与 Function Schema：本节导读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先回答五个问题：学什么、怎么学、抓什么、难在哪、怎么解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5" y="178308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78308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178308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让模型“知道有什么工具、怎么调用”，让应用能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稳定读懂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它的调用请求。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5" y="265176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65176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265176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从演进脉络理解 Tool Calling；拆开一次调用的往返；拆解 Function Schema 的三要素。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5" y="352044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352044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352044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name / description / parameters 各自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给谁看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；同一份 Schema 既服务模型、也服务校验。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5" y="438912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438912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438912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description 与参数说明写不好，模型会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选错工具、填错参数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；本地小模型对此更敏感。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5" y="525780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4A5F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525780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240" y="525780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用 Pydantic 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一处定义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参数：导出 Schema 给模型，复用同一份做校验；工具设计少而精。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 一次工具调用涉及哪些部件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这些部件各在循环的哪一步起作用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13025" y="2066544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609905" y="2468880"/>
            <a:ext cx="2103120" cy="2331720"/>
          </a:xfrm>
          <a:prstGeom prst="rect">
            <a:avLst/>
          </a:prstGeom>
          <a:solidFill>
            <a:srgbClr val="E4F3EF"/>
          </a:solidFill>
          <a:ln w="15875">
            <a:solidFill>
              <a:srgbClr val="238773"/>
            </a:solidFill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9633" y="2542032"/>
            <a:ext cx="18836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build_system_prompt()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3" y="2926080"/>
            <a:ext cx="188366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读 TOOLS，把每个工具的 name、description、参数 Schema 写进 system 消息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endParaRPr sz="1300" b="0" i="0">
              <a:solidFill>
                <a:srgbClr val="172B3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时机：循环开始前，一次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本课：第 3 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7325" y="1783080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30445" y="2066544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2827325" y="2468880"/>
            <a:ext cx="2103120" cy="23317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37053" y="2542032"/>
            <a:ext cx="18836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llm(messages)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7053" y="2926080"/>
            <a:ext cx="188366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唯一的模型接口：进去是 messages，出来是一段文本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endParaRPr sz="1300" b="0" i="0">
              <a:solidFill>
                <a:srgbClr val="172B3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时机：每轮一次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输出不可信，可能不合格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4745" y="1783080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47865" y="2066544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5044745" y="2468880"/>
            <a:ext cx="2103120" cy="23317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54473" y="2542032"/>
            <a:ext cx="18836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parse_decision(raw)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4473" y="2926080"/>
            <a:ext cx="188366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把文本变成 ToolCall（要调工具）或 Final（给回答）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endParaRPr sz="1300" b="0" i="0">
              <a:solidFill>
                <a:srgbClr val="172B3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时机：每轮，模型之后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失败：格式错误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2165" y="1783080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65285" y="2066544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7262165" y="2468880"/>
            <a:ext cx="2103120" cy="2331720"/>
          </a:xfrm>
          <a:prstGeom prst="rect">
            <a:avLst/>
          </a:prstGeom>
          <a:solidFill>
            <a:srgbClr val="E4F3EF"/>
          </a:solidFill>
          <a:ln w="15875">
            <a:solidFill>
              <a:srgbClr val="238773"/>
            </a:solidFill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71893" y="2542032"/>
            <a:ext cx="18836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execute(name, args)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1893" y="2926080"/>
            <a:ext cx="188366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查表、校验参数、执行工具，统一成 Observation 字典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endParaRPr sz="1300" b="0" i="0">
              <a:solidFill>
                <a:srgbClr val="172B3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时机：仅当决策是 tool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永不抛异常：第 4 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79585" y="1783080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写回 messages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79585" y="2468880"/>
            <a:ext cx="2103120" cy="23317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89313" y="2542032"/>
            <a:ext cx="18836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observation_text(obs)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9313" y="2926080"/>
            <a:ext cx="188366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把字典转成文本，超长截断，作为 user 消息追加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endParaRPr sz="1300" b="0" i="0">
              <a:solidFill>
                <a:srgbClr val="172B3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时机：execute 之后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下一轮模型才看得到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905" y="5029200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5875">
            <a:solidFill>
              <a:srgbClr val="B26A00"/>
            </a:solidFill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0292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TOOLS 注册表</a:t>
            </a: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：工具名 → （函数，参数模型，描述）。① 读它生成给模型的声明，④ 读它查表、校验、执行——</a:t>
            </a: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同一份定义，两处使用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645920" y="4800600"/>
            <a:ext cx="0" cy="228600"/>
          </a:xfrm>
          <a:prstGeom prst="line">
            <a:avLst/>
          </a:prstGeom>
          <a:ln w="25400">
            <a:solidFill>
              <a:srgbClr val="B26A00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 flipV="1">
            <a:off x="8313725" y="4800600"/>
            <a:ext cx="0" cy="228600"/>
          </a:xfrm>
          <a:prstGeom prst="line">
            <a:avLst/>
          </a:prstGeom>
          <a:ln w="25400">
            <a:solidFill>
              <a:srgbClr val="B26A00"/>
            </a:solidFill>
            <a:tailEnd type="triangle" w="med" len="med"/>
          </a:ln>
        </p:spPr>
      </p:cxnSp>
      <p:sp>
        <p:nvSpPr>
          <p:cNvPr id="34" name="TextBox 33"/>
          <p:cNvSpPr txBox="1"/>
          <p:nvPr/>
        </p:nvSpPr>
        <p:spPr>
          <a:xfrm>
            <a:off x="609905" y="5715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绿色是本周新增的两处：</a:t>
            </a:r>
            <a:r>
              <a:rPr sz="1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声明（①）</a:t>
            </a: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 与 </a:t>
            </a:r>
            <a:r>
              <a:rPr sz="1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执行（④）</a:t>
            </a: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；蓝色是第 1 次课的循环骨架；深蓝是模型本身。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3.2 一个工具 = 声明 + 实现 + 注册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同一份定义：给模型看，也给应用用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5989320" cy="32461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@dataclass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class Tool: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fn: Callable         </a:t>
            </a:r>
            <a:r>
              <a:rPr sz="130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实现：真正干活的函数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args: type[BaseModel]</a:t>
            </a:r>
            <a:r>
              <a:rPr sz="130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声明：参数模型（Pydantic）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description: str     </a:t>
            </a:r>
            <a:r>
              <a:rPr sz="130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声明：写给模型的说明</a:t>
            </a:r>
          </a:p>
          <a:p>
            <a:pPr algn="l">
              <a:lnSpc>
                <a:spcPct val="104000"/>
              </a:lnSpc>
            </a:pPr>
            <a:endParaRPr sz="1300" b="0" i="0">
              <a:solidFill>
                <a:srgbClr val="60717E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TOOLS: dict[str, Tool] = {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"</a:t>
            </a:r>
            <a:r>
              <a:rPr sz="13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calculator</a:t>
            </a: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": Tool(calculator, CalculatorArgs,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"计算算术表达式，返回数值结果。"),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"</a:t>
            </a:r>
            <a:r>
              <a:rPr sz="13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read_file</a:t>
            </a: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": Tool(read_file, ReadFileArgs,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"读取工作目录内的文本文件，返回文件内容。"),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3720" y="1783080"/>
            <a:ext cx="4681728" cy="141732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03720" y="1783080"/>
            <a:ext cx="73152" cy="141732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8470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声明：给模型看　→ </a:t>
            </a:r>
            <a:r>
              <a:rPr sz="138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build_system_prompt()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58568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description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与参数模型导出的 Schema，一起写进 system 消息，模型据此决定“选哪个工具、填什么参数”。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3429000"/>
            <a:ext cx="4681728" cy="160020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03720" y="3429000"/>
            <a:ext cx="73152" cy="160020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0" y="349300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实现：给应用用　→ </a:t>
            </a:r>
            <a:r>
              <a:rPr sz="138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execute()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904488"/>
            <a:ext cx="4343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按工具名查到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Tool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；用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args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校验模型给的 arguments；校验通过才调用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fn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20040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读的是同一条注册项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5" y="5257800"/>
            <a:ext cx="10972800" cy="6858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905" y="5257800"/>
            <a:ext cx="73152" cy="68580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5" y="52578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新增一个工具 = 写函数 + 写参数模型 + 注册一行；Agent Loop（智能体循环）一行不用改。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3.3 工具调用的演进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从“在文本里找动作”到“协议化的调用请求”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参考：ReAct；OpenAI: Function calling；Qwen: Function Calling；Model Context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28800"/>
            <a:ext cx="2606040" cy="548640"/>
          </a:xfrm>
          <a:prstGeom prst="rect">
            <a:avLst/>
          </a:prstGeom>
          <a:solidFill>
            <a:srgbClr val="60717E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自由文本 + 正则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377440"/>
            <a:ext cx="2606040" cy="27432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9633" y="245059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633" y="2724912"/>
            <a:ext cx="239572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提示模型写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Action: Search[xxx]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，用正则抽取。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3" y="411480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代价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3" y="4389120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格式脆弱；参数无法校验。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15945" y="2103120"/>
            <a:ext cx="182880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3398825" y="1828800"/>
            <a:ext cx="2606040" cy="54864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Prompt 约定 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8825" y="2377440"/>
            <a:ext cx="2606040" cy="27432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08553" y="245059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做法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8553" y="2724912"/>
            <a:ext cx="239572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system 中声明工具与 JSON 格式，客户端解析并校验。</a:t>
            </a: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第2周 · 本课 v0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8553" y="411480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代价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8553" y="4389120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依赖模型遵循格式；解析与容错要自己写。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04865" y="2103120"/>
            <a:ext cx="182880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6187745" y="1828800"/>
            <a:ext cx="2606040" cy="54864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原生 Function Calling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7745" y="2377440"/>
            <a:ext cx="2606040" cy="27432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97473" y="245059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做法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7473" y="2724912"/>
            <a:ext cx="239572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请求带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tools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，响应返回结构化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tool_calls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；服务端按模型的工具模板解析。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7473" y="411480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代价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7473" y="4389120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需要模型与服务支持（如 vLLM 的 tool parser）。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93785" y="2103120"/>
            <a:ext cx="182880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8976665" y="1828800"/>
            <a:ext cx="2606040" cy="548640"/>
          </a:xfrm>
          <a:prstGeom prst="rect">
            <a:avLst/>
          </a:prstGeom>
          <a:solidFill>
            <a:srgbClr val="4A5F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标准化接入（MCP）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76665" y="2377440"/>
            <a:ext cx="2606040" cy="27432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86393" y="245059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做法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6393" y="2724912"/>
            <a:ext cx="239572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工具由独立服务提供，统一的发现与调用协议。</a:t>
            </a: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第5周概念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6393" y="411480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代价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6393" y="4389120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多一层进程与协议；权限要单独管理。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905" y="5349240"/>
            <a:ext cx="10972800" cy="73152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9905" y="5349240"/>
            <a:ext cx="73152" cy="73152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8505" y="534924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本课用 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讲清原理（对任何模型都成立）；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与 ② 一一对应（第 37 页）；换到 vLLM 服务后可切换，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循环不变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3.4 一次工具调用的完整往返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应用、模型、工具三方，谁在什么时候做什么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783080"/>
            <a:ext cx="2377440" cy="45720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应用（Agent Loop）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2240280"/>
            <a:ext cx="0" cy="3794760"/>
          </a:xfrm>
          <a:prstGeom prst="line">
            <a:avLst/>
          </a:prstGeom>
          <a:ln w="15875">
            <a:solidFill>
              <a:srgbClr val="9DB2C6"/>
            </a:solidFill>
            <a:prstDash val="dash"/>
          </a:ln>
        </p:spPr>
      </p:cxnSp>
      <p:sp>
        <p:nvSpPr>
          <p:cNvPr id="8" name="Rectangle 7"/>
          <p:cNvSpPr/>
          <p:nvPr/>
        </p:nvSpPr>
        <p:spPr>
          <a:xfrm>
            <a:off x="4846320" y="1783080"/>
            <a:ext cx="2377440" cy="457200"/>
          </a:xfrm>
          <a:prstGeom prst="rect">
            <a:avLst/>
          </a:prstGeom>
          <a:solidFill>
            <a:srgbClr val="4A5F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2240280"/>
            <a:ext cx="0" cy="3794760"/>
          </a:xfrm>
          <a:prstGeom prst="line">
            <a:avLst/>
          </a:prstGeom>
          <a:ln w="15875">
            <a:solidFill>
              <a:srgbClr val="9DB2C6"/>
            </a:solidFill>
            <a:prstDash val="dash"/>
          </a:ln>
        </p:spPr>
      </p:cxnSp>
      <p:sp>
        <p:nvSpPr>
          <p:cNvPr id="10" name="Rectangle 9"/>
          <p:cNvSpPr/>
          <p:nvPr/>
        </p:nvSpPr>
        <p:spPr>
          <a:xfrm>
            <a:off x="8503920" y="1783080"/>
            <a:ext cx="2377440" cy="45720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92640" y="2240280"/>
            <a:ext cx="0" cy="3794760"/>
          </a:xfrm>
          <a:prstGeom prst="line">
            <a:avLst/>
          </a:prstGeom>
          <a:ln w="15875">
            <a:solidFill>
              <a:srgbClr val="9DB2C6"/>
            </a:solidFill>
            <a:prstDash val="dash"/>
          </a:ln>
        </p:spPr>
      </p:cxnSp>
      <p:sp>
        <p:nvSpPr>
          <p:cNvPr id="12" name="Rectangle 11"/>
          <p:cNvSpPr/>
          <p:nvPr/>
        </p:nvSpPr>
        <p:spPr>
          <a:xfrm>
            <a:off x="822960" y="2852928"/>
            <a:ext cx="10332720" cy="2724912"/>
          </a:xfrm>
          <a:prstGeom prst="rect">
            <a:avLst/>
          </a:prstGeom>
          <a:noFill/>
          <a:ln w="19050">
            <a:solidFill>
              <a:srgbClr val="C52E37"/>
            </a:solidFill>
            <a:prstDash val="dash"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0" y="2724912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C52E3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循环：② – ⑥ 重复，直到 final 或停止条件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77440" y="2697480"/>
            <a:ext cx="365760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2468880" y="239572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① messages + 工具声明（Schema）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377440" y="3246120"/>
            <a:ext cx="365760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2468880" y="294436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② 决策：name + arguments（一段文本）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703320"/>
            <a:ext cx="2926080" cy="502920"/>
          </a:xfrm>
          <a:prstGeom prst="rect">
            <a:avLst/>
          </a:prstGeom>
          <a:solidFill>
            <a:srgbClr val="FFF4E0"/>
          </a:solidFill>
          <a:ln w="15875">
            <a:solidFill>
              <a:srgbClr val="B26A00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③ 解析 · 校验 · 权限检查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4526280"/>
            <a:ext cx="731520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20" name="TextBox 19"/>
          <p:cNvSpPr txBox="1"/>
          <p:nvPr/>
        </p:nvSpPr>
        <p:spPr>
          <a:xfrm>
            <a:off x="2468880" y="422452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④ 执行 fn(**args)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377440" y="4983480"/>
            <a:ext cx="7315200" cy="0"/>
          </a:xfrm>
          <a:prstGeom prst="line">
            <a:avLst/>
          </a:prstGeom>
          <a:ln w="25400">
            <a:solidFill>
              <a:srgbClr val="238773"/>
            </a:solidFill>
            <a:tailEnd type="triangle" w="med" len="med"/>
          </a:ln>
        </p:spPr>
      </p:cxnSp>
      <p:sp>
        <p:nvSpPr>
          <p:cNvPr id="22" name="TextBox 21"/>
          <p:cNvSpPr txBox="1"/>
          <p:nvPr/>
        </p:nvSpPr>
        <p:spPr>
          <a:xfrm>
            <a:off x="2468880" y="468172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⑤ 结果 / 异常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77440" y="5440680"/>
            <a:ext cx="365760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2468880" y="513892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⑥ Observation 写回 messages，再次调用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377440" y="5897880"/>
            <a:ext cx="3657600" cy="0"/>
          </a:xfrm>
          <a:prstGeom prst="line">
            <a:avLst/>
          </a:prstGeom>
          <a:ln w="25400">
            <a:solidFill>
              <a:srgbClr val="238773"/>
            </a:solidFill>
            <a:tailEnd type="triangle" w="med" len="med"/>
          </a:ln>
        </p:spPr>
      </p:cxnSp>
      <p:sp>
        <p:nvSpPr>
          <p:cNvPr id="26" name="TextBox 25"/>
          <p:cNvSpPr txBox="1"/>
          <p:nvPr/>
        </p:nvSpPr>
        <p:spPr>
          <a:xfrm>
            <a:off x="2468880" y="559612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⑦ final：最终回答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3.5 往返里的每一步对应哪段代码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把往返图翻译成代码：谁做、调用什么、错了怎么办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995928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谁做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做什么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对应代码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这一步出错时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 messages（含工具声明）发给模型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raw = llm(messages)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输出决策：一段文本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raw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（原文原样存进 messages）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格式错误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解析成决策；查表；校验参数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parse_decision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execute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里的 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TOOLS.get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、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model_validate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unknown_tool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invalid_arguments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应用→工具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调用工具函数（权限检查在函数内）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tool.fn(**args.model_dump())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execution_error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工具→应用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返回结果或抛出异常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return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/ 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except Exception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异常被转成 Observation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转成 Observation，追加到 messages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observation_text(obs)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与 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messages.append(...)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过长则截断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 / 应用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再次决策，或 final；应用检查停止条件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回到 ②；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Final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则返回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max_steps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too_many_failures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3.6 协议不同，循环相同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Prompt 约定与原生 tool_calls：声明、输出、解析、回传四处对应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calling；vLLM: Tool Calling；Qwen: Function Calling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endParaRPr/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Prompt 约定（本课 v0）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 tool_calls（API / vLLM）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声明工具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写进 system prompt 的文本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请求参数 </a:t>
                      </a: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tools</a:t>
                      </a: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（JSON Schema）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模型输出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content</a:t>
                      </a: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中的 JSON 文本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tool_calls[i].function</a:t>
                      </a: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（name / arguments）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谁来解析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应用（</a:t>
                      </a: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parse_decision</a:t>
                      </a: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服务端解析为结构化字段；应用仍要校验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结果回传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user</a:t>
                      </a: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消息：</a:t>
                      </a: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Observation: 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role=tool</a:t>
                      </a: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</a:t>
                      </a: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tool_call_id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任何模型，可读性强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需模型与服务端支持工具模板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4846320"/>
            <a:ext cx="10972800" cy="11887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for call in msg.tool_calls or []: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args = json.loads(call.function.arguments) </a:t>
            </a:r>
            <a:r>
              <a:rPr sz="13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注意：arguments 是 JSON 字符串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obs = execute(call.function.name, args)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messages.append({"role": "tool", "tool_call_id": call.id, "content": json.dumps(obs)})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3.7 Function Schema 的三要素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name 给应用分发，description 给模型决策，parameters 给模型填参、给应用校验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calling；JSON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6766560" cy="4251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{"type": "function",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"function": {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</a:t>
            </a:r>
            <a:r>
              <a:rPr sz="13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"name"</a:t>
            </a: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: "calculator",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</a:t>
            </a:r>
            <a:r>
              <a:rPr sz="13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"description"</a:t>
            </a: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: "计算算术表达式，返回数值结果。",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</a:t>
            </a:r>
            <a:r>
              <a:rPr sz="13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"parameters"</a:t>
            </a: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: {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"type": "object",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"properties": {"expression": {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"description": "算术表达式，只含数字、+ - * / 与括号",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"minLength": 1, "type": "string"}},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"required": ["expression"],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"additionalProperties": false}}}</a:t>
            </a:r>
          </a:p>
          <a:p>
            <a:pPr algn="l">
              <a:lnSpc>
                <a:spcPct val="104000"/>
              </a:lnSpc>
            </a:pPr>
            <a:endParaRPr sz="130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由 Pydantic 自动导出（已省略 title 字段）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1783080"/>
            <a:ext cx="3950208" cy="128016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783080"/>
            <a:ext cx="73152" cy="128016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85623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189280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给应用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13432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dispatch 的键；唯一、稳定、含义清楚。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3200400"/>
            <a:ext cx="3950208" cy="128016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3200400"/>
            <a:ext cx="73152" cy="128016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327355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description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331012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238773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给模型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730752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“接口文档”：做什么、何时用、边界在哪。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4617720"/>
            <a:ext cx="3950208" cy="128016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4617720"/>
            <a:ext cx="73152" cy="128016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46908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parameters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47274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C52E3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给模型 + 应用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148072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JSON Schema：模型据此填参数；应用据此校验。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3.8 description：写给模型的接口文档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写清“做什么、何时用、边界在哪”，模型才会选对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agents（agent-computer interface）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28346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calculator 的描述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计算算术表达式（+ - * / 与括号），返回数值。需要</a:t>
                      </a: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精确计算</a:t>
                      </a: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时使用；不用于单位换算或执行代码。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read_file 的描述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读文件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读取工作目录内的文本文件并返回内容。</a:t>
                      </a:r>
                      <a:r>
                        <a:rPr sz="1380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path</a:t>
                      </a: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为相对路径；目录外的文件会被拒绝。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 expression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expr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算术表达式，例如 1024*1024；不含等号和单位。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5" y="4617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写法要点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4956048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说明</a:t>
            </a: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何时用、何时不用</a:t>
            </a: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，并给一个示例值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工具多时，靠 description 拉开彼此的边界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效果只能靠</a:t>
            </a: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固定任务集实测</a:t>
            </a: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，没有理论标准（第4周任务集）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3.9 parameters：只需掌握五个关键字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type / properties / required / enum / additionalProperties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参考：Understanding JSON Schema；第2周 3.1–3.5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5577840" cy="32461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关键字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type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值的类型：string / integer / 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 dirty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properties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每个参数的类型与说明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 dirty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required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 dirty="0" err="1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哪些参数必须出现</a:t>
                      </a:r>
                      <a:endParaRPr sz="1450" b="0" i="0" dirty="0">
                        <a:solidFill>
                          <a:srgbClr val="17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enum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限定取值范围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additionalProperties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 dirty="0" err="1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是否允许多余参数（推荐</a:t>
                      </a:r>
                      <a:r>
                        <a:rPr sz="1450" b="0" i="0" dirty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false）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5" y="521208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其余关键字（pattern、anyOf、$ref…）遇到再查，课上不展开。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示例：path 必填；sort 可选，name 或 size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55080" y="2194560"/>
          <a:ext cx="5212080" cy="33375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arguments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{"path": "src"}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{}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缺参数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缺少必填的 path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 dirty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{"path": "src", "sort": "date"}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取值错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sort 不在 enum 中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{"path": "src", "depth": 1}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多余字段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additionalProperties: false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{"path": 123}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类型错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 dirty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path 应为 string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3.10 Pydantic：一处定义，两处使用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同一个参数模型：导出 Schema 给模型，也用来校验模型给出的 arguments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参考：Pydantic: Models；第2周 3.8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6766560" cy="3108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class CalculatorArgs(BaseModel):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model_config = ConfigDict(extra="forbid", strict=True)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expression: str = Field(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min_length=1,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description="算术表达式，只含数字、+ - * / 与括号")</a:t>
            </a:r>
          </a:p>
          <a:p>
            <a:pPr algn="l">
              <a:lnSpc>
                <a:spcPct val="104000"/>
              </a:lnSpc>
            </a:pPr>
            <a:endParaRPr sz="13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① 给模型：导出 JSON Schema，放进工具声明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schema = CalculatorArgs.model_json_schema()</a:t>
            </a:r>
          </a:p>
          <a:p>
            <a:pPr algn="l">
              <a:lnSpc>
                <a:spcPct val="104000"/>
              </a:lnSpc>
            </a:pPr>
            <a:endParaRPr sz="13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② 校验：模型给出的 arguments 必须通过同一份定义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   不合法则抛出 ValidationError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args = CalculatorArgs.model_validate(arguments)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7830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为什么这样做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48840"/>
            <a:ext cx="3950208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定义只有一份：Schema 与校验</a:t>
            </a: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不会漂移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extra="forbid"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↔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additionalProperties: false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strict=True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：禁止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"12"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→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12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这类隐式转换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Field(description=…)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直接进入 Schema，模型可读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5" y="5029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校验失败时 Pydantic 给出的信息（能定位到字段，直接回传给模型）：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905" y="5376672"/>
            <a:ext cx="10972800" cy="658368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expression: Field required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unit: Extra inputs are not permitted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3.11 Schema 最终去了哪里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Schema 写进 system 消息，模型才“知道”有哪些工具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7040880" cy="37490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你是一个可以使用工具的助手。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可用工具（name、description 与参数的 JSON Schema）：</a:t>
            </a:r>
          </a:p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[{"name": "calculator", "description": "计算算术表达式…"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"parameters": {"properties": {"expression": {…}}, …}},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{"name": "read_file", …}]»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每一轮只输出一个 JSON 对象，不要输出其他文字：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- 需要调用工具：{"action":"tool","name":"&lt;工具名&gt;","arguments":{...}}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- 可以给出回答：{"action":"final","answer":"&lt;最终回答&gt;"}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工具的执行结果会以 "Observation: ..." 的形式返回。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拿到足够信息后再给出 final。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5" y="557784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以上为 </a:t>
            </a:r>
            <a:r>
              <a:rPr sz="115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SYSTEM_TEMPLATE</a:t>
            </a:r>
            <a:r>
              <a:rPr sz="12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；红色处由 </a:t>
            </a:r>
            <a:r>
              <a:rPr sz="115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build_system_prompt()</a:t>
            </a:r>
            <a:r>
              <a:rPr sz="12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 生成，此处折叠。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1783080"/>
            <a:ext cx="3675888" cy="11887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09560" y="1783080"/>
            <a:ext cx="73152" cy="118872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5623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红色部分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12848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由 TOOLS 自动生成：每个工具的 name、description 与参数 Schema。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3081528"/>
            <a:ext cx="3675888" cy="11887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09560" y="3081528"/>
            <a:ext cx="73152" cy="118872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315468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其余部分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11296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输出协议：模型只能说 tool 或 final，Observation 怎样返回。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379976"/>
            <a:ext cx="3675888" cy="11887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9560" y="4379976"/>
            <a:ext cx="73152" cy="118872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4453128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809744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messages[0]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，role 为 system；每个任务生成一次，之后每轮随 messages 一起发给模型。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5669280"/>
            <a:ext cx="3675888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09560" y="5669280"/>
            <a:ext cx="73152" cy="45720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5669280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原生 tool calling：换位置，循环不变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3.12 工具设计：少而精、职责单一、参数强类型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工具是给模型用的接口：像设计接口一样设计工具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agents（poka-yoke your tools）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7947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原则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怎么做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少而精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先用 3–5 个工具覆盖任务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工具越多，选错概率越高，提示越长（小模型更明显）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职责单一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一个工具只做一件事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description 边界清晰，模型不用猜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参数少且强类型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能用 enum 就不用自由文本；路径用相对路径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减少填错空间（防呆：让错误更难发生）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返回可读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结构化、简短、带 status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Observation 直接进入上下文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标注副作用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只读工具与写入工具分开；写入前确认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安全边界在应用，不在模型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532120"/>
            <a:ext cx="10972800" cy="54864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532120"/>
            <a:ext cx="73152" cy="54864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5321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v0 建议只接入</a:t>
            </a: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只读</a:t>
            </a: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工具（calculator、read_file 及你的自选工具）。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参数校验、工具执行与结果回传：本节导读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先回答五个问题：学什么、怎么学、抓什么、难在哪、怎么解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5" y="178308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78308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178308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让模型给出的每一次调用都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先被检查、再被执行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，结果可靠地回到模型手里。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5" y="265176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65176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265176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把“arguments → Observation”拆成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四道关卡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：工具存在？参数合法？允许执行？执行成功？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5" y="352044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352044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352044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校验与执行的失败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都转成 Observation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，让模型有机会自我修正，而不是让程序崩溃。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5" y="438912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438912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438912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安全边界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（不 eval、限制路径）；分清“参数合法 / 执行成功 / 结果正确”三个层次。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5" y="525780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4A5F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525780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240" y="525780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56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execute()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永远返回结构化结果；用 selftest 覆盖未知工具、缺参数、除零、越权四类失败。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 execute()：应用侧的统一入口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循环第④步：把模型的“请求”变成可靠的结果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5212080" cy="457200"/>
          </a:xfrm>
          <a:prstGeom prst="roundRect">
            <a:avLst>
              <a:gd name="adj" fmla="val 15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2240280"/>
            <a:ext cx="0" cy="128016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609905" y="2368296"/>
            <a:ext cx="5212080" cy="457200"/>
          </a:xfrm>
          <a:prstGeom prst="roundRect">
            <a:avLst>
              <a:gd name="adj" fmla="val 15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 调用模型  llm(messages)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2825496"/>
            <a:ext cx="0" cy="128016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609905" y="2953512"/>
            <a:ext cx="5212080" cy="457200"/>
          </a:xfrm>
          <a:prstGeom prst="roundRect">
            <a:avLst>
              <a:gd name="adj" fmla="val 15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  parse_decision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410712"/>
            <a:ext cx="0" cy="128016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609905" y="3538728"/>
            <a:ext cx="5212080" cy="457200"/>
          </a:xfrm>
          <a:prstGeom prst="roundRect">
            <a:avLst>
              <a:gd name="adj" fmla="val 15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校验并执行  execute(name, arguments)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3995928"/>
            <a:ext cx="0" cy="128016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609905" y="4123944"/>
            <a:ext cx="5212080" cy="457200"/>
          </a:xfrm>
          <a:prstGeom prst="roundRect">
            <a:avLst>
              <a:gd name="adj" fmla="val 15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Observation 写回 messages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4581144"/>
            <a:ext cx="0" cy="128016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609905" y="4709160"/>
            <a:ext cx="5212080" cy="457200"/>
          </a:xfrm>
          <a:prstGeom prst="roundRect">
            <a:avLst>
              <a:gd name="adj" fmla="val 15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停止条件检查，回到 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24728" y="3767328"/>
            <a:ext cx="576072" cy="0"/>
          </a:xfrm>
          <a:prstGeom prst="line">
            <a:avLst/>
          </a:prstGeom>
          <a:ln w="31750">
            <a:solidFill>
              <a:srgbClr val="238773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6400800" y="1783080"/>
            <a:ext cx="5184648" cy="105156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1783080"/>
            <a:ext cx="73152" cy="105156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183794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输入（来自模型，不可信）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185416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name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：工具名字符串；</a:t>
            </a: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arguments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：参数字典。可能不存在、缺字段、多字段、类型不对。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953512"/>
            <a:ext cx="5184648" cy="10515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2953512"/>
            <a:ext cx="73152" cy="105156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00837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输出（永远是 dict）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355848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成功 </a:t>
            </a: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{"status":"ok","result":…}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；失败 </a:t>
            </a: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{"status":"error","type":…,"message":…}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123944"/>
            <a:ext cx="5184648" cy="105156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123944"/>
            <a:ext cx="73152" cy="105156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417880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边界（它不做什么）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52628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不修改 messages；不决定继续还是停止；不向循环抛异常。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5" y="5440680"/>
            <a:ext cx="10972800" cy="64008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9905" y="5440680"/>
            <a:ext cx="73152" cy="64008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8505" y="54406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分工：</a:t>
            </a: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run_agent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决定“做什么、何时停”，</a:t>
            </a: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execute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只回答“这次调用能不能做、结果是什么”。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4.2 从 arguments 到执行：四道关卡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模型给的参数不可信：逐关检查，每关失败都有明确的类型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calling；Pydantic: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28800"/>
            <a:ext cx="2514600" cy="566928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工具存在？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395728"/>
            <a:ext cx="2514600" cy="9601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TOOLS.get(name)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905" y="3383280"/>
            <a:ext cx="2514600" cy="45720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unknown_tool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4505" y="2112264"/>
            <a:ext cx="30175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3426257" y="1828800"/>
            <a:ext cx="2514600" cy="566928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参数合法？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6257" y="2395728"/>
            <a:ext cx="2514600" cy="9601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Pydantic：类型 · 必填 · 多余 · 取值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6257" y="3383280"/>
            <a:ext cx="2514600" cy="45720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invalid_arguments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0857" y="2112264"/>
            <a:ext cx="30175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6242609" y="1828800"/>
            <a:ext cx="2514600" cy="566928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允许执行？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2609" y="2395728"/>
            <a:ext cx="2514600" cy="9601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路径在工作目录内；表达式在白名单内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2609" y="3383280"/>
            <a:ext cx="2514600" cy="45720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permission / execution_error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57209" y="2112264"/>
            <a:ext cx="30175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9058961" y="1828800"/>
            <a:ext cx="2514600" cy="566928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执行成功？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8961" y="2395728"/>
            <a:ext cx="2514600" cy="9601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try/except；必要时超时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8961" y="3383280"/>
            <a:ext cx="2514600" cy="45720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execution_error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5" y="3931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每道关卡失败 → 转成错误 Observation 回传（不抛异常、不崩溃）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5" y="43891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三个不同的层次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5" y="4800600"/>
            <a:ext cx="5120640" cy="86868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参数合法</a:t>
            </a:r>
          </a:p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关卡 ①②③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4800600"/>
            <a:ext cx="2651760" cy="86868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执行成功</a:t>
            </a:r>
          </a:p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关卡 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4800600"/>
            <a:ext cx="2944368" cy="86868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结果正确</a:t>
            </a:r>
          </a:p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任务集评估（第4/11周）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5" y="5760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前两层由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execute()</a:t>
            </a: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 负责；“结果是否正确”靠任务集评估，校验解决不了。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4.3 走查：一次成功的调用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跟着数据走：从模型原文到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2514600" cy="502920"/>
          </a:xfrm>
          <a:prstGeom prst="roundRect">
            <a:avLst>
              <a:gd name="adj" fmla="val 8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模型原文  raw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4233" y="1783080"/>
            <a:ext cx="8348472" cy="50292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"tool", "name": "calculator", "arguments": {"expression": "47/(47+3)*100"}}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5" y="2359152"/>
            <a:ext cx="2514600" cy="502920"/>
          </a:xfrm>
          <a:prstGeom prst="roundRect">
            <a:avLst>
              <a:gd name="adj" fmla="val 8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parse_decision(raw)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4233" y="2359152"/>
            <a:ext cx="8348472" cy="50292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ToolCall(action='tool', name='calculator', arguments={'expression': '47/(47+3)*100'})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5" y="2935224"/>
            <a:ext cx="2514600" cy="731520"/>
          </a:xfrm>
          <a:prstGeom prst="roundRect">
            <a:avLst>
              <a:gd name="adj" fmla="val 8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关卡①② 查表·校验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4233" y="2935224"/>
            <a:ext cx="8348472" cy="73152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TOOLS.get("calculator")   → 命中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CalculatorArgs.model_validate({'expression': '47/(47+3)*100'})   → 通过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5" y="3739896"/>
            <a:ext cx="2514600" cy="731520"/>
          </a:xfrm>
          <a:prstGeom prst="roundRect">
            <a:avLst>
              <a:gd name="adj" fmla="val 8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关卡③④ 权限·执行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4233" y="3739896"/>
            <a:ext cx="8348472" cy="73152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calculator(expression='47/(47+3)*100')   → 94.0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execute 返回：{'status': 'ok', 'result': 94.0}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5" y="4544568"/>
            <a:ext cx="2514600" cy="731520"/>
          </a:xfrm>
          <a:prstGeom prst="roundRect">
            <a:avLst>
              <a:gd name="adj" fmla="val 8000"/>
            </a:avLst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observation_text(obs)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4233" y="4544568"/>
            <a:ext cx="8348472" cy="73152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"ok", "result": 94.0}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追加到 messages：{"role": "user", "content": …}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5" y="5422392"/>
            <a:ext cx="10972800" cy="45720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905" y="5422392"/>
            <a:ext cx="73152" cy="45720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5" y="542239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四道关卡全部通过，模型下一轮看到的只有最后一行。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4.4 走查：一次失败的调用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同一条路，在第二关被拦下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2514600" cy="457200"/>
          </a:xfrm>
          <a:prstGeom prst="roundRect">
            <a:avLst>
              <a:gd name="adj" fmla="val 8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模型原文  raw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4233" y="1783080"/>
            <a:ext cx="8348472" cy="45720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"tool", "name": "calculator", "arguments": {"expr": "1+1"}}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5" y="2304288"/>
            <a:ext cx="2514600" cy="566928"/>
          </a:xfrm>
          <a:prstGeom prst="roundRect">
            <a:avLst>
              <a:gd name="adj" fmla="val 8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parse_decision(raw)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4233" y="2304288"/>
            <a:ext cx="8348472" cy="566928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ToolCall(action='tool', name='calculator', arguments={'expr': '1+1'})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格式合法：这一层不检查参数名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5" y="2935224"/>
            <a:ext cx="2514600" cy="384048"/>
          </a:xfrm>
          <a:prstGeom prst="roundRect">
            <a:avLst>
              <a:gd name="adj" fmla="val 8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关卡① 查表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4233" y="2935224"/>
            <a:ext cx="8348472" cy="384048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TOOLS.get("calculator")   → 命中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5" y="3383280"/>
            <a:ext cx="2514600" cy="640080"/>
          </a:xfrm>
          <a:prstGeom prst="roundRect">
            <a:avLst>
              <a:gd name="adj" fmla="val 8000"/>
            </a:avLst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关卡② 校验（失败）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4233" y="3383280"/>
            <a:ext cx="8348472" cy="64008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CalculatorArgs.model_validate({'expr': '1+1'})   → 失败</a:t>
            </a:r>
          </a:p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expression: Field required</a:t>
            </a: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；</a:t>
            </a:r>
            <a:r>
              <a:rPr sz="12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expr: Extra inputs are not permitted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5" y="4087368"/>
            <a:ext cx="2514600" cy="731520"/>
          </a:xfrm>
          <a:prstGeom prst="roundRect">
            <a:avLst>
              <a:gd name="adj" fmla="val 8000"/>
            </a:avLst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execute 返回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4233" y="4087368"/>
            <a:ext cx="8348472" cy="73152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{'status': 'error', 'type': 'invalid_arguments', 'message': 'expression: Field required; expr: Extra inputs are not permitted'}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tool.fn 没有被调用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5" y="4882896"/>
            <a:ext cx="2514600" cy="731520"/>
          </a:xfrm>
          <a:prstGeom prst="roundRect">
            <a:avLst>
              <a:gd name="adj" fmla="val 8000"/>
            </a:avLst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回传，进入下一轮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4233" y="4882896"/>
            <a:ext cx="8348472" cy="73152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"error", "type": "invalid_arguments", "message": "expression: Field required; expr: Extra inputs are not permitted"}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failures = 1（≤ max_failures），继续循环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5" y="5715000"/>
            <a:ext cx="10972800" cy="384048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905" y="5715000"/>
            <a:ext cx="73152" cy="384048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5" y="571500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错误写明“缺哪个字段、多了哪个字段”，模型下一轮才改得对。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4.5 失败类型与回传给模型的信息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错误信息要定位到字段、给出可选项，模型才修得动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参考：Pydantic: Error Handling；agent_v0.py 的真实输出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412394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触发示例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回传给模型的 message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unknown_tool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调用 run_tests(target=…)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未知工具 'run_tests'，可用工具：['calculator', 'read_file']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invalid_arguments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缺必填字段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calculator，参数 {}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expression: Field required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invalid_arguments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多余字段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calculator，参数 {"expression": "1+1", "unit": "cm"}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unit: Extra inputs are not permitted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invalid_arguments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类型错误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calculator，参数 {"expression": 12}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expression: Input should be a valid string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execution_error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执行异常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calculator(“1/0”)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ZeroDivisionError: division by zero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execution_error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越权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read_file("../.env")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PermissionError: 只允许读取工作目录内的文件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4.6 两层检查：parse_decision 与 execute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同样是“模型说错了”，错在哪层由哪层处理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模型原文</a:t>
            </a:r>
          </a:p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raw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50008" y="2194560"/>
            <a:ext cx="39319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2743200" y="1783080"/>
            <a:ext cx="2651760" cy="82296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层 1  parse_decision</a:t>
            </a:r>
          </a:p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是合法的决策吗？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0" y="2194560"/>
            <a:ext cx="73152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0" name="TextBox 9"/>
          <p:cNvSpPr txBox="1"/>
          <p:nvPr/>
        </p:nvSpPr>
        <p:spPr>
          <a:xfrm>
            <a:off x="5349240" y="181051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ToolCall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83080"/>
            <a:ext cx="2651760" cy="822960"/>
          </a:xfrm>
          <a:prstGeom prst="roundRect">
            <a:avLst>
              <a:gd name="adj" fmla="val 12000"/>
            </a:avLst>
          </a:prstGeom>
          <a:solidFill>
            <a:srgbClr val="E4F3EF"/>
          </a:solidFill>
          <a:ln w="15875">
            <a:solidFill>
              <a:srgbClr val="238773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层 2  execute</a:t>
            </a:r>
          </a:p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这次调用能做吗？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2194560"/>
            <a:ext cx="82296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8732520" y="181051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dict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783080"/>
            <a:ext cx="1984248" cy="82296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 w="15875">
            <a:solidFill>
              <a:srgbClr val="B26A00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追加到 messages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69080" y="2606040"/>
            <a:ext cx="0" cy="320040"/>
          </a:xfrm>
          <a:prstGeom prst="line">
            <a:avLst/>
          </a:prstGeom>
          <a:ln w="25400">
            <a:solidFill>
              <a:srgbClr val="C52E37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2743200" y="2926080"/>
            <a:ext cx="2651760" cy="548640"/>
          </a:xfrm>
          <a:prstGeom prst="roundRect">
            <a:avLst>
              <a:gd name="adj" fmla="val 12000"/>
            </a:avLst>
          </a:prstGeom>
          <a:solidFill>
            <a:srgbClr val="FBEAEB"/>
          </a:solidFill>
          <a:ln w="15875">
            <a:solidFill>
              <a:srgbClr val="C52E37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format_error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52360" y="2606040"/>
            <a:ext cx="0" cy="320040"/>
          </a:xfrm>
          <a:prstGeom prst="line">
            <a:avLst/>
          </a:prstGeom>
          <a:ln w="25400">
            <a:solidFill>
              <a:srgbClr val="C52E37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6126480" y="2926080"/>
            <a:ext cx="2651760" cy="777240"/>
          </a:xfrm>
          <a:prstGeom prst="roundRect">
            <a:avLst>
              <a:gd name="adj" fmla="val 12000"/>
            </a:avLst>
          </a:prstGeom>
          <a:solidFill>
            <a:srgbClr val="FBEAEB"/>
          </a:solidFill>
          <a:ln w="15875">
            <a:solidFill>
              <a:srgbClr val="C52E37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unknown_tool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invalid_arguments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execution_error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09905" y="3886200"/>
          <a:ext cx="10972800" cy="18745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检查什么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回传给模型的提示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parse_decision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 JSON 对象；action 是 tool 或 final；字段齐全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Decision 模型，与具体工具无关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“输出格式错误，请只输出一个符合要求的 JSON 对象。”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execute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工具已注册；参数符合该工具的 Schema；执行成功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TOOLS 与各工具的参数模型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指到字段的 message，如 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expression: Field required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09905" y="58704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例：模型只回了一句“好的，我来算一下”，层 1 抛出 </a:t>
            </a:r>
            <a:r>
              <a:rPr sz="1196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ValueError: 输出中没有 JSON 对象</a:t>
            </a:r>
            <a:r>
              <a:rPr sz="13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，记为格式错误。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4.7 execute()：</a:t>
            </a:r>
            <a:r>
              <a:rPr sz="3150" b="1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校验、执行、异常隔离</a:t>
            </a:r>
            <a:endParaRPr sz="3150" b="1" i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永远返回 dict，不向循环抛异常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参考：本课配套 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7315200" cy="4251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execute(name: str, arguments: dict) -&gt; dict: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tool = TOOLS.get(name)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if tool is None: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names = list(TOOLS)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_err("unknown_tool", f"未知工具 {name!r}，可用工具：{names}")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try: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args = tool.args.model_validate(arguments)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except ValidationError as exc: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msg = "; ".join(_fmt(e) for e in exc.errors())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_err("invalid_arguments", msg)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try: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result = tool.fn(**args.model_dump())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{"status": "ok", "result": result}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except Exception as exc:          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工具失败不能打断循环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_err("execution_error", f"{type(exc).__name__}: {exc}")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78308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查表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73736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工具名不在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TOOLS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unknown_tool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，并列出可用工具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0175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97180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同一份参数模型校验；用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loc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定位字段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2519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420624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工具是外部代码：任何异常都转成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execution_error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4.8 安全执行：模型的输出是不可信输入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用白名单语法树，而不是 eval；路径先规范化再比较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参考：Python: ast；OWASP 输入校验原则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6949440" cy="35204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_BIN = {ast.Add: operator.add, ast.Sub: operator.sub,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ast.Mult: operator.mul, ast.Div: operator.truediv}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calculator(expression: str):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 # 不使用 eval：只放行“数字、四则运算、负号”这几类语法树节点。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def ev(n):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t = type(n)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if t is ast.Constant and type(n.value) in (int, float):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return n.value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if t is ast.BinOp and type(n.op) in _BIN: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return _BIN[type(n.op)](ev(n.left), ev(n.right))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if t is ast.UnaryOp and type(n.op) is ast.USub: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return -ev(n.operand)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raise ValueError("表达式含有不支持的语法")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ev(ast.parse(expression, mode="eval").body)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1783080"/>
            <a:ext cx="3767328" cy="160020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18120" y="1783080"/>
            <a:ext cx="73152" cy="160020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84708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若用 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194560"/>
            <a:ext cx="3474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模型输出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__import__('os')…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就会在你的机器上执行任意代码。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3566160"/>
            <a:ext cx="3767328" cy="17373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8120" y="3566160"/>
            <a:ext cx="73152" cy="173736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363016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白名单语法树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977640"/>
            <a:ext cx="34747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只放行：数字、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+ - * /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、负号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函数调用、属性、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**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一律拒绝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拒绝 → 错误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5" y="54406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read_file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同理：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resolve()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后用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is_relative_to(工作目录)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检查，拒绝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../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越出。这两项在 selftest（T8 与“拒绝非法表达式”）里都有用例。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4.9 read_file：路径沙箱怎么防越权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只读、有边界：接入真实文件前的第一道防线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5120640" cy="23317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read_file(path: str) -&gt; str: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root = WORKDIR.resolve()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target = (root / path).resolve()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if not target.</a:t>
            </a:r>
            <a:r>
              <a:rPr sz="11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is_relative_to</a:t>
            </a: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(root):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raise PermissionError("只允许读取工作目录内的文件")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if not target.is_file():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raise FileNotFoundError(f"文件不存在：{path}")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target.read_text(encoding="utf-8")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4297680"/>
            <a:ext cx="5120640" cy="173736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4297680"/>
            <a:ext cx="73152" cy="173736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429768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先规范化，再比较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resolve()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折叠 </a:t>
            </a: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../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并解析符号链接；</a:t>
            </a: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is_relative_to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按路径分量比较，不会被“/work-evil”这样的前缀蒙混。</a:t>
            </a:r>
          </a:p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错误只回显相对路径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：不暴露绝对路径（最小披露）。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89320" y="1783080"/>
          <a:ext cx="5596128" cy="3703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3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path 参数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execute("read_file", …) 的结果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test_report.txt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ok：返回文件内容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sub/../test_report.txt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ok：规范化后仍在目录内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../.env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PermissionError：越出目录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/etc/passwd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PermissionError：绝对路径不在目录内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link/hostname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PermissionError：符号链接指向目录外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nofile.txt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FileNotFoundError：文件不存在：nofile.txt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89320" y="5577840"/>
            <a:ext cx="5577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除读取成功外，错误都归为 </a:t>
            </a:r>
            <a:r>
              <a:rPr sz="1196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execution_error</a:t>
            </a:r>
            <a:r>
              <a:rPr sz="13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。对模型而言，“不允许”和“出错了”都是该换个做法的信号。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4.10 异常、超时与副作用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工具失败不能打断循环；有副作用的工具要额外设防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calling；Anthropic: Building effective agents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6118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例子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应对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抛异常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文件不存在、除零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2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try/except</a:t>
                      </a: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error Observation（execute 已做）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耗时过长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网络请求、大文件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设超时；超时同样转成 error Observation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输出过大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读取大文件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截断到 </a:t>
                      </a:r>
                      <a:r>
                        <a:rPr sz="142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MAX_OBS_CHARS</a:t>
                      </a: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，注明已截断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越权访问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2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../../etc/passwd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路径规范化 + 工作目录白名单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有副作用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写文件、发请求、删除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只读/写入分离；写入前确认；设计成</a:t>
                      </a: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幂等</a:t>
                      </a: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（重复调用无害）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486400"/>
            <a:ext cx="10972800" cy="59436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486400"/>
            <a:ext cx="73152" cy="59436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48640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模型可能</a:t>
            </a: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重复调用</a:t>
            </a: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同一个工具——所以有副作用的工具一定要幂等，或在 v0 阶段不接入。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4.11 observation_text()：结果如何回到模型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回传前的最后一步：序列化、截断、写回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5852160" cy="224028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observation_text(obs: dict) -&gt; str: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text = "Observation: " + json.dumps(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obs, </a:t>
            </a:r>
            <a:r>
              <a:rPr sz="125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ensure_ascii=False, default=str</a:t>
            </a: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if len(text) &lt;= MAX_OBS_CHARS: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2000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text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text[:MAX_OBS_CHARS] + </a:t>
            </a:r>
            <a:r>
              <a:rPr sz="125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"…(已截断)"</a:t>
            </a:r>
          </a:p>
          <a:p>
            <a:pPr algn="l">
              <a:lnSpc>
                <a:spcPct val="104000"/>
              </a:lnSpc>
            </a:pPr>
            <a:endParaRPr sz="1250" b="1" i="0">
              <a:solidFill>
                <a:srgbClr val="C52E37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在循环里：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messages.append({"role": "user",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     "content": observation_text(obs)})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83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三种情形（真实输出）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2194560"/>
            <a:ext cx="4864608" cy="566928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280" y="2194560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成功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194560"/>
            <a:ext cx="4069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"ok", "result": 94.0}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2834640"/>
            <a:ext cx="4864608" cy="566928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2834640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834640"/>
            <a:ext cx="4069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"error", "type": "invalid_arguments", "message": "…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3474720"/>
            <a:ext cx="4864608" cy="566928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3474720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过长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474720"/>
            <a:ext cx="4069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读 3000 字符的文件：序列化后 3043 字符 → 截断为 2000 字符 + “…(已截断)”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5" y="42519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ensure_ascii=False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2519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中文保持原样，省 token，模型也更容易读。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5" y="481888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default=str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8188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遇到 Path、datetime 等无法 JSON 化的结果，转成字符串，回传这一步不会自己崩溃。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5" y="5385816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截断并标注“已截断”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385816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防止一次输出撑爆上下文，也避免模型把截断的内容当成完整内容。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4.12 结果回传：让模型看到，并对应到请求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两种协议的写法；多个调用时逐个执行、逐个回传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5349240" cy="384048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Prompt 约定（本课 v0）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194560"/>
            <a:ext cx="5349240" cy="23774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messages.append(</a:t>
            </a: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{"role": "assistant", "content": raw})</a:t>
            </a: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messages.append(</a:t>
            </a: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{"role": "user",</a:t>
            </a: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"content": </a:t>
            </a:r>
            <a:r>
              <a:rPr sz="14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"Observation: "</a:t>
            </a: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+ obs_json})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783080"/>
            <a:ext cx="5349240" cy="384048"/>
          </a:xfrm>
          <a:prstGeom prst="roundRect">
            <a:avLst>
              <a:gd name="adj" fmla="val 50000"/>
            </a:avLst>
          </a:prstGeom>
          <a:solidFill>
            <a:srgbClr val="238773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原生 tool_calls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194560"/>
            <a:ext cx="5349240" cy="23774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messages.append(msg)</a:t>
            </a:r>
            <a:r>
              <a:rPr sz="13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先入列含 tool_calls 的消息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for call in msg.tool_calls: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obs = execute(...)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messages.append({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"role": "tool",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"tool_call_id": </a:t>
            </a:r>
            <a:r>
              <a:rPr sz="135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call.id</a:t>
            </a: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,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"content": json.dumps(obs)})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5" y="47548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5" y="507492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tool_call_id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把结果与</a:t>
            </a: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对应的请求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关联起来；缺失或顺序不对，服务端通常会报错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一次返回</a:t>
            </a: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多个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tool_calls：逐个执行、逐个回传，各带自己的 id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content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一律是字符串；Responses API 对应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function_call_output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call_id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4.13 错误反馈让模型自我修正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一次失败不等于任务失败：错误 Observation 就是修正线索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 --selftest（T4a，脚本化模型）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7223760" cy="155448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C52E3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56232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75688"/>
            <a:ext cx="5897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calculator  {"expr": "1+1"}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41448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51760"/>
            <a:ext cx="5897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invalid_arguments: expression: Field required; expr: Extra inputs are not permitted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5" y="3474720"/>
            <a:ext cx="7223760" cy="12801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38773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47872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67328"/>
            <a:ext cx="5897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calculator  {"expression": "1+1"}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33088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343400"/>
            <a:ext cx="5897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238773"/>
                </a:solidFill>
                <a:latin typeface="Consolas"/>
                <a:ea typeface="微软雅黑"/>
                <a:cs typeface="Consolas"/>
              </a:rPr>
              <a:t>{"status": "ok", "result": 2}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5" y="4892040"/>
            <a:ext cx="7223760" cy="77724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38773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65192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184648"/>
            <a:ext cx="5897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final  "2"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17830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失败预算怎么用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94560"/>
            <a:ext cx="3447288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连续失败 ≤ </a:t>
            </a:r>
            <a:r>
              <a:rPr sz="138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max_failures</a:t>
            </a: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：继续，给模型修正机会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一次成功：失败计数</a:t>
            </a: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清零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超过预算：</a:t>
            </a:r>
            <a:r>
              <a:rPr sz="138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too_many_failures</a:t>
            </a: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受控退出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每次失败都留在 trace 里，可复盘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5029200"/>
            <a:ext cx="3447288" cy="100584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5029200"/>
            <a:ext cx="73152" cy="100584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5029200"/>
            <a:ext cx="3081528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trace 为脚本化模型的真实结构；用于说明机制，非模型成功率。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4.14 小模型的现实：靠工程兜底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1.5B 级本地模型的工具调用会更不稳定——用工程手段，而不是靠 Prompt 祈祷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参考：Qwen: Function Calling；vLLM: Tool Calling；BFCL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5349240" cy="45720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常见现象（经验性，请用自己的 trace 核对）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240280"/>
            <a:ext cx="5349240" cy="292608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多写解释文字或 Markdown 代码围栏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键名拼错、漏参数、类型不对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该调用时不调用；不该调用时调用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重复同一个调用，或没查就直接回答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783080"/>
            <a:ext cx="5349240" cy="45720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工程手段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2240280"/>
            <a:ext cx="5349240" cy="292608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426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temperature=0</a:t>
            </a: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，降低随机性</a:t>
            </a:r>
          </a:p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Prompt 里给</a:t>
            </a: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一个完整示例</a:t>
            </a:r>
          </a:p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解析容错 + 纠错 Observation</a:t>
            </a:r>
          </a:p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失败预算与无进展检测</a:t>
            </a:r>
          </a:p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换更大的模型 + 原生 tool calling（第6–7周，DGX Spark）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5" y="5349240"/>
            <a:ext cx="10972800" cy="73152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905" y="5349240"/>
            <a:ext cx="73152" cy="73152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5" y="534924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作业评分看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闭环是否完整、错误是否被处理、调用链是否可读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，不看模型答对多少。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5.1 Agent v0：四个稳定接口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之后各周都往这四个接口上“挂”能力，而不是重写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参考：本课配套 agent_v0.py；顶点课程 16 周课程安排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9718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Loop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CFE0F5"/>
                </a:solidFill>
                <a:latin typeface="微软雅黑"/>
                <a:ea typeface="微软雅黑"/>
                <a:cs typeface="微软雅黑"/>
              </a:rPr>
              <a:t>run_agent(task, llm)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CFE0F5"/>
                </a:solidFill>
                <a:latin typeface="微软雅黑"/>
                <a:ea typeface="微软雅黑"/>
                <a:cs typeface="微软雅黑"/>
              </a:rPr>
              <a:t>输出 {status, answer, steps, trace}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783080"/>
            <a:ext cx="324612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模型接口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llm(messages) → str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03620" y="2560320"/>
            <a:ext cx="0" cy="411480"/>
          </a:xfrm>
          <a:prstGeom prst="line">
            <a:avLst/>
          </a:prstGeom>
          <a:ln w="25400">
            <a:solidFill>
              <a:srgbClr val="003C8B"/>
            </a:solidFill>
            <a:headEnd type="triangle" w="med" len="med"/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8503920" y="3017520"/>
            <a:ext cx="3081528" cy="128016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工具注册表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TOOLS = {name: Tool(fn,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参数模型, 描述)}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26680" y="3657600"/>
            <a:ext cx="777240" cy="0"/>
          </a:xfrm>
          <a:prstGeom prst="line">
            <a:avLst/>
          </a:prstGeom>
          <a:ln w="25400">
            <a:solidFill>
              <a:srgbClr val="003C8B"/>
            </a:solidFill>
            <a:headEnd type="triangle" w="med" len="med"/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4480560" y="4754880"/>
            <a:ext cx="3246120" cy="86868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messages · failures · seen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03620" y="4343400"/>
            <a:ext cx="0" cy="411480"/>
          </a:xfrm>
          <a:prstGeom prst="line">
            <a:avLst/>
          </a:prstGeom>
          <a:ln w="25400">
            <a:solidFill>
              <a:srgbClr val="003C8B"/>
            </a:solidFill>
            <a:headEnd type="triangle" w="med" len="med"/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609905" y="3017520"/>
            <a:ext cx="3108960" cy="128016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Trace</a:t>
            </a:r>
          </a:p>
          <a:p>
            <a:pPr algn="ctr">
              <a:lnSpc>
                <a:spcPct val="105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每步：决策 · Observation</a:t>
            </a:r>
          </a:p>
          <a:p>
            <a:pPr algn="ctr">
              <a:lnSpc>
                <a:spcPct val="105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→ results/run.json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721608" y="3657600"/>
            <a:ext cx="75895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7909560" y="201168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第7周：换 vLLM 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43891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第5–6周：新工具 ·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49834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第5周：Memory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5" y="438912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第4 / 11周：任务集与评估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5" y="5760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输入：任务（字符串）　输出：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{status, answer, steps, trace}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本周回顾与下一步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12801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本周回顾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5" y="1737360"/>
            <a:ext cx="53949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Agent = 循环 + 工具 + 状态；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决策在模型，执行在应用</a:t>
            </a:r>
          </a:p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循环靠 messages 与 Observation 推进，靠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停止条件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保证可控</a:t>
            </a:r>
          </a:p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Function Schema：name 给应用、description 给模型、parameters 两者共用</a:t>
            </a:r>
          </a:p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参数要过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四道关卡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；失败都转成 Observation，让模型自我修正</a:t>
            </a:r>
          </a:p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交付：Agent v0 = 四个稳定接口 + 可复现的 trace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课外参考资料与自学清单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28016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推荐阅读（按优先级）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178308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Anthropic · Building effective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5" y="2130552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Agent 与 Workflow 的区别、工具设计（ACI）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5" y="260604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ReAct 论文（Yao et al., ICLR 2023）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2953512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推理与行动交替的来龙去脉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5" y="342900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OpenAI · Function calling 指南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5" y="3776472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tools、tool_calls、function_call_output 的接口形态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5" y="425196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Pydantic 文档 ·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5" y="4599432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参数模型、Schema 导出、严格模式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90f36d3f-ffec-4fe5-9788-afc451dde4a9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C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309481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8898</Words>
  <Application>Microsoft Office PowerPoint</Application>
  <PresentationFormat>宽屏</PresentationFormat>
  <Paragraphs>1677</Paragraphs>
  <Slides>71</Slides>
  <Notes>71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77" baseType="lpstr">
      <vt:lpstr>微软雅黑</vt:lpstr>
      <vt:lpstr>Arial</vt:lpstr>
      <vt:lpstr>Consolas</vt:lpstr>
      <vt:lpstr>Trebuchet MS</vt:lpstr>
      <vt:lpstr>Wingdings</vt:lpstr>
      <vt:lpstr>Office 主题​​</vt:lpstr>
      <vt:lpstr>Minimal Agent 与 Tool Calling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 ZHAO</dc:creator>
  <cp:lastModifiedBy>WEN ZHAO</cp:lastModifiedBy>
  <cp:revision>138</cp:revision>
  <dcterms:created xsi:type="dcterms:W3CDTF">2021-12-28T08:11:00Z</dcterms:created>
  <dcterms:modified xsi:type="dcterms:W3CDTF">2026-09-24T00:27:02Z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B57AE2A8B969466CA4131FA5B0769B5E_12</vt:lpwstr>
  </property>
  <property fmtid="{D5CDD505-2E9C-101B-9397-08002B2CF9AE}" pid="3" name="KSOProductBuildVer">
    <vt:lpwstr>2052-12.1.0.28488</vt:lpwstr>
  </property>
</Properties>
</file>