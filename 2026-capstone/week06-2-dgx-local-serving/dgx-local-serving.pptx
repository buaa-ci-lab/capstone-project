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18001" r:id="rId2"/>
    <p:sldId id="18002" r:id="rId3"/>
    <p:sldId id="18003" r:id="rId4"/>
    <p:sldId id="18004" r:id="rId5"/>
    <p:sldId id="18005" r:id="rId6"/>
    <p:sldId id="18006" r:id="rId7"/>
    <p:sldId id="18007" r:id="rId8"/>
    <p:sldId id="18008" r:id="rId9"/>
    <p:sldId id="18009" r:id="rId10"/>
    <p:sldId id="18010" r:id="rId11"/>
    <p:sldId id="18011" r:id="rId12"/>
    <p:sldId id="18012" r:id="rId13"/>
    <p:sldId id="18013" r:id="rId14"/>
    <p:sldId id="18014" r:id="rId15"/>
    <p:sldId id="18015" r:id="rId16"/>
    <p:sldId id="18016" r:id="rId17"/>
    <p:sldId id="18017" r:id="rId18"/>
  </p:sldIdLst>
  <p:sldSz cx="12192000" cy="6858000"/>
  <p:notesSz cx="6858000" cy="9144000"/>
  <p:custDataLst>
    <p:tags r:id="rId2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0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599C"/>
    <a:srgbClr val="003C8B"/>
    <a:srgbClr val="39B099"/>
    <a:srgbClr val="2A9195"/>
    <a:srgbClr val="ABCFFF"/>
    <a:srgbClr val="D3EEE9"/>
    <a:srgbClr val="8FBFFF"/>
    <a:srgbClr val="C52E37"/>
    <a:srgbClr val="E7E7E8"/>
    <a:srgbClr val="FBFB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745" autoAdjust="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78" y="222"/>
      </p:cViewPr>
      <p:guideLst>
        <p:guide pos="3840"/>
        <p:guide orient="horz" pos="2058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6F67BDE9-2D55-407C-98B2-E2DF74583E41}" type="datetimeFigureOut">
              <a:rPr lang="zh-CN" altLang="en-US" smtClean="0"/>
              <a:t>2026/10/15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2BD924A-1BD4-4D96-AE1B-CA9C4B79CE3E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本课研究外部知识如何进入系统、如何被检索，以及答案如何获得证据支持。课程先以三页独立导入建立全貌，再按知识准备、查询与证据使用、Agent 控制、系统维护四部分深入。已有 Agent Loop、Memory 与工具调用基础可以直接复用。</a:t>
            </a:r>
          </a:p>
          <a:p>
            <a:endParaRPr/>
          </a:p>
          <a:p>
            <a:r>
              <a:t>建议讲授：1 分钟</a:t>
            </a:r>
          </a:p>
          <a:p>
            <a:endParaRPr/>
          </a:p>
          <a:p>
            <a:r>
              <a:t>[Sources]</a:t>
            </a:r>
          </a:p>
          <a:p>
            <a:endParaRPr/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 userDrawn="1"/>
        </p:nvGrpSpPr>
        <p:grpSpPr>
          <a:xfrm>
            <a:off x="-13594" y="0"/>
            <a:ext cx="12201063" cy="2655066"/>
            <a:chOff x="-9063" y="2259345"/>
            <a:chExt cx="12201063" cy="2655066"/>
          </a:xfrm>
        </p:grpSpPr>
        <p:pic>
          <p:nvPicPr>
            <p:cNvPr id="22" name="Picture 6" descr="http://thepaper-prod-oldimagefromnfs.oss-cn-shanghai.aliyuncs.com/image/36/444/102.jpg"/>
            <p:cNvPicPr>
              <a:picLocks noChangeAspect="1" noChangeArrowheads="1"/>
            </p:cNvPicPr>
            <p:nvPr userDrawn="1"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" t="-51" r="-5" b="67386"/>
            <a:stretch>
              <a:fillRect/>
            </a:stretch>
          </p:blipFill>
          <p:spPr bwMode="auto">
            <a:xfrm>
              <a:off x="0" y="2259345"/>
              <a:ext cx="12192000" cy="26550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矩形 22"/>
            <p:cNvSpPr/>
            <p:nvPr userDrawn="1"/>
          </p:nvSpPr>
          <p:spPr>
            <a:xfrm>
              <a:off x="-9063" y="2259345"/>
              <a:ext cx="12201062" cy="2655066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8" name="组合 17"/>
          <p:cNvGrpSpPr/>
          <p:nvPr userDrawn="1"/>
        </p:nvGrpSpPr>
        <p:grpSpPr>
          <a:xfrm>
            <a:off x="0" y="2372478"/>
            <a:ext cx="12201062" cy="4485522"/>
            <a:chOff x="-9062" y="1894960"/>
            <a:chExt cx="12201062" cy="4485522"/>
          </a:xfrm>
        </p:grpSpPr>
        <p:pic>
          <p:nvPicPr>
            <p:cNvPr id="19" name="Picture 6" descr="http://thepaper-prod-oldimagefromnfs.oss-cn-shanghai.aliyuncs.com/image/36/444/102.jpg"/>
            <p:cNvPicPr>
              <a:picLocks noChangeAspect="1" noChangeArrowheads="1"/>
            </p:cNvPicPr>
            <p:nvPr userDrawn="1"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" t="10675" r="-5" b="34293"/>
            <a:stretch>
              <a:fillRect/>
            </a:stretch>
          </p:blipFill>
          <p:spPr bwMode="auto">
            <a:xfrm>
              <a:off x="-9062" y="1907463"/>
              <a:ext cx="12192000" cy="44730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矩形 19"/>
            <p:cNvSpPr/>
            <p:nvPr userDrawn="1"/>
          </p:nvSpPr>
          <p:spPr>
            <a:xfrm>
              <a:off x="-9062" y="1894960"/>
              <a:ext cx="12201062" cy="4485522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3" name="矩形 12"/>
          <p:cNvSpPr/>
          <p:nvPr userDrawn="1"/>
        </p:nvSpPr>
        <p:spPr>
          <a:xfrm>
            <a:off x="0" y="1649743"/>
            <a:ext cx="12187468" cy="1999209"/>
          </a:xfrm>
          <a:prstGeom prst="rect">
            <a:avLst/>
          </a:prstGeom>
          <a:gradFill flip="none" rotWithShape="1">
            <a:gsLst>
              <a:gs pos="46000">
                <a:srgbClr val="1D7692"/>
              </a:gs>
              <a:gs pos="96000">
                <a:srgbClr val="003C8B">
                  <a:alpha val="85000"/>
                </a:srgbClr>
              </a:gs>
              <a:gs pos="0">
                <a:srgbClr val="39B099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39550" y="2015538"/>
            <a:ext cx="10294776" cy="1311965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8531" y="4345244"/>
            <a:ext cx="9144000" cy="152737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50000"/>
              </a:lnSpc>
              <a:buNone/>
              <a:defRPr sz="2400" b="1">
                <a:solidFill>
                  <a:srgbClr val="003C8B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4917203" y="518762"/>
            <a:ext cx="2357594" cy="667477"/>
            <a:chOff x="9644502" y="109966"/>
            <a:chExt cx="2357594" cy="667477"/>
          </a:xfrm>
          <a:noFill/>
        </p:grpSpPr>
        <p:pic>
          <p:nvPicPr>
            <p:cNvPr id="9" name="图片 8"/>
            <p:cNvPicPr>
              <a:picLocks noChangeAspect="1"/>
            </p:cNvPicPr>
            <p:nvPr userDrawn="1"/>
          </p:nvPicPr>
          <p:blipFill rotWithShape="1"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45" r="53350"/>
            <a:stretch>
              <a:fillRect/>
            </a:stretch>
          </p:blipFill>
          <p:spPr>
            <a:xfrm>
              <a:off x="11299485" y="109966"/>
              <a:ext cx="702611" cy="667477"/>
            </a:xfrm>
            <a:prstGeom prst="rect">
              <a:avLst/>
            </a:prstGeom>
            <a:grpFill/>
          </p:spPr>
        </p:pic>
        <p:pic>
          <p:nvPicPr>
            <p:cNvPr id="10" name="Picture 2" descr="http://www.buaa.edu.cn/__local/B/CD/A6/968D8F6600C0B8195CD59008BF5_9249A080_12AB7.jpg?e=.jpg"/>
            <p:cNvPicPr>
              <a:picLocks noChangeAspect="1" noChangeArrowheads="1"/>
            </p:cNvPicPr>
            <p:nvPr userDrawn="1"/>
          </p:nvPicPr>
          <p:blipFill>
            <a:blip r:embed="rId5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44502" y="145963"/>
              <a:ext cx="618977" cy="618977"/>
            </a:xfrm>
            <a:prstGeom prst="rect">
              <a:avLst/>
            </a:prstGeom>
            <a:grpFill/>
          </p:spPr>
        </p:pic>
        <p:pic>
          <p:nvPicPr>
            <p:cNvPr id="11" name="图片 10"/>
            <p:cNvPicPr>
              <a:picLocks noChangeAspect="1"/>
            </p:cNvPicPr>
            <p:nvPr userDrawn="1"/>
          </p:nvPicPr>
          <p:blipFill rotWithShape="1">
            <a:blip r:embed="rId6" cstate="print">
              <a:clrChange>
                <a:clrFrom>
                  <a:srgbClr val="000000">
                    <a:alpha val="0"/>
                  </a:srgbClr>
                </a:clrFrom>
                <a:clrTo>
                  <a:srgbClr val="00000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3" r="81714"/>
            <a:stretch>
              <a:fillRect/>
            </a:stretch>
          </p:blipFill>
          <p:spPr>
            <a:xfrm>
              <a:off x="10444440" y="216261"/>
              <a:ext cx="739594" cy="490019"/>
            </a:xfrm>
            <a:prstGeom prst="rect">
              <a:avLst/>
            </a:prstGeom>
            <a:grpFill/>
          </p:spPr>
        </p:pic>
      </p:grpSp>
      <p:cxnSp>
        <p:nvCxnSpPr>
          <p:cNvPr id="40" name="直接连接符 39"/>
          <p:cNvCxnSpPr/>
          <p:nvPr userDrawn="1"/>
        </p:nvCxnSpPr>
        <p:spPr>
          <a:xfrm>
            <a:off x="0" y="3794126"/>
            <a:ext cx="12201062" cy="0"/>
          </a:xfrm>
          <a:prstGeom prst="line">
            <a:avLst/>
          </a:prstGeom>
          <a:ln w="63500">
            <a:solidFill>
              <a:srgbClr val="2A919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本框 48"/>
          <p:cNvSpPr txBox="1"/>
          <p:nvPr userDrawn="1"/>
        </p:nvSpPr>
        <p:spPr>
          <a:xfrm>
            <a:off x="3410009" y="6339238"/>
            <a:ext cx="53719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solidFill>
                  <a:schemeClr val="bg2">
                    <a:lumMod val="50000"/>
                  </a:schemeClr>
                </a:solidFill>
                <a:latin typeface="Trebuchet MS" panose="020B0603020202020204" pitchFamily="34" charset="0"/>
                <a:ea typeface="微软雅黑" panose="020B0503020204020204" pitchFamily="34" charset="-122"/>
              </a:rPr>
              <a:t>School of Computer Science and Engineering, Beihang University</a:t>
            </a:r>
            <a:endParaRPr lang="zh-CN" altLang="en-US" sz="1400" dirty="0">
              <a:solidFill>
                <a:schemeClr val="bg2">
                  <a:lumMod val="50000"/>
                </a:schemeClr>
              </a:solidFill>
              <a:latin typeface="Trebuchet MS" panose="020B0603020202020204" pitchFamily="34" charset="0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 userDrawn="1"/>
        </p:nvSpPr>
        <p:spPr>
          <a:xfrm>
            <a:off x="0" y="-1570"/>
            <a:ext cx="12192000" cy="890547"/>
          </a:xfrm>
          <a:prstGeom prst="rect">
            <a:avLst/>
          </a:prstGeom>
          <a:gradFill flip="none" rotWithShape="1">
            <a:gsLst>
              <a:gs pos="58000">
                <a:srgbClr val="1D7692"/>
              </a:gs>
              <a:gs pos="0">
                <a:srgbClr val="39B099">
                  <a:alpha val="20000"/>
                </a:srgbClr>
              </a:gs>
              <a:gs pos="96000">
                <a:srgbClr val="003C8B">
                  <a:alpha val="85000"/>
                </a:srgbClr>
              </a:gs>
              <a:gs pos="21000">
                <a:srgbClr val="39B099">
                  <a:alpha val="5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89904" y="136525"/>
            <a:ext cx="9030296" cy="667478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485030" y="1872283"/>
            <a:ext cx="11235193" cy="4392054"/>
          </a:xfrm>
          <a:prstGeom prst="rect">
            <a:avLst/>
          </a:prstGeom>
        </p:spPr>
        <p:txBody>
          <a:bodyPr/>
          <a:lstStyle>
            <a:lvl1pPr marL="323850" indent="-32385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3C8B"/>
              </a:buClr>
              <a:buSzPct val="80000"/>
              <a:buFont typeface="Wingdings" panose="05000000000000000000" pitchFamily="2" charset="2"/>
              <a:buChar char="n"/>
              <a:defRPr sz="2600">
                <a:latin typeface="+mn-lt"/>
                <a:ea typeface="微软雅黑" panose="020B0503020204020204" pitchFamily="34" charset="-122"/>
              </a:defRPr>
            </a:lvl1pPr>
            <a:lvl2pPr marL="720090" indent="-360045">
              <a:lnSpc>
                <a:spcPct val="100000"/>
              </a:lnSpc>
              <a:spcBef>
                <a:spcPts val="575"/>
              </a:spcBef>
              <a:spcAft>
                <a:spcPts val="600"/>
              </a:spcAft>
              <a:buClr>
                <a:srgbClr val="22809E"/>
              </a:buClr>
              <a:buSzPct val="80000"/>
              <a:buFont typeface="Wingdings" panose="05000000000000000000" pitchFamily="2" charset="2"/>
              <a:buChar char="u"/>
              <a:defRPr sz="2400">
                <a:latin typeface="+mn-lt"/>
                <a:ea typeface="微软雅黑" panose="020B0503020204020204" pitchFamily="34" charset="-122"/>
              </a:defRPr>
            </a:lvl2pPr>
            <a:lvl3pPr marL="1115695" indent="-323850">
              <a:lnSpc>
                <a:spcPct val="100000"/>
              </a:lnSpc>
              <a:spcBef>
                <a:spcPts val="550"/>
              </a:spcBef>
              <a:spcAft>
                <a:spcPts val="600"/>
              </a:spcAft>
              <a:buClr>
                <a:srgbClr val="309481"/>
              </a:buClr>
              <a:buSzPct val="90000"/>
              <a:buFont typeface="Wingdings" panose="05000000000000000000" pitchFamily="2" charset="2"/>
              <a:buChar char="l"/>
              <a:defRPr sz="2200">
                <a:latin typeface="+mn-lt"/>
                <a:ea typeface="微软雅黑" panose="020B0503020204020204" pitchFamily="34" charset="-122"/>
              </a:defRPr>
            </a:lvl3pPr>
            <a:lvl4pPr marL="1475740" indent="-288290">
              <a:lnSpc>
                <a:spcPct val="100000"/>
              </a:lnSpc>
              <a:spcBef>
                <a:spcPts val="550"/>
              </a:spcBef>
              <a:spcAft>
                <a:spcPts val="600"/>
              </a:spcAft>
              <a:buClr>
                <a:srgbClr val="003C8B"/>
              </a:buClr>
              <a:buSzPct val="80000"/>
              <a:buFont typeface="Wingdings" panose="05000000000000000000" pitchFamily="2" charset="2"/>
              <a:buChar char="n"/>
              <a:defRPr sz="2000">
                <a:latin typeface="+mn-lt"/>
                <a:ea typeface="微软雅黑" panose="020B0503020204020204" pitchFamily="34" charset="-122"/>
              </a:defRPr>
            </a:lvl4pPr>
            <a:lvl5pPr marL="1871980" indent="-288290">
              <a:lnSpc>
                <a:spcPct val="100000"/>
              </a:lnSpc>
              <a:spcBef>
                <a:spcPts val="550"/>
              </a:spcBef>
              <a:spcAft>
                <a:spcPts val="600"/>
              </a:spcAft>
              <a:buClr>
                <a:srgbClr val="003C8B"/>
              </a:buClr>
              <a:buSzPct val="80000"/>
              <a:buFont typeface="Wingdings" panose="05000000000000000000" pitchFamily="2" charset="2"/>
              <a:buChar char="n"/>
              <a:defRPr sz="1800">
                <a:latin typeface="+mn-lt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754321" y="6536805"/>
            <a:ext cx="1247775" cy="295932"/>
          </a:xfrm>
          <a:prstGeom prst="rect">
            <a:avLst/>
          </a:prstGeom>
        </p:spPr>
        <p:txBody>
          <a:bodyPr anchor="ctr"/>
          <a:lstStyle>
            <a:lvl1pPr algn="r">
              <a:defRPr b="1">
                <a:solidFill>
                  <a:srgbClr val="003C8B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9694AC3-6159-4530-81F2-715F87DA7557}" type="slidenum">
              <a:rPr lang="zh-CN" altLang="en-US" smtClean="0"/>
              <a:t>‹#›</a:t>
            </a:fld>
            <a:endParaRPr lang="zh-CN" altLang="en-US" dirty="0"/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5" r="53350"/>
          <a:stretch>
            <a:fillRect/>
          </a:stretch>
        </p:blipFill>
        <p:spPr>
          <a:xfrm>
            <a:off x="11299485" y="109966"/>
            <a:ext cx="702611" cy="667477"/>
          </a:xfrm>
          <a:prstGeom prst="rect">
            <a:avLst/>
          </a:prstGeom>
          <a:noFill/>
        </p:spPr>
      </p:pic>
      <p:pic>
        <p:nvPicPr>
          <p:cNvPr id="17" name="图片 16"/>
          <p:cNvPicPr>
            <a:picLocks noChangeAspect="1"/>
          </p:cNvPicPr>
          <p:nvPr userDrawn="1"/>
        </p:nvPicPr>
        <p:blipFill rotWithShape="1">
          <a:blip r:embed="rId3" cstate="print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" r="1093"/>
          <a:stretch>
            <a:fillRect/>
          </a:stretch>
        </p:blipFill>
        <p:spPr>
          <a:xfrm>
            <a:off x="90982" y="6546136"/>
            <a:ext cx="2334221" cy="258542"/>
          </a:xfrm>
          <a:prstGeom prst="rect">
            <a:avLst/>
          </a:prstGeom>
          <a:noFill/>
        </p:spPr>
      </p:pic>
      <p:cxnSp>
        <p:nvCxnSpPr>
          <p:cNvPr id="20" name="直接连接符 19"/>
          <p:cNvCxnSpPr/>
          <p:nvPr userDrawn="1"/>
        </p:nvCxnSpPr>
        <p:spPr>
          <a:xfrm>
            <a:off x="0" y="6478323"/>
            <a:ext cx="12192000" cy="0"/>
          </a:xfrm>
          <a:prstGeom prst="line">
            <a:avLst/>
          </a:prstGeom>
          <a:ln w="28575">
            <a:solidFill>
              <a:srgbClr val="26599C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 userDrawn="1"/>
        </p:nvCxnSpPr>
        <p:spPr>
          <a:xfrm>
            <a:off x="283209" y="1644336"/>
            <a:ext cx="1592243" cy="0"/>
          </a:xfrm>
          <a:prstGeom prst="line">
            <a:avLst/>
          </a:prstGeom>
          <a:ln w="38100">
            <a:solidFill>
              <a:srgbClr val="C52E3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占位符 28"/>
          <p:cNvSpPr>
            <a:spLocks noGrp="1"/>
          </p:cNvSpPr>
          <p:nvPr>
            <p:ph type="body" sz="quarter" idx="13"/>
          </p:nvPr>
        </p:nvSpPr>
        <p:spPr>
          <a:xfrm>
            <a:off x="189904" y="1081386"/>
            <a:ext cx="3397250" cy="5984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zh-CN" altLang="en-US" sz="2800" b="1" kern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lvl="0"/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 userDrawn="1"/>
        </p:nvSpPr>
        <p:spPr>
          <a:xfrm>
            <a:off x="0" y="-1570"/>
            <a:ext cx="12192000" cy="890547"/>
          </a:xfrm>
          <a:prstGeom prst="rect">
            <a:avLst/>
          </a:prstGeom>
          <a:gradFill flip="none" rotWithShape="1">
            <a:gsLst>
              <a:gs pos="58000">
                <a:srgbClr val="1D7692"/>
              </a:gs>
              <a:gs pos="0">
                <a:srgbClr val="39B099">
                  <a:alpha val="20000"/>
                </a:srgbClr>
              </a:gs>
              <a:gs pos="96000">
                <a:srgbClr val="003C8B">
                  <a:alpha val="85000"/>
                </a:srgbClr>
              </a:gs>
              <a:gs pos="21000">
                <a:srgbClr val="39B099">
                  <a:alpha val="5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89904" y="136525"/>
            <a:ext cx="9030296" cy="667478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36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485030" y="1081386"/>
            <a:ext cx="11235193" cy="5182951"/>
          </a:xfrm>
          <a:prstGeom prst="rect">
            <a:avLst/>
          </a:prstGeom>
        </p:spPr>
        <p:txBody>
          <a:bodyPr/>
          <a:lstStyle>
            <a:lvl1pPr marL="323850" indent="-32385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3C8B"/>
              </a:buClr>
              <a:buSzPct val="80000"/>
              <a:buFont typeface="Wingdings" panose="05000000000000000000" pitchFamily="2" charset="2"/>
              <a:buChar char="n"/>
              <a:defRPr sz="2600">
                <a:latin typeface="+mn-lt"/>
                <a:ea typeface="微软雅黑" panose="020B0503020204020204" pitchFamily="34" charset="-122"/>
              </a:defRPr>
            </a:lvl1pPr>
            <a:lvl2pPr marL="720090" indent="-360045">
              <a:lnSpc>
                <a:spcPct val="100000"/>
              </a:lnSpc>
              <a:spcBef>
                <a:spcPts val="575"/>
              </a:spcBef>
              <a:spcAft>
                <a:spcPts val="600"/>
              </a:spcAft>
              <a:buClr>
                <a:srgbClr val="22809E"/>
              </a:buClr>
              <a:buSzPct val="80000"/>
              <a:buFont typeface="Wingdings" panose="05000000000000000000" pitchFamily="2" charset="2"/>
              <a:buChar char="u"/>
              <a:defRPr sz="2400">
                <a:latin typeface="+mn-lt"/>
                <a:ea typeface="微软雅黑" panose="020B0503020204020204" pitchFamily="34" charset="-122"/>
              </a:defRPr>
            </a:lvl2pPr>
            <a:lvl3pPr marL="1115695" indent="-323850">
              <a:lnSpc>
                <a:spcPct val="100000"/>
              </a:lnSpc>
              <a:spcBef>
                <a:spcPts val="550"/>
              </a:spcBef>
              <a:spcAft>
                <a:spcPts val="600"/>
              </a:spcAft>
              <a:buClr>
                <a:srgbClr val="309481"/>
              </a:buClr>
              <a:buSzPct val="90000"/>
              <a:buFont typeface="Wingdings" panose="05000000000000000000" pitchFamily="2" charset="2"/>
              <a:buChar char="l"/>
              <a:defRPr sz="2200">
                <a:latin typeface="+mn-lt"/>
                <a:ea typeface="微软雅黑" panose="020B0503020204020204" pitchFamily="34" charset="-122"/>
              </a:defRPr>
            </a:lvl3pPr>
            <a:lvl4pPr marL="1475740" indent="-288290">
              <a:lnSpc>
                <a:spcPct val="100000"/>
              </a:lnSpc>
              <a:spcBef>
                <a:spcPts val="550"/>
              </a:spcBef>
              <a:spcAft>
                <a:spcPts val="600"/>
              </a:spcAft>
              <a:buClr>
                <a:srgbClr val="003C8B"/>
              </a:buClr>
              <a:buSzPct val="80000"/>
              <a:buFont typeface="Wingdings" panose="05000000000000000000" pitchFamily="2" charset="2"/>
              <a:buChar char="n"/>
              <a:defRPr sz="2000">
                <a:latin typeface="+mn-lt"/>
                <a:ea typeface="微软雅黑" panose="020B0503020204020204" pitchFamily="34" charset="-122"/>
              </a:defRPr>
            </a:lvl4pPr>
            <a:lvl5pPr marL="1871980" indent="-288290">
              <a:lnSpc>
                <a:spcPct val="100000"/>
              </a:lnSpc>
              <a:spcBef>
                <a:spcPts val="550"/>
              </a:spcBef>
              <a:spcAft>
                <a:spcPts val="600"/>
              </a:spcAft>
              <a:buClr>
                <a:srgbClr val="003C8B"/>
              </a:buClr>
              <a:buSzPct val="80000"/>
              <a:buFont typeface="Wingdings" panose="05000000000000000000" pitchFamily="2" charset="2"/>
              <a:buChar char="n"/>
              <a:defRPr sz="1800">
                <a:latin typeface="+mn-lt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754321" y="6536805"/>
            <a:ext cx="1247775" cy="295932"/>
          </a:xfrm>
          <a:prstGeom prst="rect">
            <a:avLst/>
          </a:prstGeom>
        </p:spPr>
        <p:txBody>
          <a:bodyPr anchor="ctr"/>
          <a:lstStyle>
            <a:lvl1pPr algn="r">
              <a:defRPr b="1">
                <a:solidFill>
                  <a:srgbClr val="003C8B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9694AC3-6159-4530-81F2-715F87DA7557}" type="slidenum">
              <a:rPr lang="zh-CN" altLang="en-US" smtClean="0"/>
              <a:t>‹#›</a:t>
            </a:fld>
            <a:endParaRPr lang="zh-CN" altLang="en-US" dirty="0"/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5" r="53350"/>
          <a:stretch>
            <a:fillRect/>
          </a:stretch>
        </p:blipFill>
        <p:spPr>
          <a:xfrm>
            <a:off x="11299485" y="109966"/>
            <a:ext cx="702611" cy="667477"/>
          </a:xfrm>
          <a:prstGeom prst="rect">
            <a:avLst/>
          </a:prstGeom>
          <a:noFill/>
        </p:spPr>
      </p:pic>
      <p:pic>
        <p:nvPicPr>
          <p:cNvPr id="17" name="图片 16"/>
          <p:cNvPicPr>
            <a:picLocks noChangeAspect="1"/>
          </p:cNvPicPr>
          <p:nvPr userDrawn="1"/>
        </p:nvPicPr>
        <p:blipFill rotWithShape="1">
          <a:blip r:embed="rId3" cstate="print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" r="1093"/>
          <a:stretch>
            <a:fillRect/>
          </a:stretch>
        </p:blipFill>
        <p:spPr>
          <a:xfrm>
            <a:off x="90982" y="6546136"/>
            <a:ext cx="2334221" cy="258542"/>
          </a:xfrm>
          <a:prstGeom prst="rect">
            <a:avLst/>
          </a:prstGeom>
          <a:noFill/>
        </p:spPr>
      </p:pic>
      <p:cxnSp>
        <p:nvCxnSpPr>
          <p:cNvPr id="20" name="直接连接符 19"/>
          <p:cNvCxnSpPr/>
          <p:nvPr userDrawn="1"/>
        </p:nvCxnSpPr>
        <p:spPr>
          <a:xfrm>
            <a:off x="0" y="6478323"/>
            <a:ext cx="12192000" cy="0"/>
          </a:xfrm>
          <a:prstGeom prst="line">
            <a:avLst/>
          </a:prstGeom>
          <a:ln w="28575">
            <a:solidFill>
              <a:srgbClr val="26599C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6" descr="http://thepaper-prod-oldimagefromnfs.oss-cn-shanghai.aliyuncs.com/image/36/444/102.jpg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" t="10675" r="-5" b="34293"/>
          <a:stretch>
            <a:fillRect/>
          </a:stretch>
        </p:blipFill>
        <p:spPr bwMode="auto">
          <a:xfrm>
            <a:off x="-9064" y="2384981"/>
            <a:ext cx="12192000" cy="4473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6" descr="http://thepaper-prod-oldimagefromnfs.oss-cn-shanghai.aliyuncs.com/image/36/444/102.jpg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" t="-51" r="-5" b="67386"/>
          <a:stretch>
            <a:fillRect/>
          </a:stretch>
        </p:blipFill>
        <p:spPr bwMode="auto">
          <a:xfrm>
            <a:off x="-9064" y="0"/>
            <a:ext cx="12192000" cy="2655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矩形 22"/>
          <p:cNvSpPr/>
          <p:nvPr userDrawn="1"/>
        </p:nvSpPr>
        <p:spPr>
          <a:xfrm>
            <a:off x="-18127" y="0"/>
            <a:ext cx="12201062" cy="6858000"/>
          </a:xfrm>
          <a:prstGeom prst="rect">
            <a:avLst/>
          </a:prstGeom>
          <a:gradFill flip="none" rotWithShape="1">
            <a:gsLst>
              <a:gs pos="62000">
                <a:srgbClr val="FFFFFF">
                  <a:alpha val="90000"/>
                </a:srgbClr>
              </a:gs>
              <a:gs pos="100000">
                <a:schemeClr val="bg1">
                  <a:alpha val="78000"/>
                </a:schemeClr>
              </a:gs>
              <a:gs pos="0">
                <a:schemeClr val="bg1">
                  <a:alpha val="78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 userDrawn="1"/>
        </p:nvSpPr>
        <p:spPr>
          <a:xfrm>
            <a:off x="3410009" y="6339238"/>
            <a:ext cx="53719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solidFill>
                  <a:schemeClr val="bg2">
                    <a:lumMod val="75000"/>
                  </a:schemeClr>
                </a:solidFill>
                <a:latin typeface="Trebuchet MS" panose="020B0603020202020204" pitchFamily="34" charset="0"/>
                <a:ea typeface="微软雅黑" panose="020B0503020204020204" pitchFamily="34" charset="-122"/>
              </a:rPr>
              <a:t>School of Computer Science and Engineering, Beihang University</a:t>
            </a:r>
            <a:endParaRPr lang="zh-CN" altLang="en-US" sz="1400" dirty="0">
              <a:solidFill>
                <a:schemeClr val="bg2">
                  <a:lumMod val="75000"/>
                </a:schemeClr>
              </a:solidFill>
              <a:latin typeface="Trebuchet MS" panose="020B0603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24" name="标题 1"/>
          <p:cNvSpPr>
            <a:spLocks noGrp="1"/>
          </p:cNvSpPr>
          <p:nvPr>
            <p:ph type="ctrTitle"/>
          </p:nvPr>
        </p:nvSpPr>
        <p:spPr>
          <a:xfrm>
            <a:off x="935016" y="2165350"/>
            <a:ext cx="10294776" cy="2527299"/>
          </a:xfrm>
          <a:prstGeom prst="rect">
            <a:avLst/>
          </a:prstGeom>
        </p:spPr>
        <p:txBody>
          <a:bodyPr anchor="ctr"/>
          <a:lstStyle>
            <a:lvl1pPr algn="ctr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sz="6000" b="1">
                <a:solidFill>
                  <a:srgbClr val="003C8B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DGX Spark 本地部署与 vLLM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250"/>
            </a:pPr>
            <a:r>
              <a:rPr lang="en-US" altLang="zh-CN" dirty="0">
                <a:sym typeface="+mn-ea"/>
              </a:rPr>
              <a:t>平台连接、模型内存分析与 OpenAI 兼容推理服务</a:t>
            </a:r>
          </a:p>
          <a:p>
            <a:pPr>
              <a:defRPr sz="2250"/>
            </a:pPr>
            <a:r>
              <a:rPr lang="en-US" altLang="zh-CN" dirty="0">
                <a:sym typeface="+mn-ea"/>
              </a:rPr>
              <a:t>2026 年 10 月</a:t>
            </a:r>
            <a:endParaRPr lang="zh-CN" altLang="en-US" dirty="0"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6181344"/>
            <a:ext cx="109728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0717E"/>
                </a:solidFill>
                <a:latin typeface="微软雅黑"/>
                <a:ea typeface="微软雅黑"/>
              </a:rPr>
              <a:t>第 6 周第 2 次课：From API Agent to Private Agent（DGX Spark 环境与本地模型部署）。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2057400"/>
            <a:ext cx="859536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238773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947672" y="2057400"/>
            <a:ext cx="42062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003C8B"/>
                </a:solidFill>
                <a:latin typeface="微软雅黑"/>
                <a:ea typeface="微软雅黑"/>
              </a:rPr>
              <a:t>平台登录与开发环境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47672" y="2697480"/>
            <a:ext cx="420624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72B3A"/>
                </a:solidFill>
                <a:latin typeface="微软雅黑"/>
                <a:ea typeface="微软雅黑"/>
              </a:rPr>
              <a:t>校园网连接、SSH 密钥、VS Code 远程开发、文件传输与 tmux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" y="3931920"/>
            <a:ext cx="859536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238773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7672" y="3931920"/>
            <a:ext cx="42062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003C8B"/>
                </a:solidFill>
                <a:latin typeface="微软雅黑"/>
                <a:ea typeface="微软雅黑"/>
              </a:rPr>
              <a:t>硬件架构与模型内存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47672" y="4572000"/>
            <a:ext cx="420624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72B3A"/>
                </a:solidFill>
                <a:latin typeface="微软雅黑"/>
                <a:ea typeface="微软雅黑"/>
              </a:rPr>
              <a:t>GB10 统一内存、生成带宽上限、vLLM 环境与 KV Cache 估算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65392" y="2057400"/>
            <a:ext cx="859536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238773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16952" y="2057400"/>
            <a:ext cx="42062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003C8B"/>
                </a:solidFill>
                <a:latin typeface="微软雅黑"/>
                <a:ea typeface="微软雅黑"/>
              </a:rPr>
              <a:t>vLLM 服务部署与调用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2" y="2697480"/>
            <a:ext cx="420624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72B3A"/>
                </a:solidFill>
                <a:latin typeface="微软雅黑"/>
                <a:ea typeface="微软雅黑"/>
              </a:rPr>
              <a:t>服务启动参数、启动日志解读、OpenAI 兼容接口与流式测速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65392" y="3931920"/>
            <a:ext cx="859536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238773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2" y="3931920"/>
            <a:ext cx="42062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003C8B"/>
                </a:solidFill>
                <a:latin typeface="微软雅黑"/>
                <a:ea typeface="微软雅黑"/>
              </a:rPr>
              <a:t>关键参数实验与规范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2" y="4572000"/>
            <a:ext cx="420624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72B3A"/>
                </a:solidFill>
                <a:latin typeface="微软雅黑"/>
                <a:ea typeface="微软雅黑"/>
              </a:rPr>
              <a:t>上下文上限、内存占比、思考与工具调用、并发吞吐与使用规范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1.1 课程实验平台与账号体系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115568"/>
            <a:ext cx="109728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03C8B"/>
                </a:solidFill>
                <a:latin typeface="微软雅黑"/>
                <a:ea typeface="微软雅黑"/>
              </a:rPr>
              <a:t>7 个课程小组共用一台 NVIDIA DGX Spark，按组分配独立 Linux 账号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5779008"/>
            <a:ext cx="10972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同组成员共用账号与家目录；请勿修改</a:t>
            </a:r>
            <a:r>
              <a:rPr lang="zh-CN" altLang="en-US" sz="1800" b="1" dirty="0">
                <a:solidFill>
                  <a:srgbClr val="003C8B"/>
                </a:solidFill>
                <a:latin typeface="微软雅黑"/>
                <a:ea typeface="微软雅黑"/>
              </a:rPr>
              <a:t>其他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组密码，建议在家目录下按成员建立子目录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" y="1755648"/>
            <a:ext cx="5943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100" b="1">
                <a:solidFill>
                  <a:srgbClr val="238773"/>
                </a:solidFill>
                <a:latin typeface="微软雅黑"/>
                <a:ea typeface="微软雅黑"/>
              </a:rPr>
              <a:t>平台连接信息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" y="2212848"/>
          <a:ext cx="6400800" cy="308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配置与说明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主机地址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10.134.43.123，SSH 端口 2222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账号名称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group1 ～ group7（与课程分组号一致）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硬件配置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NVIDIA GB10，128 GB 统一内存，20 核 ARM，4 TB SSD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系统软件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Ubuntu 24.04（aarch64），Driver 580，CUDA 13.0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网络要求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北航校园网直连；校外需先连接学校 VPN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360920" y="1755648"/>
            <a:ext cx="42062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100" b="1">
                <a:solidFill>
                  <a:srgbClr val="238773"/>
                </a:solidFill>
                <a:latin typeface="微软雅黑"/>
                <a:ea typeface="微软雅黑"/>
              </a:rPr>
              <a:t>权限与目录边界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2212848"/>
            <a:ext cx="4206240" cy="3291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003C8B"/>
                </a:solidFill>
                <a:latin typeface="微软雅黑"/>
                <a:ea typeface="微软雅黑"/>
              </a:rPr>
              <a:t>普通用户权限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700" b="0">
                <a:solidFill>
                  <a:srgbClr val="172B3A"/>
                </a:solidFill>
                <a:latin typeface="微软雅黑"/>
                <a:ea typeface="微软雅黑"/>
              </a:rPr>
              <a:t>可直接调用 GPU；无 sudo 与 docker 权限，需要系统软件包时联系课程组。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900" b="1">
                <a:solidFill>
                  <a:srgbClr val="003C8B"/>
                </a:solidFill>
                <a:latin typeface="微软雅黑"/>
                <a:ea typeface="微软雅黑"/>
              </a:rPr>
              <a:t>各组目录隔离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700" b="0">
                <a:solidFill>
                  <a:srgbClr val="172B3A"/>
                </a:solidFill>
                <a:latin typeface="微软雅黑"/>
                <a:ea typeface="微软雅黑"/>
              </a:rPr>
              <a:t>家目录权限为 750（/home/groupN），不同小组之间不可互访。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900" b="1">
                <a:solidFill>
                  <a:srgbClr val="003C8B"/>
                </a:solidFill>
                <a:latin typeface="微软雅黑"/>
                <a:ea typeface="微软雅黑"/>
              </a:rPr>
              <a:t>共享模型目录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700" b="0">
                <a:solidFill>
                  <a:srgbClr val="172B3A"/>
                </a:solidFill>
                <a:latin typeface="微软雅黑"/>
                <a:ea typeface="微软雅黑"/>
              </a:rPr>
              <a:t>/srv/spark/models 对所有组只读开放，无需重复下载权重。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1.2 终端首次登录与主机指纹核对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115568"/>
            <a:ext cx="109728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03C8B"/>
                </a:solidFill>
                <a:latin typeface="微软雅黑"/>
                <a:ea typeface="微软雅黑"/>
              </a:rPr>
              <a:t>使用 SSH 指定 2222 端口连接，首次连接需核对 ED25519 主机指纹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5779008"/>
            <a:ext cx="10972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3C8B"/>
                </a:solidFill>
                <a:latin typeface="微软雅黑"/>
                <a:ea typeface="微软雅黑"/>
              </a:rPr>
              <a:t>若提示指纹不一致，最常见原因是漏写 -p 2222 连到了默认 22 端口上的其他设备。</a:t>
            </a:r>
          </a:p>
        </p:txBody>
      </p:sp>
      <p:pic>
        <p:nvPicPr>
          <p:cNvPr id="8" name="Picture 7" descr="ssh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9622" y="1783080"/>
            <a:ext cx="8798851" cy="24231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4370832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238773"/>
                </a:solidFill>
                <a:latin typeface="微软雅黑"/>
                <a:ea typeface="微软雅黑"/>
              </a:rPr>
              <a:t>① 指定端口 2222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4773168"/>
            <a:ext cx="3474720" cy="822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172B3A"/>
                </a:solidFill>
                <a:latin typeface="微软雅黑"/>
                <a:ea typeface="微软雅黑"/>
              </a:rPr>
              <a:t>ssh 的端口参数为小写 -p；scp 的端口参数为大写 -P。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2544" y="4370832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238773"/>
                </a:solidFill>
                <a:latin typeface="微软雅黑"/>
                <a:ea typeface="微软雅黑"/>
              </a:rPr>
              <a:t>② 核对主机指纹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4773168"/>
            <a:ext cx="3474720" cy="822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172B3A"/>
                </a:solidFill>
                <a:latin typeface="微软雅黑"/>
                <a:ea typeface="微软雅黑"/>
              </a:rPr>
              <a:t>确认指纹为 SHA256:tU2OdrKz... 后输入 yes，再输入课程组发放的密码。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4370832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238773"/>
                </a:solidFill>
                <a:latin typeface="微软雅黑"/>
                <a:ea typeface="微软雅黑"/>
              </a:rPr>
              <a:t>③ 免密与多人协作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4773168"/>
            <a:ext cx="3474720" cy="822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172B3A"/>
                </a:solidFill>
                <a:latin typeface="微软雅黑"/>
                <a:ea typeface="微软雅黑"/>
              </a:rPr>
              <a:t>组内每位成员可将各自电脑的公钥追加到 ~/.ssh/authorized_keys，互不影响。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1.3 SSH 密钥、连接别名与远程开发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115568"/>
            <a:ext cx="109728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03C8B"/>
                </a:solidFill>
                <a:latin typeface="微软雅黑"/>
                <a:ea typeface="微软雅黑"/>
              </a:rPr>
              <a:t>在本机配置密钥与 Host spark 别名后，终端与 VS Code / Cursor 均可直接连接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5779008"/>
            <a:ext cx="10972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3C8B"/>
                </a:solidFill>
                <a:latin typeface="微软雅黑"/>
                <a:ea typeface="微软雅黑"/>
              </a:rPr>
              <a:t>配置完成后，终端直接执行 ssh spark 即可登录，无需每次输入端口、用户名与密码。</a:t>
            </a:r>
          </a:p>
        </p:txBody>
      </p:sp>
      <p:pic>
        <p:nvPicPr>
          <p:cNvPr id="8" name="Picture 7" descr="ssh_key_cf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755648"/>
            <a:ext cx="5852160" cy="336064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20840" y="1755648"/>
            <a:ext cx="48463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238773"/>
                </a:solidFill>
                <a:latin typeface="微软雅黑"/>
                <a:ea typeface="微软雅黑"/>
              </a:rPr>
              <a:t>Windows PowerShell 上传公钥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2176272"/>
            <a:ext cx="4846320" cy="1417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72B3A"/>
                </a:solidFill>
                <a:latin typeface="微软雅黑"/>
                <a:ea typeface="微软雅黑"/>
              </a:rPr>
              <a:t>Windows 无 ssh-copy-id，可在 PowerShell 执行：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400" b="1">
                <a:solidFill>
                  <a:srgbClr val="003C8B"/>
                </a:solidFill>
                <a:latin typeface="微软雅黑"/>
                <a:ea typeface="微软雅黑"/>
              </a:rPr>
              <a:t>type $env:USERPROFILE\.ssh\id_ed25519.pub | ssh -p 2222 group3@10.134.43.123 "mkdir -p ~/.ssh &amp;&amp; chmod 700 ~/.ssh &amp;&amp; cat &gt;&gt; ~/.ssh/authorized_keys &amp;&amp; chmod 600 ~/.ssh/authorized_keys"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20840" y="3730752"/>
            <a:ext cx="48463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238773"/>
                </a:solidFill>
                <a:latin typeface="微软雅黑"/>
                <a:ea typeface="微软雅黑"/>
              </a:rPr>
              <a:t>VS Code / Cursor 远程开发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4151376"/>
            <a:ext cx="4846320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172B3A"/>
                </a:solidFill>
                <a:latin typeface="微软雅黑"/>
                <a:ea typeface="微软雅黑"/>
              </a:rPr>
              <a:t>1. 安装 Remote - SSH 扩展（Cursor 自带）。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50" b="0">
                <a:solidFill>
                  <a:srgbClr val="172B3A"/>
                </a:solidFill>
                <a:latin typeface="微软雅黑"/>
                <a:ea typeface="微软雅黑"/>
              </a:rPr>
              <a:t>2. 按 F1 选择 Remote-SSH: Connect to Host，选择 spark（Linux）。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50" b="0">
                <a:solidFill>
                  <a:srgbClr val="172B3A"/>
                </a:solidFill>
                <a:latin typeface="微软雅黑"/>
                <a:ea typeface="微软雅黑"/>
              </a:rPr>
              <a:t>3. 连接后打开本组在 Spark 上的工作目录，终端与 Python 均在远端运行。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1.4 文件传输、网络限制与会话管理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115568"/>
            <a:ext cx="109728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03C8B"/>
                </a:solidFill>
                <a:latin typeface="微软雅黑"/>
                <a:ea typeface="微软雅黑"/>
              </a:rPr>
              <a:t>通过 scp 上传实验代码；模型服务等长任务需放入 tmux 会话以防断联终止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5779008"/>
            <a:ext cx="10972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3C8B"/>
                </a:solidFill>
                <a:latin typeface="微软雅黑"/>
                <a:ea typeface="微软雅黑"/>
              </a:rPr>
              <a:t>校园网环境无法直连 GitHub 与 Hugging Face：代码在本机克隆后上传，模型使用共享目录或 ModelScope。</a:t>
            </a:r>
          </a:p>
        </p:txBody>
      </p:sp>
      <p:pic>
        <p:nvPicPr>
          <p:cNvPr id="8" name="Picture 7" descr="scp_tm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541" y="1755648"/>
            <a:ext cx="8789013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2.1 DGX Spark 硬件架构与内存特征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115568"/>
            <a:ext cx="109728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03C8B"/>
                </a:solidFill>
                <a:latin typeface="微软雅黑"/>
                <a:ea typeface="微软雅黑"/>
              </a:rPr>
              <a:t>CPU 与 GPU 共用 128 GB 统一内存；自回归 Decode 阶段受内存带宽约束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5779008"/>
            <a:ext cx="11235192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Decode 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阶段每生成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 1 个 token 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都需读取一次模型权重：单流理论上限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 ≈ 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内存带宽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 273 GB/s ÷ 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权重大小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。</a:t>
            </a:r>
          </a:p>
        </p:txBody>
      </p:sp>
      <p:pic>
        <p:nvPicPr>
          <p:cNvPr id="8" name="Picture 7" descr="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8502" y="1755648"/>
            <a:ext cx="7421091" cy="27889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4590985"/>
            <a:ext cx="530352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238773"/>
                </a:solidFill>
                <a:latin typeface="微软雅黑"/>
                <a:ea typeface="微软雅黑"/>
              </a:rPr>
              <a:t>统一内存观测方式</a:t>
            </a:r>
            <a:endParaRPr sz="2000" b="1" dirty="0">
              <a:solidFill>
                <a:srgbClr val="238773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2648" y="5047488"/>
            <a:ext cx="5483352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nvidia-smi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 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中显存显示为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 Not 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Supported；整机可用内存以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 free -h 的 available 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列为准（当前空闲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 119 GiB）。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4613148"/>
            <a:ext cx="530352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238773"/>
                </a:solidFill>
                <a:latin typeface="微软雅黑"/>
                <a:ea typeface="微软雅黑"/>
              </a:rPr>
              <a:t>模型规模与单流生成速度上限</a:t>
            </a:r>
            <a:endParaRPr sz="2000" b="1" dirty="0">
              <a:solidFill>
                <a:srgbClr val="238773"/>
              </a:solidFill>
              <a:latin typeface="微软雅黑"/>
              <a:ea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263640" y="5047488"/>
            <a:ext cx="5584201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Qwen3-1.7B（约 3.5 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GB）理论上限约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 78 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tok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/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s，实测约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 50 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tok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/s；Qwen3-8B（约 16 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GB）理论上限约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 17 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tok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/s。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2.2 Python 虚拟环境与 vLLM 安装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115568"/>
            <a:ext cx="109728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03C8B"/>
                </a:solidFill>
                <a:latin typeface="微软雅黑"/>
                <a:ea typeface="微软雅黑"/>
              </a:rPr>
              <a:t>在组账号下建立独立虚拟环境，使用 uv 与国内镜像安装 CUDA 13 版 vLLM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5779008"/>
            <a:ext cx="10972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3C8B"/>
                </a:solidFill>
                <a:latin typeface="微软雅黑"/>
                <a:ea typeface="微软雅黑"/>
              </a:rPr>
              <a:t>北外镜像在校园网内实测约 35 MB/s，安装耗时约 1 分钟；若镜像波动可切换为华为云镜像。</a:t>
            </a:r>
          </a:p>
        </p:txBody>
      </p:sp>
      <p:pic>
        <p:nvPicPr>
          <p:cNvPr id="8" name="Picture 7" descr="e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74" y="1783080"/>
            <a:ext cx="9182946" cy="25146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4407408"/>
            <a:ext cx="109728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238773"/>
                </a:solidFill>
                <a:latin typeface="微软雅黑"/>
                <a:ea typeface="微软雅黑"/>
              </a:rPr>
              <a:t>预置共享模型目录（/srv/spark/models，只读）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05757"/>
              </p:ext>
            </p:extLst>
          </p:nvPr>
        </p:nvGraphicFramePr>
        <p:xfrm>
          <a:off x="471777" y="4788089"/>
          <a:ext cx="11430000" cy="1585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6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模型名称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本地路径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权重大小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课堂与课后使用建议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Qwen3-1.7B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/srv/spark/models/Qwen3-1.7B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3.8 GB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课堂实验统一使用，7 组可同时运行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Qwen3-8B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/srv/spark/models/Qwen3-8B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16 GB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dirty="0" err="1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单个服务需约</a:t>
                      </a:r>
                      <a:r>
                        <a:rPr sz="1450" b="0" dirty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 24 </a:t>
                      </a:r>
                      <a:r>
                        <a:rPr sz="1450" b="0" dirty="0" err="1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GiB，课后错峰实验使用</a:t>
                      </a:r>
                      <a:endParaRPr sz="1450" b="0" dirty="0">
                        <a:solidFill>
                          <a:srgbClr val="172B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Qwen3.8-27B-FP8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/srv/spark/models/hub/models--Qwen--Qwen3.8-27B-FP8/...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29 GB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 dirty="0" err="1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体积较大，供课程项目按需调用</a:t>
                      </a:r>
                      <a:endParaRPr sz="1450" b="0" dirty="0">
                        <a:solidFill>
                          <a:srgbClr val="172B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2.3 模型结构参数与 KV Cache 估算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115568"/>
            <a:ext cx="109728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03C8B"/>
                </a:solidFill>
                <a:latin typeface="微软雅黑"/>
                <a:ea typeface="微软雅黑"/>
              </a:rPr>
              <a:t>根据 config.json 计算模型权重与单 token KV Cache 占用，理解上下文容量限制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5779008"/>
            <a:ext cx="10972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3C8B"/>
                </a:solidFill>
                <a:latin typeface="微软雅黑"/>
                <a:ea typeface="微软雅黑"/>
              </a:rPr>
              <a:t>单 token KV Cache = 2 (K/V) × 层数 28 × KV 头数 8 × 头维度 128 × 2 字节 = 112 KiB。</a:t>
            </a:r>
          </a:p>
        </p:txBody>
      </p:sp>
      <p:pic>
        <p:nvPicPr>
          <p:cNvPr id="8" name="Picture 7" descr="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755648"/>
            <a:ext cx="6949440" cy="354531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755648"/>
            <a:ext cx="384048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100" b="1">
                <a:solidFill>
                  <a:srgbClr val="238773"/>
                </a:solidFill>
                <a:latin typeface="微软雅黑"/>
                <a:ea typeface="微软雅黑"/>
              </a:rPr>
              <a:t>内存组成分析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2194560"/>
            <a:ext cx="3840480" cy="3383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50" b="1" dirty="0">
                <a:solidFill>
                  <a:srgbClr val="003C8B"/>
                </a:solidFill>
                <a:latin typeface="微软雅黑"/>
                <a:ea typeface="微软雅黑"/>
              </a:rPr>
              <a:t>1. 模型权重（3.20 GiB）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Qwen3-1.7B </a:t>
            </a: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启用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 </a:t>
            </a: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tie_word_embeddings，词嵌入与输出层共享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 0.58 </a:t>
            </a: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GiB，实际加载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 3.20 GiB。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850" b="1" dirty="0">
                <a:solidFill>
                  <a:srgbClr val="003C8B"/>
                </a:solidFill>
                <a:latin typeface="微软雅黑"/>
                <a:ea typeface="微软雅黑"/>
              </a:rPr>
              <a:t>2. GQA </a:t>
            </a:r>
            <a:r>
              <a:rPr sz="1850" b="1" dirty="0" err="1">
                <a:solidFill>
                  <a:srgbClr val="003C8B"/>
                </a:solidFill>
                <a:latin typeface="微软雅黑"/>
                <a:ea typeface="微软雅黑"/>
              </a:rPr>
              <a:t>降低</a:t>
            </a:r>
            <a:r>
              <a:rPr sz="1850" b="1" dirty="0">
                <a:solidFill>
                  <a:srgbClr val="003C8B"/>
                </a:solidFill>
                <a:latin typeface="微软雅黑"/>
                <a:ea typeface="微软雅黑"/>
              </a:rPr>
              <a:t> KV Cache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16 </a:t>
            </a: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个注意力查询头共享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 8 个 KV </a:t>
            </a: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头，KV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 Cache </a:t>
            </a: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体积减半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850" b="1" dirty="0">
                <a:solidFill>
                  <a:srgbClr val="003C8B"/>
                </a:solidFill>
                <a:latin typeface="微软雅黑"/>
                <a:ea typeface="微软雅黑"/>
              </a:rPr>
              <a:t>3. </a:t>
            </a:r>
            <a:r>
              <a:rPr sz="1850" b="1" dirty="0" err="1">
                <a:solidFill>
                  <a:srgbClr val="003C8B"/>
                </a:solidFill>
                <a:latin typeface="微软雅黑"/>
                <a:ea typeface="微软雅黑"/>
              </a:rPr>
              <a:t>上下文长度与内存预算</a:t>
            </a:r>
            <a:endParaRPr sz="1850" b="1" dirty="0">
              <a:solidFill>
                <a:srgbClr val="003C8B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默认最大长度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 40960 需 4.38 GiB KV </a:t>
            </a: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Cache；在受限内存预算下必须显式下调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 --max-model-</a:t>
            </a: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len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3.1 启动本地 vLLM 服务与核心参数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115568"/>
            <a:ext cx="109728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03C8B"/>
                </a:solidFill>
                <a:latin typeface="微软雅黑"/>
                <a:ea typeface="微软雅黑"/>
              </a:rPr>
              <a:t>在终端 1 启动 OpenAI 兼容服务，显式设置端口、内存占比与最大上下文长度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5779008"/>
            <a:ext cx="10972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3C8B"/>
                </a:solidFill>
                <a:latin typeface="微软雅黑"/>
                <a:ea typeface="微软雅黑"/>
              </a:rPr>
              <a:t>首次启动需执行 torch.compile 与 CUDA Graph 捕获（约 3 分钟）；缓存生成后再次启动约 1 分钟。</a:t>
            </a:r>
          </a:p>
        </p:txBody>
      </p:sp>
      <p:pic>
        <p:nvPicPr>
          <p:cNvPr id="8" name="Picture 7" descr="serve_c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5643" y="1755648"/>
            <a:ext cx="6286808" cy="214884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" y="4005072"/>
          <a:ext cx="10972800" cy="2373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启动参数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课堂推荐配置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参数作用与设置原因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位置参数（模型路径）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/srv/spark/models/Qwen3-1.7B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指定本地模型目录；若填模型 ID 会尝试连接 Hugging Face 下载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--served-model-name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qwen3-1.7b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客户端请求中 model 字段使用的名称，避免暴露冗长的本地路径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--host / --port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127.0.0.1 / 8100 + 组号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仅监听本机回环地址；按组号分配端口避免多组冲突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--gpu-memory-utilization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0.08（约 9.74 GiB）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限制单服务内存上限（默认 0.9 会占用 110 GiB），保证 7 组可同时运行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--max-model-len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8192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限制单请求最大上下文长度（输入 + 输出），使 KV Cache 能放入内存预算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3.2 启动日志解读：内存去向与容量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115568"/>
            <a:ext cx="109728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03C8B"/>
                </a:solidFill>
                <a:latin typeface="微软雅黑"/>
                <a:ea typeface="微软雅黑"/>
              </a:rPr>
              <a:t>从 EngineCore 日志核对权重占用、KV Cache 可用空间以及最大并发倍数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" y="5971032"/>
            <a:ext cx="1158849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3.47 GiB KV Cache ÷ 112 KiB/token ≈ 32,528 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tokens；按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 8192 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长度计算可同时容纳约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 3.97 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个满长请求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。</a:t>
            </a:r>
          </a:p>
        </p:txBody>
      </p:sp>
      <p:pic>
        <p:nvPicPr>
          <p:cNvPr id="8" name="Picture 7" descr="serv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2743" y="1691640"/>
            <a:ext cx="7352607" cy="27889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03504" y="4572000"/>
            <a:ext cx="347472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950" b="1" dirty="0">
                <a:solidFill>
                  <a:srgbClr val="238773"/>
                </a:solidFill>
                <a:latin typeface="微软雅黑"/>
                <a:ea typeface="微软雅黑"/>
              </a:rPr>
              <a:t>① </a:t>
            </a:r>
            <a:r>
              <a:rPr sz="1950" b="1" dirty="0" err="1">
                <a:solidFill>
                  <a:srgbClr val="238773"/>
                </a:solidFill>
                <a:latin typeface="微软雅黑"/>
                <a:ea typeface="微软雅黑"/>
              </a:rPr>
              <a:t>固定开销与激活峰值</a:t>
            </a:r>
            <a:endParaRPr sz="1950" b="1" dirty="0">
              <a:solidFill>
                <a:srgbClr val="238773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2648" y="5047488"/>
            <a:ext cx="3474720" cy="713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权重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 3.22 </a:t>
            </a: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GiB（与估算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 3.20 GiB </a:t>
            </a: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吻合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），</a:t>
            </a: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加上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 CUDA </a:t>
            </a:r>
            <a:r>
              <a:rPr sz="1600" b="0" dirty="0" err="1">
                <a:solidFill>
                  <a:srgbClr val="172B3A"/>
                </a:solidFill>
                <a:latin typeface="微软雅黑"/>
                <a:ea typeface="微软雅黑"/>
              </a:rPr>
              <a:t>运行时与激活峰值后剩余空间全部划归</a:t>
            </a:r>
            <a:r>
              <a:rPr sz="1600" b="0" dirty="0">
                <a:solidFill>
                  <a:srgbClr val="172B3A"/>
                </a:solidFill>
                <a:latin typeface="微软雅黑"/>
                <a:ea typeface="微软雅黑"/>
              </a:rPr>
              <a:t> KV Cache。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7" y="4608576"/>
            <a:ext cx="347472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950" b="1" dirty="0">
                <a:solidFill>
                  <a:srgbClr val="238773"/>
                </a:solidFill>
                <a:latin typeface="微软雅黑"/>
                <a:ea typeface="微软雅黑"/>
              </a:rPr>
              <a:t>② </a:t>
            </a:r>
            <a:r>
              <a:rPr sz="1950" b="1" dirty="0" err="1">
                <a:solidFill>
                  <a:srgbClr val="238773"/>
                </a:solidFill>
                <a:latin typeface="微软雅黑"/>
                <a:ea typeface="微软雅黑"/>
              </a:rPr>
              <a:t>编译与图捕获缓存</a:t>
            </a:r>
            <a:endParaRPr sz="1950" b="1" dirty="0">
              <a:solidFill>
                <a:srgbClr val="238773"/>
              </a:solidFill>
              <a:latin typeface="微软雅黑"/>
              <a:ea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352544" y="5047488"/>
            <a:ext cx="3474720" cy="713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72B3A"/>
                </a:solidFill>
                <a:latin typeface="微软雅黑"/>
                <a:ea typeface="微软雅黑"/>
              </a:rPr>
              <a:t>torch.compile 与 CUDA Graph 缓存保存在 ~/.cache/vllm，二次启动时编译仅需 0.12 s。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4617720"/>
            <a:ext cx="347472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950" b="1" dirty="0">
                <a:solidFill>
                  <a:srgbClr val="238773"/>
                </a:solidFill>
                <a:latin typeface="微软雅黑"/>
                <a:ea typeface="微软雅黑"/>
              </a:rPr>
              <a:t>③ </a:t>
            </a:r>
            <a:r>
              <a:rPr sz="1950" b="1" dirty="0" err="1">
                <a:solidFill>
                  <a:srgbClr val="238773"/>
                </a:solidFill>
                <a:latin typeface="微软雅黑"/>
                <a:ea typeface="微软雅黑"/>
              </a:rPr>
              <a:t>服务就绪标志</a:t>
            </a:r>
            <a:endParaRPr sz="1950" b="1" dirty="0">
              <a:solidFill>
                <a:srgbClr val="238773"/>
              </a:solidFill>
              <a:latin typeface="微软雅黑"/>
              <a:ea typeface="微软雅黑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092440" y="5047488"/>
            <a:ext cx="3474720" cy="713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550" b="0">
                <a:solidFill>
                  <a:srgbClr val="172B3A"/>
                </a:solidFill>
                <a:latin typeface="微软雅黑"/>
                <a:ea typeface="微软雅黑"/>
              </a:rPr>
              <a:t>出现 Application startup complete 后，服务开始在 127.0.0.1:$PORT 接收 HTTP 请求。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3.3 服务调用：cURL 与 OpenAI SDK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200025" y="1115568"/>
            <a:ext cx="11385423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 dirty="0" err="1">
                <a:solidFill>
                  <a:srgbClr val="003C8B"/>
                </a:solidFill>
                <a:latin typeface="微软雅黑"/>
                <a:ea typeface="微软雅黑"/>
              </a:rPr>
              <a:t>vLLM</a:t>
            </a:r>
            <a:r>
              <a:rPr sz="2300" b="1" dirty="0">
                <a:solidFill>
                  <a:srgbClr val="003C8B"/>
                </a:solidFill>
                <a:latin typeface="微软雅黑"/>
                <a:ea typeface="微软雅黑"/>
              </a:rPr>
              <a:t> </a:t>
            </a:r>
            <a:r>
              <a:rPr sz="2300" b="1" dirty="0" err="1">
                <a:solidFill>
                  <a:srgbClr val="003C8B"/>
                </a:solidFill>
                <a:latin typeface="微软雅黑"/>
                <a:ea typeface="微软雅黑"/>
              </a:rPr>
              <a:t>提供标准</a:t>
            </a:r>
            <a:r>
              <a:rPr sz="2300" b="1" dirty="0">
                <a:solidFill>
                  <a:srgbClr val="003C8B"/>
                </a:solidFill>
                <a:latin typeface="微软雅黑"/>
                <a:ea typeface="微软雅黑"/>
              </a:rPr>
              <a:t> OpenAI </a:t>
            </a:r>
            <a:r>
              <a:rPr sz="2300" b="1" dirty="0" err="1">
                <a:solidFill>
                  <a:srgbClr val="003C8B"/>
                </a:solidFill>
                <a:latin typeface="微软雅黑"/>
                <a:ea typeface="微软雅黑"/>
              </a:rPr>
              <a:t>兼容接口，现有</a:t>
            </a:r>
            <a:r>
              <a:rPr sz="2300" b="1" dirty="0">
                <a:solidFill>
                  <a:srgbClr val="003C8B"/>
                </a:solidFill>
                <a:latin typeface="微软雅黑"/>
                <a:ea typeface="微软雅黑"/>
              </a:rPr>
              <a:t> Agent </a:t>
            </a:r>
            <a:r>
              <a:rPr sz="2300" b="1" dirty="0" err="1">
                <a:solidFill>
                  <a:srgbClr val="003C8B"/>
                </a:solidFill>
                <a:latin typeface="微软雅黑"/>
                <a:ea typeface="微软雅黑"/>
              </a:rPr>
              <a:t>代码只需将</a:t>
            </a:r>
            <a:r>
              <a:rPr sz="2300" b="1" dirty="0">
                <a:solidFill>
                  <a:srgbClr val="003C8B"/>
                </a:solidFill>
                <a:latin typeface="微软雅黑"/>
                <a:ea typeface="微软雅黑"/>
              </a:rPr>
              <a:t> </a:t>
            </a:r>
            <a:r>
              <a:rPr sz="2300" b="1" dirty="0" err="1">
                <a:solidFill>
                  <a:srgbClr val="003C8B"/>
                </a:solidFill>
                <a:latin typeface="微软雅黑"/>
                <a:ea typeface="微软雅黑"/>
              </a:rPr>
              <a:t>base_url</a:t>
            </a:r>
            <a:r>
              <a:rPr sz="2300" b="1" dirty="0">
                <a:solidFill>
                  <a:srgbClr val="003C8B"/>
                </a:solidFill>
                <a:latin typeface="微软雅黑"/>
                <a:ea typeface="微软雅黑"/>
              </a:rPr>
              <a:t> </a:t>
            </a:r>
            <a:r>
              <a:rPr sz="2300" b="1" dirty="0" err="1">
                <a:solidFill>
                  <a:srgbClr val="003C8B"/>
                </a:solidFill>
                <a:latin typeface="微软雅黑"/>
                <a:ea typeface="微软雅黑"/>
              </a:rPr>
              <a:t>指向本地端口</a:t>
            </a:r>
            <a:endParaRPr sz="2300" b="1" dirty="0">
              <a:solidFill>
                <a:srgbClr val="003C8B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12648" y="5779008"/>
            <a:ext cx="10972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3C8B"/>
                </a:solidFill>
                <a:latin typeface="微软雅黑"/>
                <a:ea typeface="微软雅黑"/>
              </a:rPr>
              <a:t>Qwen3 默认开启思考模式；不需要思考过程时，通过 extra_body 传入 enable_thinking=False。</a:t>
            </a:r>
          </a:p>
        </p:txBody>
      </p:sp>
      <p:pic>
        <p:nvPicPr>
          <p:cNvPr id="8" name="Picture 7" descr="curl_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255" y="1755648"/>
            <a:ext cx="7737585" cy="17830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3675887"/>
            <a:ext cx="566928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238773"/>
                </a:solidFill>
                <a:latin typeface="微软雅黑"/>
                <a:ea typeface="微软雅黑"/>
              </a:rPr>
              <a:t>Python 客户端调用方式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4078224"/>
            <a:ext cx="6583680" cy="1645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200" b="1" dirty="0">
                <a:solidFill>
                  <a:srgbClr val="003C8B"/>
                </a:solidFill>
                <a:latin typeface="微软雅黑"/>
                <a:ea typeface="微软雅黑"/>
              </a:rPr>
              <a:t>from </a:t>
            </a:r>
            <a:r>
              <a:rPr sz="1200" b="1" dirty="0" err="1">
                <a:solidFill>
                  <a:srgbClr val="003C8B"/>
                </a:solidFill>
                <a:latin typeface="微软雅黑"/>
                <a:ea typeface="微软雅黑"/>
              </a:rPr>
              <a:t>openai</a:t>
            </a:r>
            <a:r>
              <a:rPr sz="1200" b="1" dirty="0">
                <a:solidFill>
                  <a:srgbClr val="003C8B"/>
                </a:solidFill>
                <a:latin typeface="微软雅黑"/>
                <a:ea typeface="微软雅黑"/>
              </a:rPr>
              <a:t> import OpenAI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00" b="1" dirty="0">
                <a:solidFill>
                  <a:srgbClr val="003C8B"/>
                </a:solidFill>
                <a:latin typeface="微软雅黑"/>
                <a:ea typeface="微软雅黑"/>
              </a:rPr>
              <a:t>client = OpenAI(</a:t>
            </a:r>
            <a:r>
              <a:rPr sz="1200" b="1" dirty="0" err="1">
                <a:solidFill>
                  <a:srgbClr val="003C8B"/>
                </a:solidFill>
                <a:latin typeface="微软雅黑"/>
                <a:ea typeface="微软雅黑"/>
              </a:rPr>
              <a:t>base_url</a:t>
            </a:r>
            <a:r>
              <a:rPr sz="1200" b="1" dirty="0">
                <a:solidFill>
                  <a:srgbClr val="003C8B"/>
                </a:solidFill>
                <a:latin typeface="微软雅黑"/>
                <a:ea typeface="微软雅黑"/>
              </a:rPr>
              <a:t>="http://127.0.0.1:8103/v1", </a:t>
            </a:r>
            <a:r>
              <a:rPr sz="1200" b="1" dirty="0" err="1">
                <a:solidFill>
                  <a:srgbClr val="003C8B"/>
                </a:solidFill>
                <a:latin typeface="微软雅黑"/>
                <a:ea typeface="微软雅黑"/>
              </a:rPr>
              <a:t>api_key</a:t>
            </a:r>
            <a:r>
              <a:rPr sz="1200" b="1" dirty="0">
                <a:solidFill>
                  <a:srgbClr val="003C8B"/>
                </a:solidFill>
                <a:latin typeface="微软雅黑"/>
                <a:ea typeface="微软雅黑"/>
              </a:rPr>
              <a:t>="EMPTY")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00" b="1" dirty="0">
                <a:solidFill>
                  <a:srgbClr val="003C8B"/>
                </a:solidFill>
                <a:latin typeface="微软雅黑"/>
                <a:ea typeface="微软雅黑"/>
              </a:rPr>
              <a:t>resp = </a:t>
            </a:r>
            <a:r>
              <a:rPr sz="1200" b="1" dirty="0" err="1">
                <a:solidFill>
                  <a:srgbClr val="003C8B"/>
                </a:solidFill>
                <a:latin typeface="微软雅黑"/>
                <a:ea typeface="微软雅黑"/>
              </a:rPr>
              <a:t>client.chat.completions.create</a:t>
            </a:r>
            <a:r>
              <a:rPr sz="1200" b="1" dirty="0">
                <a:solidFill>
                  <a:srgbClr val="003C8B"/>
                </a:solidFill>
                <a:latin typeface="微软雅黑"/>
                <a:ea typeface="微软雅黑"/>
              </a:rPr>
              <a:t>(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00" b="1" dirty="0">
                <a:solidFill>
                  <a:srgbClr val="003C8B"/>
                </a:solidFill>
                <a:latin typeface="微软雅黑"/>
                <a:ea typeface="微软雅黑"/>
              </a:rPr>
              <a:t>    model="qwen3-1.7b", messages=[{"role": "user", "content": "..."}],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00" b="1" dirty="0">
                <a:solidFill>
                  <a:srgbClr val="003C8B"/>
                </a:solidFill>
                <a:latin typeface="微软雅黑"/>
                <a:ea typeface="微软雅黑"/>
              </a:rPr>
              <a:t>    </a:t>
            </a:r>
            <a:r>
              <a:rPr sz="1200" b="1" dirty="0" err="1">
                <a:solidFill>
                  <a:srgbClr val="003C8B"/>
                </a:solidFill>
                <a:latin typeface="微软雅黑"/>
                <a:ea typeface="微软雅黑"/>
              </a:rPr>
              <a:t>extra_body</a:t>
            </a:r>
            <a:r>
              <a:rPr sz="1200" b="1" dirty="0">
                <a:solidFill>
                  <a:srgbClr val="003C8B"/>
                </a:solidFill>
                <a:latin typeface="微软雅黑"/>
                <a:ea typeface="微软雅黑"/>
              </a:rPr>
              <a:t>={"</a:t>
            </a:r>
            <a:r>
              <a:rPr sz="1200" b="1" dirty="0" err="1">
                <a:solidFill>
                  <a:srgbClr val="003C8B"/>
                </a:solidFill>
                <a:latin typeface="微软雅黑"/>
                <a:ea typeface="微软雅黑"/>
              </a:rPr>
              <a:t>chat_template_kwargs</a:t>
            </a:r>
            <a:r>
              <a:rPr sz="1200" b="1" dirty="0">
                <a:solidFill>
                  <a:srgbClr val="003C8B"/>
                </a:solidFill>
                <a:latin typeface="微软雅黑"/>
                <a:ea typeface="微软雅黑"/>
              </a:rPr>
              <a:t>": {"</a:t>
            </a:r>
            <a:r>
              <a:rPr sz="1200" b="1" dirty="0" err="1">
                <a:solidFill>
                  <a:srgbClr val="003C8B"/>
                </a:solidFill>
                <a:latin typeface="微软雅黑"/>
                <a:ea typeface="微软雅黑"/>
              </a:rPr>
              <a:t>enable_thinking</a:t>
            </a:r>
            <a:r>
              <a:rPr sz="1200" b="1" dirty="0">
                <a:solidFill>
                  <a:srgbClr val="003C8B"/>
                </a:solidFill>
                <a:latin typeface="微软雅黑"/>
                <a:ea typeface="微软雅黑"/>
              </a:rPr>
              <a:t>": False}},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00" b="1" dirty="0">
                <a:solidFill>
                  <a:srgbClr val="003C8B"/>
                </a:solidFill>
                <a:latin typeface="微软雅黑"/>
                <a:ea typeface="微软雅黑"/>
              </a:rPr>
              <a:t>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3675887"/>
            <a:ext cx="41148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238773"/>
                </a:solidFill>
                <a:latin typeface="微软雅黑"/>
                <a:ea typeface="微软雅黑"/>
              </a:rPr>
              <a:t>与第 3～6 周 Agent 代码衔接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078224"/>
            <a:ext cx="4114800" cy="1645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400" b="0" dirty="0">
                <a:solidFill>
                  <a:srgbClr val="172B3A"/>
                </a:solidFill>
                <a:latin typeface="微软雅黑"/>
                <a:ea typeface="微软雅黑"/>
              </a:rPr>
              <a:t>• </a:t>
            </a:r>
            <a:r>
              <a:rPr sz="1400" b="0" dirty="0" err="1">
                <a:solidFill>
                  <a:srgbClr val="172B3A"/>
                </a:solidFill>
                <a:latin typeface="微软雅黑"/>
                <a:ea typeface="微软雅黑"/>
              </a:rPr>
              <a:t>接口协议完全一致</a:t>
            </a:r>
            <a:r>
              <a:rPr sz="1400" b="0" dirty="0">
                <a:solidFill>
                  <a:srgbClr val="172B3A"/>
                </a:solidFill>
                <a:latin typeface="微软雅黑"/>
                <a:ea typeface="微软雅黑"/>
              </a:rPr>
              <a:t>：/v1/models 与 /v1/chat/completions。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400" b="0" dirty="0">
                <a:solidFill>
                  <a:srgbClr val="172B3A"/>
                </a:solidFill>
                <a:latin typeface="微软雅黑"/>
                <a:ea typeface="微软雅黑"/>
              </a:rPr>
              <a:t>• </a:t>
            </a:r>
            <a:r>
              <a:rPr sz="1400" b="0" dirty="0" err="1">
                <a:solidFill>
                  <a:srgbClr val="172B3A"/>
                </a:solidFill>
                <a:latin typeface="微软雅黑"/>
                <a:ea typeface="微软雅黑"/>
              </a:rPr>
              <a:t>未设置</a:t>
            </a:r>
            <a:r>
              <a:rPr sz="1400" b="0" dirty="0">
                <a:solidFill>
                  <a:srgbClr val="172B3A"/>
                </a:solidFill>
                <a:latin typeface="微软雅黑"/>
                <a:ea typeface="微软雅黑"/>
              </a:rPr>
              <a:t> --</a:t>
            </a:r>
            <a:r>
              <a:rPr sz="1400" b="0" dirty="0" err="1">
                <a:solidFill>
                  <a:srgbClr val="172B3A"/>
                </a:solidFill>
                <a:latin typeface="微软雅黑"/>
                <a:ea typeface="微软雅黑"/>
              </a:rPr>
              <a:t>api</a:t>
            </a:r>
            <a:r>
              <a:rPr sz="1400" b="0" dirty="0">
                <a:solidFill>
                  <a:srgbClr val="172B3A"/>
                </a:solidFill>
                <a:latin typeface="微软雅黑"/>
                <a:ea typeface="微软雅黑"/>
              </a:rPr>
              <a:t>-key </a:t>
            </a:r>
            <a:r>
              <a:rPr sz="1400" b="0" dirty="0" err="1">
                <a:solidFill>
                  <a:srgbClr val="172B3A"/>
                </a:solidFill>
                <a:latin typeface="微软雅黑"/>
                <a:ea typeface="微软雅黑"/>
              </a:rPr>
              <a:t>时，客户端</a:t>
            </a:r>
            <a:r>
              <a:rPr sz="1400" b="0" dirty="0">
                <a:solidFill>
                  <a:srgbClr val="172B3A"/>
                </a:solidFill>
                <a:latin typeface="微软雅黑"/>
                <a:ea typeface="微软雅黑"/>
              </a:rPr>
              <a:t> </a:t>
            </a:r>
            <a:r>
              <a:rPr sz="1400" b="0" dirty="0" err="1">
                <a:solidFill>
                  <a:srgbClr val="172B3A"/>
                </a:solidFill>
                <a:latin typeface="微软雅黑"/>
                <a:ea typeface="微软雅黑"/>
              </a:rPr>
              <a:t>api_key</a:t>
            </a:r>
            <a:r>
              <a:rPr sz="1400" b="0" dirty="0">
                <a:solidFill>
                  <a:srgbClr val="172B3A"/>
                </a:solidFill>
                <a:latin typeface="微软雅黑"/>
                <a:ea typeface="微软雅黑"/>
              </a:rPr>
              <a:t> </a:t>
            </a:r>
            <a:r>
              <a:rPr sz="1400" b="0" dirty="0" err="1">
                <a:solidFill>
                  <a:srgbClr val="172B3A"/>
                </a:solidFill>
                <a:latin typeface="微软雅黑"/>
                <a:ea typeface="微软雅黑"/>
              </a:rPr>
              <a:t>填任意非空字符串即可</a:t>
            </a:r>
            <a:r>
              <a:rPr sz="1400" b="0" dirty="0">
                <a:solidFill>
                  <a:srgbClr val="172B3A"/>
                </a:solidFill>
                <a:latin typeface="微软雅黑"/>
                <a:ea typeface="微软雅黑"/>
              </a:rPr>
              <a:t>。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400" b="0" dirty="0">
                <a:solidFill>
                  <a:srgbClr val="172B3A"/>
                </a:solidFill>
                <a:latin typeface="微软雅黑"/>
                <a:ea typeface="微软雅黑"/>
              </a:rPr>
              <a:t>• 第 7 </a:t>
            </a:r>
            <a:r>
              <a:rPr sz="1400" b="0" dirty="0" err="1">
                <a:solidFill>
                  <a:srgbClr val="172B3A"/>
                </a:solidFill>
                <a:latin typeface="微软雅黑"/>
                <a:ea typeface="微软雅黑"/>
              </a:rPr>
              <a:t>周迁移</a:t>
            </a:r>
            <a:r>
              <a:rPr sz="1400" b="0" dirty="0">
                <a:solidFill>
                  <a:srgbClr val="172B3A"/>
                </a:solidFill>
                <a:latin typeface="微软雅黑"/>
                <a:ea typeface="微软雅黑"/>
              </a:rPr>
              <a:t> Agent </a:t>
            </a:r>
            <a:r>
              <a:rPr sz="1400" b="0" dirty="0" err="1">
                <a:solidFill>
                  <a:srgbClr val="172B3A"/>
                </a:solidFill>
                <a:latin typeface="微软雅黑"/>
                <a:ea typeface="微软雅黑"/>
              </a:rPr>
              <a:t>时无需改动业务循环，仅替换连接参数</a:t>
            </a:r>
            <a:r>
              <a:rPr sz="1400" b="0" dirty="0">
                <a:solidFill>
                  <a:srgbClr val="172B3A"/>
                </a:solidFill>
                <a:latin typeface="微软雅黑"/>
                <a:ea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3.4 流式输出与推理性能实测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115568"/>
            <a:ext cx="109728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03C8B"/>
                </a:solidFill>
                <a:latin typeface="微软雅黑"/>
                <a:ea typeface="微软雅黑"/>
              </a:rPr>
              <a:t>运行 chat_demo.py 测量首 token 延迟（TTFT）与 Decode 生成速度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5779008"/>
            <a:ext cx="10972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3C8B"/>
                </a:solidFill>
                <a:latin typeface="微软雅黑"/>
                <a:ea typeface="微软雅黑"/>
              </a:rPr>
              <a:t>单请求实测 TTFT 为 48 ms，生成速度 50.2 token/s（对应 TPOT 约 19.9 ms/token）。</a:t>
            </a:r>
          </a:p>
        </p:txBody>
      </p:sp>
      <p:pic>
        <p:nvPicPr>
          <p:cNvPr id="8" name="Picture 7" descr="chat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421" y="1755648"/>
            <a:ext cx="6793253" cy="24688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4407408"/>
            <a:ext cx="530352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238773"/>
                </a:solidFill>
                <a:latin typeface="微软雅黑"/>
                <a:ea typeface="微软雅黑"/>
              </a:rPr>
              <a:t>TTFT（Time To First Token）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4791456"/>
            <a:ext cx="5303520" cy="822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172B3A"/>
                </a:solidFill>
                <a:latin typeface="微软雅黑"/>
                <a:ea typeface="微软雅黑"/>
              </a:rPr>
              <a:t>从发送请求到收到首个输出 token 的耗时，主要反映 Prefill 阶段处理输入序列的计算与排队开销。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4407408"/>
            <a:ext cx="5779008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00" b="1" dirty="0" err="1">
                <a:solidFill>
                  <a:srgbClr val="238773"/>
                </a:solidFill>
                <a:latin typeface="微软雅黑"/>
                <a:ea typeface="微软雅黑"/>
              </a:rPr>
              <a:t>生成速度与</a:t>
            </a:r>
            <a:r>
              <a:rPr sz="2000" b="1" dirty="0">
                <a:solidFill>
                  <a:srgbClr val="238773"/>
                </a:solidFill>
                <a:latin typeface="微软雅黑"/>
                <a:ea typeface="微软雅黑"/>
              </a:rPr>
              <a:t> </a:t>
            </a:r>
            <a:r>
              <a:rPr sz="2000" b="1" dirty="0" err="1">
                <a:solidFill>
                  <a:srgbClr val="238773"/>
                </a:solidFill>
                <a:latin typeface="微软雅黑"/>
                <a:ea typeface="微软雅黑"/>
              </a:rPr>
              <a:t>TPOT（Time</a:t>
            </a:r>
            <a:r>
              <a:rPr sz="2000" b="1" dirty="0">
                <a:solidFill>
                  <a:srgbClr val="238773"/>
                </a:solidFill>
                <a:latin typeface="微软雅黑"/>
                <a:ea typeface="微软雅黑"/>
              </a:rPr>
              <a:t> Per Output Token）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39" y="4791456"/>
            <a:ext cx="5861685" cy="822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首个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 token 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之后每秒生成的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 token 数（50.2 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tok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/s），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倒数即为每步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 Decode 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耗时（约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 20 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ms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），</a:t>
            </a:r>
            <a:r>
              <a:rPr sz="1650" b="0" dirty="0" err="1">
                <a:solidFill>
                  <a:srgbClr val="172B3A"/>
                </a:solidFill>
                <a:latin typeface="微软雅黑"/>
                <a:ea typeface="微软雅黑"/>
              </a:rPr>
              <a:t>受内存带宽限制</a:t>
            </a:r>
            <a:r>
              <a:rPr sz="1650" b="0" dirty="0">
                <a:solidFill>
                  <a:srgbClr val="172B3A"/>
                </a:solidFill>
                <a:latin typeface="微软雅黑"/>
                <a:ea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3.5 思考模式与 max_tokens 预算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115568"/>
            <a:ext cx="109728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03C8B"/>
                </a:solidFill>
                <a:latin typeface="微软雅黑"/>
                <a:ea typeface="微软雅黑"/>
              </a:rPr>
              <a:t>开启思考模式时，&lt;think&gt; 推理链同样计入 completion_tokens 上限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5779008"/>
            <a:ext cx="10972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3C8B"/>
                </a:solidFill>
                <a:latin typeface="微软雅黑"/>
                <a:ea typeface="微软雅黑"/>
              </a:rPr>
              <a:t>若开启思考模式，需相应调大 max_tokens（如 1024 以上），否则模型会在给出最终结论前被截断。</a:t>
            </a:r>
          </a:p>
        </p:txBody>
      </p:sp>
      <p:pic>
        <p:nvPicPr>
          <p:cNvPr id="8" name="Picture 7" descr="think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382" y="1755648"/>
            <a:ext cx="7333330" cy="2880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4754880"/>
            <a:ext cx="530352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950" b="1">
                <a:solidFill>
                  <a:srgbClr val="238773"/>
                </a:solidFill>
                <a:latin typeface="微软雅黑"/>
                <a:ea typeface="微软雅黑"/>
              </a:rPr>
              <a:t>现象分析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5102352"/>
            <a:ext cx="530352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72B3A"/>
                </a:solidFill>
                <a:latin typeface="微软雅黑"/>
                <a:ea typeface="微软雅黑"/>
              </a:rPr>
              <a:t>当 max_tokens=256 时，256 个生成 token 全部消耗在 &lt;think&gt; 块内，输出在「总结一下，9.9」处截断。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4754880"/>
            <a:ext cx="530352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950" b="1">
                <a:solidFill>
                  <a:srgbClr val="238773"/>
                </a:solidFill>
                <a:latin typeface="微软雅黑"/>
                <a:ea typeface="微软雅黑"/>
              </a:rPr>
              <a:t>服务端分离思考字段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5102352"/>
            <a:ext cx="530352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72B3A"/>
                </a:solidFill>
                <a:latin typeface="微软雅黑"/>
                <a:ea typeface="微软雅黑"/>
              </a:rPr>
              <a:t>启动服务时加入 --reasoning-parser qwen3，可将思考内容拆入 message.reasoning，正文仅保留最终回答。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4.1 参数实验：上下文上限与内存占比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96" y="1115567"/>
            <a:ext cx="11579352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 dirty="0" err="1">
                <a:solidFill>
                  <a:srgbClr val="003C8B"/>
                </a:solidFill>
                <a:latin typeface="微软雅黑"/>
                <a:ea typeface="微软雅黑"/>
              </a:rPr>
              <a:t>对比</a:t>
            </a:r>
            <a:r>
              <a:rPr sz="2300" b="1" dirty="0">
                <a:solidFill>
                  <a:srgbClr val="003C8B"/>
                </a:solidFill>
                <a:latin typeface="微软雅黑"/>
                <a:ea typeface="微软雅黑"/>
              </a:rPr>
              <a:t> --max-model-</a:t>
            </a:r>
            <a:r>
              <a:rPr sz="2300" b="1" dirty="0" err="1">
                <a:solidFill>
                  <a:srgbClr val="003C8B"/>
                </a:solidFill>
                <a:latin typeface="微软雅黑"/>
                <a:ea typeface="微软雅黑"/>
              </a:rPr>
              <a:t>len</a:t>
            </a:r>
            <a:r>
              <a:rPr sz="2300" b="1" dirty="0">
                <a:solidFill>
                  <a:srgbClr val="003C8B"/>
                </a:solidFill>
                <a:latin typeface="微软雅黑"/>
                <a:ea typeface="微软雅黑"/>
              </a:rPr>
              <a:t> 与 --</a:t>
            </a:r>
            <a:r>
              <a:rPr sz="2300" b="1" dirty="0" err="1">
                <a:solidFill>
                  <a:srgbClr val="003C8B"/>
                </a:solidFill>
                <a:latin typeface="微软雅黑"/>
                <a:ea typeface="微软雅黑"/>
              </a:rPr>
              <a:t>gpu</a:t>
            </a:r>
            <a:r>
              <a:rPr sz="2300" b="1" dirty="0">
                <a:solidFill>
                  <a:srgbClr val="003C8B"/>
                </a:solidFill>
                <a:latin typeface="微软雅黑"/>
                <a:ea typeface="微软雅黑"/>
              </a:rPr>
              <a:t>-memory-utilization 对 KV Cache </a:t>
            </a:r>
            <a:r>
              <a:rPr sz="2300" b="1" dirty="0" err="1">
                <a:solidFill>
                  <a:srgbClr val="003C8B"/>
                </a:solidFill>
                <a:latin typeface="微软雅黑"/>
                <a:ea typeface="微软雅黑"/>
              </a:rPr>
              <a:t>容量的直接影响</a:t>
            </a:r>
            <a:endParaRPr sz="2300" b="1" dirty="0">
              <a:solidFill>
                <a:srgbClr val="003C8B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12648" y="5779008"/>
            <a:ext cx="10972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3C8B"/>
                </a:solidFill>
                <a:latin typeface="微软雅黑"/>
                <a:ea typeface="微软雅黑"/>
              </a:rPr>
              <a:t>模型权重固定不变，调大 --gpu-memory-utilization 增加的内存预算几乎全部转化为 KV Cache 容量。</a:t>
            </a:r>
          </a:p>
        </p:txBody>
      </p:sp>
      <p:pic>
        <p:nvPicPr>
          <p:cNvPr id="8" name="Picture 7" descr="err_max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461" y="1755648"/>
            <a:ext cx="9431173" cy="187451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3767328"/>
            <a:ext cx="109728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950" b="1">
                <a:solidFill>
                  <a:srgbClr val="238773"/>
                </a:solidFill>
                <a:latin typeface="微软雅黑"/>
                <a:ea typeface="微软雅黑"/>
              </a:rPr>
              <a:t>实验 2：调整 --gpu-memory-utilization 实测对比（--max-model-len 8192）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2648" y="4160520"/>
          <a:ext cx="10972800" cy="140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--gpu-memory-utilization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总内存预算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模型权重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可用 KV Cache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可缓存 Token 总数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8192 长度最大并发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0.08（课堂默认）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9.74 GiB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3.22 GiB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2.85 ～ 3.47 GiB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26,704 ～ 32,528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3.26x ～ 3.97x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0.12（对比实验）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14.60 GiB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3.22 GiB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8.64 GiB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80,864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9.87x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4.2 编译开关、工具调用与并发吞吐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115568"/>
            <a:ext cx="109728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03C8B"/>
                </a:solidFill>
                <a:latin typeface="微软雅黑"/>
                <a:ea typeface="微软雅黑"/>
              </a:rPr>
              <a:t>验证 --enforce-eager、Tool Calling 解析器，以及多请求 Batching 的吞吐提升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" y="6053328"/>
            <a:ext cx="11579352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>
              <a:lnSpc>
                <a:spcPct val="120000"/>
              </a:lnSpc>
            </a:pP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4 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并发时总生成吞吐达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 222.8 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tok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/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s（单请求的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 4.5 倍），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单请求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 TPOT 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仍保持约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 17～20 </a:t>
            </a: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ms</a:t>
            </a:r>
            <a:endParaRPr sz="1800" b="1" dirty="0">
              <a:solidFill>
                <a:srgbClr val="003C8B"/>
              </a:solidFill>
              <a:latin typeface="微软雅黑"/>
              <a:ea typeface="微软雅黑"/>
            </a:endParaRPr>
          </a:p>
        </p:txBody>
      </p:sp>
      <p:pic>
        <p:nvPicPr>
          <p:cNvPr id="8" name="Picture 7" descr="tool_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1755648"/>
            <a:ext cx="6446520" cy="2148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83464" y="3991356"/>
            <a:ext cx="644652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600" b="1" dirty="0" err="1">
                <a:solidFill>
                  <a:srgbClr val="238773"/>
                </a:solidFill>
                <a:latin typeface="微软雅黑"/>
                <a:ea typeface="微软雅黑"/>
              </a:rPr>
              <a:t>实验</a:t>
            </a:r>
            <a:r>
              <a:rPr sz="1600" b="1" dirty="0">
                <a:solidFill>
                  <a:srgbClr val="238773"/>
                </a:solidFill>
                <a:latin typeface="微软雅黑"/>
                <a:ea typeface="微软雅黑"/>
              </a:rPr>
              <a:t> 3：--</a:t>
            </a:r>
            <a:r>
              <a:rPr sz="1600" b="1" dirty="0" err="1">
                <a:solidFill>
                  <a:srgbClr val="238773"/>
                </a:solidFill>
                <a:latin typeface="微软雅黑"/>
                <a:ea typeface="微软雅黑"/>
              </a:rPr>
              <a:t>enforce-eager（跳过编译与</a:t>
            </a:r>
            <a:r>
              <a:rPr sz="1600" b="1" dirty="0">
                <a:solidFill>
                  <a:srgbClr val="238773"/>
                </a:solidFill>
                <a:latin typeface="微软雅黑"/>
                <a:ea typeface="微软雅黑"/>
              </a:rPr>
              <a:t> CUDA Graph）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979884"/>
              </p:ext>
            </p:extLst>
          </p:nvPr>
        </p:nvGraphicFramePr>
        <p:xfrm>
          <a:off x="283464" y="4349496"/>
          <a:ext cx="5303520" cy="158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 dirty="0" err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运行模式</a:t>
                      </a:r>
                      <a:endParaRPr sz="1400" b="1" dirty="0">
                        <a:solidFill>
                          <a:srgbClr val="003C8B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启动耗时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单流生成速度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默认（编译 + CUDA Graph）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首次 ~190 s / 缓存 ~56 s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50.2 token/s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--enforce-eager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~49 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48.4 token/s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172200" y="4041648"/>
            <a:ext cx="53949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238773"/>
                </a:solidFill>
                <a:latin typeface="微软雅黑"/>
                <a:ea typeface="微软雅黑"/>
              </a:rPr>
              <a:t>实验</a:t>
            </a:r>
            <a:r>
              <a:rPr sz="1400" b="1" dirty="0">
                <a:solidFill>
                  <a:srgbClr val="238773"/>
                </a:solidFill>
                <a:latin typeface="微软雅黑"/>
                <a:ea typeface="微软雅黑"/>
              </a:rPr>
              <a:t> 5：vllm bench serve 并发吞吐对比（512 </a:t>
            </a:r>
            <a:r>
              <a:rPr sz="1400" b="1" dirty="0" err="1">
                <a:solidFill>
                  <a:srgbClr val="238773"/>
                </a:solidFill>
                <a:latin typeface="微软雅黑"/>
                <a:ea typeface="微软雅黑"/>
              </a:rPr>
              <a:t>输入</a:t>
            </a:r>
            <a:r>
              <a:rPr sz="1400" b="1" dirty="0">
                <a:solidFill>
                  <a:srgbClr val="238773"/>
                </a:solidFill>
                <a:latin typeface="微软雅黑"/>
                <a:ea typeface="微软雅黑"/>
              </a:rPr>
              <a:t> / 128 </a:t>
            </a:r>
            <a:r>
              <a:rPr sz="1400" b="1" dirty="0" err="1">
                <a:solidFill>
                  <a:srgbClr val="238773"/>
                </a:solidFill>
                <a:latin typeface="微软雅黑"/>
                <a:ea typeface="微软雅黑"/>
              </a:rPr>
              <a:t>输出</a:t>
            </a:r>
            <a:r>
              <a:rPr sz="1400" b="1" dirty="0">
                <a:solidFill>
                  <a:srgbClr val="238773"/>
                </a:solidFill>
                <a:latin typeface="微软雅黑"/>
                <a:ea typeface="微软雅黑"/>
              </a:rPr>
              <a:t>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010877"/>
              </p:ext>
            </p:extLst>
          </p:nvPr>
        </p:nvGraphicFramePr>
        <p:xfrm>
          <a:off x="6172200" y="4425696"/>
          <a:ext cx="53949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最大并发数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总输出吞吐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平均 TTFT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C8B"/>
                          </a:solidFill>
                          <a:latin typeface="微软雅黑"/>
                          <a:ea typeface="微软雅黑"/>
                        </a:rPr>
                        <a:t>平均 TPOT</a:t>
                      </a:r>
                    </a:p>
                  </a:txBody>
                  <a:tcPr marL="101600" marR="101600" marT="50800" marB="50800" anchor="ctr">
                    <a:solidFill>
                      <a:srgbClr val="E3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49.6 token/s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43.3 ms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20.0 ms</a:t>
                      </a:r>
                    </a:p>
                  </a:txBody>
                  <a:tcPr marL="101600" marR="101600" marT="50800" marB="50800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222.8 token/s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106.4 ms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17.2 </a:t>
                      </a:r>
                      <a:r>
                        <a:rPr sz="1400" b="0" dirty="0" err="1">
                          <a:solidFill>
                            <a:srgbClr val="172B3A"/>
                          </a:solidFill>
                          <a:latin typeface="微软雅黑"/>
                          <a:ea typeface="微软雅黑"/>
                        </a:rPr>
                        <a:t>ms</a:t>
                      </a:r>
                      <a:endParaRPr sz="1400" b="0" dirty="0">
                        <a:solidFill>
                          <a:srgbClr val="172B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3464" y="146304"/>
            <a:ext cx="1083564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课程实验规范与常见问题排查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11567160" y="6537960"/>
            <a:ext cx="475488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r">
              <a:lnSpc>
                <a:spcPct val="120000"/>
              </a:lnSpc>
            </a:pPr>
            <a:r>
              <a:rPr sz="1700" b="1">
                <a:solidFill>
                  <a:srgbClr val="003C8B"/>
                </a:solidFill>
                <a:latin typeface="微软雅黑"/>
                <a:ea typeface="微软雅黑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1115568"/>
            <a:ext cx="109728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03C8B"/>
                </a:solidFill>
                <a:latin typeface="微软雅黑"/>
                <a:ea typeface="微软雅黑"/>
              </a:rPr>
              <a:t>多人共享统一内存设备，请严格遵守端口、内存占比与进程清理规范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5779008"/>
            <a:ext cx="114300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00" b="1" dirty="0" err="1">
                <a:solidFill>
                  <a:srgbClr val="003C8B"/>
                </a:solidFill>
                <a:latin typeface="微软雅黑"/>
                <a:ea typeface="微软雅黑"/>
              </a:rPr>
              <a:t>完整命令、脚本说明与故障排查清单见仓库</a:t>
            </a:r>
            <a:r>
              <a:rPr sz="1800" b="1" dirty="0">
                <a:solidFill>
                  <a:srgbClr val="003C8B"/>
                </a:solidFill>
                <a:latin typeface="微软雅黑"/>
                <a:ea typeface="微软雅黑"/>
              </a:rPr>
              <a:t> 2026-capstone/week06-2-dgx-local-serving/README.md。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" y="1847088"/>
            <a:ext cx="265176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50" b="1">
                <a:solidFill>
                  <a:srgbClr val="238773"/>
                </a:solidFill>
                <a:latin typeface="微软雅黑"/>
                <a:ea typeface="微软雅黑"/>
              </a:rPr>
              <a:t>端口与监听范围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847088"/>
            <a:ext cx="813816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50" b="0">
                <a:solidFill>
                  <a:srgbClr val="172B3A"/>
                </a:solidFill>
                <a:latin typeface="微软雅黑"/>
                <a:ea typeface="微软雅黑"/>
              </a:rPr>
              <a:t>使用 8100 + 组号（如 group3 用 8103），设置 --host 127.0.0.1；每组同时只运行一个 vLLM 服务。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2807208"/>
            <a:ext cx="265176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50" b="1">
                <a:solidFill>
                  <a:srgbClr val="238773"/>
                </a:solidFill>
                <a:latin typeface="微软雅黑"/>
                <a:ea typeface="微软雅黑"/>
              </a:rPr>
              <a:t>内存预算控制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807208"/>
            <a:ext cx="813816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50" b="0">
                <a:solidFill>
                  <a:srgbClr val="172B3A"/>
                </a:solidFill>
                <a:latin typeface="微软雅黑"/>
                <a:ea typeface="微软雅黑"/>
              </a:rPr>
              <a:t>课堂实验保持 --gpu-memory-utilization 0.08 与 --max-model-len 8192；切勿使用默认值 0.9。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" y="3767328"/>
            <a:ext cx="265176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50" b="1">
                <a:solidFill>
                  <a:srgbClr val="238773"/>
                </a:solidFill>
                <a:latin typeface="微软雅黑"/>
                <a:ea typeface="微软雅黑"/>
              </a:rPr>
              <a:t>常见启动报错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3767328"/>
            <a:ext cx="813816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50" b="0">
                <a:solidFill>
                  <a:srgbClr val="172B3A"/>
                </a:solidFill>
                <a:latin typeface="微软雅黑"/>
                <a:ea typeface="微软雅黑"/>
              </a:rPr>
              <a:t>Address already in use：端口冲突或旧服务未关；Free memory is less than desired：调小内存占比。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" y="4727448"/>
            <a:ext cx="265176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2050" b="1">
                <a:solidFill>
                  <a:srgbClr val="238773"/>
                </a:solidFill>
                <a:latin typeface="微软雅黑"/>
                <a:ea typeface="微软雅黑"/>
              </a:rPr>
              <a:t>实验结束清理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4727448"/>
            <a:ext cx="8138160" cy="8046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l">
              <a:lnSpc>
                <a:spcPct val="120000"/>
              </a:lnSpc>
            </a:pPr>
            <a:r>
              <a:rPr sz="1850" b="0">
                <a:solidFill>
                  <a:srgbClr val="172B3A"/>
                </a:solidFill>
                <a:latin typeface="微软雅黑"/>
                <a:ea typeface="微软雅黑"/>
              </a:rPr>
              <a:t>在服务终端按 Ctrl+C 停止进程，并用 free -h 与 ps -u $USER 确认内存和后台进程已释放。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90f36d3f-ffec-4fe5-9788-afc451dde4a9&quot;,&quot;Name&quot;:null,&quot;Kind&quot;:&quot;Custom&quot;,&quot;OldGuidesSetting&quot;:{&quot;HeaderHeight&quot;:0.0,&quot;FooterHeight&quot;:0.0,&quot;SideMargin&quot;:0.0,&quot;TopMargin&quot;:0.0,&quot;BottomMargin&quot;:0.0,&quot;IntervalMargin&quot;:0.0}}"/>
</p:tagLst>
</file>

<file path=ppt/theme/theme1.xml><?xml version="1.0" encoding="utf-8"?>
<a:theme xmlns:a="http://schemas.openxmlformats.org/drawingml/2006/main" name="Office 主题​​">
  <a:themeElements>
    <a:clrScheme name="自定义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3C8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309481"/>
      </a:accent6>
      <a:hlink>
        <a:srgbClr val="0563C1"/>
      </a:hlink>
      <a:folHlink>
        <a:srgbClr val="954F72"/>
      </a:folHlink>
    </a:clrScheme>
    <a:fontScheme name="自定义 1">
      <a:majorFont>
        <a:latin typeface="Calibri"/>
        <a:ea typeface="微软雅黑"/>
        <a:cs typeface=""/>
      </a:majorFont>
      <a:minorFont>
        <a:latin typeface="Calibri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1476</Words>
  <Application>Microsoft Office PowerPoint</Application>
  <PresentationFormat>宽屏</PresentationFormat>
  <Paragraphs>239</Paragraphs>
  <Slides>17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2" baseType="lpstr">
      <vt:lpstr>微软雅黑</vt:lpstr>
      <vt:lpstr>Arial</vt:lpstr>
      <vt:lpstr>Trebuchet MS</vt:lpstr>
      <vt:lpstr>Wingdings</vt:lpstr>
      <vt:lpstr>Office 主题​​</vt:lpstr>
      <vt:lpstr>DGX Spark 本地部署与 vLLM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Knowledge 与 RAG：知识检索、上下文组织与来源引用</dc:title>
  <dc:creator/>
  <cp:lastModifiedBy>泠锟 龙</cp:lastModifiedBy>
  <cp:revision>167</cp:revision>
  <dcterms:created xsi:type="dcterms:W3CDTF">2021-12-28T08:11:00Z</dcterms:created>
  <dcterms:modified xsi:type="dcterms:W3CDTF">2026-10-15T05:51:56Z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B57AE2A8B969466CA4131FA5B0769B5E_12</vt:lpwstr>
  </property>
  <property fmtid="{D5CDD505-2E9C-101B-9397-08002B2CF9AE}" pid="3" name="KSOProductBuildVer">
    <vt:lpwstr>2052-12.1.0.28488</vt:lpwstr>
  </property>
</Properties>
</file>