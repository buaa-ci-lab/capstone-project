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8001" r:id="rId3"/>
    <p:sldId id="18002" r:id="rId9"/>
    <p:sldId id="18003" r:id="rId10"/>
    <p:sldId id="18004" r:id="rId11"/>
    <p:sldId id="18005" r:id="rId12"/>
    <p:sldId id="18006" r:id="rId13"/>
    <p:sldId id="18007" r:id="rId14"/>
    <p:sldId id="18008" r:id="rId15"/>
    <p:sldId id="18009" r:id="rId16"/>
    <p:sldId id="18010" r:id="rId17"/>
    <p:sldId id="18011" r:id="rId18"/>
    <p:sldId id="18012" r:id="rId19"/>
    <p:sldId id="18013" r:id="rId20"/>
    <p:sldId id="18014" r:id="rId21"/>
    <p:sldId id="18015" r:id="rId22"/>
    <p:sldId id="18016" r:id="rId23"/>
    <p:sldId id="18017" r:id="rId24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0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38" y="180"/>
      </p:cViewPr>
      <p:guideLst>
        <p:guide pos="3840"/>
        <p:guide orient="horz" pos="205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ableStyles" Target="tableStyles.xml"/><Relationship Id="rId50" Type="http://schemas.openxmlformats.org/officeDocument/2006/relationships/tags" Target="tags/tag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本课研究外部知识如何进入系统、如何被检索，以及答案如何获得证据支持。课程先以三页独立导入建立全貌，再按知识准备、查询与证据使用、Agent 控制、系统维护四部分深入。已有 Agent Loop、Memory 与工具调用基础可以直接复用。</a:t>
            </a:r>
          </a:p>
          <a:p/>
          <a:p>
            <a:r>
              <a:t>建议讲授：1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DGX Spark 本地部署与 vLLM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50"/>
            </a:pPr>
            <a:r>
              <a:rPr lang="en-US" altLang="zh-CN" dirty="0">
                <a:sym typeface="+mn-ea"/>
              </a:rPr>
              <a:t>平台连接、模型内存分析与 OpenAI 兼容推理服务</a:t>
            </a:r>
            <a:endParaRPr lang="en-US" altLang="zh-CN" dirty="0">
              <a:sym typeface="+mn-ea"/>
            </a:endParaRPr>
          </a:p>
          <a:p>
            <a:pPr>
              <a:defRPr sz="2250"/>
            </a:pPr>
            <a:r>
              <a:rPr lang="en-US" altLang="zh-CN" dirty="0">
                <a:sym typeface="+mn-ea"/>
              </a:rPr>
              <a:t>2026 年 10 月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从平台连接、硬件与内存分析，到本地 vLLM 服务部署与参数实验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6181344"/>
            <a:ext cx="10972800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717E"/>
                </a:solidFill>
                <a:latin typeface="微软雅黑"/>
                <a:ea typeface="微软雅黑"/>
              </a:rPr>
              <a:t>第 6 周第 2 次课：From API Agent to Private Agent（DGX Spark 环境与本地模型部署）。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057400"/>
            <a:ext cx="859536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238773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2057400"/>
            <a:ext cx="4206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003C8B"/>
                </a:solidFill>
                <a:latin typeface="微软雅黑"/>
                <a:ea typeface="微软雅黑"/>
              </a:rPr>
              <a:t>平台登录与开发环境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7672" y="269748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72B3A"/>
                </a:solidFill>
                <a:latin typeface="微软雅黑"/>
                <a:ea typeface="微软雅黑"/>
              </a:rPr>
              <a:t>校园网连接、SSH 密钥、VS Code 远程开发、文件传输与 tmux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931920"/>
            <a:ext cx="859536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238773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3931920"/>
            <a:ext cx="4206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003C8B"/>
                </a:solidFill>
                <a:latin typeface="微软雅黑"/>
                <a:ea typeface="微软雅黑"/>
              </a:rPr>
              <a:t>硬件架构与模型内存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7672" y="457200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72B3A"/>
                </a:solidFill>
                <a:latin typeface="微软雅黑"/>
                <a:ea typeface="微软雅黑"/>
              </a:rPr>
              <a:t>GB10 统一内存、生成带宽上限、vLLM 环境与 KV Cache 估算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2057400"/>
            <a:ext cx="859536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238773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16952" y="2057400"/>
            <a:ext cx="4206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003C8B"/>
                </a:solidFill>
                <a:latin typeface="微软雅黑"/>
                <a:ea typeface="微软雅黑"/>
              </a:rPr>
              <a:t>vLLM 服务部署与调用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2" y="269748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72B3A"/>
                </a:solidFill>
                <a:latin typeface="微软雅黑"/>
                <a:ea typeface="微软雅黑"/>
              </a:rPr>
              <a:t>服务启动参数、启动日志解读、OpenAI 兼容接口与流式测速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5392" y="3931920"/>
            <a:ext cx="859536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238773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2" y="3931920"/>
            <a:ext cx="42062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003C8B"/>
                </a:solidFill>
                <a:latin typeface="微软雅黑"/>
                <a:ea typeface="微软雅黑"/>
              </a:rPr>
              <a:t>关键参数实验与规范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2" y="457200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72B3A"/>
                </a:solidFill>
                <a:latin typeface="微软雅黑"/>
                <a:ea typeface="微软雅黑"/>
              </a:rPr>
              <a:t>上下文上限、内存占比、思考与工具调用、并发吞吐与使用规范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1.1 课程实验平台与账号体系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7 个课程小组共用一台 NVIDIA DGX Spark，按组分配独立 Linux 账号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同组成员共用账号与家目录；请勿修改组密码，建议在家目录下按成员建立子目录。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755648"/>
            <a:ext cx="5943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38773"/>
                </a:solidFill>
                <a:latin typeface="微软雅黑"/>
                <a:ea typeface="微软雅黑"/>
              </a:rPr>
              <a:t>平台连接信息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2212848"/>
          <a:ext cx="6400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配置与说明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主机地址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10.134.43.123，SSH 端口 2222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账号名称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group1 ～ group7（与课程分组号一致）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硬件配置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NVIDIA GB10，128 GB 统一内存，20 核 ARM，4 TB SSD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系统软件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Ubuntu 24.04（aarch64），Driver 580，CUDA 13.0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网络要求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北航校园网直连；校外需先连接学校 VPN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60920" y="1755648"/>
            <a:ext cx="4206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38773"/>
                </a:solidFill>
                <a:latin typeface="微软雅黑"/>
                <a:ea typeface="微软雅黑"/>
              </a:rPr>
              <a:t>权限与目录边界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212848"/>
            <a:ext cx="4206240" cy="3291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003C8B"/>
                </a:solidFill>
                <a:latin typeface="微软雅黑"/>
                <a:ea typeface="微软雅黑"/>
              </a:rPr>
              <a:t>普通用户权限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可直接调用 GPU；无 sudo 与 docker 权限，需要系统软件包时联系课程组。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900" b="1">
                <a:solidFill>
                  <a:srgbClr val="003C8B"/>
                </a:solidFill>
                <a:latin typeface="微软雅黑"/>
                <a:ea typeface="微软雅黑"/>
              </a:rPr>
              <a:t>各组目录隔离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家目录权限为 750（/home/groupN），不同小组之间不可互访。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900" b="1">
                <a:solidFill>
                  <a:srgbClr val="003C8B"/>
                </a:solidFill>
                <a:latin typeface="微软雅黑"/>
                <a:ea typeface="微软雅黑"/>
              </a:rPr>
              <a:t>共享模型目录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/srv/spark/models 对所有组只读开放，无需重复下载权重。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1.2 终端首次登录与主机指纹核对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使用 SSH 指定 2222 端口连接，首次连接需核对 ED25519 主机指纹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若提示指纹不一致，最常见原因是漏写 -p 2222 连到了默认 22 端口上的其他设备。</a:t>
            </a:r>
          </a:p>
        </p:txBody>
      </p:sp>
      <p:pic>
        <p:nvPicPr>
          <p:cNvPr id="8" name="Picture 7" descr="ss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22" y="1783080"/>
            <a:ext cx="8798851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370832"/>
            <a:ext cx="34747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① 指定端口 2222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773168"/>
            <a:ext cx="34747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ssh 的端口参数为小写 -p；scp 的端口参数为大写 -P。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4370832"/>
            <a:ext cx="34747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② 核对主机指纹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4773168"/>
            <a:ext cx="34747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确认指纹为 SHA256:tU2OdrKz... 后输入 yes，再输入课程组发放的密码。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370832"/>
            <a:ext cx="34747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③ 免密与多人协作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773168"/>
            <a:ext cx="34747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组内每位成员可将各自电脑的公钥追加到 ~/.ssh/authorized_keys，互不影响。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1.3 SSH 密钥、连接别名与远程开发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在本机配置密钥与 Host spark 别名后，终端与 VS Code / Cursor 均可直接连接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配置完成后，终端直接执行 ssh spark 即可登录，无需每次输入端口、用户名与密码。</a:t>
            </a:r>
          </a:p>
        </p:txBody>
      </p:sp>
      <p:pic>
        <p:nvPicPr>
          <p:cNvPr id="8" name="Picture 7" descr="ssh_key_c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55648"/>
            <a:ext cx="5852160" cy="33606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1755648"/>
            <a:ext cx="4846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Windows PowerShell 上传公钥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2176272"/>
            <a:ext cx="4846320" cy="1417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Windows 无 ssh-copy-id，可在 PowerShell 执行：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1">
                <a:solidFill>
                  <a:srgbClr val="003C8B"/>
                </a:solidFill>
                <a:latin typeface="微软雅黑"/>
                <a:ea typeface="微软雅黑"/>
              </a:rPr>
              <a:t>type $env:USERPROFILE\.ssh\id_ed25519.pub | ssh -p 2222 group3@10.134.43.123 "mkdir -p ~/.ssh &amp;&amp; chmod 700 ~/.ssh &amp;&amp; cat &gt;&gt; ~/.ssh/authorized_keys &amp;&amp; chmod 600 ~/.ssh/authorized_keys"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3730752"/>
            <a:ext cx="4846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VS Code / Cursor 远程开发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4151376"/>
            <a:ext cx="4846320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1. 安装 Remote - SSH 扩展（Cursor 自带）。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2. 按 F1 选择 Remote-SSH: Connect to Host，选择 spark（Linux）。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3. 连接后打开本组在 Spark 上的工作目录，终端与 Python 均在远端运行。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1.4 文件传输、网络限制与会话管理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通过 scp 上传实验代码；模型服务等长任务需放入 tmux 会话以防断联终止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校园网环境无法直连 GitHub 与 Hugging Face：代码在本机克隆后上传，模型使用共享目录或 ModelScope。</a:t>
            </a:r>
          </a:p>
        </p:txBody>
      </p:sp>
      <p:pic>
        <p:nvPicPr>
          <p:cNvPr id="8" name="Picture 7" descr="scp_tm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41" y="1755648"/>
            <a:ext cx="8789013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2.1 DGX Spark 硬件架构与内存特征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CPU 与 GPU 共用 128 GB 统一内存；自回归 Decode 阶段受内存带宽约束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Decode 阶段每生成 1 个 token 都需读取一次模型权重：单流理论上限 ≈ 内存带宽 273 GB/s ÷ 权重大小。</a:t>
            </a:r>
          </a:p>
        </p:txBody>
      </p:sp>
      <p:pic>
        <p:nvPicPr>
          <p:cNvPr id="8" name="Picture 7" descr="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502" y="1755648"/>
            <a:ext cx="7421091" cy="2788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681728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统一内存观测方式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5047488"/>
            <a:ext cx="530352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nvidia-smi 中显存显示为 Not Supported；整机可用内存以 free -h 的 available 列为准（当前空闲 119 GiB）。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681728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模型规模与单流生成速度上限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5047488"/>
            <a:ext cx="530352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Qwen3-1.7B（约 3.5 GB）理论上限约 78 tok/s，实测约 50 tok/s；Qwen3-8B（约 16 GB）理论上限约 17 tok/s。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2.2 Python 虚拟环境与 vLLM 安装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在组账号下建立独立虚拟环境，使用 uv 与国内镜像安装 CUDA 13 版 vLLM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北外镜像在校园网内实测约 35 MB/s，安装耗时约 1 分钟；若镜像波动可切换为华为云镜像。</a:t>
            </a:r>
          </a:p>
        </p:txBody>
      </p:sp>
      <p:pic>
        <p:nvPicPr>
          <p:cNvPr id="8" name="Picture 7" descr="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74" y="1783080"/>
            <a:ext cx="9182946" cy="2514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407408"/>
            <a:ext cx="10972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预置共享模型目录（/srv/spark/models，只读）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480060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118872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模型名称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本地路径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权重大小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课堂与课后使用建议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/srv/spark/models/Qwen3-1.7B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3.8 GB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课堂实验统一使用，7 组可同时运行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Qwen3-8B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/srv/spark/models/Qwen3-8B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16 GB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单个服务需约 24 GiB，课后错峰实验使用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Qwen3.8-27B-FP8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/srv/spark/models/hub/models--Qwen--Qwen3.8-27B-FP8/...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29 GB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体积较大，供课程项目按需调用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2.3 模型结构参数与 KV Cache 估算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根据 config.json 计算模型权重与单 token KV Cache 占用，理解上下文容量限制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单 token KV Cache = 2 (K/V) × 层数 28 × KV 头数 8 × 头维度 128 × 2 字节 = 112 KiB。</a:t>
            </a:r>
          </a:p>
        </p:txBody>
      </p:sp>
      <p:pic>
        <p:nvPicPr>
          <p:cNvPr id="8" name="Picture 7" descr="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55648"/>
            <a:ext cx="6949440" cy="3545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755648"/>
            <a:ext cx="384048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38773"/>
                </a:solidFill>
                <a:latin typeface="微软雅黑"/>
                <a:ea typeface="微软雅黑"/>
              </a:rPr>
              <a:t>内存组成分析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94560"/>
            <a:ext cx="3840480" cy="3383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50" b="1">
                <a:solidFill>
                  <a:srgbClr val="003C8B"/>
                </a:solidFill>
                <a:latin typeface="微软雅黑"/>
                <a:ea typeface="微软雅黑"/>
              </a:rPr>
              <a:t>1. 模型权重（3.20 GiB）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Qwen3-1.7B 启用 tie_word_embeddings，词嵌入与输出层共享 0.58 GiB，实际加载 3.20 GiB。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850" b="1">
                <a:solidFill>
                  <a:srgbClr val="003C8B"/>
                </a:solidFill>
                <a:latin typeface="微软雅黑"/>
                <a:ea typeface="微软雅黑"/>
              </a:rPr>
              <a:t>2. GQA 降低 KV Cache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16 个注意力查询头共享 8 个 KV 头，KV Cache 体积减半。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850" b="1">
                <a:solidFill>
                  <a:srgbClr val="003C8B"/>
                </a:solidFill>
                <a:latin typeface="微软雅黑"/>
                <a:ea typeface="微软雅黑"/>
              </a:rPr>
              <a:t>3. 上下文长度与内存预算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默认最大长度 40960 需 4.38 GiB KV Cache；在受限内存预算下必须显式下调 --max-model-len。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3.1 启动本地 vLLM 服务与核心参数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在终端 1 启动 OpenAI 兼容服务，显式设置端口、内存占比与最大上下文长度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首次启动需执行 torch.compile 与 CUDA Graph 捕获（约 3 分钟）；缓存生成后再次启动约 1 分钟。</a:t>
            </a:r>
          </a:p>
        </p:txBody>
      </p:sp>
      <p:pic>
        <p:nvPicPr>
          <p:cNvPr id="8" name="Picture 7" descr="serve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43" y="1755648"/>
            <a:ext cx="6286808" cy="21488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4005072"/>
          <a:ext cx="109728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启动参数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课堂推荐配置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参数作用与设置原因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位置参数（模型路径）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/srv/spark/models/Qwen3-1.7B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指定本地模型目录；若填模型 ID 会尝试连接 Hugging Face 下载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--served-model-name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客户端请求中 model 字段使用的名称，避免暴露冗长的本地路径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--host / --port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127.0.0.1 / 8100 + 组号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仅监听本机回环地址；按组号分配端口避免多组冲突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--gpu-memory-utilization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0.08（约 9.74 GiB）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限制单服务内存上限（默认 0.9 会占用 110 GiB），保证 7 组可同时运行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--max-model-len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8192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限制单请求最大上下文长度（输入 + 输出），使 KV Cache 能放入内存预算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3.2 启动日志解读：内存去向与容量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从 EngineCore 日志核对权重占用、KV Cache 可用空间以及最大并发倍数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3.47 GiB KV Cache ÷ 112 KiB/token ≈ 32,528 tokens；按 8192 长度计算可同时容纳约 3.97 个满长请求。</a:t>
            </a:r>
          </a:p>
        </p:txBody>
      </p:sp>
      <p:pic>
        <p:nvPicPr>
          <p:cNvPr id="8" name="Picture 7" descr="serv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744" y="1755648"/>
            <a:ext cx="7352607" cy="2788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681728"/>
            <a:ext cx="34747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① 固定开销与激活峰值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5047488"/>
            <a:ext cx="3474720" cy="713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权重 3.22 GiB（与估算 3.20 GiB 吻合），加上 CUDA 运行时与激活峰值后剩余空间全部划归 KV Cache。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4681728"/>
            <a:ext cx="34747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② 编译与图捕获缓存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5047488"/>
            <a:ext cx="3474720" cy="713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torch.compile 与 CUDA Graph 缓存保存在 ~/.cache/vllm，二次启动时编译仅需 0.12 s。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681728"/>
            <a:ext cx="34747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③ 服务就绪标志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5047488"/>
            <a:ext cx="3474720" cy="713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出现 Application startup complete 后，服务开始在 127.0.0.1:$PORT 接收 HTTP 请求。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3.3 服务调用：cURL 与 OpenAI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vLLM 提供标准 OpenAI 兼容接口，现有 Agent 代码只需将 base_url 指向本地端口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Qwen3 默认开启思考模式；不需要思考过程时，通过 extra_body 传入 enable_thinking=False。</a:t>
            </a:r>
          </a:p>
        </p:txBody>
      </p:sp>
      <p:pic>
        <p:nvPicPr>
          <p:cNvPr id="8" name="Picture 7" descr="curl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55" y="1755648"/>
            <a:ext cx="7737585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3675887"/>
            <a:ext cx="56692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Python 客户端调用方式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078224"/>
            <a:ext cx="658368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from openai import OpenAI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client = OpenAI(base_url="http://127.0.0.1:8103/v1", api_key="EMPTY")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resp = client.chat.completions.create(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    model="qwen3-1.7b", messages=[{"role": "user", "content": "..."}],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    extra_body={"chat_template_kwargs": {"enable_thinking": False}},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00" b="1">
                <a:solidFill>
                  <a:srgbClr val="003C8B"/>
                </a:solidFill>
                <a:latin typeface="微软雅黑"/>
                <a:ea typeface="微软雅黑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675887"/>
            <a:ext cx="41148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与第 3～6 周 Agent 代码衔接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4078224"/>
            <a:ext cx="411480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• 接口协议完全一致：/v1/models 与 /v1/chat/completions。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• 未设置 --api-key 时，客户端 api_key 填任意非空字符串即可。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• 第 7 周迁移 Agent 时无需改动业务循环，仅替换连接参数。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3.4 流式输出与推理性能实测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运行 chat_demo.py 测量首 token 延迟（TTFT）与 Decode 生成速度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单请求实测 TTFT 为 48 ms，生成速度 50.2 token/s（对应 TPOT 约 19.9 ms/token）。</a:t>
            </a:r>
          </a:p>
        </p:txBody>
      </p:sp>
      <p:pic>
        <p:nvPicPr>
          <p:cNvPr id="8" name="Picture 7" descr="cha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421" y="1755648"/>
            <a:ext cx="6793253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407408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TTFT（Time To First Token）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791456"/>
            <a:ext cx="5303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从发送请求到收到首个输出 token 的耗时，主要反映 Prefill 阶段处理输入序列的计算与排队开销。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407408"/>
            <a:ext cx="5303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生成速度与 TPOT（Time Per Output Token）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791456"/>
            <a:ext cx="5303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首个 token 之后每秒生成的 token 数（50.2 tok/s），倒数即为每步 Decode 耗时（约 20 ms），受内存带宽限制。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3.5 思考模式与 max_tokens 预算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开启思考模式时，&lt;think&gt; 推理链同样计入 completion_tokens 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若开启思考模式，需相应调大 max_tokens（如 1024 以上），否则模型会在给出最终结论前被截断。</a:t>
            </a:r>
          </a:p>
        </p:txBody>
      </p:sp>
      <p:pic>
        <p:nvPicPr>
          <p:cNvPr id="8" name="Picture 7" descr="think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82" y="1755648"/>
            <a:ext cx="7333330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754880"/>
            <a:ext cx="53035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现象分析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5102352"/>
            <a:ext cx="530352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当 max_tokens=256 时，256 个生成 token 全部消耗在 &lt;think&gt; 块内，输出在「总结一下，9.9」处截断。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754880"/>
            <a:ext cx="53035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服务端分离思考字段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5102352"/>
            <a:ext cx="530352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72B3A"/>
                </a:solidFill>
                <a:latin typeface="微软雅黑"/>
                <a:ea typeface="微软雅黑"/>
              </a:rPr>
              <a:t>启动服务时加入 --reasoning-parser qwen3，可将思考内容拆入 message.reasoning，正文仅保留最终回答。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4.1 参数实验：上下文上限与内存占比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对比 --max-model-len 与 --gpu-memory-utilization 对 KV Cache 容量的直接影响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模型权重固定不变，调大 --gpu-memory-utilization 增加的内存预算几乎全部转化为 KV Cache 容量。</a:t>
            </a:r>
          </a:p>
        </p:txBody>
      </p:sp>
      <p:pic>
        <p:nvPicPr>
          <p:cNvPr id="8" name="Picture 7" descr="err_max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61" y="1755648"/>
            <a:ext cx="9431173" cy="18745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3767328"/>
            <a:ext cx="1097280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238773"/>
                </a:solidFill>
                <a:latin typeface="微软雅黑"/>
                <a:ea typeface="微软雅黑"/>
              </a:rPr>
              <a:t>实验 2：调整 --gpu-memory-utilization 实测对比（--max-model-len 8192）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4160520"/>
          <a:ext cx="109728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463040"/>
                <a:gridCol w="1920240"/>
                <a:gridCol w="192024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--gpu-memory-utilization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总内存预算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模型权重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可用 KV Cache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可缓存 Token 总数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8192 长度最大并发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0.08（课堂默认）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9.74 GiB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3.22 GiB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2.85 ～ 3.47 GiB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26,704 ～ 32,528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3.26x ～ 3.97x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0.12（对比实验）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14.60 GiB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3.22 GiB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8.64 GiB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80,864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9.87x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4.2 编译开关、工具调用与并发吞吐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验证 --enforce-eager、Tool Calling 解析器，以及多请求 Batching 的吞吐提升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4 并发时总生成吞吐达 222.8 tok/s（单请求的 4.5 倍），单请求 TPOT 仍保持约 17～20 ms，体现了权重读取复用。</a:t>
            </a:r>
          </a:p>
        </p:txBody>
      </p:sp>
      <p:pic>
        <p:nvPicPr>
          <p:cNvPr id="8" name="Picture 7" descr="tool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88" y="1755648"/>
            <a:ext cx="644652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4041648"/>
            <a:ext cx="53035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238773"/>
                </a:solidFill>
                <a:latin typeface="微软雅黑"/>
                <a:ea typeface="微软雅黑"/>
              </a:rPr>
              <a:t>实验 3：--enforce-eager（跳过编译与 CUDA Graph）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" y="4425696"/>
          <a:ext cx="53035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202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运行模式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启动耗时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单流生成速度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默认（编译 + CUDA Graph）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首次 ~190 s / 缓存 ~56 s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50.2 token/s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--enforce-eager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~49 s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48.4 token/s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72200" y="4041648"/>
            <a:ext cx="53949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238773"/>
                </a:solidFill>
                <a:latin typeface="微软雅黑"/>
                <a:ea typeface="微软雅黑"/>
              </a:rPr>
              <a:t>实验 5：vllm bench serve 并发吞吐对比（512 输入 / 128 输出）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4425696"/>
          <a:ext cx="53949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最大并发数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总输出吞吐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平均 TTFT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平均 TPOT</a:t>
                      </a:r>
                    </a:p>
                  </a:txBody>
                  <a:tcPr anchor="ctr" marL="101600" marR="101600" marT="50800" marB="50800">
                    <a:solidFill>
                      <a:srgbClr val="E3EDF4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49.6 token/s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43.3 ms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20.0 ms</a:t>
                      </a:r>
                    </a:p>
                  </a:txBody>
                  <a:tcPr anchor="ctr" marL="101600" marR="101600" marT="50800" marB="50800">
                    <a:solidFill>
                      <a:srgbClr val="F3F6F8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222.8 token/s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106.4 ms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17.2 ms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  <a:lnL w="12700" cap="flat" cmpd="sng" algn="ctr">
                      <a:solidFill>
                        <a:srgbClr val="C7D6E2"/>
                      </a:solidFill>
                    </a:lnL>
                    <a:lnR w="12700" cap="flat" cmpd="sng" algn="ctr">
                      <a:solidFill>
                        <a:srgbClr val="C7D6E2"/>
                      </a:solidFill>
                    </a:lnR>
                    <a:lnT w="12700" cap="flat" cmpd="sng" algn="ctr">
                      <a:solidFill>
                        <a:srgbClr val="C7D6E2"/>
                      </a:solidFill>
                    </a:lnT>
                    <a:lnB w="12700" cap="flat" cmpd="sng" algn="ctr">
                      <a:solidFill>
                        <a:srgbClr val="C7D6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课程实验规范与常见问题排查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r">
              <a:lnSpc>
                <a:spcPct val="120000"/>
              </a:lnSpc>
            </a:pPr>
            <a:r>
              <a:rPr sz="1700" b="1">
                <a:solidFill>
                  <a:srgbClr val="003C8B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115568"/>
            <a:ext cx="109728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03C8B"/>
                </a:solidFill>
                <a:latin typeface="微软雅黑"/>
                <a:ea typeface="微软雅黑"/>
              </a:rPr>
              <a:t>多人共享统一内存设备，请严格遵守端口、内存占比与进程清理规范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779008"/>
            <a:ext cx="10972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3C8B"/>
                </a:solidFill>
                <a:latin typeface="微软雅黑"/>
                <a:ea typeface="微软雅黑"/>
              </a:rPr>
              <a:t>完整命令、脚本说明与故障排查清单见仓库 2026-capstone/week06-2-dgx-local-serving/README.md。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47088"/>
            <a:ext cx="265176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50" b="1">
                <a:solidFill>
                  <a:srgbClr val="238773"/>
                </a:solidFill>
                <a:latin typeface="微软雅黑"/>
                <a:ea typeface="微软雅黑"/>
              </a:rPr>
              <a:t>端口与监听范围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47088"/>
            <a:ext cx="813816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50" b="0">
                <a:solidFill>
                  <a:srgbClr val="172B3A"/>
                </a:solidFill>
                <a:latin typeface="微软雅黑"/>
                <a:ea typeface="微软雅黑"/>
              </a:rPr>
              <a:t>使用 8100 + 组号（如 group3 用 8103），设置 --host 127.0.0.1；每组同时只运行一个 vLLM 服务。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07208"/>
            <a:ext cx="265176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50" b="1">
                <a:solidFill>
                  <a:srgbClr val="238773"/>
                </a:solidFill>
                <a:latin typeface="微软雅黑"/>
                <a:ea typeface="微软雅黑"/>
              </a:rPr>
              <a:t>内存预算控制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807208"/>
            <a:ext cx="813816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50" b="0">
                <a:solidFill>
                  <a:srgbClr val="172B3A"/>
                </a:solidFill>
                <a:latin typeface="微软雅黑"/>
                <a:ea typeface="微软雅黑"/>
              </a:rPr>
              <a:t>课堂实验保持 --gpu-memory-utilization 0.08 与 --max-model-len 8192；切勿使用默认值 0.9。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3767328"/>
            <a:ext cx="265176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50" b="1">
                <a:solidFill>
                  <a:srgbClr val="238773"/>
                </a:solidFill>
                <a:latin typeface="微软雅黑"/>
                <a:ea typeface="微软雅黑"/>
              </a:rPr>
              <a:t>常见启动报错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767328"/>
            <a:ext cx="813816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50" b="0">
                <a:solidFill>
                  <a:srgbClr val="172B3A"/>
                </a:solidFill>
                <a:latin typeface="微软雅黑"/>
                <a:ea typeface="微软雅黑"/>
              </a:rPr>
              <a:t>Address already in use：端口冲突或旧服务未关；Free memory is less than desired：调小内存占比。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4727448"/>
            <a:ext cx="265176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2050" b="1">
                <a:solidFill>
                  <a:srgbClr val="238773"/>
                </a:solidFill>
                <a:latin typeface="微软雅黑"/>
                <a:ea typeface="微软雅黑"/>
              </a:rPr>
              <a:t>实验结束清理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727448"/>
            <a:ext cx="813816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20000"/>
              </a:lnSpc>
            </a:pPr>
            <a:r>
              <a:rPr sz="1850" b="0">
                <a:solidFill>
                  <a:srgbClr val="172B3A"/>
                </a:solidFill>
                <a:latin typeface="微软雅黑"/>
                <a:ea typeface="微软雅黑"/>
              </a:rPr>
              <a:t>在服务终端按 Ctrl+C 停止进程，并用 free -h 与 ps -u $USER 确认内存和后台进程已释放。</a:t>
            </a:r>
          </a:p>
        </p:txBody>
      </p:sp>
    </p:spTree>
  </p:cSld>
  <p:clrMapOvr>
    <a:masterClrMapping/>
  </p:clrMapOvr>
</p:sld>
</file>

<file path=ppt/tags/tag53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9398</Words>
  <Application>WPS 演示</Application>
  <PresentationFormat>宽屏</PresentationFormat>
  <Paragraphs>1080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Trebuchet MS</vt:lpstr>
      <vt:lpstr>Arial Unicode MS</vt:lpstr>
      <vt:lpstr>Calibri</vt:lpstr>
      <vt:lpstr>Office 主题​​</vt:lpstr>
      <vt:lpstr>Knowledge 与 RAG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与 RAG：知识检索、上下文组织与来源引用</dc:title>
  <dc:creator/>
  <cp:lastModifiedBy>yuanz</cp:lastModifiedBy>
  <cp:revision>162</cp:revision>
  <dcterms:created xsi:type="dcterms:W3CDTF">2021-12-28T08:11:00Z</dcterms:created>
  <dcterms:modified xsi:type="dcterms:W3CDTF">2026-10-12T12:46:46Z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