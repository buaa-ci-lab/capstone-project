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C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9CC4FF"/>
                </a:solidFill>
                <a:latin typeface="微软雅黑"/>
                <a:ea typeface="微软雅黑"/>
              </a:rPr>
              <a:t>第六周第 2 次课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DGX Spark 本地部署与 vLLM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D6E4FF"/>
                </a:solidFill>
                <a:latin typeface="微软雅黑"/>
                <a:ea typeface="微软雅黑"/>
              </a:rPr>
              <a:t>把 Qwen3-1.7B 跑成一个本机服务，看启动日志和一次真实调用。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9CC4FF"/>
                </a:solidFill>
                <a:latin typeface="微软雅黑"/>
                <a:ea typeface="微软雅黑"/>
              </a:rPr>
              <a:t>2026-10-14  ·  Spark 实测  ·  vLLM 0.31.0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03C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91695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46304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这台机器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201168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0">
                <a:solidFill>
                  <a:srgbClr val="D6E4FF"/>
                </a:solidFill>
                <a:latin typeface="微软雅黑"/>
                <a:ea typeface="微软雅黑"/>
              </a:rPr>
              <a:t>第六周第 2 次课</a:t>
            </a:r>
          </a:p>
        </p:txBody>
      </p:sp>
      <p:pic>
        <p:nvPicPr>
          <p:cNvPr id="7" name="Picture 6" descr="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" y="1281319"/>
            <a:ext cx="11457432" cy="3902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5623560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F2933"/>
                </a:solidFill>
                <a:latin typeface="微软雅黑"/>
                <a:ea typeface="微软雅黑"/>
              </a:rPr>
              <a:t>ARM 机器，20 核，121 GiB 统一内存。nvidia-smi 的显存是 Not Supported，看剩余内存用 free -h 的 available，这次是 119 GiB。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03C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91695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46304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环境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201168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0">
                <a:solidFill>
                  <a:srgbClr val="D6E4FF"/>
                </a:solidFill>
                <a:latin typeface="微软雅黑"/>
                <a:ea typeface="微软雅黑"/>
              </a:rPr>
              <a:t>第六周第 2 次课</a:t>
            </a:r>
          </a:p>
        </p:txBody>
      </p:sp>
      <p:pic>
        <p:nvPicPr>
          <p:cNvPr id="7" name="Picture 6" descr="e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" y="2527901"/>
            <a:ext cx="11457432" cy="1409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5623560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F2933"/>
                </a:solidFill>
                <a:latin typeface="微软雅黑"/>
                <a:ea typeface="微软雅黑"/>
              </a:rPr>
              <a:t>vLLM 0.31.0，PyTorch 2.13.0+cu130，能看到 NVIDIA GB10。一组装一次，大约 1 分钟。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03C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91695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46304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Qwen3-1.7B 有多大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201168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0">
                <a:solidFill>
                  <a:srgbClr val="D6E4FF"/>
                </a:solidFill>
                <a:latin typeface="微软雅黑"/>
                <a:ea typeface="微软雅黑"/>
              </a:rPr>
              <a:t>第六周第 2 次课</a:t>
            </a:r>
          </a:p>
        </p:txBody>
      </p:sp>
      <p:pic>
        <p:nvPicPr>
          <p:cNvPr id="7" name="Picture 6" descr="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24" y="932688"/>
            <a:ext cx="9448445" cy="45994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5623560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F2933"/>
                </a:solidFill>
                <a:latin typeface="微软雅黑"/>
                <a:ea typeface="微软雅黑"/>
              </a:rPr>
              <a:t>权重加载后约 3.20 GiB。一个 40960 token 的请求需要 4.38 GiB 的 KV cache，所以启动时要自己限制上下文长度。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03C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91695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46304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服务起来了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201168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0">
                <a:solidFill>
                  <a:srgbClr val="D6E4FF"/>
                </a:solidFill>
                <a:latin typeface="微软雅黑"/>
                <a:ea typeface="微软雅黑"/>
              </a:rPr>
              <a:t>第六周第 2 次课</a:t>
            </a:r>
          </a:p>
        </p:txBody>
      </p:sp>
      <p:pic>
        <p:nvPicPr>
          <p:cNvPr id="7" name="Picture 6" descr="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" y="1777838"/>
            <a:ext cx="11457432" cy="26348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5349240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F2933"/>
                </a:solidFill>
                <a:latin typeface="微软雅黑"/>
                <a:ea typeface="微软雅黑"/>
              </a:rPr>
              <a:t>权重 3.22 GiB，和估算一致。KV cache 3.47 GiB，约 32,528 个 token，8192 长度大约能同时放 4 个请求。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852159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C6770"/>
                </a:solidFill>
                <a:latin typeface="微软雅黑"/>
                <a:ea typeface="微软雅黑"/>
              </a:rPr>
              <a:t>这次读了编译缓存，从启动到 Application startup complete 用了 56 秒。第一次没有缓存，大约 3 分钟。截图端口 8199 是试跑用的，课上用 8100 + 组号。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03C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91695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46304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调一次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201168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0">
                <a:solidFill>
                  <a:srgbClr val="D6E4FF"/>
                </a:solidFill>
                <a:latin typeface="微软雅黑"/>
                <a:ea typeface="微软雅黑"/>
              </a:rPr>
              <a:t>第六周第 2 次课</a:t>
            </a:r>
          </a:p>
        </p:txBody>
      </p:sp>
      <p:pic>
        <p:nvPicPr>
          <p:cNvPr id="7" name="Picture 6" descr="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10" y="932688"/>
            <a:ext cx="11082673" cy="45994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5623560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F2933"/>
                </a:solidFill>
                <a:latin typeface="微软雅黑"/>
                <a:ea typeface="微软雅黑"/>
              </a:rPr>
              <a:t>关闭思考后生成 77 个 token。TTFT 0.048 秒，之后大约 50 token/s，总耗时 1.56 秒。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03C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91695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46304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不关思考，token 用在思考上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201168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0">
                <a:solidFill>
                  <a:srgbClr val="D6E4FF"/>
                </a:solidFill>
                <a:latin typeface="微软雅黑"/>
                <a:ea typeface="微软雅黑"/>
              </a:rPr>
              <a:t>第六周第 2 次课</a:t>
            </a:r>
          </a:p>
        </p:txBody>
      </p:sp>
      <p:pic>
        <p:nvPicPr>
          <p:cNvPr id="7" name="Picture 6" descr="th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" y="1200331"/>
            <a:ext cx="11457432" cy="40641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5623560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F2933"/>
                </a:solidFill>
                <a:latin typeface="微软雅黑"/>
                <a:ea typeface="微软雅黑"/>
              </a:rPr>
              <a:t>max_tokens 设成 256，输出停在「总结一下，9.9」，回答没有写完。速度仍是约 50 token/s。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03C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91695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46304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不写 --max-model-len 会起不来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201168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0">
                <a:solidFill>
                  <a:srgbClr val="D6E4FF"/>
                </a:solidFill>
                <a:latin typeface="微软雅黑"/>
                <a:ea typeface="微软雅黑"/>
              </a:rPr>
              <a:t>第六周第 2 次课</a:t>
            </a:r>
          </a:p>
        </p:txBody>
      </p:sp>
      <p:pic>
        <p:nvPicPr>
          <p:cNvPr id="7" name="Picture 6" descr="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" y="2108278"/>
            <a:ext cx="11457432" cy="2248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5623560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F2933"/>
                </a:solidFill>
                <a:latin typeface="微软雅黑"/>
                <a:ea typeface="微软雅黑"/>
              </a:rPr>
              <a:t>默认上下文是 40960，一个满长请求要 4.38 GiB KV cache，0.08 的内存预算只剩 2.73 GiB。加上 --max-model-len 8192 即可。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03C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13232"/>
            <a:ext cx="12191695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46304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课上就记这四条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201168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0">
                <a:solidFill>
                  <a:srgbClr val="D6E4FF"/>
                </a:solidFill>
                <a:latin typeface="微软雅黑"/>
                <a:ea typeface="微软雅黑"/>
              </a:rPr>
              <a:t>第六周第 2 次课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113385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35608"/>
            <a:ext cx="1554480" cy="475488"/>
          </a:xfrm>
          <a:prstGeom prst="roundRect">
            <a:avLst/>
          </a:prstGeom>
          <a:solidFill>
            <a:srgbClr val="003C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90472"/>
            <a:ext cx="15544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端口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435608"/>
            <a:ext cx="8869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1F2933"/>
                </a:solidFill>
                <a:latin typeface="微软雅黑"/>
                <a:ea typeface="微软雅黑"/>
              </a:rPr>
              <a:t>8100 + 组号，只监听 127.0.0.1。一组同时只开一个服务。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377440"/>
            <a:ext cx="113385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670048"/>
            <a:ext cx="1554480" cy="475488"/>
          </a:xfrm>
          <a:prstGeom prst="roundRect">
            <a:avLst/>
          </a:prstGeom>
          <a:solidFill>
            <a:srgbClr val="003C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24912"/>
            <a:ext cx="15544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内存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670048"/>
            <a:ext cx="8869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1F2933"/>
                </a:solidFill>
                <a:latin typeface="微软雅黑"/>
                <a:ea typeface="微软雅黑"/>
              </a:rPr>
              <a:t>--gpu-memory-utilization 0.08，大约 10 GiB。不要用默认的 0.9。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611880"/>
            <a:ext cx="113385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904488"/>
            <a:ext cx="1554480" cy="475488"/>
          </a:xfrm>
          <a:prstGeom prst="roundRect">
            <a:avLst/>
          </a:prstGeom>
          <a:solidFill>
            <a:srgbClr val="003C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59352"/>
            <a:ext cx="15544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上下文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904488"/>
            <a:ext cx="8869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1F2933"/>
                </a:solidFill>
                <a:latin typeface="微软雅黑"/>
                <a:ea typeface="微软雅黑"/>
              </a:rPr>
              <a:t>--max-model-len 8192。不写的话，1.7B 在 0.08 的预算下起不来。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846320"/>
            <a:ext cx="113385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138928"/>
            <a:ext cx="1554480" cy="475488"/>
          </a:xfrm>
          <a:prstGeom prst="roundRect">
            <a:avLst/>
          </a:prstGeom>
          <a:solidFill>
            <a:srgbClr val="003C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193792"/>
            <a:ext cx="15544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结束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138928"/>
            <a:ext cx="8869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1F2933"/>
                </a:solidFill>
                <a:latin typeface="微软雅黑"/>
                <a:ea typeface="微软雅黑"/>
              </a:rPr>
              <a:t>终端里 Ctrl+C。步骤和报错对照在本目录的 README。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第六周第 2 次课：DGX Spark 本地部署与 vLLM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