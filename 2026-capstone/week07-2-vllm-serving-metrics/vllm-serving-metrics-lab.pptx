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18001" r:id="rId2"/>
    <p:sldId id="18002" r:id="rId3"/>
    <p:sldId id="18004" r:id="rId4"/>
    <p:sldId id="18005" r:id="rId5"/>
    <p:sldId id="18006" r:id="rId6"/>
    <p:sldId id="18007" r:id="rId7"/>
    <p:sldId id="18008" r:id="rId8"/>
    <p:sldId id="18009" r:id="rId9"/>
    <p:sldId id="18010" r:id="rId10"/>
    <p:sldId id="18011" r:id="rId11"/>
    <p:sldId id="18012" r:id="rId12"/>
    <p:sldId id="18013" r:id="rId13"/>
    <p:sldId id="18014" r:id="rId14"/>
    <p:sldId id="18015" r:id="rId15"/>
    <p:sldId id="18016" r:id="rId16"/>
    <p:sldId id="18017" r:id="rId17"/>
    <p:sldId id="18018" r:id="rId18"/>
    <p:sldId id="18019" r:id="rId19"/>
    <p:sldId id="18020" r:id="rId20"/>
    <p:sldId id="18021" r:id="rId21"/>
    <p:sldId id="18022" r:id="rId22"/>
  </p:sldIdLst>
  <p:sldSz cx="12192000" cy="6858000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05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599C"/>
    <a:srgbClr val="003C8B"/>
    <a:srgbClr val="39B099"/>
    <a:srgbClr val="2A9195"/>
    <a:srgbClr val="ABCFFF"/>
    <a:srgbClr val="D3EEE9"/>
    <a:srgbClr val="8FBFFF"/>
    <a:srgbClr val="C52E37"/>
    <a:srgbClr val="E7E7E8"/>
    <a:srgbClr val="FBF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745" autoAdjust="0"/>
    <p:restoredTop sz="94660"/>
  </p:normalViewPr>
  <p:slideViewPr>
    <p:cSldViewPr snapToGrid="0" showGuides="1">
      <p:cViewPr varScale="1">
        <p:scale>
          <a:sx n="84" d="100"/>
          <a:sy n="84" d="100"/>
        </p:scale>
        <p:origin x="108" y="552"/>
      </p:cViewPr>
      <p:guideLst>
        <p:guide pos="3840"/>
        <p:guide orient="horz" pos="2058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F67BDE9-2D55-407C-98B2-E2DF74583E41}" type="datetimeFigureOut">
              <a:rPr lang="zh-CN" altLang="en-US" smtClean="0"/>
              <a:t>2026/10/22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2BD924A-1BD4-4D96-AE1B-CA9C4B79CE3E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本课研究外部知识如何进入系统、如何被检索，以及答案如何获得证据支持。课程先以三页独立导入建立全貌，再按知识准备、查询与证据使用、Agent 控制、系统维护四部分深入。已有 Agent Loop、Memory 与工具调用基础可以直接复用。</a:t>
            </a:r>
          </a:p>
          <a:p>
            <a:endParaRPr/>
          </a:p>
          <a:p>
            <a:r>
              <a:t>建议讲授：1 分钟</a:t>
            </a:r>
          </a:p>
          <a:p>
            <a:endParaRPr/>
          </a:p>
          <a:p>
            <a:r>
              <a:t>[Sources]</a:t>
            </a:r>
          </a:p>
          <a:p>
            <a:endParaRPr/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 userDrawn="1"/>
        </p:nvGrpSpPr>
        <p:grpSpPr>
          <a:xfrm>
            <a:off x="-13594" y="0"/>
            <a:ext cx="12201063" cy="2655066"/>
            <a:chOff x="-9063" y="2259345"/>
            <a:chExt cx="12201063" cy="2655066"/>
          </a:xfrm>
        </p:grpSpPr>
        <p:pic>
          <p:nvPicPr>
            <p:cNvPr id="22" name="Picture 6" descr="http://thepaper-prod-oldimagefromnfs.oss-cn-shanghai.aliyuncs.com/image/36/444/102.jpg"/>
            <p:cNvPicPr>
              <a:picLocks noChangeAspect="1" noChangeArrowheads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47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" t="-51" r="-5" b="67386"/>
            <a:stretch>
              <a:fillRect/>
            </a:stretch>
          </p:blipFill>
          <p:spPr bwMode="auto">
            <a:xfrm>
              <a:off x="0" y="2259345"/>
              <a:ext cx="12192000" cy="26550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矩形 22"/>
            <p:cNvSpPr/>
            <p:nvPr userDrawn="1"/>
          </p:nvSpPr>
          <p:spPr>
            <a:xfrm>
              <a:off x="-9063" y="2259345"/>
              <a:ext cx="12201062" cy="265506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0" y="2372478"/>
            <a:ext cx="12201062" cy="4485522"/>
            <a:chOff x="-9062" y="1894960"/>
            <a:chExt cx="12201062" cy="4485522"/>
          </a:xfrm>
        </p:grpSpPr>
        <p:pic>
          <p:nvPicPr>
            <p:cNvPr id="19" name="Picture 6" descr="http://thepaper-prod-oldimagefromnfs.oss-cn-shanghai.aliyuncs.com/image/36/444/102.jpg"/>
            <p:cNvPicPr>
              <a:picLocks noChangeAspect="1" noChangeArrowheads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47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" t="10675" r="-5" b="34293"/>
            <a:stretch>
              <a:fillRect/>
            </a:stretch>
          </p:blipFill>
          <p:spPr bwMode="auto">
            <a:xfrm>
              <a:off x="-9062" y="1907463"/>
              <a:ext cx="12192000" cy="44730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" name="矩形 19"/>
            <p:cNvSpPr/>
            <p:nvPr userDrawn="1"/>
          </p:nvSpPr>
          <p:spPr>
            <a:xfrm>
              <a:off x="-9062" y="1894960"/>
              <a:ext cx="12201062" cy="4485522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3" name="矩形 12"/>
          <p:cNvSpPr/>
          <p:nvPr userDrawn="1"/>
        </p:nvSpPr>
        <p:spPr>
          <a:xfrm>
            <a:off x="0" y="1649743"/>
            <a:ext cx="12187468" cy="1999209"/>
          </a:xfrm>
          <a:prstGeom prst="rect">
            <a:avLst/>
          </a:prstGeom>
          <a:gradFill flip="none" rotWithShape="1">
            <a:gsLst>
              <a:gs pos="46000">
                <a:srgbClr val="1D7692"/>
              </a:gs>
              <a:gs pos="96000">
                <a:srgbClr val="003C8B">
                  <a:alpha val="85000"/>
                </a:srgbClr>
              </a:gs>
              <a:gs pos="0">
                <a:srgbClr val="39B099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39550" y="2015538"/>
            <a:ext cx="10294776" cy="1311965"/>
          </a:xfrm>
          <a:prstGeom prst="rect">
            <a:avLst/>
          </a:prstGeom>
        </p:spPr>
        <p:txBody>
          <a:bodyPr anchor="ctr"/>
          <a:lstStyle>
            <a:lvl1pPr algn="ctr">
              <a:defRPr sz="6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8531" y="4345244"/>
            <a:ext cx="9144000" cy="152737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50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4917203" y="518762"/>
            <a:ext cx="2357594" cy="667477"/>
            <a:chOff x="9644502" y="109966"/>
            <a:chExt cx="2357594" cy="667477"/>
          </a:xfrm>
          <a:noFill/>
        </p:grpSpPr>
        <p:pic>
          <p:nvPicPr>
            <p:cNvPr id="9" name="图片 8"/>
            <p:cNvPicPr>
              <a:picLocks noChangeAspect="1"/>
            </p:cNvPicPr>
            <p:nvPr userDrawn="1"/>
          </p:nvPicPr>
          <p:blipFill rotWithShape="1"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45" r="53350"/>
            <a:stretch>
              <a:fillRect/>
            </a:stretch>
          </p:blipFill>
          <p:spPr>
            <a:xfrm>
              <a:off x="11299485" y="109966"/>
              <a:ext cx="702611" cy="667477"/>
            </a:xfrm>
            <a:prstGeom prst="rect">
              <a:avLst/>
            </a:prstGeom>
            <a:grpFill/>
          </p:spPr>
        </p:pic>
        <p:pic>
          <p:nvPicPr>
            <p:cNvPr id="10" name="Picture 2" descr="http://www.buaa.edu.cn/__local/B/CD/A6/968D8F6600C0B8195CD59008BF5_9249A080_12AB7.jpg?e=.jpg"/>
            <p:cNvPicPr>
              <a:picLocks noChangeAspect="1" noChangeArrowheads="1"/>
            </p:cNvPicPr>
            <p:nvPr userDrawn="1"/>
          </p:nvPicPr>
          <p:blipFill>
            <a:blip r:embed="rId5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44502" y="145963"/>
              <a:ext cx="618977" cy="618977"/>
            </a:xfrm>
            <a:prstGeom prst="rect">
              <a:avLst/>
            </a:prstGeom>
            <a:grpFill/>
          </p:spPr>
        </p:pic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6" cstate="print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03" r="81714"/>
            <a:stretch>
              <a:fillRect/>
            </a:stretch>
          </p:blipFill>
          <p:spPr>
            <a:xfrm>
              <a:off x="10444440" y="216261"/>
              <a:ext cx="739594" cy="490019"/>
            </a:xfrm>
            <a:prstGeom prst="rect">
              <a:avLst/>
            </a:prstGeom>
            <a:grpFill/>
          </p:spPr>
        </p:pic>
      </p:grpSp>
      <p:cxnSp>
        <p:nvCxnSpPr>
          <p:cNvPr id="40" name="直接连接符 39"/>
          <p:cNvCxnSpPr/>
          <p:nvPr userDrawn="1"/>
        </p:nvCxnSpPr>
        <p:spPr>
          <a:xfrm>
            <a:off x="0" y="3794126"/>
            <a:ext cx="12201062" cy="0"/>
          </a:xfrm>
          <a:prstGeom prst="line">
            <a:avLst/>
          </a:prstGeom>
          <a:ln w="63500">
            <a:solidFill>
              <a:srgbClr val="2A91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/>
          <p:cNvSpPr txBox="1"/>
          <p:nvPr userDrawn="1"/>
        </p:nvSpPr>
        <p:spPr>
          <a:xfrm>
            <a:off x="3410009" y="6339238"/>
            <a:ext cx="53719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2">
                    <a:lumMod val="50000"/>
                  </a:schemeClr>
                </a:solidFill>
                <a:latin typeface="Trebuchet MS" panose="020B0603020202020204" pitchFamily="34" charset="0"/>
                <a:ea typeface="微软雅黑" panose="020B0503020204020204" pitchFamily="34" charset="-122"/>
              </a:rPr>
              <a:t>School of Computer Science and Engineering, Beihang University</a:t>
            </a:r>
            <a:endParaRPr lang="zh-CN" altLang="en-US" sz="1400" dirty="0">
              <a:solidFill>
                <a:schemeClr val="bg2">
                  <a:lumMod val="50000"/>
                </a:schemeClr>
              </a:solidFill>
              <a:latin typeface="Trebuchet MS" panose="020B0603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>
          <a:xfrm>
            <a:off x="0" y="-1570"/>
            <a:ext cx="12192000" cy="890547"/>
          </a:xfrm>
          <a:prstGeom prst="rect">
            <a:avLst/>
          </a:prstGeom>
          <a:gradFill flip="none" rotWithShape="1">
            <a:gsLst>
              <a:gs pos="58000">
                <a:srgbClr val="1D7692"/>
              </a:gs>
              <a:gs pos="0">
                <a:srgbClr val="39B099">
                  <a:alpha val="20000"/>
                </a:srgbClr>
              </a:gs>
              <a:gs pos="96000">
                <a:srgbClr val="003C8B">
                  <a:alpha val="85000"/>
                </a:srgbClr>
              </a:gs>
              <a:gs pos="21000">
                <a:srgbClr val="39B099">
                  <a:alpha val="5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45" r="53350"/>
          <a:stretch>
            <a:fillRect/>
          </a:stretch>
        </p:blipFill>
        <p:spPr>
          <a:xfrm>
            <a:off x="11299485" y="109966"/>
            <a:ext cx="702611" cy="667477"/>
          </a:xfrm>
          <a:prstGeom prst="rect">
            <a:avLst/>
          </a:prstGeom>
          <a:noFill/>
        </p:spPr>
      </p:pic>
      <p:pic>
        <p:nvPicPr>
          <p:cNvPr id="17" name="图片 16"/>
          <p:cNvPicPr>
            <a:picLocks noChangeAspect="1"/>
          </p:cNvPicPr>
          <p:nvPr userDrawn="1"/>
        </p:nvPicPr>
        <p:blipFill rotWithShape="1">
          <a:blip r:embed="rId3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4" r="1093"/>
          <a:stretch>
            <a:fillRect/>
          </a:stretch>
        </p:blipFill>
        <p:spPr>
          <a:xfrm>
            <a:off x="90982" y="6546136"/>
            <a:ext cx="2334221" cy="258542"/>
          </a:xfrm>
          <a:prstGeom prst="rect">
            <a:avLst/>
          </a:prstGeom>
          <a:noFill/>
        </p:spPr>
      </p:pic>
      <p:cxnSp>
        <p:nvCxnSpPr>
          <p:cNvPr id="20" name="直接连接符 19"/>
          <p:cNvCxnSpPr/>
          <p:nvPr userDrawn="1"/>
        </p:nvCxnSpPr>
        <p:spPr>
          <a:xfrm>
            <a:off x="0" y="6478323"/>
            <a:ext cx="12192000" cy="0"/>
          </a:xfrm>
          <a:prstGeom prst="line">
            <a:avLst/>
          </a:prstGeom>
          <a:ln w="28575">
            <a:solidFill>
              <a:srgbClr val="26599C">
                <a:alpha val="8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 userDrawn="1"/>
        </p:nvCxnSpPr>
        <p:spPr>
          <a:xfrm>
            <a:off x="283209" y="1644336"/>
            <a:ext cx="1592243" cy="0"/>
          </a:xfrm>
          <a:prstGeom prst="line">
            <a:avLst/>
          </a:prstGeom>
          <a:ln w="38100">
            <a:solidFill>
              <a:srgbClr val="C52E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>
          <a:xfrm>
            <a:off x="0" y="-1570"/>
            <a:ext cx="12192000" cy="890547"/>
          </a:xfrm>
          <a:prstGeom prst="rect">
            <a:avLst/>
          </a:prstGeom>
          <a:gradFill flip="none" rotWithShape="1">
            <a:gsLst>
              <a:gs pos="58000">
                <a:srgbClr val="1D7692"/>
              </a:gs>
              <a:gs pos="0">
                <a:srgbClr val="39B099">
                  <a:alpha val="20000"/>
                </a:srgbClr>
              </a:gs>
              <a:gs pos="96000">
                <a:srgbClr val="003C8B">
                  <a:alpha val="85000"/>
                </a:srgbClr>
              </a:gs>
              <a:gs pos="21000">
                <a:srgbClr val="39B099">
                  <a:alpha val="5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45" r="53350"/>
          <a:stretch>
            <a:fillRect/>
          </a:stretch>
        </p:blipFill>
        <p:spPr>
          <a:xfrm>
            <a:off x="11299485" y="109966"/>
            <a:ext cx="702611" cy="667477"/>
          </a:xfrm>
          <a:prstGeom prst="rect">
            <a:avLst/>
          </a:prstGeom>
          <a:noFill/>
        </p:spPr>
      </p:pic>
      <p:pic>
        <p:nvPicPr>
          <p:cNvPr id="17" name="图片 16"/>
          <p:cNvPicPr>
            <a:picLocks noChangeAspect="1"/>
          </p:cNvPicPr>
          <p:nvPr userDrawn="1"/>
        </p:nvPicPr>
        <p:blipFill rotWithShape="1">
          <a:blip r:embed="rId3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4" r="1093"/>
          <a:stretch>
            <a:fillRect/>
          </a:stretch>
        </p:blipFill>
        <p:spPr>
          <a:xfrm>
            <a:off x="90982" y="6546136"/>
            <a:ext cx="2334221" cy="258542"/>
          </a:xfrm>
          <a:prstGeom prst="rect">
            <a:avLst/>
          </a:prstGeom>
          <a:noFill/>
        </p:spPr>
      </p:pic>
      <p:cxnSp>
        <p:nvCxnSpPr>
          <p:cNvPr id="20" name="直接连接符 19"/>
          <p:cNvCxnSpPr/>
          <p:nvPr userDrawn="1"/>
        </p:nvCxnSpPr>
        <p:spPr>
          <a:xfrm>
            <a:off x="0" y="6478323"/>
            <a:ext cx="12192000" cy="0"/>
          </a:xfrm>
          <a:prstGeom prst="line">
            <a:avLst/>
          </a:prstGeom>
          <a:ln w="28575">
            <a:solidFill>
              <a:srgbClr val="26599C">
                <a:alpha val="8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6" descr="http://thepaper-prod-oldimagefromnfs.oss-cn-shanghai.aliyuncs.com/image/36/444/102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" t="10675" r="-5" b="34293"/>
          <a:stretch>
            <a:fillRect/>
          </a:stretch>
        </p:blipFill>
        <p:spPr bwMode="auto">
          <a:xfrm>
            <a:off x="-9064" y="2384981"/>
            <a:ext cx="12192000" cy="4473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6" descr="http://thepaper-prod-oldimagefromnfs.oss-cn-shanghai.aliyuncs.com/image/36/444/102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" t="-51" r="-5" b="67386"/>
          <a:stretch>
            <a:fillRect/>
          </a:stretch>
        </p:blipFill>
        <p:spPr bwMode="auto">
          <a:xfrm>
            <a:off x="-9064" y="0"/>
            <a:ext cx="12192000" cy="2655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矩形 22"/>
          <p:cNvSpPr/>
          <p:nvPr userDrawn="1"/>
        </p:nvSpPr>
        <p:spPr>
          <a:xfrm>
            <a:off x="-18127" y="0"/>
            <a:ext cx="12201062" cy="6858000"/>
          </a:xfrm>
          <a:prstGeom prst="rect">
            <a:avLst/>
          </a:prstGeom>
          <a:gradFill flip="none" rotWithShape="1">
            <a:gsLst>
              <a:gs pos="62000">
                <a:srgbClr val="FFFFFF">
                  <a:alpha val="90000"/>
                </a:srgbClr>
              </a:gs>
              <a:gs pos="100000">
                <a:schemeClr val="bg1">
                  <a:alpha val="78000"/>
                </a:schemeClr>
              </a:gs>
              <a:gs pos="0">
                <a:schemeClr val="bg1">
                  <a:alpha val="78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 userDrawn="1"/>
        </p:nvSpPr>
        <p:spPr>
          <a:xfrm>
            <a:off x="3410009" y="6339238"/>
            <a:ext cx="53719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2">
                    <a:lumMod val="75000"/>
                  </a:schemeClr>
                </a:solidFill>
                <a:latin typeface="Trebuchet MS" panose="020B0603020202020204" pitchFamily="34" charset="0"/>
                <a:ea typeface="微软雅黑" panose="020B0503020204020204" pitchFamily="34" charset="-122"/>
              </a:rPr>
              <a:t>School of Computer Science and Engineering, Beihang University</a:t>
            </a:r>
            <a:endParaRPr lang="zh-CN" altLang="en-US" sz="1400" dirty="0">
              <a:solidFill>
                <a:schemeClr val="bg2">
                  <a:lumMod val="75000"/>
                </a:schemeClr>
              </a:solidFill>
              <a:latin typeface="Trebuchet MS" panose="020B0603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vLLM Serving 指标与实测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50"/>
            </a:pPr>
            <a:r>
              <a:rPr lang="en-US" altLang="zh-CN" dirty="0">
                <a:sym typeface="+mn-ea"/>
              </a:rPr>
              <a:t>TTFT、TPOT、吞吐与 KV Cache 对比实验</a:t>
            </a:r>
          </a:p>
          <a:p>
            <a:pPr>
              <a:defRPr sz="2250"/>
            </a:pPr>
            <a:r>
              <a:rPr lang="en-US" altLang="zh-CN" dirty="0">
                <a:sym typeface="+mn-ea"/>
              </a:rPr>
              <a:t>2026 年 10 月</a:t>
            </a:r>
            <a:endParaRPr lang="zh-CN" altLang="en-US" dirty="0"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83464" y="146304"/>
            <a:ext cx="1083564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3150" b="1">
                <a:solidFill>
                  <a:srgbClr val="FFFFFF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3" name="page-number"/>
          <p:cNvSpPr/>
          <p:nvPr/>
        </p:nvSpPr>
        <p:spPr>
          <a:xfrm>
            <a:off x="11567160" y="6537960"/>
            <a:ext cx="475488" cy="283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r">
              <a:lnSpc>
                <a:spcPct val="113000"/>
              </a:lnSpc>
            </a:pPr>
            <a:r>
              <a:rPr sz="1725" b="1">
                <a:solidFill>
                  <a:srgbClr val="003C8B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4" name="lead"/>
          <p:cNvSpPr/>
          <p:nvPr/>
        </p:nvSpPr>
        <p:spPr>
          <a:xfrm>
            <a:off x="612648" y="1133856"/>
            <a:ext cx="109728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2250" b="1">
                <a:solidFill>
                  <a:srgbClr val="003C8B"/>
                </a:solidFill>
                <a:latin typeface="微软雅黑"/>
                <a:ea typeface="微软雅黑"/>
              </a:rPr>
              <a:t>先统一指标口径，再在同一负载下比较优化前后的服务表现</a:t>
            </a:r>
          </a:p>
        </p:txBody>
      </p:sp>
      <p:sp>
        <p:nvSpPr>
          <p:cNvPr id="6" name="body-0"/>
          <p:cNvSpPr/>
          <p:nvPr/>
        </p:nvSpPr>
        <p:spPr>
          <a:xfrm>
            <a:off x="612648" y="1929384"/>
            <a:ext cx="3931920" cy="4754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2100" b="1">
                <a:solidFill>
                  <a:srgbClr val="003C8B"/>
                </a:solidFill>
                <a:latin typeface="微软雅黑"/>
                <a:ea typeface="微软雅黑"/>
              </a:rPr>
              <a:t>01  指标定义与测量边界</a:t>
            </a:r>
          </a:p>
        </p:txBody>
      </p:sp>
      <p:sp>
        <p:nvSpPr>
          <p:cNvPr id="7" name="body-1"/>
          <p:cNvSpPr/>
          <p:nvPr/>
        </p:nvSpPr>
        <p:spPr>
          <a:xfrm>
            <a:off x="4754880" y="1929384"/>
            <a:ext cx="6830568" cy="8595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1950" b="0">
                <a:solidFill>
                  <a:srgbClr val="172B3A"/>
                </a:solidFill>
                <a:latin typeface="微软雅黑"/>
                <a:ea typeface="微软雅黑"/>
              </a:rPr>
              <a:t>生命周期、TTFT、TPOT、ITL、吞吐、尾延迟与 KV 指标</a:t>
            </a:r>
          </a:p>
        </p:txBody>
      </p:sp>
      <p:sp>
        <p:nvSpPr>
          <p:cNvPr id="8" name="body-2"/>
          <p:cNvSpPr/>
          <p:nvPr/>
        </p:nvSpPr>
        <p:spPr>
          <a:xfrm>
            <a:off x="612648" y="2898648"/>
            <a:ext cx="3931920" cy="4754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2100" b="1">
                <a:solidFill>
                  <a:srgbClr val="003C8B"/>
                </a:solidFill>
                <a:latin typeface="微软雅黑"/>
                <a:ea typeface="微软雅黑"/>
              </a:rPr>
              <a:t>02  测量框架与实验设置</a:t>
            </a:r>
          </a:p>
        </p:txBody>
      </p:sp>
      <p:sp>
        <p:nvSpPr>
          <p:cNvPr id="9" name="body-3"/>
          <p:cNvSpPr/>
          <p:nvPr/>
        </p:nvSpPr>
        <p:spPr>
          <a:xfrm>
            <a:off x="4754880" y="2898648"/>
            <a:ext cx="6830568" cy="8595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1950" b="0">
                <a:solidFill>
                  <a:srgbClr val="172B3A"/>
                </a:solidFill>
                <a:latin typeface="微软雅黑"/>
                <a:ea typeface="微软雅黑"/>
              </a:rPr>
              <a:t>bench_lab.py、vllm bench serve、服务端指标与固定变量</a:t>
            </a:r>
          </a:p>
        </p:txBody>
      </p:sp>
      <p:sp>
        <p:nvSpPr>
          <p:cNvPr id="10" name="body-4"/>
          <p:cNvSpPr/>
          <p:nvPr/>
        </p:nvSpPr>
        <p:spPr>
          <a:xfrm>
            <a:off x="612648" y="3867912"/>
            <a:ext cx="3931920" cy="4754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2100" b="1">
                <a:solidFill>
                  <a:srgbClr val="003C8B"/>
                </a:solidFill>
                <a:latin typeface="微软雅黑"/>
                <a:ea typeface="微软雅黑"/>
              </a:rPr>
              <a:t>03  优化前后对比实验</a:t>
            </a:r>
          </a:p>
        </p:txBody>
      </p:sp>
      <p:sp>
        <p:nvSpPr>
          <p:cNvPr id="11" name="body-5"/>
          <p:cNvSpPr/>
          <p:nvPr/>
        </p:nvSpPr>
        <p:spPr>
          <a:xfrm>
            <a:off x="4754880" y="3867912"/>
            <a:ext cx="6830568" cy="8595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1950" b="0">
                <a:solidFill>
                  <a:srgbClr val="172B3A"/>
                </a:solidFill>
                <a:latin typeface="微软雅黑"/>
                <a:ea typeface="微软雅黑"/>
              </a:rPr>
              <a:t>并发、前缀缓存、每轮 token 预算、KV 容量与编译开关</a:t>
            </a:r>
          </a:p>
        </p:txBody>
      </p:sp>
      <p:sp>
        <p:nvSpPr>
          <p:cNvPr id="12" name="body-6"/>
          <p:cNvSpPr/>
          <p:nvPr/>
        </p:nvSpPr>
        <p:spPr>
          <a:xfrm>
            <a:off x="612648" y="4837176"/>
            <a:ext cx="3931920" cy="4754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2100" b="1">
                <a:solidFill>
                  <a:srgbClr val="003C8B"/>
                </a:solidFill>
                <a:latin typeface="微软雅黑"/>
                <a:ea typeface="微软雅黑"/>
              </a:rPr>
              <a:t>04  调优决策与 Baseline</a:t>
            </a:r>
          </a:p>
        </p:txBody>
      </p:sp>
      <p:sp>
        <p:nvSpPr>
          <p:cNvPr id="13" name="body-7"/>
          <p:cNvSpPr/>
          <p:nvPr/>
        </p:nvSpPr>
        <p:spPr>
          <a:xfrm>
            <a:off x="4754880" y="4837176"/>
            <a:ext cx="6830568" cy="8595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1950" b="0">
                <a:solidFill>
                  <a:srgbClr val="172B3A"/>
                </a:solidFill>
                <a:latin typeface="微软雅黑"/>
                <a:ea typeface="微软雅黑"/>
              </a:rPr>
              <a:t>症状到参数的判断方法，以及 Agent 迁移的记录要求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83464" y="146304"/>
            <a:ext cx="1083564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3150" b="1">
                <a:solidFill>
                  <a:srgbClr val="FFFFFF"/>
                </a:solidFill>
                <a:latin typeface="微软雅黑"/>
                <a:ea typeface="微软雅黑"/>
              </a:rPr>
              <a:t>1.1 请求生命周期与测量边界</a:t>
            </a:r>
          </a:p>
        </p:txBody>
      </p:sp>
      <p:sp>
        <p:nvSpPr>
          <p:cNvPr id="3" name="page-number"/>
          <p:cNvSpPr/>
          <p:nvPr/>
        </p:nvSpPr>
        <p:spPr>
          <a:xfrm>
            <a:off x="11567160" y="6537960"/>
            <a:ext cx="475488" cy="283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r">
              <a:lnSpc>
                <a:spcPct val="113000"/>
              </a:lnSpc>
            </a:pPr>
            <a:r>
              <a:rPr sz="1725" b="1">
                <a:solidFill>
                  <a:srgbClr val="003C8B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4" name="lead"/>
          <p:cNvSpPr/>
          <p:nvPr/>
        </p:nvSpPr>
        <p:spPr>
          <a:xfrm>
            <a:off x="612648" y="1133856"/>
            <a:ext cx="109728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2250" b="1">
                <a:solidFill>
                  <a:srgbClr val="003C8B"/>
                </a:solidFill>
                <a:latin typeface="微软雅黑"/>
                <a:ea typeface="微软雅黑"/>
              </a:rPr>
              <a:t>任何指标都必须说明起止时刻；起止不同，数值不可直接比较</a:t>
            </a:r>
          </a:p>
        </p:txBody>
      </p:sp>
      <p:sp>
        <p:nvSpPr>
          <p:cNvPr id="6" name="bg-step"/>
          <p:cNvSpPr/>
          <p:nvPr/>
        </p:nvSpPr>
        <p:spPr>
          <a:xfrm>
            <a:off x="612648" y="2148840"/>
            <a:ext cx="1664208" cy="1417320"/>
          </a:xfrm>
          <a:prstGeom prst="roundRect">
            <a:avLst/>
          </a:prstGeom>
          <a:solidFill>
            <a:srgbClr val="E3EDF4"/>
          </a:solidFill>
          <a:ln>
            <a:solidFill>
              <a:srgbClr val="C7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body-0"/>
          <p:cNvSpPr/>
          <p:nvPr/>
        </p:nvSpPr>
        <p:spPr>
          <a:xfrm>
            <a:off x="685800" y="2304288"/>
            <a:ext cx="1517904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13000"/>
              </a:lnSpc>
            </a:pPr>
            <a:r>
              <a:rPr sz="2000" b="1">
                <a:solidFill>
                  <a:srgbClr val="003C8B"/>
                </a:solidFill>
                <a:latin typeface="微软雅黑"/>
                <a:ea typeface="微软雅黑"/>
              </a:rPr>
              <a:t>到达</a:t>
            </a:r>
          </a:p>
        </p:txBody>
      </p:sp>
      <p:sp>
        <p:nvSpPr>
          <p:cNvPr id="8" name="body-1"/>
          <p:cNvSpPr/>
          <p:nvPr/>
        </p:nvSpPr>
        <p:spPr>
          <a:xfrm>
            <a:off x="685800" y="2779776"/>
            <a:ext cx="1517904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13000"/>
              </a:lnSpc>
            </a:pPr>
            <a:r>
              <a:rPr sz="1550" b="0">
                <a:solidFill>
                  <a:srgbClr val="172B3A"/>
                </a:solidFill>
                <a:latin typeface="微软雅黑"/>
                <a:ea typeface="微软雅黑"/>
              </a:rPr>
              <a:t>请求进入
API Server</a:t>
            </a:r>
          </a:p>
        </p:txBody>
      </p:sp>
      <p:sp>
        <p:nvSpPr>
          <p:cNvPr id="9" name="arrow-0"/>
          <p:cNvSpPr/>
          <p:nvPr/>
        </p:nvSpPr>
        <p:spPr>
          <a:xfrm>
            <a:off x="2295144" y="2697480"/>
            <a:ext cx="201168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13000"/>
              </a:lnSpc>
            </a:pPr>
            <a:r>
              <a:rPr sz="2000" b="1">
                <a:solidFill>
                  <a:srgbClr val="238773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0" name="bg-step"/>
          <p:cNvSpPr/>
          <p:nvPr/>
        </p:nvSpPr>
        <p:spPr>
          <a:xfrm>
            <a:off x="2514600" y="2148840"/>
            <a:ext cx="1664208" cy="1417320"/>
          </a:xfrm>
          <a:prstGeom prst="roundRect">
            <a:avLst/>
          </a:prstGeom>
          <a:solidFill>
            <a:srgbClr val="F3F6F8"/>
          </a:solidFill>
          <a:ln>
            <a:solidFill>
              <a:srgbClr val="C7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body-2"/>
          <p:cNvSpPr/>
          <p:nvPr/>
        </p:nvSpPr>
        <p:spPr>
          <a:xfrm>
            <a:off x="2587752" y="2304288"/>
            <a:ext cx="1517904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13000"/>
              </a:lnSpc>
            </a:pPr>
            <a:r>
              <a:rPr sz="2000" b="1">
                <a:solidFill>
                  <a:srgbClr val="003C8B"/>
                </a:solidFill>
                <a:latin typeface="微软雅黑"/>
                <a:ea typeface="微软雅黑"/>
              </a:rPr>
              <a:t>排队</a:t>
            </a:r>
          </a:p>
        </p:txBody>
      </p:sp>
      <p:sp>
        <p:nvSpPr>
          <p:cNvPr id="12" name="body-3"/>
          <p:cNvSpPr/>
          <p:nvPr/>
        </p:nvSpPr>
        <p:spPr>
          <a:xfrm>
            <a:off x="2587752" y="2779776"/>
            <a:ext cx="1517904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13000"/>
              </a:lnSpc>
            </a:pPr>
            <a:r>
              <a:rPr sz="1550" b="0">
                <a:solidFill>
                  <a:srgbClr val="172B3A"/>
                </a:solidFill>
                <a:latin typeface="微软雅黑"/>
                <a:ea typeface="微软雅黑"/>
              </a:rPr>
              <a:t>Waiting
等待调度</a:t>
            </a:r>
          </a:p>
        </p:txBody>
      </p:sp>
      <p:sp>
        <p:nvSpPr>
          <p:cNvPr id="13" name="arrow-1"/>
          <p:cNvSpPr/>
          <p:nvPr/>
        </p:nvSpPr>
        <p:spPr>
          <a:xfrm>
            <a:off x="4197096" y="2697480"/>
            <a:ext cx="201168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13000"/>
              </a:lnSpc>
            </a:pPr>
            <a:r>
              <a:rPr sz="2000" b="1">
                <a:solidFill>
                  <a:srgbClr val="238773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4" name="bg-step"/>
          <p:cNvSpPr/>
          <p:nvPr/>
        </p:nvSpPr>
        <p:spPr>
          <a:xfrm>
            <a:off x="4416552" y="2148840"/>
            <a:ext cx="1664208" cy="1417320"/>
          </a:xfrm>
          <a:prstGeom prst="roundRect">
            <a:avLst/>
          </a:prstGeom>
          <a:solidFill>
            <a:srgbClr val="E3EDF4"/>
          </a:solidFill>
          <a:ln>
            <a:solidFill>
              <a:srgbClr val="C7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body-4"/>
          <p:cNvSpPr/>
          <p:nvPr/>
        </p:nvSpPr>
        <p:spPr>
          <a:xfrm>
            <a:off x="4489704" y="2304288"/>
            <a:ext cx="1517904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13000"/>
              </a:lnSpc>
            </a:pPr>
            <a:r>
              <a:rPr sz="2000" b="1">
                <a:solidFill>
                  <a:srgbClr val="003C8B"/>
                </a:solidFill>
                <a:latin typeface="微软雅黑"/>
                <a:ea typeface="微软雅黑"/>
              </a:rPr>
              <a:t>Prefill</a:t>
            </a:r>
          </a:p>
        </p:txBody>
      </p:sp>
      <p:sp>
        <p:nvSpPr>
          <p:cNvPr id="16" name="body-5"/>
          <p:cNvSpPr/>
          <p:nvPr/>
        </p:nvSpPr>
        <p:spPr>
          <a:xfrm>
            <a:off x="4489704" y="2779776"/>
            <a:ext cx="1517904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13000"/>
              </a:lnSpc>
            </a:pPr>
            <a:r>
              <a:rPr sz="1550" b="0">
                <a:solidFill>
                  <a:srgbClr val="172B3A"/>
                </a:solidFill>
                <a:latin typeface="微软雅黑"/>
                <a:ea typeface="微软雅黑"/>
              </a:rPr>
              <a:t>处理输入
计算首 token</a:t>
            </a:r>
          </a:p>
        </p:txBody>
      </p:sp>
      <p:sp>
        <p:nvSpPr>
          <p:cNvPr id="17" name="arrow-2"/>
          <p:cNvSpPr/>
          <p:nvPr/>
        </p:nvSpPr>
        <p:spPr>
          <a:xfrm>
            <a:off x="6099048" y="2697480"/>
            <a:ext cx="201168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13000"/>
              </a:lnSpc>
            </a:pPr>
            <a:r>
              <a:rPr sz="2000" b="1">
                <a:solidFill>
                  <a:srgbClr val="238773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8" name="bg-step"/>
          <p:cNvSpPr/>
          <p:nvPr/>
        </p:nvSpPr>
        <p:spPr>
          <a:xfrm>
            <a:off x="6318504" y="2148840"/>
            <a:ext cx="1664208" cy="1417320"/>
          </a:xfrm>
          <a:prstGeom prst="roundRect">
            <a:avLst/>
          </a:prstGeom>
          <a:solidFill>
            <a:srgbClr val="F3F6F8"/>
          </a:solidFill>
          <a:ln>
            <a:solidFill>
              <a:srgbClr val="C7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body-6"/>
          <p:cNvSpPr/>
          <p:nvPr/>
        </p:nvSpPr>
        <p:spPr>
          <a:xfrm>
            <a:off x="6391656" y="2304288"/>
            <a:ext cx="1517904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13000"/>
              </a:lnSpc>
            </a:pPr>
            <a:r>
              <a:rPr sz="2000" b="1">
                <a:solidFill>
                  <a:srgbClr val="003C8B"/>
                </a:solidFill>
                <a:latin typeface="微软雅黑"/>
                <a:ea typeface="微软雅黑"/>
              </a:rPr>
              <a:t>首 token</a:t>
            </a:r>
          </a:p>
        </p:txBody>
      </p:sp>
      <p:sp>
        <p:nvSpPr>
          <p:cNvPr id="20" name="body-7"/>
          <p:cNvSpPr/>
          <p:nvPr/>
        </p:nvSpPr>
        <p:spPr>
          <a:xfrm>
            <a:off x="6391656" y="2779776"/>
            <a:ext cx="1517904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13000"/>
              </a:lnSpc>
            </a:pPr>
            <a:r>
              <a:rPr sz="1550" b="0">
                <a:solidFill>
                  <a:srgbClr val="172B3A"/>
                </a:solidFill>
                <a:latin typeface="微软雅黑"/>
                <a:ea typeface="微软雅黑"/>
              </a:rPr>
              <a:t>TTFT
在此到达</a:t>
            </a:r>
          </a:p>
        </p:txBody>
      </p:sp>
      <p:sp>
        <p:nvSpPr>
          <p:cNvPr id="21" name="arrow-3"/>
          <p:cNvSpPr/>
          <p:nvPr/>
        </p:nvSpPr>
        <p:spPr>
          <a:xfrm>
            <a:off x="8001000" y="2697480"/>
            <a:ext cx="201168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13000"/>
              </a:lnSpc>
            </a:pPr>
            <a:r>
              <a:rPr sz="2000" b="1">
                <a:solidFill>
                  <a:srgbClr val="238773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2" name="bg-step"/>
          <p:cNvSpPr/>
          <p:nvPr/>
        </p:nvSpPr>
        <p:spPr>
          <a:xfrm>
            <a:off x="8220456" y="2148840"/>
            <a:ext cx="1664208" cy="1417320"/>
          </a:xfrm>
          <a:prstGeom prst="roundRect">
            <a:avLst/>
          </a:prstGeom>
          <a:solidFill>
            <a:srgbClr val="E3EDF4"/>
          </a:solidFill>
          <a:ln>
            <a:solidFill>
              <a:srgbClr val="C7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body-8"/>
          <p:cNvSpPr/>
          <p:nvPr/>
        </p:nvSpPr>
        <p:spPr>
          <a:xfrm>
            <a:off x="8293608" y="2304288"/>
            <a:ext cx="1517904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13000"/>
              </a:lnSpc>
            </a:pPr>
            <a:r>
              <a:rPr sz="2000" b="1">
                <a:solidFill>
                  <a:srgbClr val="003C8B"/>
                </a:solidFill>
                <a:latin typeface="微软雅黑"/>
                <a:ea typeface="微软雅黑"/>
              </a:rPr>
              <a:t>Decode</a:t>
            </a:r>
          </a:p>
        </p:txBody>
      </p:sp>
      <p:sp>
        <p:nvSpPr>
          <p:cNvPr id="24" name="body-9"/>
          <p:cNvSpPr/>
          <p:nvPr/>
        </p:nvSpPr>
        <p:spPr>
          <a:xfrm>
            <a:off x="8293608" y="2779776"/>
            <a:ext cx="1517904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13000"/>
              </a:lnSpc>
            </a:pPr>
            <a:r>
              <a:rPr sz="1550" b="0">
                <a:solidFill>
                  <a:srgbClr val="172B3A"/>
                </a:solidFill>
                <a:latin typeface="微软雅黑"/>
                <a:ea typeface="微软雅黑"/>
              </a:rPr>
              <a:t>逐 token 生成
ITL / TPOT</a:t>
            </a:r>
          </a:p>
        </p:txBody>
      </p:sp>
      <p:sp>
        <p:nvSpPr>
          <p:cNvPr id="25" name="arrow-4"/>
          <p:cNvSpPr/>
          <p:nvPr/>
        </p:nvSpPr>
        <p:spPr>
          <a:xfrm>
            <a:off x="9902952" y="2697480"/>
            <a:ext cx="201168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13000"/>
              </a:lnSpc>
            </a:pPr>
            <a:r>
              <a:rPr sz="2000" b="1">
                <a:solidFill>
                  <a:srgbClr val="238773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6" name="bg-step"/>
          <p:cNvSpPr/>
          <p:nvPr/>
        </p:nvSpPr>
        <p:spPr>
          <a:xfrm>
            <a:off x="10122408" y="2148840"/>
            <a:ext cx="1664208" cy="1417320"/>
          </a:xfrm>
          <a:prstGeom prst="roundRect">
            <a:avLst/>
          </a:prstGeom>
          <a:solidFill>
            <a:srgbClr val="F3F6F8"/>
          </a:solidFill>
          <a:ln>
            <a:solidFill>
              <a:srgbClr val="C7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body-10"/>
          <p:cNvSpPr/>
          <p:nvPr/>
        </p:nvSpPr>
        <p:spPr>
          <a:xfrm>
            <a:off x="10195560" y="2304288"/>
            <a:ext cx="1517904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13000"/>
              </a:lnSpc>
            </a:pPr>
            <a:r>
              <a:rPr sz="2000" b="1">
                <a:solidFill>
                  <a:srgbClr val="003C8B"/>
                </a:solidFill>
                <a:latin typeface="微软雅黑"/>
                <a:ea typeface="微软雅黑"/>
              </a:rPr>
              <a:t>结束</a:t>
            </a:r>
          </a:p>
        </p:txBody>
      </p:sp>
      <p:sp>
        <p:nvSpPr>
          <p:cNvPr id="28" name="body-11"/>
          <p:cNvSpPr/>
          <p:nvPr/>
        </p:nvSpPr>
        <p:spPr>
          <a:xfrm>
            <a:off x="10195560" y="2779776"/>
            <a:ext cx="1517904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lnSpc>
                <a:spcPct val="113000"/>
              </a:lnSpc>
            </a:pPr>
            <a:r>
              <a:rPr sz="1550" b="0">
                <a:solidFill>
                  <a:srgbClr val="172B3A"/>
                </a:solidFill>
                <a:latin typeface="微软雅黑"/>
                <a:ea typeface="微软雅黑"/>
              </a:rPr>
              <a:t>EOS 或上限
释放 KV</a:t>
            </a:r>
          </a:p>
        </p:txBody>
      </p:sp>
      <p:sp>
        <p:nvSpPr>
          <p:cNvPr id="29" name="body-12"/>
          <p:cNvSpPr/>
          <p:nvPr/>
        </p:nvSpPr>
        <p:spPr>
          <a:xfrm>
            <a:off x="612648" y="4114800"/>
            <a:ext cx="1097280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2100" b="1" dirty="0" err="1">
                <a:solidFill>
                  <a:srgbClr val="003C8B"/>
                </a:solidFill>
                <a:latin typeface="微软雅黑"/>
                <a:ea typeface="微软雅黑"/>
              </a:rPr>
              <a:t>排队与</a:t>
            </a:r>
            <a:r>
              <a:rPr sz="2100" b="1" dirty="0">
                <a:solidFill>
                  <a:srgbClr val="003C8B"/>
                </a:solidFill>
                <a:latin typeface="微软雅黑"/>
                <a:ea typeface="微软雅黑"/>
              </a:rPr>
              <a:t> Prefill </a:t>
            </a:r>
            <a:r>
              <a:rPr sz="2100" b="1" dirty="0" err="1">
                <a:solidFill>
                  <a:srgbClr val="003C8B"/>
                </a:solidFill>
                <a:latin typeface="微软雅黑"/>
                <a:ea typeface="微软雅黑"/>
              </a:rPr>
              <a:t>共同决定</a:t>
            </a:r>
            <a:r>
              <a:rPr sz="2100" b="1" dirty="0">
                <a:solidFill>
                  <a:srgbClr val="003C8B"/>
                </a:solidFill>
                <a:latin typeface="微软雅黑"/>
                <a:ea typeface="微软雅黑"/>
              </a:rPr>
              <a:t> </a:t>
            </a:r>
            <a:r>
              <a:rPr sz="2100" b="1" dirty="0" err="1">
                <a:solidFill>
                  <a:srgbClr val="003C8B"/>
                </a:solidFill>
                <a:latin typeface="微软雅黑"/>
                <a:ea typeface="微软雅黑"/>
              </a:rPr>
              <a:t>TTFT；Decode</a:t>
            </a:r>
            <a:r>
              <a:rPr sz="2100" b="1" dirty="0">
                <a:solidFill>
                  <a:srgbClr val="003C8B"/>
                </a:solidFill>
                <a:latin typeface="微软雅黑"/>
                <a:ea typeface="微软雅黑"/>
              </a:rPr>
              <a:t> </a:t>
            </a:r>
            <a:r>
              <a:rPr sz="2100" b="1" dirty="0" err="1">
                <a:solidFill>
                  <a:srgbClr val="003C8B"/>
                </a:solidFill>
                <a:latin typeface="微软雅黑"/>
                <a:ea typeface="微软雅黑"/>
              </a:rPr>
              <a:t>的稳定性由</a:t>
            </a:r>
            <a:r>
              <a:rPr sz="2100" b="1" dirty="0">
                <a:solidFill>
                  <a:srgbClr val="003C8B"/>
                </a:solidFill>
                <a:latin typeface="微软雅黑"/>
                <a:ea typeface="微软雅黑"/>
              </a:rPr>
              <a:t> ITL 与 TPOT </a:t>
            </a:r>
            <a:r>
              <a:rPr sz="2100" b="1" dirty="0" err="1">
                <a:solidFill>
                  <a:srgbClr val="003C8B"/>
                </a:solidFill>
                <a:latin typeface="微软雅黑"/>
                <a:ea typeface="微软雅黑"/>
              </a:rPr>
              <a:t>描述</a:t>
            </a:r>
            <a:r>
              <a:rPr sz="2100" b="1" dirty="0">
                <a:solidFill>
                  <a:srgbClr val="003C8B"/>
                </a:solidFill>
                <a:latin typeface="微软雅黑"/>
                <a:ea typeface="微软雅黑"/>
              </a:rPr>
              <a:t>；</a:t>
            </a:r>
            <a:endParaRPr lang="en-US" sz="2100" b="1" dirty="0">
              <a:solidFill>
                <a:srgbClr val="003C8B"/>
              </a:solidFill>
              <a:latin typeface="微软雅黑"/>
              <a:ea typeface="微软雅黑"/>
            </a:endParaRPr>
          </a:p>
          <a:p>
            <a:pPr algn="l">
              <a:lnSpc>
                <a:spcPct val="113000"/>
              </a:lnSpc>
            </a:pPr>
            <a:r>
              <a:rPr sz="2100" b="1" dirty="0" err="1">
                <a:solidFill>
                  <a:srgbClr val="003C8B"/>
                </a:solidFill>
                <a:latin typeface="微软雅黑"/>
                <a:ea typeface="微软雅黑"/>
              </a:rPr>
              <a:t>端到端时延覆盖全过程</a:t>
            </a:r>
            <a:r>
              <a:rPr sz="2100" b="1" dirty="0">
                <a:solidFill>
                  <a:srgbClr val="003C8B"/>
                </a:solidFill>
                <a:latin typeface="微软雅黑"/>
                <a:ea typeface="微软雅黑"/>
              </a:rPr>
              <a:t>。</a:t>
            </a:r>
          </a:p>
        </p:txBody>
      </p:sp>
      <p:sp>
        <p:nvSpPr>
          <p:cNvPr id="30" name="body-13"/>
          <p:cNvSpPr/>
          <p:nvPr/>
        </p:nvSpPr>
        <p:spPr>
          <a:xfrm>
            <a:off x="612648" y="5047488"/>
            <a:ext cx="10972800" cy="8595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1950" b="0">
                <a:solidFill>
                  <a:srgbClr val="172B3A"/>
                </a:solidFill>
                <a:latin typeface="微软雅黑"/>
                <a:ea typeface="微软雅黑"/>
              </a:rPr>
              <a:t>取消、超时与重试会改变实际进入引擎的请求数，统计吞吐与延迟时必须同时报告成功、失败与取消的数量。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83464" y="146304"/>
            <a:ext cx="1083564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3150" b="1">
                <a:solidFill>
                  <a:srgbClr val="FFFFFF"/>
                </a:solidFill>
                <a:latin typeface="微软雅黑"/>
                <a:ea typeface="微软雅黑"/>
              </a:rPr>
              <a:t>1.2 服务指标总览</a:t>
            </a:r>
          </a:p>
        </p:txBody>
      </p:sp>
      <p:sp>
        <p:nvSpPr>
          <p:cNvPr id="3" name="page-number"/>
          <p:cNvSpPr/>
          <p:nvPr/>
        </p:nvSpPr>
        <p:spPr>
          <a:xfrm>
            <a:off x="11567160" y="6537960"/>
            <a:ext cx="475488" cy="283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r">
              <a:lnSpc>
                <a:spcPct val="113000"/>
              </a:lnSpc>
            </a:pPr>
            <a:r>
              <a:rPr sz="1725" b="1">
                <a:solidFill>
                  <a:srgbClr val="003C8B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4" name="lead"/>
          <p:cNvSpPr/>
          <p:nvPr/>
        </p:nvSpPr>
        <p:spPr>
          <a:xfrm>
            <a:off x="612648" y="1133856"/>
            <a:ext cx="109728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2250" b="1">
                <a:solidFill>
                  <a:srgbClr val="003C8B"/>
                </a:solidFill>
                <a:latin typeface="微软雅黑"/>
                <a:ea typeface="微软雅黑"/>
              </a:rPr>
              <a:t>将指标分为响应、吞吐、尾部与资源四类，避免只报告单一平均速度</a:t>
            </a:r>
          </a:p>
        </p:txBody>
      </p:sp>
      <p:graphicFrame>
        <p:nvGraphicFramePr>
          <p:cNvPr id="5" name="table"/>
          <p:cNvGraphicFramePr>
            <a:graphicFrameLocks noGrp="1"/>
          </p:cNvGraphicFramePr>
          <p:nvPr/>
        </p:nvGraphicFramePr>
        <p:xfrm>
          <a:off x="612648" y="1984248"/>
          <a:ext cx="10972800" cy="28241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1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</a:rPr>
                        <a:t>类别</a:t>
                      </a:r>
                    </a:p>
                  </a:txBody>
                  <a:tcPr marL="88900" marR="88900" marT="38100" marB="38100" anchor="ctr"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1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</a:rPr>
                        <a:t>指标</a:t>
                      </a:r>
                    </a:p>
                  </a:txBody>
                  <a:tcPr marL="88900" marR="88900" marT="38100" marB="38100" anchor="ctr"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1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</a:rPr>
                        <a:t>定义要点</a:t>
                      </a:r>
                    </a:p>
                  </a:txBody>
                  <a:tcPr marL="88900" marR="88900" marT="38100" marB="38100" anchor="ctr"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1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</a:rPr>
                        <a:t>常用单位 / 工具</a:t>
                      </a:r>
                    </a:p>
                  </a:txBody>
                  <a:tcPr marL="88900" marR="88900" marT="38100" marB="38100" anchor="ctr">
                    <a:solidFill>
                      <a:srgbClr val="E3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响应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TTFT、TPOT、ITL、端到端时延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首 token、每输出 token 与相邻 token 间隔、全过程耗时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ms 或 s；bench_lab.py / bench serve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吞吐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req/s、输出 tok/s、总 tok/s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完成请求率、生成 token 率、输入加输出 token 率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每秒；bench serve 汇总区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尾部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P50 / P95 / P99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指定比例请求不超过的延迟阈值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ms；需注明样本数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资源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KV 使用率、Prefix 命中率、Running / Waiting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缓存占用、共享前缀复用与调度队列状态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% 与请求数；/metrics 接口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83464" y="146304"/>
            <a:ext cx="1083564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3150" b="1">
                <a:solidFill>
                  <a:srgbClr val="FFFFFF"/>
                </a:solidFill>
                <a:latin typeface="微软雅黑"/>
                <a:ea typeface="微软雅黑"/>
              </a:rPr>
              <a:t>1.3 TTFT：首个输出 token 的等待时间</a:t>
            </a:r>
          </a:p>
        </p:txBody>
      </p:sp>
      <p:sp>
        <p:nvSpPr>
          <p:cNvPr id="3" name="page-number"/>
          <p:cNvSpPr/>
          <p:nvPr/>
        </p:nvSpPr>
        <p:spPr>
          <a:xfrm>
            <a:off x="11567160" y="6537960"/>
            <a:ext cx="475488" cy="283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r">
              <a:lnSpc>
                <a:spcPct val="113000"/>
              </a:lnSpc>
            </a:pPr>
            <a:r>
              <a:rPr sz="1725" b="1">
                <a:solidFill>
                  <a:srgbClr val="003C8B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4" name="lead"/>
          <p:cNvSpPr/>
          <p:nvPr/>
        </p:nvSpPr>
        <p:spPr>
          <a:xfrm>
            <a:off x="612648" y="1133856"/>
            <a:ext cx="109728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2250" b="1">
                <a:solidFill>
                  <a:srgbClr val="003C8B"/>
                </a:solidFill>
                <a:latin typeface="微软雅黑"/>
                <a:ea typeface="微软雅黑"/>
              </a:rPr>
              <a:t>TTFT（Time To First Token）= 首个输出 token 到达客户端的时刻 − 请求发送时刻</a:t>
            </a:r>
          </a:p>
        </p:txBody>
      </p:sp>
      <p:sp>
        <p:nvSpPr>
          <p:cNvPr id="5" name="body-1"/>
          <p:cNvSpPr/>
          <p:nvPr/>
        </p:nvSpPr>
        <p:spPr>
          <a:xfrm>
            <a:off x="612648" y="1929384"/>
            <a:ext cx="5303520" cy="4389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2100" b="1">
                <a:solidFill>
                  <a:srgbClr val="003C8B"/>
                </a:solidFill>
                <a:latin typeface="微软雅黑"/>
                <a:ea typeface="微软雅黑"/>
              </a:rPr>
              <a:t>时间分解</a:t>
            </a:r>
          </a:p>
        </p:txBody>
      </p:sp>
      <p:sp>
        <p:nvSpPr>
          <p:cNvPr id="6" name="body-2"/>
          <p:cNvSpPr/>
          <p:nvPr/>
        </p:nvSpPr>
        <p:spPr>
          <a:xfrm>
            <a:off x="612648" y="2423160"/>
            <a:ext cx="5303520" cy="2560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1950" b="1" dirty="0">
                <a:solidFill>
                  <a:srgbClr val="003C8B"/>
                </a:solidFill>
                <a:latin typeface="微软雅黑"/>
                <a:ea typeface="微软雅黑"/>
              </a:rPr>
              <a:t>TTFT ≈ </a:t>
            </a:r>
            <a:r>
              <a:rPr sz="1950" b="1" dirty="0" err="1">
                <a:solidFill>
                  <a:srgbClr val="003C8B"/>
                </a:solidFill>
                <a:latin typeface="微软雅黑"/>
                <a:ea typeface="微软雅黑"/>
              </a:rPr>
              <a:t>排队时间</a:t>
            </a:r>
            <a:r>
              <a:rPr sz="1950" b="1" dirty="0">
                <a:solidFill>
                  <a:srgbClr val="003C8B"/>
                </a:solidFill>
                <a:latin typeface="微软雅黑"/>
                <a:ea typeface="微软雅黑"/>
              </a:rPr>
              <a:t> + Prefill </a:t>
            </a:r>
            <a:r>
              <a:rPr sz="1950" b="1" dirty="0" err="1">
                <a:solidFill>
                  <a:srgbClr val="003C8B"/>
                </a:solidFill>
                <a:latin typeface="微软雅黑"/>
                <a:ea typeface="微软雅黑"/>
              </a:rPr>
              <a:t>时间</a:t>
            </a:r>
            <a:r>
              <a:rPr sz="1950" b="1" dirty="0">
                <a:solidFill>
                  <a:srgbClr val="003C8B"/>
                </a:solidFill>
                <a:latin typeface="微软雅黑"/>
                <a:ea typeface="微软雅黑"/>
              </a:rPr>
              <a:t> + 首 token </a:t>
            </a:r>
            <a:r>
              <a:rPr sz="1950" b="1" dirty="0" err="1">
                <a:solidFill>
                  <a:srgbClr val="003C8B"/>
                </a:solidFill>
                <a:latin typeface="微软雅黑"/>
                <a:ea typeface="微软雅黑"/>
              </a:rPr>
              <a:t>返回开销</a:t>
            </a:r>
            <a:endParaRPr sz="1950" b="1" dirty="0">
              <a:solidFill>
                <a:srgbClr val="003C8B"/>
              </a:solidFill>
              <a:latin typeface="微软雅黑"/>
              <a:ea typeface="微软雅黑"/>
            </a:endParaRPr>
          </a:p>
          <a:p>
            <a:pPr algn="l">
              <a:lnSpc>
                <a:spcPct val="113000"/>
              </a:lnSpc>
              <a:spcBef>
                <a:spcPts val="600"/>
              </a:spcBef>
            </a:pPr>
            <a:r>
              <a:rPr sz="1950" b="0" dirty="0" err="1">
                <a:solidFill>
                  <a:srgbClr val="172B3A"/>
                </a:solidFill>
                <a:latin typeface="微软雅黑"/>
                <a:ea typeface="微软雅黑"/>
              </a:rPr>
              <a:t>排队时间受入口并发、调度顺序与</a:t>
            </a:r>
            <a:r>
              <a:rPr sz="1950" b="0" dirty="0">
                <a:solidFill>
                  <a:srgbClr val="172B3A"/>
                </a:solidFill>
                <a:latin typeface="微软雅黑"/>
                <a:ea typeface="微软雅黑"/>
              </a:rPr>
              <a:t> KV </a:t>
            </a:r>
            <a:r>
              <a:rPr sz="1950" b="0" dirty="0" err="1">
                <a:solidFill>
                  <a:srgbClr val="172B3A"/>
                </a:solidFill>
                <a:latin typeface="微软雅黑"/>
                <a:ea typeface="微软雅黑"/>
              </a:rPr>
              <a:t>可用空间影响</a:t>
            </a:r>
            <a:r>
              <a:rPr sz="1950" b="0" dirty="0">
                <a:solidFill>
                  <a:srgbClr val="172B3A"/>
                </a:solidFill>
                <a:latin typeface="微软雅黑"/>
                <a:ea typeface="微软雅黑"/>
              </a:rPr>
              <a:t>；</a:t>
            </a:r>
            <a:endParaRPr lang="en-US" sz="1950" b="0" dirty="0">
              <a:solidFill>
                <a:srgbClr val="172B3A"/>
              </a:solidFill>
              <a:latin typeface="微软雅黑"/>
              <a:ea typeface="微软雅黑"/>
            </a:endParaRPr>
          </a:p>
          <a:p>
            <a:pPr algn="l">
              <a:lnSpc>
                <a:spcPct val="113000"/>
              </a:lnSpc>
              <a:spcBef>
                <a:spcPts val="600"/>
              </a:spcBef>
            </a:pPr>
            <a:r>
              <a:rPr sz="1950" b="0" dirty="0">
                <a:solidFill>
                  <a:srgbClr val="172B3A"/>
                </a:solidFill>
                <a:latin typeface="微软雅黑"/>
                <a:ea typeface="微软雅黑"/>
              </a:rPr>
              <a:t>Prefill </a:t>
            </a:r>
            <a:r>
              <a:rPr sz="1950" b="0" dirty="0" err="1">
                <a:solidFill>
                  <a:srgbClr val="172B3A"/>
                </a:solidFill>
                <a:latin typeface="微软雅黑"/>
                <a:ea typeface="微软雅黑"/>
              </a:rPr>
              <a:t>时间主要随输入长度增长，长输入还会占用每轮</a:t>
            </a:r>
            <a:r>
              <a:rPr sz="1950" b="0" dirty="0">
                <a:solidFill>
                  <a:srgbClr val="172B3A"/>
                </a:solidFill>
                <a:latin typeface="微软雅黑"/>
                <a:ea typeface="微软雅黑"/>
              </a:rPr>
              <a:t> token </a:t>
            </a:r>
            <a:r>
              <a:rPr sz="1950" b="0" dirty="0" err="1">
                <a:solidFill>
                  <a:srgbClr val="172B3A"/>
                </a:solidFill>
                <a:latin typeface="微软雅黑"/>
                <a:ea typeface="微软雅黑"/>
              </a:rPr>
              <a:t>预算并延后其他请求的首</a:t>
            </a:r>
            <a:r>
              <a:rPr sz="1950" b="0" dirty="0">
                <a:solidFill>
                  <a:srgbClr val="172B3A"/>
                </a:solidFill>
                <a:latin typeface="微软雅黑"/>
                <a:ea typeface="微软雅黑"/>
              </a:rPr>
              <a:t> token。</a:t>
            </a:r>
          </a:p>
        </p:txBody>
      </p:sp>
      <p:sp>
        <p:nvSpPr>
          <p:cNvPr id="7" name="body-3"/>
          <p:cNvSpPr/>
          <p:nvPr/>
        </p:nvSpPr>
        <p:spPr>
          <a:xfrm>
            <a:off x="6263640" y="1929384"/>
            <a:ext cx="5321808" cy="4389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2100" b="1">
                <a:solidFill>
                  <a:srgbClr val="003C8B"/>
                </a:solidFill>
                <a:latin typeface="微软雅黑"/>
                <a:ea typeface="微软雅黑"/>
              </a:rPr>
              <a:t>测量与报告要求</a:t>
            </a:r>
          </a:p>
        </p:txBody>
      </p:sp>
      <p:sp>
        <p:nvSpPr>
          <p:cNvPr id="8" name="body-4"/>
          <p:cNvSpPr/>
          <p:nvPr/>
        </p:nvSpPr>
        <p:spPr>
          <a:xfrm>
            <a:off x="6263640" y="2423160"/>
            <a:ext cx="5669280" cy="2560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1950" b="0" dirty="0" err="1">
                <a:solidFill>
                  <a:srgbClr val="172B3A"/>
                </a:solidFill>
                <a:latin typeface="微软雅黑"/>
                <a:ea typeface="微软雅黑"/>
              </a:rPr>
              <a:t>必须开启流式返回并记录首个内容块的到达时刻</a:t>
            </a:r>
            <a:r>
              <a:rPr lang="zh-CN" altLang="en-US" sz="1950" b="0" dirty="0">
                <a:solidFill>
                  <a:srgbClr val="172B3A"/>
                </a:solidFill>
                <a:latin typeface="微软雅黑"/>
                <a:ea typeface="微软雅黑"/>
              </a:rPr>
              <a:t>；</a:t>
            </a:r>
            <a:r>
              <a:rPr sz="1950" b="0" dirty="0" err="1">
                <a:solidFill>
                  <a:srgbClr val="172B3A"/>
                </a:solidFill>
                <a:latin typeface="微软雅黑"/>
                <a:ea typeface="微软雅黑"/>
              </a:rPr>
              <a:t>非流式请求只能得到端到端时延，不能拆出</a:t>
            </a:r>
            <a:r>
              <a:rPr sz="1950" b="0" dirty="0">
                <a:solidFill>
                  <a:srgbClr val="172B3A"/>
                </a:solidFill>
                <a:latin typeface="微软雅黑"/>
                <a:ea typeface="微软雅黑"/>
              </a:rPr>
              <a:t> TTFT。</a:t>
            </a:r>
            <a:endParaRPr lang="en-US" sz="1950" b="0" dirty="0">
              <a:solidFill>
                <a:srgbClr val="172B3A"/>
              </a:solidFill>
              <a:latin typeface="微软雅黑"/>
              <a:ea typeface="微软雅黑"/>
            </a:endParaRPr>
          </a:p>
          <a:p>
            <a:pPr algn="l">
              <a:lnSpc>
                <a:spcPct val="113000"/>
              </a:lnSpc>
            </a:pPr>
            <a:r>
              <a:rPr sz="1950" b="0" dirty="0" err="1">
                <a:solidFill>
                  <a:srgbClr val="172B3A"/>
                </a:solidFill>
                <a:latin typeface="微软雅黑"/>
                <a:ea typeface="微软雅黑"/>
              </a:rPr>
              <a:t>报告时同时注明输入长度分布、并发数与是否命中</a:t>
            </a:r>
            <a:r>
              <a:rPr sz="1950" b="0" dirty="0">
                <a:solidFill>
                  <a:srgbClr val="172B3A"/>
                </a:solidFill>
                <a:latin typeface="微软雅黑"/>
                <a:ea typeface="微软雅黑"/>
              </a:rPr>
              <a:t> Prefix Cache。</a:t>
            </a:r>
          </a:p>
        </p:txBody>
      </p:sp>
      <p:sp>
        <p:nvSpPr>
          <p:cNvPr id="9" name="body-5"/>
          <p:cNvSpPr/>
          <p:nvPr/>
        </p:nvSpPr>
        <p:spPr>
          <a:xfrm>
            <a:off x="612648" y="5230368"/>
            <a:ext cx="109728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2000" b="1">
                <a:solidFill>
                  <a:srgbClr val="003C8B"/>
                </a:solidFill>
                <a:latin typeface="微软雅黑"/>
                <a:ea typeface="微软雅黑"/>
              </a:rPr>
              <a:t>判断 TTFT 变长时，先区分排队等待与 Prefill 计算：二者对应的调整方向不同。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83464" y="146304"/>
            <a:ext cx="1083564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3150" b="1">
                <a:solidFill>
                  <a:srgbClr val="FFFFFF"/>
                </a:solidFill>
                <a:latin typeface="微软雅黑"/>
                <a:ea typeface="微软雅黑"/>
              </a:rPr>
              <a:t>1.4 TPOT 与 ITL：Decode 阶段的输出节奏</a:t>
            </a:r>
          </a:p>
        </p:txBody>
      </p:sp>
      <p:sp>
        <p:nvSpPr>
          <p:cNvPr id="3" name="page-number"/>
          <p:cNvSpPr/>
          <p:nvPr/>
        </p:nvSpPr>
        <p:spPr>
          <a:xfrm>
            <a:off x="11567160" y="6537960"/>
            <a:ext cx="475488" cy="283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r">
              <a:lnSpc>
                <a:spcPct val="113000"/>
              </a:lnSpc>
            </a:pPr>
            <a:r>
              <a:rPr sz="1725" b="1">
                <a:solidFill>
                  <a:srgbClr val="003C8B"/>
                </a:solidFill>
                <a:latin typeface="微软雅黑"/>
                <a:ea typeface="微软雅黑"/>
              </a:rPr>
              <a:t>07</a:t>
            </a:r>
          </a:p>
        </p:txBody>
      </p:sp>
      <p:sp>
        <p:nvSpPr>
          <p:cNvPr id="4" name="lead"/>
          <p:cNvSpPr/>
          <p:nvPr/>
        </p:nvSpPr>
        <p:spPr>
          <a:xfrm>
            <a:off x="612648" y="1133856"/>
            <a:ext cx="109728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2250" b="1">
                <a:solidFill>
                  <a:srgbClr val="003C8B"/>
                </a:solidFill>
                <a:latin typeface="微软雅黑"/>
                <a:ea typeface="微软雅黑"/>
              </a:rPr>
              <a:t>TPOT 描述单个请求的平均生成步长，ITL 描述相邻输出之间的实际间隔分布</a:t>
            </a:r>
          </a:p>
        </p:txBody>
      </p:sp>
      <p:graphicFrame>
        <p:nvGraphicFramePr>
          <p:cNvPr id="5" name="table"/>
          <p:cNvGraphicFramePr>
            <a:graphicFrameLocks noGrp="1"/>
          </p:cNvGraphicFramePr>
          <p:nvPr/>
        </p:nvGraphicFramePr>
        <p:xfrm>
          <a:off x="612648" y="1984248"/>
          <a:ext cx="10972800" cy="2359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1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</a:rPr>
                        <a:t>指标</a:t>
                      </a:r>
                    </a:p>
                  </a:txBody>
                  <a:tcPr marL="88900" marR="88900" marT="38100" marB="38100" anchor="ctr"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1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</a:rPr>
                        <a:t>计算方法</a:t>
                      </a:r>
                    </a:p>
                  </a:txBody>
                  <a:tcPr marL="88900" marR="88900" marT="38100" marB="38100" anchor="ctr"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1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</a:rPr>
                        <a:t>反映的问题</a:t>
                      </a:r>
                    </a:p>
                  </a:txBody>
                  <a:tcPr marL="88900" marR="88900" marT="38100" marB="38100" anchor="ctr"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1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</a:rPr>
                        <a:t>注意事项</a:t>
                      </a:r>
                    </a:p>
                  </a:txBody>
                  <a:tcPr marL="88900" marR="88900" marT="38100" marB="38100" anchor="ctr">
                    <a:solidFill>
                      <a:srgbClr val="E3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TPOT（Time Per Output Token）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(端到端时延 − TTFT) / (输出 token 数 − 1)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单个请求平均每生成一个 token 所需时间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会把长停顿平均掉，不能单独代表流畅度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ITL（Inter-Token Latency）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相邻两个输出 token 的到达时间之差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输出是否连续，是否存在局部停顿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需报告分布或 P99，而非仅报平均值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生成速度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输出 token 数 / Decode 时间 ≈ 1 / TPOT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用户感知的逐字输出速度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与总吞吐不同：总吞吐可由多请求并行叠加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body-2"/>
          <p:cNvSpPr/>
          <p:nvPr/>
        </p:nvSpPr>
        <p:spPr>
          <a:xfrm>
            <a:off x="612648" y="5225796"/>
            <a:ext cx="10972800" cy="4297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1950" b="0" dirty="0" err="1">
                <a:solidFill>
                  <a:srgbClr val="172B3A"/>
                </a:solidFill>
                <a:latin typeface="微软雅黑"/>
                <a:ea typeface="微软雅黑"/>
              </a:rPr>
              <a:t>平均</a:t>
            </a:r>
            <a:r>
              <a:rPr sz="1950" b="0" dirty="0">
                <a:solidFill>
                  <a:srgbClr val="172B3A"/>
                </a:solidFill>
                <a:latin typeface="微软雅黑"/>
                <a:ea typeface="微软雅黑"/>
              </a:rPr>
              <a:t> TPOT </a:t>
            </a:r>
            <a:r>
              <a:rPr sz="1950" b="0" dirty="0" err="1">
                <a:solidFill>
                  <a:srgbClr val="172B3A"/>
                </a:solidFill>
                <a:latin typeface="微软雅黑"/>
                <a:ea typeface="微软雅黑"/>
              </a:rPr>
              <a:t>接近时，ITL</a:t>
            </a:r>
            <a:r>
              <a:rPr sz="1950" b="0" dirty="0">
                <a:solidFill>
                  <a:srgbClr val="172B3A"/>
                </a:solidFill>
                <a:latin typeface="微软雅黑"/>
                <a:ea typeface="微软雅黑"/>
              </a:rPr>
              <a:t> P99 </a:t>
            </a:r>
            <a:r>
              <a:rPr sz="1950" b="0" dirty="0" err="1">
                <a:solidFill>
                  <a:srgbClr val="172B3A"/>
                </a:solidFill>
                <a:latin typeface="微软雅黑"/>
                <a:ea typeface="微软雅黑"/>
              </a:rPr>
              <a:t>仍可能暴露长停顿；交互式服务应同时报告二者</a:t>
            </a:r>
            <a:r>
              <a:rPr sz="1950" b="0" dirty="0">
                <a:solidFill>
                  <a:srgbClr val="172B3A"/>
                </a:solidFill>
                <a:latin typeface="微软雅黑"/>
                <a:ea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83464" y="146304"/>
            <a:ext cx="1083564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3150" b="1">
                <a:solidFill>
                  <a:srgbClr val="FFFFFF"/>
                </a:solidFill>
                <a:latin typeface="微软雅黑"/>
                <a:ea typeface="微软雅黑"/>
              </a:rPr>
              <a:t>1.5 端到端时延与三类吞吐</a:t>
            </a:r>
          </a:p>
        </p:txBody>
      </p:sp>
      <p:sp>
        <p:nvSpPr>
          <p:cNvPr id="3" name="page-number"/>
          <p:cNvSpPr/>
          <p:nvPr/>
        </p:nvSpPr>
        <p:spPr>
          <a:xfrm>
            <a:off x="11567160" y="6537960"/>
            <a:ext cx="475488" cy="283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r">
              <a:lnSpc>
                <a:spcPct val="113000"/>
              </a:lnSpc>
            </a:pPr>
            <a:r>
              <a:rPr sz="1725" b="1">
                <a:solidFill>
                  <a:srgbClr val="003C8B"/>
                </a:solidFill>
                <a:latin typeface="微软雅黑"/>
                <a:ea typeface="微软雅黑"/>
              </a:rPr>
              <a:t>08</a:t>
            </a:r>
          </a:p>
        </p:txBody>
      </p:sp>
      <p:sp>
        <p:nvSpPr>
          <p:cNvPr id="4" name="lead"/>
          <p:cNvSpPr/>
          <p:nvPr/>
        </p:nvSpPr>
        <p:spPr>
          <a:xfrm>
            <a:off x="612648" y="1133856"/>
            <a:ext cx="109728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2250" b="1">
                <a:solidFill>
                  <a:srgbClr val="003C8B"/>
                </a:solidFill>
                <a:latin typeface="微软雅黑"/>
                <a:ea typeface="微软雅黑"/>
              </a:rPr>
              <a:t>端到端时延面向单个请求，吞吐面向服务整体；二者必须在同一测量窗口内报告</a:t>
            </a:r>
          </a:p>
        </p:txBody>
      </p:sp>
      <p:graphicFrame>
        <p:nvGraphicFramePr>
          <p:cNvPr id="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4294642"/>
              </p:ext>
            </p:extLst>
          </p:nvPr>
        </p:nvGraphicFramePr>
        <p:xfrm>
          <a:off x="612648" y="1984248"/>
          <a:ext cx="10972800" cy="2826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06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928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1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</a:rPr>
                        <a:t>指标</a:t>
                      </a:r>
                    </a:p>
                  </a:txBody>
                  <a:tcPr marL="88900" marR="88900" marT="38100" marB="38100" anchor="ctr"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1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</a:rPr>
                        <a:t>定义</a:t>
                      </a:r>
                    </a:p>
                  </a:txBody>
                  <a:tcPr marL="88900" marR="88900" marT="38100" marB="38100" anchor="ctr"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1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</a:rPr>
                        <a:t>适用场景</a:t>
                      </a:r>
                    </a:p>
                  </a:txBody>
                  <a:tcPr marL="88900" marR="88900" marT="38100" marB="38100" anchor="ctr"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1" dirty="0" err="1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</a:rPr>
                        <a:t>常见误读</a:t>
                      </a:r>
                      <a:endParaRPr sz="1550" b="1" dirty="0">
                        <a:solidFill>
                          <a:srgbClr val="003C8B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88900" marR="88900" marT="38100" marB="38100" anchor="ctr">
                    <a:solidFill>
                      <a:srgbClr val="E3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端到端时延 E2E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请求发送至最后一个 token 到达（或连接结束）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用户等待完整回答的时间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只报平均值会掩盖长尾与失败请求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请求吞吐 req/s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成功完成请求数 / 测量窗口时长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以请求为计费或限流单位的服务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请求长短不同，req/s 不可跨负载直接比较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输出吞吐 tok/s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全部成功请求的输出 token 总数 / 窗口时长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比较 Decode 产能与并发扩展效果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并发提高总吞吐，不代表单请求变快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总吞吐 tok/s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(输入 token + 输出 token) / 窗口时长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同时考察 Prefill 与 Decode 的总处理量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 dirty="0" err="1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输入很长时总吞吐高，生成速度未必高</a:t>
                      </a:r>
                      <a:endParaRPr sz="1550" b="0" dirty="0">
                        <a:solidFill>
                          <a:srgbClr val="172B3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body-1"/>
          <p:cNvSpPr/>
          <p:nvPr/>
        </p:nvSpPr>
        <p:spPr>
          <a:xfrm>
            <a:off x="612648" y="5029200"/>
            <a:ext cx="10972800" cy="5943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2000" b="1" dirty="0">
                <a:solidFill>
                  <a:srgbClr val="003C8B"/>
                </a:solidFill>
                <a:latin typeface="微软雅黑"/>
                <a:ea typeface="微软雅黑"/>
              </a:rPr>
              <a:t>由 Little </a:t>
            </a:r>
            <a:r>
              <a:rPr sz="2000" b="1" dirty="0" err="1">
                <a:solidFill>
                  <a:srgbClr val="003C8B"/>
                </a:solidFill>
                <a:latin typeface="微软雅黑"/>
                <a:ea typeface="微软雅黑"/>
              </a:rPr>
              <a:t>定律，平均在途请求数</a:t>
            </a:r>
            <a:r>
              <a:rPr sz="2000" b="1" dirty="0">
                <a:solidFill>
                  <a:srgbClr val="003C8B"/>
                </a:solidFill>
                <a:latin typeface="微软雅黑"/>
                <a:ea typeface="微软雅黑"/>
              </a:rPr>
              <a:t> = </a:t>
            </a:r>
            <a:r>
              <a:rPr sz="2000" b="1" dirty="0" err="1">
                <a:solidFill>
                  <a:srgbClr val="003C8B"/>
                </a:solidFill>
                <a:latin typeface="微软雅黑"/>
                <a:ea typeface="微软雅黑"/>
              </a:rPr>
              <a:t>完成速率</a:t>
            </a:r>
            <a:r>
              <a:rPr sz="2000" b="1" dirty="0">
                <a:solidFill>
                  <a:srgbClr val="003C8B"/>
                </a:solidFill>
                <a:latin typeface="微软雅黑"/>
                <a:ea typeface="微软雅黑"/>
              </a:rPr>
              <a:t> × </a:t>
            </a:r>
            <a:r>
              <a:rPr sz="2000" b="1" dirty="0" err="1">
                <a:solidFill>
                  <a:srgbClr val="003C8B"/>
                </a:solidFill>
                <a:latin typeface="微软雅黑"/>
                <a:ea typeface="微软雅黑"/>
              </a:rPr>
              <a:t>平均响应时间</a:t>
            </a:r>
            <a:r>
              <a:rPr sz="2000" b="1" dirty="0">
                <a:solidFill>
                  <a:srgbClr val="003C8B"/>
                </a:solidFill>
                <a:latin typeface="微软雅黑"/>
                <a:ea typeface="微软雅黑"/>
              </a:rPr>
              <a:t>；</a:t>
            </a:r>
            <a:endParaRPr lang="en-US" sz="2000" b="1" dirty="0">
              <a:solidFill>
                <a:srgbClr val="003C8B"/>
              </a:solidFill>
              <a:latin typeface="微软雅黑"/>
              <a:ea typeface="微软雅黑"/>
            </a:endParaRPr>
          </a:p>
          <a:p>
            <a:pPr algn="l">
              <a:lnSpc>
                <a:spcPct val="113000"/>
              </a:lnSpc>
            </a:pPr>
            <a:r>
              <a:rPr sz="2000" b="1" dirty="0" err="1">
                <a:solidFill>
                  <a:srgbClr val="003C8B"/>
                </a:solidFill>
                <a:latin typeface="微软雅黑"/>
                <a:ea typeface="微软雅黑"/>
              </a:rPr>
              <a:t>吞吐不再增长时，增加在途请求只会拉长响应</a:t>
            </a:r>
            <a:r>
              <a:rPr sz="2000" b="1" dirty="0">
                <a:solidFill>
                  <a:srgbClr val="003C8B"/>
                </a:solidFill>
                <a:latin typeface="微软雅黑"/>
                <a:ea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83464" y="146304"/>
            <a:ext cx="1083564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3150" b="1">
                <a:solidFill>
                  <a:srgbClr val="FFFFFF"/>
                </a:solidFill>
                <a:latin typeface="微软雅黑"/>
                <a:ea typeface="微软雅黑"/>
              </a:rPr>
              <a:t>1.6 尾延迟：为何必须报告 P95 与 P99</a:t>
            </a:r>
          </a:p>
        </p:txBody>
      </p:sp>
      <p:sp>
        <p:nvSpPr>
          <p:cNvPr id="3" name="page-number"/>
          <p:cNvSpPr/>
          <p:nvPr/>
        </p:nvSpPr>
        <p:spPr>
          <a:xfrm>
            <a:off x="11567160" y="6537960"/>
            <a:ext cx="475488" cy="283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r">
              <a:lnSpc>
                <a:spcPct val="113000"/>
              </a:lnSpc>
            </a:pPr>
            <a:r>
              <a:rPr sz="1725" b="1">
                <a:solidFill>
                  <a:srgbClr val="003C8B"/>
                </a:solidFill>
                <a:latin typeface="微软雅黑"/>
                <a:ea typeface="微软雅黑"/>
              </a:rPr>
              <a:t>09</a:t>
            </a:r>
          </a:p>
        </p:txBody>
      </p:sp>
      <p:sp>
        <p:nvSpPr>
          <p:cNvPr id="4" name="lead"/>
          <p:cNvSpPr/>
          <p:nvPr/>
        </p:nvSpPr>
        <p:spPr>
          <a:xfrm>
            <a:off x="612648" y="1133856"/>
            <a:ext cx="109728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2250" b="1">
                <a:solidFill>
                  <a:srgbClr val="003C8B"/>
                </a:solidFill>
                <a:latin typeface="微软雅黑"/>
                <a:ea typeface="微软雅黑"/>
              </a:rPr>
              <a:t>分位数表示“有多大比例的请求不慢于该值”，用于刻画少数请求的恶化程度</a:t>
            </a:r>
          </a:p>
        </p:txBody>
      </p:sp>
      <p:sp>
        <p:nvSpPr>
          <p:cNvPr id="5" name="body-1"/>
          <p:cNvSpPr/>
          <p:nvPr/>
        </p:nvSpPr>
        <p:spPr>
          <a:xfrm>
            <a:off x="612648" y="1929384"/>
            <a:ext cx="5303520" cy="4389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2100" b="1">
                <a:solidFill>
                  <a:srgbClr val="003C8B"/>
                </a:solidFill>
                <a:latin typeface="微软雅黑"/>
                <a:ea typeface="微软雅黑"/>
              </a:rPr>
              <a:t>如何读分位数</a:t>
            </a:r>
          </a:p>
        </p:txBody>
      </p:sp>
      <p:sp>
        <p:nvSpPr>
          <p:cNvPr id="6" name="body-2"/>
          <p:cNvSpPr/>
          <p:nvPr/>
        </p:nvSpPr>
        <p:spPr>
          <a:xfrm>
            <a:off x="612648" y="2423160"/>
            <a:ext cx="5303520" cy="2560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1950" b="0" dirty="0">
                <a:solidFill>
                  <a:srgbClr val="172B3A"/>
                </a:solidFill>
                <a:latin typeface="微软雅黑"/>
                <a:ea typeface="微软雅黑"/>
              </a:rPr>
              <a:t>P50 </a:t>
            </a:r>
            <a:r>
              <a:rPr sz="1950" b="0" dirty="0" err="1">
                <a:solidFill>
                  <a:srgbClr val="172B3A"/>
                </a:solidFill>
                <a:latin typeface="微软雅黑"/>
                <a:ea typeface="微软雅黑"/>
              </a:rPr>
              <a:t>是中位数，代表典型请求</a:t>
            </a:r>
            <a:r>
              <a:rPr sz="1950" b="0" dirty="0">
                <a:solidFill>
                  <a:srgbClr val="172B3A"/>
                </a:solidFill>
                <a:latin typeface="微软雅黑"/>
                <a:ea typeface="微软雅黑"/>
              </a:rPr>
              <a:t>；</a:t>
            </a:r>
            <a:endParaRPr lang="en-US" sz="1950" b="0" dirty="0">
              <a:solidFill>
                <a:srgbClr val="172B3A"/>
              </a:solidFill>
              <a:latin typeface="微软雅黑"/>
              <a:ea typeface="微软雅黑"/>
            </a:endParaRPr>
          </a:p>
          <a:p>
            <a:pPr algn="l">
              <a:lnSpc>
                <a:spcPct val="113000"/>
              </a:lnSpc>
            </a:pPr>
            <a:r>
              <a:rPr sz="1950" b="0" dirty="0">
                <a:solidFill>
                  <a:srgbClr val="172B3A"/>
                </a:solidFill>
                <a:latin typeface="微软雅黑"/>
                <a:ea typeface="微软雅黑"/>
              </a:rPr>
              <a:t>P95 </a:t>
            </a:r>
            <a:r>
              <a:rPr sz="1950" b="0" dirty="0" err="1">
                <a:solidFill>
                  <a:srgbClr val="172B3A"/>
                </a:solidFill>
                <a:latin typeface="微软雅黑"/>
                <a:ea typeface="微软雅黑"/>
              </a:rPr>
              <a:t>表示</a:t>
            </a:r>
            <a:r>
              <a:rPr sz="1950" b="0" dirty="0">
                <a:solidFill>
                  <a:srgbClr val="172B3A"/>
                </a:solidFill>
                <a:latin typeface="微软雅黑"/>
                <a:ea typeface="微软雅黑"/>
              </a:rPr>
              <a:t> 95% </a:t>
            </a:r>
            <a:r>
              <a:rPr sz="1950" b="0" dirty="0" err="1">
                <a:solidFill>
                  <a:srgbClr val="172B3A"/>
                </a:solidFill>
                <a:latin typeface="微软雅黑"/>
                <a:ea typeface="微软雅黑"/>
              </a:rPr>
              <a:t>的请求不超过该延迟</a:t>
            </a:r>
            <a:r>
              <a:rPr sz="1950" b="0" dirty="0">
                <a:solidFill>
                  <a:srgbClr val="172B3A"/>
                </a:solidFill>
                <a:latin typeface="微软雅黑"/>
                <a:ea typeface="微软雅黑"/>
              </a:rPr>
              <a:t>；</a:t>
            </a:r>
            <a:endParaRPr lang="en-US" sz="1950" b="0" dirty="0">
              <a:solidFill>
                <a:srgbClr val="172B3A"/>
              </a:solidFill>
              <a:latin typeface="微软雅黑"/>
              <a:ea typeface="微软雅黑"/>
            </a:endParaRPr>
          </a:p>
          <a:p>
            <a:pPr algn="l">
              <a:lnSpc>
                <a:spcPct val="113000"/>
              </a:lnSpc>
            </a:pPr>
            <a:r>
              <a:rPr sz="1950" b="0" dirty="0">
                <a:solidFill>
                  <a:srgbClr val="172B3A"/>
                </a:solidFill>
                <a:latin typeface="微软雅黑"/>
                <a:ea typeface="微软雅黑"/>
              </a:rPr>
              <a:t>P99 </a:t>
            </a:r>
            <a:r>
              <a:rPr sz="1950" b="0" dirty="0" err="1">
                <a:solidFill>
                  <a:srgbClr val="172B3A"/>
                </a:solidFill>
                <a:latin typeface="微软雅黑"/>
                <a:ea typeface="微软雅黑"/>
              </a:rPr>
              <a:t>关注最慢的约</a:t>
            </a:r>
            <a:r>
              <a:rPr sz="1950" b="0" dirty="0">
                <a:solidFill>
                  <a:srgbClr val="172B3A"/>
                </a:solidFill>
                <a:latin typeface="微软雅黑"/>
                <a:ea typeface="微软雅黑"/>
              </a:rPr>
              <a:t> 1% </a:t>
            </a:r>
            <a:r>
              <a:rPr sz="1950" b="0" dirty="0" err="1">
                <a:solidFill>
                  <a:srgbClr val="172B3A"/>
                </a:solidFill>
                <a:latin typeface="微软雅黑"/>
                <a:ea typeface="微软雅黑"/>
              </a:rPr>
              <a:t>请求，常用于发现排队、长</a:t>
            </a:r>
            <a:r>
              <a:rPr sz="1950" b="0" dirty="0">
                <a:solidFill>
                  <a:srgbClr val="172B3A"/>
                </a:solidFill>
                <a:latin typeface="微软雅黑"/>
                <a:ea typeface="微软雅黑"/>
              </a:rPr>
              <a:t> Prefill </a:t>
            </a:r>
            <a:r>
              <a:rPr sz="1950" b="0" dirty="0" err="1">
                <a:solidFill>
                  <a:srgbClr val="172B3A"/>
                </a:solidFill>
                <a:latin typeface="微软雅黑"/>
                <a:ea typeface="微软雅黑"/>
              </a:rPr>
              <a:t>干扰与抢占造成的停顿</a:t>
            </a:r>
            <a:r>
              <a:rPr sz="1950" b="0" dirty="0">
                <a:solidFill>
                  <a:srgbClr val="172B3A"/>
                </a:solidFill>
                <a:latin typeface="微软雅黑"/>
                <a:ea typeface="微软雅黑"/>
              </a:rPr>
              <a:t>。</a:t>
            </a:r>
          </a:p>
        </p:txBody>
      </p:sp>
      <p:sp>
        <p:nvSpPr>
          <p:cNvPr id="7" name="body-3"/>
          <p:cNvSpPr/>
          <p:nvPr/>
        </p:nvSpPr>
        <p:spPr>
          <a:xfrm>
            <a:off x="6263640" y="1929384"/>
            <a:ext cx="5321808" cy="4389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2100" b="1">
                <a:solidFill>
                  <a:srgbClr val="003C8B"/>
                </a:solidFill>
                <a:latin typeface="微软雅黑"/>
                <a:ea typeface="微软雅黑"/>
              </a:rPr>
              <a:t>与平均值的关系</a:t>
            </a:r>
          </a:p>
        </p:txBody>
      </p:sp>
      <p:sp>
        <p:nvSpPr>
          <p:cNvPr id="8" name="body-4"/>
          <p:cNvSpPr/>
          <p:nvPr/>
        </p:nvSpPr>
        <p:spPr>
          <a:xfrm>
            <a:off x="6263640" y="2423160"/>
            <a:ext cx="5321808" cy="2560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1950" b="0">
                <a:solidFill>
                  <a:srgbClr val="172B3A"/>
                </a:solidFill>
                <a:latin typeface="微软雅黑"/>
                <a:ea typeface="微软雅黑"/>
              </a:rPr>
              <a:t>两组配置的平均 TPOT 可能接近，但其中一组因长输入混入出现间歇停顿，其 ITL P99 会显著升高。只报均值会误判为“性能相同”。</a:t>
            </a:r>
          </a:p>
          <a:p>
            <a:pPr algn="l">
              <a:lnSpc>
                <a:spcPct val="113000"/>
              </a:lnSpc>
              <a:spcBef>
                <a:spcPts val="600"/>
              </a:spcBef>
            </a:pPr>
            <a:r>
              <a:rPr sz="1950" b="1">
                <a:solidFill>
                  <a:srgbClr val="003C8B"/>
                </a:solidFill>
                <a:latin typeface="微软雅黑"/>
                <a:ea typeface="微软雅黑"/>
              </a:rPr>
              <a:t>本讲每个实验均要求同时填入 mean、P50、P95 与 P99。</a:t>
            </a:r>
          </a:p>
        </p:txBody>
      </p:sp>
      <p:sp>
        <p:nvSpPr>
          <p:cNvPr id="9" name="body-5"/>
          <p:cNvSpPr/>
          <p:nvPr/>
        </p:nvSpPr>
        <p:spPr>
          <a:xfrm>
            <a:off x="612648" y="5230368"/>
            <a:ext cx="109728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2000" b="1" dirty="0" err="1">
                <a:solidFill>
                  <a:srgbClr val="003C8B"/>
                </a:solidFill>
                <a:latin typeface="微软雅黑"/>
                <a:ea typeface="微软雅黑"/>
              </a:rPr>
              <a:t>样本数过少时</a:t>
            </a:r>
            <a:r>
              <a:rPr sz="2000" b="1" dirty="0">
                <a:solidFill>
                  <a:srgbClr val="003C8B"/>
                </a:solidFill>
                <a:latin typeface="微软雅黑"/>
                <a:ea typeface="微软雅黑"/>
              </a:rPr>
              <a:t> P99 </a:t>
            </a:r>
            <a:r>
              <a:rPr sz="2000" b="1" dirty="0" err="1">
                <a:solidFill>
                  <a:srgbClr val="003C8B"/>
                </a:solidFill>
                <a:latin typeface="微软雅黑"/>
                <a:ea typeface="微软雅黑"/>
              </a:rPr>
              <a:t>不稳定</a:t>
            </a:r>
            <a:r>
              <a:rPr sz="2000" b="1" dirty="0">
                <a:solidFill>
                  <a:srgbClr val="003C8B"/>
                </a:solidFill>
                <a:latin typeface="微软雅黑"/>
                <a:ea typeface="微软雅黑"/>
              </a:rPr>
              <a:t>：</a:t>
            </a:r>
            <a:r>
              <a:rPr lang="zh-CN" altLang="en-US" sz="2000" b="1" dirty="0">
                <a:solidFill>
                  <a:srgbClr val="003C8B"/>
                </a:solidFill>
                <a:latin typeface="微软雅黑"/>
                <a:ea typeface="微软雅黑"/>
              </a:rPr>
              <a:t>需要完成至少</a:t>
            </a:r>
            <a:r>
              <a:rPr sz="2000" b="1" dirty="0" err="1">
                <a:solidFill>
                  <a:srgbClr val="003C8B"/>
                </a:solidFill>
                <a:latin typeface="微软雅黑"/>
                <a:ea typeface="微软雅黑"/>
              </a:rPr>
              <a:t>数十个请求，并在表中注明请求总数与失败数</a:t>
            </a:r>
            <a:r>
              <a:rPr sz="2000" b="1" dirty="0">
                <a:solidFill>
                  <a:srgbClr val="003C8B"/>
                </a:solidFill>
                <a:latin typeface="微软雅黑"/>
                <a:ea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83464" y="146304"/>
            <a:ext cx="1083564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3150" b="1">
                <a:solidFill>
                  <a:srgbClr val="FFFFFF"/>
                </a:solidFill>
                <a:latin typeface="微软雅黑"/>
                <a:ea typeface="微软雅黑"/>
              </a:rPr>
              <a:t>1.7 资源与队列指标：服务端指标的读法</a:t>
            </a:r>
          </a:p>
        </p:txBody>
      </p:sp>
      <p:sp>
        <p:nvSpPr>
          <p:cNvPr id="3" name="page-number"/>
          <p:cNvSpPr/>
          <p:nvPr/>
        </p:nvSpPr>
        <p:spPr>
          <a:xfrm>
            <a:off x="11567160" y="6537960"/>
            <a:ext cx="475488" cy="283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r">
              <a:lnSpc>
                <a:spcPct val="113000"/>
              </a:lnSpc>
            </a:pPr>
            <a:r>
              <a:rPr sz="1725" b="1">
                <a:solidFill>
                  <a:srgbClr val="003C8B"/>
                </a:solidFill>
                <a:latin typeface="微软雅黑"/>
                <a:ea typeface="微软雅黑"/>
              </a:rPr>
              <a:t>10</a:t>
            </a:r>
          </a:p>
        </p:txBody>
      </p:sp>
      <p:sp>
        <p:nvSpPr>
          <p:cNvPr id="4" name="lead"/>
          <p:cNvSpPr/>
          <p:nvPr/>
        </p:nvSpPr>
        <p:spPr>
          <a:xfrm>
            <a:off x="612648" y="1133856"/>
            <a:ext cx="109728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2250" b="1">
                <a:solidFill>
                  <a:srgbClr val="003C8B"/>
                </a:solidFill>
                <a:latin typeface="微软雅黑"/>
                <a:ea typeface="微软雅黑"/>
              </a:rPr>
              <a:t>客户端指标说明“慢多少”，服务端指标进一步说明“慢在哪里”</a:t>
            </a:r>
          </a:p>
        </p:txBody>
      </p:sp>
      <p:sp>
        <p:nvSpPr>
          <p:cNvPr id="5" name="bottom-note"/>
          <p:cNvSpPr/>
          <p:nvPr/>
        </p:nvSpPr>
        <p:spPr>
          <a:xfrm>
            <a:off x="612648" y="6053328"/>
            <a:ext cx="10972800" cy="1920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1050" b="0">
                <a:solidFill>
                  <a:srgbClr val="60717E"/>
                </a:solidFill>
                <a:latin typeface="微软雅黑"/>
                <a:ea typeface="微软雅黑"/>
              </a:rPr>
              <a:t>注：KV 使用率高本身不等于故障；需结合 Waiting、抢占与 ITL P99 判断是否已形成压力。</a:t>
            </a:r>
          </a:p>
        </p:txBody>
      </p:sp>
      <p:graphicFrame>
        <p:nvGraphicFramePr>
          <p:cNvPr id="6" name="table"/>
          <p:cNvGraphicFramePr>
            <a:graphicFrameLocks noGrp="1"/>
          </p:cNvGraphicFramePr>
          <p:nvPr/>
        </p:nvGraphicFramePr>
        <p:xfrm>
          <a:off x="612648" y="1874519"/>
          <a:ext cx="10972800" cy="20782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1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</a:rPr>
                        <a:t>服务端指标</a:t>
                      </a:r>
                    </a:p>
                  </a:txBody>
                  <a:tcPr marL="88900" marR="88900" marT="38100" marB="38100" anchor="ctr"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1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</a:rPr>
                        <a:t>含义</a:t>
                      </a:r>
                    </a:p>
                  </a:txBody>
                  <a:tcPr marL="88900" marR="88900" marT="38100" marB="38100" anchor="ctr"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1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</a:rPr>
                        <a:t>观察方法</a:t>
                      </a:r>
                    </a:p>
                  </a:txBody>
                  <a:tcPr marL="88900" marR="88900" marT="38100" marB="38100" anchor="ctr">
                    <a:solidFill>
                      <a:srgbClr val="E3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Prompt / Generation 吞吐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最近窗口的输入处理速率与生成速率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二者对比可区分 Prefill 与 Decode 压力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Running / Waiting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运行中的请求数 / 等待调度的请求数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Waiting 持续增长，说明到达超过消化能力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KV 使用率 / Prefix 命中率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KV Cache 占用比例 / 共享前缀的复用命中比例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结合 TTFT 判断缓存是否成为瓶颈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body-1"/>
          <p:cNvSpPr/>
          <p:nvPr/>
        </p:nvSpPr>
        <p:spPr>
          <a:xfrm>
            <a:off x="612648" y="4160520"/>
            <a:ext cx="109728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2000" b="1" dirty="0" err="1">
                <a:solidFill>
                  <a:srgbClr val="003C8B"/>
                </a:solidFill>
                <a:latin typeface="微软雅黑"/>
                <a:ea typeface="微软雅黑"/>
              </a:rPr>
              <a:t>读法顺序：先看</a:t>
            </a:r>
            <a:r>
              <a:rPr sz="2000" b="1" dirty="0">
                <a:solidFill>
                  <a:srgbClr val="003C8B"/>
                </a:solidFill>
                <a:latin typeface="微软雅黑"/>
                <a:ea typeface="微软雅黑"/>
              </a:rPr>
              <a:t> Waiting </a:t>
            </a:r>
            <a:r>
              <a:rPr sz="2000" b="1" dirty="0" err="1">
                <a:solidFill>
                  <a:srgbClr val="003C8B"/>
                </a:solidFill>
                <a:latin typeface="微软雅黑"/>
                <a:ea typeface="微软雅黑"/>
              </a:rPr>
              <a:t>判断是否在排队，再看</a:t>
            </a:r>
            <a:r>
              <a:rPr sz="2000" b="1" dirty="0">
                <a:solidFill>
                  <a:srgbClr val="003C8B"/>
                </a:solidFill>
                <a:latin typeface="微软雅黑"/>
                <a:ea typeface="微软雅黑"/>
              </a:rPr>
              <a:t> KV </a:t>
            </a:r>
            <a:r>
              <a:rPr sz="2000" b="1" dirty="0" err="1">
                <a:solidFill>
                  <a:srgbClr val="003C8B"/>
                </a:solidFill>
                <a:latin typeface="微软雅黑"/>
                <a:ea typeface="微软雅黑"/>
              </a:rPr>
              <a:t>使用率与前缀命中率判断缓存压力，最后用生成吞吐确认解码产能</a:t>
            </a:r>
            <a:r>
              <a:rPr sz="2000" b="1" dirty="0">
                <a:solidFill>
                  <a:srgbClr val="003C8B"/>
                </a:solidFill>
                <a:latin typeface="微软雅黑"/>
                <a:ea typeface="微软雅黑"/>
              </a:rPr>
              <a:t>。</a:t>
            </a:r>
            <a:endParaRPr lang="en-US" sz="2000" b="1" dirty="0">
              <a:solidFill>
                <a:srgbClr val="003C8B"/>
              </a:solidFill>
              <a:latin typeface="微软雅黑"/>
              <a:ea typeface="微软雅黑"/>
            </a:endParaRPr>
          </a:p>
          <a:p>
            <a:pPr algn="l">
              <a:lnSpc>
                <a:spcPct val="113000"/>
              </a:lnSpc>
            </a:pPr>
            <a:endParaRPr sz="2000" b="1" dirty="0">
              <a:solidFill>
                <a:srgbClr val="003C8B"/>
              </a:solidFill>
              <a:latin typeface="微软雅黑"/>
              <a:ea typeface="微软雅黑"/>
            </a:endParaRPr>
          </a:p>
        </p:txBody>
      </p:sp>
      <p:sp>
        <p:nvSpPr>
          <p:cNvPr id="8" name="body-2"/>
          <p:cNvSpPr/>
          <p:nvPr/>
        </p:nvSpPr>
        <p:spPr>
          <a:xfrm>
            <a:off x="612648" y="4983480"/>
            <a:ext cx="1097280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1950" b="0" dirty="0" err="1">
                <a:solidFill>
                  <a:srgbClr val="172B3A"/>
                </a:solidFill>
                <a:latin typeface="微软雅黑"/>
                <a:ea typeface="微软雅黑"/>
              </a:rPr>
              <a:t>vLLM</a:t>
            </a:r>
            <a:r>
              <a:rPr sz="1950" b="0" dirty="0">
                <a:solidFill>
                  <a:srgbClr val="172B3A"/>
                </a:solidFill>
                <a:latin typeface="微软雅黑"/>
                <a:ea typeface="微软雅黑"/>
              </a:rPr>
              <a:t> </a:t>
            </a:r>
            <a:r>
              <a:rPr sz="1950" b="0" dirty="0" err="1">
                <a:solidFill>
                  <a:srgbClr val="172B3A"/>
                </a:solidFill>
                <a:latin typeface="微软雅黑"/>
                <a:ea typeface="微软雅黑"/>
              </a:rPr>
              <a:t>服务运行时会周期性输出上述指标，也可通过服务的</a:t>
            </a:r>
            <a:r>
              <a:rPr sz="1950" b="0" dirty="0">
                <a:solidFill>
                  <a:srgbClr val="172B3A"/>
                </a:solidFill>
                <a:latin typeface="微软雅黑"/>
                <a:ea typeface="微软雅黑"/>
              </a:rPr>
              <a:t> /metrics </a:t>
            </a:r>
            <a:r>
              <a:rPr sz="1950" b="0" dirty="0" err="1">
                <a:solidFill>
                  <a:srgbClr val="172B3A"/>
                </a:solidFill>
                <a:latin typeface="微软雅黑"/>
                <a:ea typeface="微软雅黑"/>
              </a:rPr>
              <a:t>接口获取；报告实验结果时记录测量窗口内的典型值与峰值即可</a:t>
            </a:r>
            <a:r>
              <a:rPr sz="1950" b="0" dirty="0">
                <a:solidFill>
                  <a:srgbClr val="172B3A"/>
                </a:solidFill>
                <a:latin typeface="微软雅黑"/>
                <a:ea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83464" y="146304"/>
            <a:ext cx="1083564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3150" b="1">
                <a:solidFill>
                  <a:srgbClr val="FFFFFF"/>
                </a:solidFill>
                <a:latin typeface="微软雅黑"/>
                <a:ea typeface="微软雅黑"/>
              </a:rPr>
              <a:t>2.1 实验平台与固定条件</a:t>
            </a:r>
          </a:p>
        </p:txBody>
      </p:sp>
      <p:sp>
        <p:nvSpPr>
          <p:cNvPr id="3" name="page-number"/>
          <p:cNvSpPr/>
          <p:nvPr/>
        </p:nvSpPr>
        <p:spPr>
          <a:xfrm>
            <a:off x="11567160" y="6537960"/>
            <a:ext cx="475488" cy="283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r">
              <a:lnSpc>
                <a:spcPct val="113000"/>
              </a:lnSpc>
            </a:pPr>
            <a:r>
              <a:rPr sz="1725" b="1">
                <a:solidFill>
                  <a:srgbClr val="003C8B"/>
                </a:solidFill>
                <a:latin typeface="微软雅黑"/>
                <a:ea typeface="微软雅黑"/>
              </a:rPr>
              <a:t>11</a:t>
            </a:r>
          </a:p>
        </p:txBody>
      </p:sp>
      <p:sp>
        <p:nvSpPr>
          <p:cNvPr id="4" name="lead"/>
          <p:cNvSpPr/>
          <p:nvPr/>
        </p:nvSpPr>
        <p:spPr>
          <a:xfrm>
            <a:off x="612648" y="1133856"/>
            <a:ext cx="109728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2250" b="1">
                <a:solidFill>
                  <a:srgbClr val="003C8B"/>
                </a:solidFill>
                <a:latin typeface="微软雅黑"/>
                <a:ea typeface="微软雅黑"/>
              </a:rPr>
              <a:t>所有对比实验只改变一个服务端参数，其余条件保持一致，结果才可比</a:t>
            </a:r>
          </a:p>
        </p:txBody>
      </p:sp>
      <p:sp>
        <p:nvSpPr>
          <p:cNvPr id="5" name="bottom-note"/>
          <p:cNvSpPr/>
          <p:nvPr/>
        </p:nvSpPr>
        <p:spPr>
          <a:xfrm>
            <a:off x="612648" y="6053328"/>
            <a:ext cx="10972800" cy="1920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1050" b="0">
                <a:solidFill>
                  <a:srgbClr val="60717E"/>
                </a:solidFill>
                <a:latin typeface="微软雅黑"/>
                <a:ea typeface="微软雅黑"/>
              </a:rPr>
              <a:t>注：每组配置均需预热后测量，至少完成数十个请求；重启服务时记录 KV token 总量。</a:t>
            </a:r>
          </a:p>
        </p:txBody>
      </p:sp>
      <p:graphicFrame>
        <p:nvGraphicFramePr>
          <p:cNvPr id="6" name="table"/>
          <p:cNvGraphicFramePr>
            <a:graphicFrameLocks noGrp="1"/>
          </p:cNvGraphicFramePr>
          <p:nvPr/>
        </p:nvGraphicFramePr>
        <p:xfrm>
          <a:off x="612648" y="1984248"/>
          <a:ext cx="10972800" cy="3393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1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marL="88900" marR="88900" marT="38100" marB="38100" anchor="ctr"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1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</a:rPr>
                        <a:t>统一设置</a:t>
                      </a:r>
                    </a:p>
                  </a:txBody>
                  <a:tcPr marL="88900" marR="88900" marT="38100" marB="38100" anchor="ctr"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1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</a:rPr>
                        <a:t>说明</a:t>
                      </a:r>
                    </a:p>
                  </a:txBody>
                  <a:tcPr marL="88900" marR="88900" marT="38100" marB="38100" anchor="ctr">
                    <a:solidFill>
                      <a:srgbClr val="E3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硬件与模型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DGX Spark（GB10，121.7 GiB）；Qwen3-1.7B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与第六周相同，避免模型差异干扰参数结论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基础服务参数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--host 127.0.0.1；--gpu-memory-utilization 0.08；--max-model-len 8192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实验四改变内存占比时除外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请求负载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随机或固定提示；注明输入 / 输出 token 数；关闭思考模式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输入与输出长度必须随结果一同报告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测量工具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bench_lab.py（流式逐 token 计时）与 vllm bench serve（汇总报告）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两套工具口径需在结果中注明，不可混报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记录内容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成功 / 失败数、TTFT、TPOT、ITL P99、E2E、输出吞吐、KV 与 Prefix 指标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原始 JSON 与运行记录一并保存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83464" y="146304"/>
            <a:ext cx="1083564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3150" b="1">
                <a:solidFill>
                  <a:srgbClr val="FFFFFF"/>
                </a:solidFill>
                <a:latin typeface="微软雅黑"/>
                <a:ea typeface="微软雅黑"/>
              </a:rPr>
              <a:t>2.2 测量框架：bench_lab.py 的输入与输出</a:t>
            </a:r>
          </a:p>
        </p:txBody>
      </p:sp>
      <p:sp>
        <p:nvSpPr>
          <p:cNvPr id="3" name="page-number"/>
          <p:cNvSpPr/>
          <p:nvPr/>
        </p:nvSpPr>
        <p:spPr>
          <a:xfrm>
            <a:off x="11567160" y="6537960"/>
            <a:ext cx="475488" cy="283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r">
              <a:lnSpc>
                <a:spcPct val="113000"/>
              </a:lnSpc>
            </a:pPr>
            <a:r>
              <a:rPr sz="1725" b="1">
                <a:solidFill>
                  <a:srgbClr val="003C8B"/>
                </a:solidFill>
                <a:latin typeface="微软雅黑"/>
                <a:ea typeface="微软雅黑"/>
              </a:rPr>
              <a:t>12</a:t>
            </a:r>
          </a:p>
        </p:txBody>
      </p:sp>
      <p:sp>
        <p:nvSpPr>
          <p:cNvPr id="5" name="bottom-note"/>
          <p:cNvSpPr/>
          <p:nvPr/>
        </p:nvSpPr>
        <p:spPr>
          <a:xfrm>
            <a:off x="612648" y="6053328"/>
            <a:ext cx="10972800" cy="1920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1050" b="0">
                <a:solidFill>
                  <a:srgbClr val="60717E"/>
                </a:solidFill>
                <a:latin typeface="微软雅黑"/>
                <a:ea typeface="微软雅黑"/>
              </a:rPr>
              <a:t>注：本地联调数字由模拟服务产生，仅用于验证计时与统计代码，不作为 Spark 性能结论。</a:t>
            </a:r>
          </a:p>
        </p:txBody>
      </p:sp>
      <p:pic>
        <p:nvPicPr>
          <p:cNvPr id="6" name="figure" descr="local_m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369" y="1655064"/>
            <a:ext cx="8803262" cy="2697480"/>
          </a:xfrm>
          <a:prstGeom prst="rect">
            <a:avLst/>
          </a:prstGeom>
        </p:spPr>
      </p:pic>
      <p:sp>
        <p:nvSpPr>
          <p:cNvPr id="7" name="body-1"/>
          <p:cNvSpPr/>
          <p:nvPr/>
        </p:nvSpPr>
        <p:spPr>
          <a:xfrm>
            <a:off x="612648" y="4754880"/>
            <a:ext cx="10972800" cy="5943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1950" b="0">
                <a:solidFill>
                  <a:srgbClr val="172B3A"/>
                </a:solidFill>
                <a:latin typeface="微软雅黑"/>
                <a:ea typeface="微软雅黑"/>
              </a:rPr>
              <a:t>输入：服务地址、模型名、并发数、请求数、最大输出 token 与共享前缀长度。输出：控制台汇总与 JSON 明细（含逐请求 TTFT、TPOT 与 ITL）。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83464" y="146304"/>
            <a:ext cx="1083564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3150" b="1">
                <a:solidFill>
                  <a:srgbClr val="FFFFFF"/>
                </a:solidFill>
                <a:latin typeface="微软雅黑"/>
                <a:ea typeface="微软雅黑"/>
              </a:rPr>
              <a:t>2.3 如何读 vllm bench serve 报告</a:t>
            </a:r>
          </a:p>
        </p:txBody>
      </p:sp>
      <p:sp>
        <p:nvSpPr>
          <p:cNvPr id="3" name="page-number"/>
          <p:cNvSpPr/>
          <p:nvPr/>
        </p:nvSpPr>
        <p:spPr>
          <a:xfrm>
            <a:off x="11567160" y="6537960"/>
            <a:ext cx="475488" cy="283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r">
              <a:lnSpc>
                <a:spcPct val="113000"/>
              </a:lnSpc>
            </a:pPr>
            <a:r>
              <a:rPr sz="1725" b="1">
                <a:solidFill>
                  <a:srgbClr val="003C8B"/>
                </a:solidFill>
                <a:latin typeface="微软雅黑"/>
                <a:ea typeface="微软雅黑"/>
              </a:rPr>
              <a:t>13</a:t>
            </a:r>
          </a:p>
        </p:txBody>
      </p:sp>
      <p:sp>
        <p:nvSpPr>
          <p:cNvPr id="4" name="lead"/>
          <p:cNvSpPr/>
          <p:nvPr/>
        </p:nvSpPr>
        <p:spPr>
          <a:xfrm>
            <a:off x="612648" y="1133856"/>
            <a:ext cx="109728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2250" b="1">
                <a:solidFill>
                  <a:srgbClr val="003C8B"/>
                </a:solidFill>
                <a:latin typeface="微软雅黑"/>
                <a:ea typeface="微软雅黑"/>
              </a:rPr>
              <a:t>先核对负载是否一致，再比较吞吐与延迟；脱离输入输出长度的数值没有可比性</a:t>
            </a:r>
          </a:p>
        </p:txBody>
      </p:sp>
      <p:pic>
        <p:nvPicPr>
          <p:cNvPr id="6" name="figure" descr="bench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65960"/>
            <a:ext cx="6766560" cy="1782981"/>
          </a:xfrm>
          <a:prstGeom prst="rect">
            <a:avLst/>
          </a:prstGeom>
        </p:spPr>
      </p:pic>
      <p:sp>
        <p:nvSpPr>
          <p:cNvPr id="7" name="body-7"/>
          <p:cNvSpPr/>
          <p:nvPr/>
        </p:nvSpPr>
        <p:spPr>
          <a:xfrm>
            <a:off x="594360" y="4069080"/>
            <a:ext cx="6766560" cy="5943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lang="zh-CN" altLang="en-US" sz="1880" b="0" dirty="0">
                <a:solidFill>
                  <a:srgbClr val="172B3A"/>
                </a:solidFill>
                <a:latin typeface="微软雅黑"/>
                <a:ea typeface="微软雅黑"/>
              </a:rPr>
              <a:t>实例：</a:t>
            </a:r>
            <a:r>
              <a:rPr sz="1880" b="0" dirty="0">
                <a:solidFill>
                  <a:srgbClr val="172B3A"/>
                </a:solidFill>
                <a:latin typeface="微软雅黑"/>
                <a:ea typeface="微软雅黑"/>
              </a:rPr>
              <a:t>512 </a:t>
            </a:r>
            <a:r>
              <a:rPr sz="1880" b="0" dirty="0" err="1">
                <a:solidFill>
                  <a:srgbClr val="172B3A"/>
                </a:solidFill>
                <a:latin typeface="微软雅黑"/>
                <a:ea typeface="微软雅黑"/>
              </a:rPr>
              <a:t>输入</a:t>
            </a:r>
            <a:r>
              <a:rPr sz="1880" b="0" dirty="0">
                <a:solidFill>
                  <a:srgbClr val="172B3A"/>
                </a:solidFill>
                <a:latin typeface="微软雅黑"/>
                <a:ea typeface="微软雅黑"/>
              </a:rPr>
              <a:t> / 128 </a:t>
            </a:r>
            <a:r>
              <a:rPr sz="1880" b="0" dirty="0" err="1">
                <a:solidFill>
                  <a:srgbClr val="172B3A"/>
                </a:solidFill>
                <a:latin typeface="微软雅黑"/>
                <a:ea typeface="微软雅黑"/>
              </a:rPr>
              <a:t>输出，并发</a:t>
            </a:r>
            <a:r>
              <a:rPr sz="1880" b="0" dirty="0">
                <a:solidFill>
                  <a:srgbClr val="172B3A"/>
                </a:solidFill>
                <a:latin typeface="微软雅黑"/>
                <a:ea typeface="微软雅黑"/>
              </a:rPr>
              <a:t> 1</a:t>
            </a:r>
          </a:p>
        </p:txBody>
      </p:sp>
      <p:sp>
        <p:nvSpPr>
          <p:cNvPr id="8" name="body-1"/>
          <p:cNvSpPr/>
          <p:nvPr/>
        </p:nvSpPr>
        <p:spPr>
          <a:xfrm>
            <a:off x="7635240" y="2002536"/>
            <a:ext cx="3950208" cy="4297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2100" b="1">
                <a:solidFill>
                  <a:srgbClr val="003C8B"/>
                </a:solidFill>
                <a:latin typeface="微软雅黑"/>
                <a:ea typeface="微软雅黑"/>
              </a:rPr>
              <a:t>核对顺序</a:t>
            </a:r>
          </a:p>
        </p:txBody>
      </p:sp>
      <p:sp>
        <p:nvSpPr>
          <p:cNvPr id="9" name="body-2"/>
          <p:cNvSpPr/>
          <p:nvPr/>
        </p:nvSpPr>
        <p:spPr>
          <a:xfrm>
            <a:off x="7635240" y="2560320"/>
            <a:ext cx="3950208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2000" b="1">
                <a:solidFill>
                  <a:srgbClr val="003C8B"/>
                </a:solidFill>
                <a:latin typeface="微软雅黑"/>
                <a:ea typeface="微软雅黑"/>
              </a:rPr>
              <a:t>1. 负载一致性</a:t>
            </a:r>
          </a:p>
        </p:txBody>
      </p:sp>
      <p:sp>
        <p:nvSpPr>
          <p:cNvPr id="10" name="body-3"/>
          <p:cNvSpPr/>
          <p:nvPr/>
        </p:nvSpPr>
        <p:spPr>
          <a:xfrm>
            <a:off x="7635240" y="2999232"/>
            <a:ext cx="3950208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1950" b="0">
                <a:solidFill>
                  <a:srgbClr val="172B3A"/>
                </a:solidFill>
                <a:latin typeface="微软雅黑"/>
                <a:ea typeface="微软雅黑"/>
              </a:rPr>
              <a:t>请求数、输入 / 输出长度与并发上限是否相同。</a:t>
            </a:r>
          </a:p>
        </p:txBody>
      </p:sp>
      <p:sp>
        <p:nvSpPr>
          <p:cNvPr id="11" name="body-4"/>
          <p:cNvSpPr/>
          <p:nvPr/>
        </p:nvSpPr>
        <p:spPr>
          <a:xfrm>
            <a:off x="7635240" y="3703320"/>
            <a:ext cx="3950208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2000" b="1">
                <a:solidFill>
                  <a:srgbClr val="003C8B"/>
                </a:solidFill>
                <a:latin typeface="微软雅黑"/>
                <a:ea typeface="微软雅黑"/>
              </a:rPr>
              <a:t>2. 成功与失败</a:t>
            </a:r>
          </a:p>
        </p:txBody>
      </p:sp>
      <p:sp>
        <p:nvSpPr>
          <p:cNvPr id="12" name="body-5"/>
          <p:cNvSpPr/>
          <p:nvPr/>
        </p:nvSpPr>
        <p:spPr>
          <a:xfrm>
            <a:off x="7635240" y="4142231"/>
            <a:ext cx="3950208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1950" b="0">
                <a:solidFill>
                  <a:srgbClr val="172B3A"/>
                </a:solidFill>
                <a:latin typeface="微软雅黑"/>
                <a:ea typeface="微软雅黑"/>
              </a:rPr>
              <a:t>Failed requests 不为零时，先处理错误再比较性能。</a:t>
            </a:r>
          </a:p>
        </p:txBody>
      </p:sp>
      <p:sp>
        <p:nvSpPr>
          <p:cNvPr id="13" name="body-6"/>
          <p:cNvSpPr/>
          <p:nvPr/>
        </p:nvSpPr>
        <p:spPr>
          <a:xfrm>
            <a:off x="7635240" y="4846320"/>
            <a:ext cx="3950208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2000" b="1">
                <a:solidFill>
                  <a:srgbClr val="003C8B"/>
                </a:solidFill>
                <a:latin typeface="微软雅黑"/>
                <a:ea typeface="微软雅黑"/>
              </a:rPr>
              <a:t>3. 吞吐与延迟成对看</a:t>
            </a:r>
          </a:p>
        </p:txBody>
      </p:sp>
      <p:sp>
        <p:nvSpPr>
          <p:cNvPr id="14" name="body-7"/>
          <p:cNvSpPr/>
          <p:nvPr/>
        </p:nvSpPr>
        <p:spPr>
          <a:xfrm>
            <a:off x="7635240" y="5285231"/>
            <a:ext cx="3950208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1950" b="0">
                <a:solidFill>
                  <a:srgbClr val="172B3A"/>
                </a:solidFill>
                <a:latin typeface="微软雅黑"/>
                <a:ea typeface="微软雅黑"/>
              </a:rPr>
              <a:t>输出吞吐上升且 TPOT 未恶化，才说明扩展有效。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83464" y="146304"/>
            <a:ext cx="1083564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3150" b="1">
                <a:solidFill>
                  <a:srgbClr val="FFFFFF"/>
                </a:solidFill>
                <a:latin typeface="微软雅黑"/>
                <a:ea typeface="微软雅黑"/>
              </a:rPr>
              <a:t>3.1 实验一：并发扫描（连续组批的实际收益）</a:t>
            </a:r>
          </a:p>
        </p:txBody>
      </p:sp>
      <p:sp>
        <p:nvSpPr>
          <p:cNvPr id="3" name="page-number"/>
          <p:cNvSpPr/>
          <p:nvPr/>
        </p:nvSpPr>
        <p:spPr>
          <a:xfrm>
            <a:off x="11567160" y="6537960"/>
            <a:ext cx="475488" cy="283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r">
              <a:lnSpc>
                <a:spcPct val="113000"/>
              </a:lnSpc>
            </a:pPr>
            <a:r>
              <a:rPr sz="1725" b="1">
                <a:solidFill>
                  <a:srgbClr val="003C8B"/>
                </a:solidFill>
                <a:latin typeface="微软雅黑"/>
                <a:ea typeface="微软雅黑"/>
              </a:rPr>
              <a:t>14</a:t>
            </a:r>
          </a:p>
        </p:txBody>
      </p:sp>
      <p:sp>
        <p:nvSpPr>
          <p:cNvPr id="4" name="lead"/>
          <p:cNvSpPr/>
          <p:nvPr/>
        </p:nvSpPr>
        <p:spPr>
          <a:xfrm>
            <a:off x="612648" y="1133856"/>
            <a:ext cx="109728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2250" b="1">
                <a:solidFill>
                  <a:srgbClr val="003C8B"/>
                </a:solidFill>
                <a:latin typeface="微软雅黑"/>
                <a:ea typeface="微软雅黑"/>
              </a:rPr>
              <a:t>固定输入 512 / 输出 128 token，依次以并发 1、4、8、16 发送请求</a:t>
            </a:r>
          </a:p>
        </p:txBody>
      </p:sp>
      <p:graphicFrame>
        <p:nvGraphicFramePr>
          <p:cNvPr id="6" name="table"/>
          <p:cNvGraphicFramePr>
            <a:graphicFrameLocks noGrp="1"/>
          </p:cNvGraphicFramePr>
          <p:nvPr/>
        </p:nvGraphicFramePr>
        <p:xfrm>
          <a:off x="612648" y="1984248"/>
          <a:ext cx="10972800" cy="25127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1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</a:rPr>
                        <a:t>最大并发</a:t>
                      </a:r>
                    </a:p>
                  </a:txBody>
                  <a:tcPr marL="88900" marR="88900" marT="38100" marB="38100" anchor="ctr"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1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</a:rPr>
                        <a:t>完成 / 失败</a:t>
                      </a:r>
                    </a:p>
                  </a:txBody>
                  <a:tcPr marL="88900" marR="88900" marT="38100" marB="38100" anchor="ctr"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1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</a:rPr>
                        <a:t>输出吞吐 tok/s</a:t>
                      </a:r>
                    </a:p>
                  </a:txBody>
                  <a:tcPr marL="88900" marR="88900" marT="38100" marB="38100" anchor="ctr"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1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</a:rPr>
                        <a:t>TTFT mean / P99 (ms)</a:t>
                      </a:r>
                    </a:p>
                  </a:txBody>
                  <a:tcPr marL="88900" marR="88900" marT="38100" marB="38100" anchor="ctr"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1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</a:rPr>
                        <a:t>TPOT mean (ms)</a:t>
                      </a:r>
                    </a:p>
                  </a:txBody>
                  <a:tcPr marL="88900" marR="88900" marT="38100" marB="38100" anchor="ctr"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1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</a:rPr>
                        <a:t>ITL P99 (ms)</a:t>
                      </a:r>
                    </a:p>
                  </a:txBody>
                  <a:tcPr marL="88900" marR="88900" marT="38100" marB="38100" anchor="ctr"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1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</a:rPr>
                        <a:t>E2E mean (s)</a:t>
                      </a:r>
                    </a:p>
                  </a:txBody>
                  <a:tcPr marL="88900" marR="88900" marT="38100" marB="38100" anchor="ctr">
                    <a:solidFill>
                      <a:srgbClr val="E3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16 / 0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50.1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29 / 64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19.9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23.4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2.55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32 / 0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233.5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60 / 132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16.4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19.1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2.09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8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32 / 0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441.0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103 / 239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16.7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21.1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1.96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16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32 / 0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807.9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202 / 399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17.0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22.0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2.24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body-1"/>
          <p:cNvSpPr/>
          <p:nvPr/>
        </p:nvSpPr>
        <p:spPr>
          <a:xfrm>
            <a:off x="612648" y="4754880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2000" b="1">
                <a:solidFill>
                  <a:srgbClr val="003C8B"/>
                </a:solidFill>
                <a:latin typeface="微软雅黑"/>
                <a:ea typeface="微软雅黑"/>
              </a:rPr>
              <a:t>实测规律：输出吞吐随并发从 50 提高到 808 tok/s（约 16 倍），TTFT mean 同步从 29 ms 升到 202 ms；TPOT 保持 16–20 ms。</a:t>
            </a:r>
          </a:p>
        </p:txBody>
      </p:sp>
      <p:sp>
        <p:nvSpPr>
          <p:cNvPr id="8" name="body-2"/>
          <p:cNvSpPr/>
          <p:nvPr/>
        </p:nvSpPr>
        <p:spPr>
          <a:xfrm>
            <a:off x="612648" y="5458968"/>
            <a:ext cx="109728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1950" b="0" dirty="0" err="1">
                <a:solidFill>
                  <a:srgbClr val="172B3A"/>
                </a:solidFill>
                <a:latin typeface="微软雅黑"/>
                <a:ea typeface="微软雅黑"/>
              </a:rPr>
              <a:t>结论：本负载下并发扩展未触及</a:t>
            </a:r>
            <a:r>
              <a:rPr sz="1950" b="0" dirty="0">
                <a:solidFill>
                  <a:srgbClr val="172B3A"/>
                </a:solidFill>
                <a:latin typeface="微软雅黑"/>
                <a:ea typeface="微软雅黑"/>
              </a:rPr>
              <a:t> KV </a:t>
            </a:r>
            <a:r>
              <a:rPr sz="1950" b="0" dirty="0" err="1">
                <a:solidFill>
                  <a:srgbClr val="172B3A"/>
                </a:solidFill>
                <a:latin typeface="微软雅黑"/>
                <a:ea typeface="微软雅黑"/>
              </a:rPr>
              <a:t>容量（服务端</a:t>
            </a:r>
            <a:r>
              <a:rPr sz="1950" b="0" dirty="0">
                <a:solidFill>
                  <a:srgbClr val="172B3A"/>
                </a:solidFill>
                <a:latin typeface="微软雅黑"/>
                <a:ea typeface="微软雅黑"/>
              </a:rPr>
              <a:t> Waiting </a:t>
            </a:r>
            <a:r>
              <a:rPr sz="1950" b="0" dirty="0" err="1">
                <a:solidFill>
                  <a:srgbClr val="172B3A"/>
                </a:solidFill>
                <a:latin typeface="微软雅黑"/>
                <a:ea typeface="微软雅黑"/>
              </a:rPr>
              <a:t>全程为</a:t>
            </a:r>
            <a:r>
              <a:rPr sz="1950" b="0" dirty="0">
                <a:solidFill>
                  <a:srgbClr val="172B3A"/>
                </a:solidFill>
                <a:latin typeface="微软雅黑"/>
                <a:ea typeface="微软雅黑"/>
              </a:rPr>
              <a:t> 0）；</a:t>
            </a:r>
            <a:r>
              <a:rPr sz="1950" b="0" dirty="0" err="1">
                <a:solidFill>
                  <a:srgbClr val="172B3A"/>
                </a:solidFill>
                <a:latin typeface="微软雅黑"/>
                <a:ea typeface="微软雅黑"/>
              </a:rPr>
              <a:t>报告吞吐增益时必须同时给出</a:t>
            </a:r>
            <a:r>
              <a:rPr sz="1950" b="0" dirty="0">
                <a:solidFill>
                  <a:srgbClr val="172B3A"/>
                </a:solidFill>
                <a:latin typeface="微软雅黑"/>
                <a:ea typeface="微软雅黑"/>
              </a:rPr>
              <a:t> TTFT </a:t>
            </a:r>
            <a:r>
              <a:rPr sz="1950" b="0" dirty="0" err="1">
                <a:solidFill>
                  <a:srgbClr val="172B3A"/>
                </a:solidFill>
                <a:latin typeface="微软雅黑"/>
                <a:ea typeface="微软雅黑"/>
              </a:rPr>
              <a:t>的上升作为代价</a:t>
            </a:r>
            <a:r>
              <a:rPr sz="1950" b="0" dirty="0">
                <a:solidFill>
                  <a:srgbClr val="172B3A"/>
                </a:solidFill>
                <a:latin typeface="微软雅黑"/>
                <a:ea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83464" y="146304"/>
            <a:ext cx="1083564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3150" b="1">
                <a:solidFill>
                  <a:srgbClr val="FFFFFF"/>
                </a:solidFill>
                <a:latin typeface="微软雅黑"/>
                <a:ea typeface="微软雅黑"/>
              </a:rPr>
              <a:t>3.2 实验二：Prefix Caching 开启前后的 TTFT</a:t>
            </a:r>
          </a:p>
        </p:txBody>
      </p:sp>
      <p:sp>
        <p:nvSpPr>
          <p:cNvPr id="3" name="page-number"/>
          <p:cNvSpPr/>
          <p:nvPr/>
        </p:nvSpPr>
        <p:spPr>
          <a:xfrm>
            <a:off x="11567160" y="6537960"/>
            <a:ext cx="475488" cy="283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r">
              <a:lnSpc>
                <a:spcPct val="113000"/>
              </a:lnSpc>
            </a:pPr>
            <a:r>
              <a:rPr sz="1725" b="1">
                <a:solidFill>
                  <a:srgbClr val="003C8B"/>
                </a:solidFill>
                <a:latin typeface="微软雅黑"/>
                <a:ea typeface="微软雅黑"/>
              </a:rPr>
              <a:t>15</a:t>
            </a:r>
          </a:p>
        </p:txBody>
      </p:sp>
      <p:sp>
        <p:nvSpPr>
          <p:cNvPr id="4" name="lead"/>
          <p:cNvSpPr/>
          <p:nvPr/>
        </p:nvSpPr>
        <p:spPr>
          <a:xfrm>
            <a:off x="612648" y="1133856"/>
            <a:ext cx="109728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2250" b="1">
                <a:solidFill>
                  <a:srgbClr val="003C8B"/>
                </a:solidFill>
                <a:latin typeface="微软雅黑"/>
                <a:ea typeface="微软雅黑"/>
              </a:rPr>
              <a:t>多个请求共享同一段长前缀时，前缀的 KV 可被复用，从而减少重复 Prefill 计算</a:t>
            </a:r>
          </a:p>
        </p:txBody>
      </p:sp>
      <p:pic>
        <p:nvPicPr>
          <p:cNvPr id="6" name="figure" descr="prefix_cm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4366" y="1783079"/>
            <a:ext cx="7783267" cy="1965960"/>
          </a:xfrm>
          <a:prstGeom prst="rect">
            <a:avLst/>
          </a:prstGeom>
        </p:spPr>
      </p:pic>
      <p:graphicFrame>
        <p:nvGraphicFramePr>
          <p:cNvPr id="7" name="table"/>
          <p:cNvGraphicFramePr>
            <a:graphicFrameLocks noGrp="1"/>
          </p:cNvGraphicFramePr>
          <p:nvPr/>
        </p:nvGraphicFramePr>
        <p:xfrm>
          <a:off x="612648" y="3950208"/>
          <a:ext cx="10972800" cy="16129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1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</a:rPr>
                        <a:t>配置</a:t>
                      </a:r>
                    </a:p>
                  </a:txBody>
                  <a:tcPr marL="88900" marR="88900" marT="38100" marB="38100" anchor="ctr"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1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</a:rPr>
                        <a:t>TTFT mean (ms)</a:t>
                      </a:r>
                    </a:p>
                  </a:txBody>
                  <a:tcPr marL="88900" marR="88900" marT="38100" marB="38100" anchor="ctr"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1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</a:rPr>
                        <a:t>TTFT P95 (ms)</a:t>
                      </a:r>
                    </a:p>
                  </a:txBody>
                  <a:tcPr marL="88900" marR="88900" marT="38100" marB="38100" anchor="ctr"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1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</a:rPr>
                        <a:t>输出吞吐 tok/s</a:t>
                      </a:r>
                    </a:p>
                  </a:txBody>
                  <a:tcPr marL="88900" marR="88900" marT="38100" marB="38100" anchor="ctr"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1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</a:rPr>
                        <a:t>前缀缓存命中率</a:t>
                      </a:r>
                    </a:p>
                  </a:txBody>
                  <a:tcPr marL="88900" marR="88900" marT="38100" marB="38100" anchor="ctr"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1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</a:rPr>
                        <a:t>后续请求 TTFT</a:t>
                      </a:r>
                    </a:p>
                  </a:txBody>
                  <a:tcPr marL="88900" marR="88900" marT="38100" marB="38100" anchor="ctr">
                    <a:solidFill>
                      <a:srgbClr val="E3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关闭 --no-enable-prefix-caching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55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81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47.7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未启用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约 52 ms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开启 --enable-prefix-caching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34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78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48.6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78.8%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26–30 ms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body-1"/>
          <p:cNvSpPr/>
          <p:nvPr/>
        </p:nvSpPr>
        <p:spPr>
          <a:xfrm>
            <a:off x="612648" y="5577840"/>
            <a:ext cx="10972800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1700" b="0">
                <a:solidFill>
                  <a:srgbClr val="172B3A"/>
                </a:solidFill>
                <a:latin typeface="微软雅黑"/>
                <a:ea typeface="微软雅黑"/>
              </a:rPr>
              <a:t>开启后，除首个请求外 TTFT 由约 52 ms 降至 26–30 ms；单流吞吐基本不变，瓶颈在 Decode。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83464" y="146304"/>
            <a:ext cx="1083564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3150" b="1">
                <a:solidFill>
                  <a:srgbClr val="FFFFFF"/>
                </a:solidFill>
                <a:latin typeface="微软雅黑"/>
                <a:ea typeface="微软雅黑"/>
              </a:rPr>
              <a:t>3.3 实验三：每轮 token 预算与输出停顿</a:t>
            </a:r>
          </a:p>
        </p:txBody>
      </p:sp>
      <p:sp>
        <p:nvSpPr>
          <p:cNvPr id="3" name="page-number"/>
          <p:cNvSpPr/>
          <p:nvPr/>
        </p:nvSpPr>
        <p:spPr>
          <a:xfrm>
            <a:off x="11567160" y="6537960"/>
            <a:ext cx="475488" cy="283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r">
              <a:lnSpc>
                <a:spcPct val="113000"/>
              </a:lnSpc>
            </a:pPr>
            <a:r>
              <a:rPr sz="1725" b="1">
                <a:solidFill>
                  <a:srgbClr val="003C8B"/>
                </a:solidFill>
                <a:latin typeface="微软雅黑"/>
                <a:ea typeface="微软雅黑"/>
              </a:rPr>
              <a:t>16</a:t>
            </a:r>
          </a:p>
        </p:txBody>
      </p:sp>
      <p:sp>
        <p:nvSpPr>
          <p:cNvPr id="4" name="lead"/>
          <p:cNvSpPr/>
          <p:nvPr/>
        </p:nvSpPr>
        <p:spPr>
          <a:xfrm>
            <a:off x="612648" y="1133856"/>
            <a:ext cx="109728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2250" b="1">
                <a:solidFill>
                  <a:srgbClr val="003C8B"/>
                </a:solidFill>
                <a:latin typeface="微软雅黑"/>
                <a:ea typeface="微软雅黑"/>
              </a:rPr>
              <a:t>对比 --max-num-batched-tokens 1024 与 8192 在长输入混入时的 TTFT 与 ITL</a:t>
            </a:r>
          </a:p>
        </p:txBody>
      </p:sp>
      <p:pic>
        <p:nvPicPr>
          <p:cNvPr id="6" name="figure" descr="chunk_cm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728" y="1874519"/>
            <a:ext cx="8158638" cy="1691640"/>
          </a:xfrm>
          <a:prstGeom prst="rect">
            <a:avLst/>
          </a:prstGeom>
        </p:spPr>
      </p:pic>
      <p:graphicFrame>
        <p:nvGraphicFramePr>
          <p:cNvPr id="7" name="table"/>
          <p:cNvGraphicFramePr>
            <a:graphicFrameLocks noGrp="1"/>
          </p:cNvGraphicFramePr>
          <p:nvPr/>
        </p:nvGraphicFramePr>
        <p:xfrm>
          <a:off x="612648" y="3675887"/>
          <a:ext cx="10972800" cy="16129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1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</a:rPr>
                        <a:t>每轮 token 预算</a:t>
                      </a:r>
                    </a:p>
                  </a:txBody>
                  <a:tcPr marL="88900" marR="88900" marT="38100" marB="38100" anchor="ctr"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1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</a:rPr>
                        <a:t>TTFT mean / P99 (ms)</a:t>
                      </a:r>
                    </a:p>
                  </a:txBody>
                  <a:tcPr marL="88900" marR="88900" marT="38100" marB="38100" anchor="ctr"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1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</a:rPr>
                        <a:t>ITL mean / P99 (ms)</a:t>
                      </a:r>
                    </a:p>
                  </a:txBody>
                  <a:tcPr marL="88900" marR="88900" marT="38100" marB="38100" anchor="ctr"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1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</a:rPr>
                        <a:t>TPOT mean (ms)</a:t>
                      </a:r>
                    </a:p>
                  </a:txBody>
                  <a:tcPr marL="88900" marR="88900" marT="38100" marB="38100" anchor="ctr"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1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</a:rPr>
                        <a:t>输出吞吐 tok/s</a:t>
                      </a:r>
                    </a:p>
                  </a:txBody>
                  <a:tcPr marL="88900" marR="88900" marT="38100" marB="38100" anchor="ctr"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1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</a:rPr>
                        <a:t>结论</a:t>
                      </a:r>
                    </a:p>
                  </a:txBody>
                  <a:tcPr marL="88900" marR="88900" marT="38100" marB="38100" anchor="ctr">
                    <a:solidFill>
                      <a:srgbClr val="E3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1024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79 / 234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17.5 / 20.1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17.5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216.7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与 8192 无可测差异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8192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79 / 238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17.5 / 20.1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17.5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215.7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与 1024 无可测差异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body-1"/>
          <p:cNvSpPr/>
          <p:nvPr/>
        </p:nvSpPr>
        <p:spPr>
          <a:xfrm>
            <a:off x="612648" y="5349240"/>
            <a:ext cx="109728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1750" b="0">
                <a:solidFill>
                  <a:srgbClr val="172B3A"/>
                </a:solidFill>
                <a:latin typeface="微软雅黑"/>
                <a:ea typeface="微软雅黑"/>
              </a:rPr>
              <a:t>实测结论（并发 4、输入约 2.2k token、输出 64）：两种预算差异均在噪声内，该负载下预算还不是瓶颈；需更高并发或更长输入，预算的影响才显现。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83464" y="146304"/>
            <a:ext cx="1083564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3150" b="1">
                <a:solidFill>
                  <a:srgbClr val="FFFFFF"/>
                </a:solidFill>
                <a:latin typeface="微软雅黑"/>
                <a:ea typeface="微软雅黑"/>
              </a:rPr>
              <a:t>3.4 实验四：内存占比与 KV Cache 容量</a:t>
            </a:r>
          </a:p>
        </p:txBody>
      </p:sp>
      <p:sp>
        <p:nvSpPr>
          <p:cNvPr id="3" name="page-number"/>
          <p:cNvSpPr/>
          <p:nvPr/>
        </p:nvSpPr>
        <p:spPr>
          <a:xfrm>
            <a:off x="11567160" y="6537960"/>
            <a:ext cx="475488" cy="283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r">
              <a:lnSpc>
                <a:spcPct val="113000"/>
              </a:lnSpc>
            </a:pPr>
            <a:r>
              <a:rPr sz="1725" b="1">
                <a:solidFill>
                  <a:srgbClr val="003C8B"/>
                </a:solidFill>
                <a:latin typeface="微软雅黑"/>
                <a:ea typeface="微软雅黑"/>
              </a:rPr>
              <a:t>17</a:t>
            </a:r>
          </a:p>
        </p:txBody>
      </p:sp>
      <p:sp>
        <p:nvSpPr>
          <p:cNvPr id="4" name="lead"/>
          <p:cNvSpPr/>
          <p:nvPr/>
        </p:nvSpPr>
        <p:spPr>
          <a:xfrm>
            <a:off x="612648" y="1133856"/>
            <a:ext cx="109728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2250" b="1">
                <a:solidFill>
                  <a:srgbClr val="003C8B"/>
                </a:solidFill>
                <a:latin typeface="微软雅黑"/>
                <a:ea typeface="微软雅黑"/>
              </a:rPr>
              <a:t>对比 --gpu-memory-utilization 0.08 与 0.16 在高并发下的可缓存 token 数与服务表现</a:t>
            </a:r>
          </a:p>
        </p:txBody>
      </p:sp>
      <p:sp>
        <p:nvSpPr>
          <p:cNvPr id="5" name="bottom-note"/>
          <p:cNvSpPr/>
          <p:nvPr/>
        </p:nvSpPr>
        <p:spPr>
          <a:xfrm>
            <a:off x="612648" y="6053328"/>
            <a:ext cx="10972800" cy="1920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1050" b="0">
                <a:solidFill>
                  <a:srgbClr val="60717E"/>
                </a:solidFill>
                <a:latin typeface="微软雅黑"/>
                <a:ea typeface="微软雅黑"/>
              </a:rPr>
              <a:t>注：权重固定时，增加的内存预算主要转化为 KV 容量；容量不足时先表现为 Waiting 增长与抢占，而非单请求计算变慢。</a:t>
            </a:r>
          </a:p>
        </p:txBody>
      </p:sp>
      <p:graphicFrame>
        <p:nvGraphicFramePr>
          <p:cNvPr id="6" name="table"/>
          <p:cNvGraphicFramePr>
            <a:graphicFrameLocks noGrp="1"/>
          </p:cNvGraphicFramePr>
          <p:nvPr/>
        </p:nvGraphicFramePr>
        <p:xfrm>
          <a:off x="612648" y="1984248"/>
          <a:ext cx="10972800" cy="16129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1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</a:rPr>
                        <a:t>--gpu-memory-utilization</a:t>
                      </a:r>
                    </a:p>
                  </a:txBody>
                  <a:tcPr marL="88900" marR="88900" marT="38100" marB="38100" anchor="ctr"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1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</a:rPr>
                        <a:t>KV token 总量</a:t>
                      </a:r>
                    </a:p>
                  </a:txBody>
                  <a:tcPr marL="88900" marR="88900" marT="38100" marB="38100" anchor="ctr"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1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</a:rPr>
                        <a:t>并发 8 输出吞吐 tok/s</a:t>
                      </a:r>
                    </a:p>
                  </a:txBody>
                  <a:tcPr marL="88900" marR="88900" marT="38100" marB="38100" anchor="ctr"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1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</a:rPr>
                        <a:t>并发 8 TTFT P99 (ms)</a:t>
                      </a:r>
                    </a:p>
                  </a:txBody>
                  <a:tcPr marL="88900" marR="88900" marT="38100" marB="38100" anchor="ctr"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1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</a:rPr>
                        <a:t>并发 16 输出吞吐 tok/s</a:t>
                      </a:r>
                    </a:p>
                  </a:txBody>
                  <a:tcPr marL="88900" marR="88900" marT="38100" marB="38100" anchor="ctr"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1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</a:rPr>
                        <a:t>Waiting / 抢占现象</a:t>
                      </a:r>
                    </a:p>
                  </a:txBody>
                  <a:tcPr marL="88900" marR="88900" marT="38100" marB="38100" anchor="ctr">
                    <a:solidFill>
                      <a:srgbClr val="E3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0.08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34,832 tokens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454.5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206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800.8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全程 Waiting = 0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0.16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120,576 tokens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463.3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205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825.5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全程 Waiting = 0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body-9"/>
          <p:cNvSpPr/>
          <p:nvPr/>
        </p:nvSpPr>
        <p:spPr>
          <a:xfrm>
            <a:off x="612648" y="3703320"/>
            <a:ext cx="10972800" cy="1463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1900" b="1">
                <a:solidFill>
                  <a:srgbClr val="003C8B"/>
                </a:solidFill>
                <a:latin typeface="微软雅黑"/>
                <a:ea typeface="微软雅黑"/>
              </a:rPr>
              <a:t>实测要点（2026-10-21）</a:t>
            </a:r>
          </a:p>
          <a:p>
            <a:pPr algn="l">
              <a:lnSpc>
                <a:spcPct val="113000"/>
              </a:lnSpc>
              <a:spcBef>
                <a:spcPts val="600"/>
              </a:spcBef>
            </a:pPr>
            <a:r>
              <a:rPr sz="1650" b="0">
                <a:solidFill>
                  <a:srgbClr val="172B3A"/>
                </a:solidFill>
                <a:latin typeface="微软雅黑"/>
                <a:ea typeface="微软雅黑"/>
              </a:rPr>
              <a:t>内存占比 0.08：可用 KV 显存 3.72 GiB，可缓存 34,832 个 token，最大并发约为单请求长度的 4.25 倍。</a:t>
            </a:r>
          </a:p>
          <a:p>
            <a:pPr algn="l">
              <a:lnSpc>
                <a:spcPct val="113000"/>
              </a:lnSpc>
              <a:spcBef>
                <a:spcPts val="600"/>
              </a:spcBef>
            </a:pPr>
            <a:r>
              <a:rPr sz="1650" b="0">
                <a:solidFill>
                  <a:srgbClr val="172B3A"/>
                </a:solidFill>
                <a:latin typeface="微软雅黑"/>
                <a:ea typeface="微软雅黑"/>
              </a:rPr>
              <a:t>内存占比 0.16：可用 KV 显存 12.88 GiB，可缓存 120,576 个 token，最大并发约为单请求长度的 14.72 倍。</a:t>
            </a:r>
          </a:p>
          <a:p>
            <a:pPr algn="l">
              <a:lnSpc>
                <a:spcPct val="113000"/>
              </a:lnSpc>
              <a:spcBef>
                <a:spcPts val="600"/>
              </a:spcBef>
            </a:pPr>
            <a:r>
              <a:rPr sz="1650" b="0">
                <a:solidFill>
                  <a:srgbClr val="172B3A"/>
                </a:solidFill>
                <a:latin typeface="微软雅黑"/>
                <a:ea typeface="微软雅黑"/>
              </a:rPr>
              <a:t>高并发下两组均未出现等待排队与抢占，吞吐与 TTFT 无实质差异：当前负载远未触及 KV 容量上限。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83464" y="146304"/>
            <a:ext cx="1083564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3150" b="1">
                <a:solidFill>
                  <a:srgbClr val="FFFFFF"/>
                </a:solidFill>
                <a:latin typeface="微软雅黑"/>
                <a:ea typeface="微软雅黑"/>
              </a:rPr>
              <a:t>3.5 实验五：编译与 CUDA Graph 的开销与收益</a:t>
            </a:r>
          </a:p>
        </p:txBody>
      </p:sp>
      <p:sp>
        <p:nvSpPr>
          <p:cNvPr id="3" name="page-number"/>
          <p:cNvSpPr/>
          <p:nvPr/>
        </p:nvSpPr>
        <p:spPr>
          <a:xfrm>
            <a:off x="11567160" y="6537960"/>
            <a:ext cx="475488" cy="283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r">
              <a:lnSpc>
                <a:spcPct val="113000"/>
              </a:lnSpc>
            </a:pPr>
            <a:r>
              <a:rPr sz="1725" b="1">
                <a:solidFill>
                  <a:srgbClr val="003C8B"/>
                </a:solidFill>
                <a:latin typeface="微软雅黑"/>
                <a:ea typeface="微软雅黑"/>
              </a:rPr>
              <a:t>18</a:t>
            </a:r>
          </a:p>
        </p:txBody>
      </p:sp>
      <p:sp>
        <p:nvSpPr>
          <p:cNvPr id="4" name="lead"/>
          <p:cNvSpPr/>
          <p:nvPr/>
        </p:nvSpPr>
        <p:spPr>
          <a:xfrm>
            <a:off x="612648" y="1133856"/>
            <a:ext cx="109728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2250" b="1">
                <a:solidFill>
                  <a:srgbClr val="003C8B"/>
                </a:solidFill>
                <a:latin typeface="微软雅黑"/>
                <a:ea typeface="微软雅黑"/>
              </a:rPr>
              <a:t>对比默认编译模式与 --enforce-eager 的启动耗时和 Decode 速度</a:t>
            </a:r>
          </a:p>
        </p:txBody>
      </p:sp>
      <p:graphicFrame>
        <p:nvGraphicFramePr>
          <p:cNvPr id="6" name="table"/>
          <p:cNvGraphicFramePr>
            <a:graphicFrameLocks noGrp="1"/>
          </p:cNvGraphicFramePr>
          <p:nvPr/>
        </p:nvGraphicFramePr>
        <p:xfrm>
          <a:off x="612648" y="1984248"/>
          <a:ext cx="10972800" cy="15873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1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</a:rPr>
                        <a:t>运行模式</a:t>
                      </a:r>
                    </a:p>
                  </a:txBody>
                  <a:tcPr marL="88900" marR="88900" marT="38100" marB="38100" anchor="ctr"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1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</a:rPr>
                        <a:t>首次启动耗时</a:t>
                      </a:r>
                    </a:p>
                  </a:txBody>
                  <a:tcPr marL="88900" marR="88900" marT="38100" marB="38100" anchor="ctr"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1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</a:rPr>
                        <a:t>缓存后启动耗时</a:t>
                      </a:r>
                    </a:p>
                  </a:txBody>
                  <a:tcPr marL="88900" marR="88900" marT="38100" marB="38100" anchor="ctr"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1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</a:rPr>
                        <a:t>单流生成速度</a:t>
                      </a:r>
                    </a:p>
                  </a:txBody>
                  <a:tcPr marL="88900" marR="88900" marT="38100" marB="38100" anchor="ctr"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1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</a:rPr>
                        <a:t>并发 4 输出吞吐 tok/s</a:t>
                      </a:r>
                    </a:p>
                  </a:txBody>
                  <a:tcPr marL="88900" marR="88900" marT="38100" marB="38100" anchor="ctr"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1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</a:rPr>
                        <a:t>TPOT mean (ms)</a:t>
                      </a:r>
                    </a:p>
                  </a:txBody>
                  <a:tcPr marL="88900" marR="88900" marT="38100" marB="38100" anchor="ctr">
                    <a:solidFill>
                      <a:srgbClr val="E3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默认（torch.compile + CUDA Graph）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150 s（冷缓存）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60 s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48.8 tok/s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231.6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20.4 / 16.5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--enforce-eager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60 s（免编译）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60 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46.7 tok/s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214.5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21.3 / 17.5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body-1"/>
          <p:cNvSpPr/>
          <p:nvPr/>
        </p:nvSpPr>
        <p:spPr>
          <a:xfrm>
            <a:off x="612648" y="3794760"/>
            <a:ext cx="10972800" cy="129159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1950" b="0" dirty="0">
                <a:solidFill>
                  <a:srgbClr val="172B3A"/>
                </a:solidFill>
                <a:latin typeface="微软雅黑"/>
                <a:ea typeface="微软雅黑"/>
              </a:rPr>
              <a:t>Eager </a:t>
            </a:r>
            <a:r>
              <a:rPr sz="1950" b="0" dirty="0" err="1">
                <a:solidFill>
                  <a:srgbClr val="172B3A"/>
                </a:solidFill>
                <a:latin typeface="微软雅黑"/>
                <a:ea typeface="微软雅黑"/>
              </a:rPr>
              <a:t>省去一次性编译成本，冷启动</a:t>
            </a:r>
            <a:r>
              <a:rPr sz="1950" b="0" dirty="0">
                <a:solidFill>
                  <a:srgbClr val="172B3A"/>
                </a:solidFill>
                <a:latin typeface="微软雅黑"/>
                <a:ea typeface="微软雅黑"/>
              </a:rPr>
              <a:t> 60 s </a:t>
            </a:r>
            <a:r>
              <a:rPr sz="1950" b="0" dirty="0" err="1">
                <a:solidFill>
                  <a:srgbClr val="172B3A"/>
                </a:solidFill>
                <a:latin typeface="微软雅黑"/>
                <a:ea typeface="微软雅黑"/>
              </a:rPr>
              <a:t>对默认模式</a:t>
            </a:r>
            <a:r>
              <a:rPr sz="1950" b="0" dirty="0">
                <a:solidFill>
                  <a:srgbClr val="172B3A"/>
                </a:solidFill>
                <a:latin typeface="微软雅黑"/>
                <a:ea typeface="微软雅黑"/>
              </a:rPr>
              <a:t> 150 s；</a:t>
            </a:r>
            <a:endParaRPr lang="en-US" sz="1950" b="0" dirty="0">
              <a:solidFill>
                <a:srgbClr val="172B3A"/>
              </a:solidFill>
              <a:latin typeface="微软雅黑"/>
              <a:ea typeface="微软雅黑"/>
            </a:endParaRPr>
          </a:p>
          <a:p>
            <a:pPr algn="l">
              <a:lnSpc>
                <a:spcPct val="113000"/>
              </a:lnSpc>
            </a:pPr>
            <a:r>
              <a:rPr sz="1950" b="0" dirty="0" err="1">
                <a:solidFill>
                  <a:srgbClr val="172B3A"/>
                </a:solidFill>
                <a:latin typeface="微软雅黑"/>
                <a:ea typeface="微软雅黑"/>
              </a:rPr>
              <a:t>编译缓存命中后两者启动均为约</a:t>
            </a:r>
            <a:r>
              <a:rPr sz="1950" b="0" dirty="0">
                <a:solidFill>
                  <a:srgbClr val="172B3A"/>
                </a:solidFill>
                <a:latin typeface="微软雅黑"/>
                <a:ea typeface="微软雅黑"/>
              </a:rPr>
              <a:t> 60 s。</a:t>
            </a:r>
            <a:endParaRPr lang="en-US" sz="1950" b="0" dirty="0">
              <a:solidFill>
                <a:srgbClr val="172B3A"/>
              </a:solidFill>
              <a:latin typeface="微软雅黑"/>
              <a:ea typeface="微软雅黑"/>
            </a:endParaRPr>
          </a:p>
          <a:p>
            <a:pPr algn="l">
              <a:lnSpc>
                <a:spcPct val="113000"/>
              </a:lnSpc>
            </a:pPr>
            <a:r>
              <a:rPr sz="1950" b="0" dirty="0" err="1">
                <a:solidFill>
                  <a:srgbClr val="172B3A"/>
                </a:solidFill>
                <a:latin typeface="微软雅黑"/>
                <a:ea typeface="微软雅黑"/>
              </a:rPr>
              <a:t>默认模式解码吞吐高约</a:t>
            </a:r>
            <a:r>
              <a:rPr sz="1950" b="0" dirty="0">
                <a:solidFill>
                  <a:srgbClr val="172B3A"/>
                </a:solidFill>
                <a:latin typeface="微软雅黑"/>
                <a:ea typeface="微软雅黑"/>
              </a:rPr>
              <a:t> 5–8%（</a:t>
            </a:r>
            <a:r>
              <a:rPr sz="1950" b="0" dirty="0" err="1">
                <a:solidFill>
                  <a:srgbClr val="172B3A"/>
                </a:solidFill>
                <a:latin typeface="微软雅黑"/>
                <a:ea typeface="微软雅黑"/>
              </a:rPr>
              <a:t>单流</a:t>
            </a:r>
            <a:r>
              <a:rPr sz="1950" b="0" dirty="0">
                <a:solidFill>
                  <a:srgbClr val="172B3A"/>
                </a:solidFill>
                <a:latin typeface="微软雅黑"/>
                <a:ea typeface="微软雅黑"/>
              </a:rPr>
              <a:t> 48.8 对 46.7 </a:t>
            </a:r>
            <a:r>
              <a:rPr sz="1950" b="0" dirty="0" err="1">
                <a:solidFill>
                  <a:srgbClr val="172B3A"/>
                </a:solidFill>
                <a:latin typeface="微软雅黑"/>
                <a:ea typeface="微软雅黑"/>
              </a:rPr>
              <a:t>tok</a:t>
            </a:r>
            <a:r>
              <a:rPr sz="1950" b="0" dirty="0">
                <a:solidFill>
                  <a:srgbClr val="172B3A"/>
                </a:solidFill>
                <a:latin typeface="微软雅黑"/>
                <a:ea typeface="微软雅黑"/>
              </a:rPr>
              <a:t>/</a:t>
            </a:r>
            <a:r>
              <a:rPr sz="1950" b="0" dirty="0" err="1">
                <a:solidFill>
                  <a:srgbClr val="172B3A"/>
                </a:solidFill>
                <a:latin typeface="微软雅黑"/>
                <a:ea typeface="微软雅黑"/>
              </a:rPr>
              <a:t>s，并发</a:t>
            </a:r>
            <a:r>
              <a:rPr sz="1950" b="0" dirty="0">
                <a:solidFill>
                  <a:srgbClr val="172B3A"/>
                </a:solidFill>
                <a:latin typeface="微软雅黑"/>
                <a:ea typeface="微软雅黑"/>
              </a:rPr>
              <a:t> 4 为 231.6 对 214.5 </a:t>
            </a:r>
            <a:r>
              <a:rPr sz="1950" b="0" dirty="0" err="1">
                <a:solidFill>
                  <a:srgbClr val="172B3A"/>
                </a:solidFill>
                <a:latin typeface="微软雅黑"/>
                <a:ea typeface="微软雅黑"/>
              </a:rPr>
              <a:t>tok</a:t>
            </a:r>
            <a:r>
              <a:rPr sz="1950" b="0" dirty="0">
                <a:solidFill>
                  <a:srgbClr val="172B3A"/>
                </a:solidFill>
                <a:latin typeface="微软雅黑"/>
                <a:ea typeface="微软雅黑"/>
              </a:rPr>
              <a:t>/s）。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83464" y="146304"/>
            <a:ext cx="1083564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3150" b="1">
                <a:solidFill>
                  <a:srgbClr val="FFFFFF"/>
                </a:solidFill>
                <a:latin typeface="微软雅黑"/>
                <a:ea typeface="微软雅黑"/>
              </a:rPr>
              <a:t>4.1 由现象到参数：调优决策表</a:t>
            </a:r>
          </a:p>
        </p:txBody>
      </p:sp>
      <p:sp>
        <p:nvSpPr>
          <p:cNvPr id="3" name="page-number"/>
          <p:cNvSpPr/>
          <p:nvPr/>
        </p:nvSpPr>
        <p:spPr>
          <a:xfrm>
            <a:off x="11567160" y="6537960"/>
            <a:ext cx="475488" cy="283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r">
              <a:lnSpc>
                <a:spcPct val="113000"/>
              </a:lnSpc>
            </a:pPr>
            <a:r>
              <a:rPr sz="1725" b="1">
                <a:solidFill>
                  <a:srgbClr val="003C8B"/>
                </a:solidFill>
                <a:latin typeface="微软雅黑"/>
                <a:ea typeface="微软雅黑"/>
              </a:rPr>
              <a:t>19</a:t>
            </a:r>
          </a:p>
        </p:txBody>
      </p:sp>
      <p:sp>
        <p:nvSpPr>
          <p:cNvPr id="4" name="lead"/>
          <p:cNvSpPr/>
          <p:nvPr/>
        </p:nvSpPr>
        <p:spPr>
          <a:xfrm>
            <a:off x="612648" y="1133856"/>
            <a:ext cx="109728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2250" b="1">
                <a:solidFill>
                  <a:srgbClr val="003C8B"/>
                </a:solidFill>
                <a:latin typeface="微软雅黑"/>
                <a:ea typeface="微软雅黑"/>
              </a:rPr>
              <a:t>先用指标定位限制所在阶段，再调整对应参数，并在相同负载下复测确认</a:t>
            </a:r>
          </a:p>
        </p:txBody>
      </p:sp>
      <p:sp>
        <p:nvSpPr>
          <p:cNvPr id="5" name="bottom-note"/>
          <p:cNvSpPr/>
          <p:nvPr/>
        </p:nvSpPr>
        <p:spPr>
          <a:xfrm>
            <a:off x="612648" y="6053328"/>
            <a:ext cx="10972800" cy="1920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1050" b="0">
                <a:solidFill>
                  <a:srgbClr val="60717E"/>
                </a:solidFill>
                <a:latin typeface="微软雅黑"/>
                <a:ea typeface="微软雅黑"/>
              </a:rPr>
              <a:t>注：每次只改变一个参数；复测时保持请求集、并发与长度分布不变，否则无法归因。</a:t>
            </a:r>
          </a:p>
        </p:txBody>
      </p:sp>
      <p:graphicFrame>
        <p:nvGraphicFramePr>
          <p:cNvPr id="6" name="table"/>
          <p:cNvGraphicFramePr>
            <a:graphicFrameLocks noGrp="1"/>
          </p:cNvGraphicFramePr>
          <p:nvPr/>
        </p:nvGraphicFramePr>
        <p:xfrm>
          <a:off x="612648" y="1984248"/>
          <a:ext cx="10972800" cy="3396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1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</a:rPr>
                        <a:t>观察到的现象</a:t>
                      </a:r>
                    </a:p>
                  </a:txBody>
                  <a:tcPr marL="88900" marR="88900" marT="38100" marB="38100" anchor="ctr"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1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</a:rPr>
                        <a:t>优先查看的指标</a:t>
                      </a:r>
                    </a:p>
                  </a:txBody>
                  <a:tcPr marL="88900" marR="88900" marT="38100" marB="38100" anchor="ctr"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1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</a:rPr>
                        <a:t>可能的限制</a:t>
                      </a:r>
                    </a:p>
                  </a:txBody>
                  <a:tcPr marL="88900" marR="88900" marT="38100" marB="38100" anchor="ctr"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1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</a:rPr>
                        <a:t>可尝试的调整</a:t>
                      </a:r>
                    </a:p>
                  </a:txBody>
                  <a:tcPr marL="88900" marR="88900" marT="38100" marB="38100" anchor="ctr">
                    <a:solidFill>
                      <a:srgbClr val="E3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TTFT 长且 Waiting 持续增长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TTFT P99、Waiting、req/s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入口到达超过服务消化能力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限制入口并发或排队上限，先保住尾延迟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TTFT 长但 Waiting 不高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输入长度、Prompt throughput、Prefix 命中率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Prefill 计算量大或前缀未复用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开启 Prefix Caching；控制每轮 token 预算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输出有停顿，ITL P99 高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ITL P99、Running、单轮 Prefill 工作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长 Prefill 与 Decode 混跑造成干扰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减小 --max-num-batched-tokens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KV 使用率高且出现抢占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KV usage、Waiting、E2E P99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活跃请求的总 KV 超过容量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提高内存占比或减少同时活跃请求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总吞吐低且 TPOT 正常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输出吞吐、Running、并发数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在途请求不足，未形成有效组批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在尾延迟允许范围内提高并发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83464" y="146304"/>
            <a:ext cx="1083564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3150" b="1">
                <a:solidFill>
                  <a:srgbClr val="FFFFFF"/>
                </a:solidFill>
                <a:latin typeface="微软雅黑"/>
                <a:ea typeface="微软雅黑"/>
              </a:rPr>
              <a:t>4.2 Agent 迁移的 Serving Baseline 记录要求</a:t>
            </a:r>
          </a:p>
        </p:txBody>
      </p:sp>
      <p:sp>
        <p:nvSpPr>
          <p:cNvPr id="3" name="page-number"/>
          <p:cNvSpPr/>
          <p:nvPr/>
        </p:nvSpPr>
        <p:spPr>
          <a:xfrm>
            <a:off x="11567160" y="6537960"/>
            <a:ext cx="475488" cy="283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r">
              <a:lnSpc>
                <a:spcPct val="113000"/>
              </a:lnSpc>
            </a:pPr>
            <a:r>
              <a:rPr sz="1725" b="1">
                <a:solidFill>
                  <a:srgbClr val="003C8B"/>
                </a:solidFill>
                <a:latin typeface="微软雅黑"/>
                <a:ea typeface="微软雅黑"/>
              </a:rPr>
              <a:t>20</a:t>
            </a:r>
          </a:p>
        </p:txBody>
      </p:sp>
      <p:sp>
        <p:nvSpPr>
          <p:cNvPr id="4" name="lead"/>
          <p:cNvSpPr/>
          <p:nvPr/>
        </p:nvSpPr>
        <p:spPr>
          <a:xfrm>
            <a:off x="612648" y="1133856"/>
            <a:ext cx="109728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2250" b="1" dirty="0">
                <a:solidFill>
                  <a:srgbClr val="003C8B"/>
                </a:solidFill>
                <a:latin typeface="微软雅黑"/>
                <a:ea typeface="微软雅黑"/>
              </a:rPr>
              <a:t>将 Agent </a:t>
            </a:r>
            <a:r>
              <a:rPr sz="2250" b="1" dirty="0" err="1">
                <a:solidFill>
                  <a:srgbClr val="003C8B"/>
                </a:solidFill>
                <a:latin typeface="微软雅黑"/>
                <a:ea typeface="微软雅黑"/>
              </a:rPr>
              <a:t>迁移到</a:t>
            </a:r>
            <a:r>
              <a:rPr sz="2250" b="1" dirty="0">
                <a:solidFill>
                  <a:srgbClr val="003C8B"/>
                </a:solidFill>
                <a:latin typeface="微软雅黑"/>
                <a:ea typeface="微软雅黑"/>
              </a:rPr>
              <a:t> DGX Spark </a:t>
            </a:r>
            <a:r>
              <a:rPr sz="2250" b="1" dirty="0" err="1">
                <a:solidFill>
                  <a:srgbClr val="003C8B"/>
                </a:solidFill>
                <a:latin typeface="微软雅黑"/>
                <a:ea typeface="微软雅黑"/>
              </a:rPr>
              <a:t>后，提交一份可复现的本地服务基线记录</a:t>
            </a:r>
            <a:endParaRPr sz="2250" b="1" dirty="0">
              <a:solidFill>
                <a:srgbClr val="003C8B"/>
              </a:solidFill>
              <a:latin typeface="微软雅黑"/>
              <a:ea typeface="微软雅黑"/>
            </a:endParaRPr>
          </a:p>
        </p:txBody>
      </p:sp>
      <p:graphicFrame>
        <p:nvGraphicFramePr>
          <p:cNvPr id="6" name="table"/>
          <p:cNvGraphicFramePr>
            <a:graphicFrameLocks noGrp="1"/>
          </p:cNvGraphicFramePr>
          <p:nvPr/>
        </p:nvGraphicFramePr>
        <p:xfrm>
          <a:off x="612648" y="1984248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95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1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</a:rPr>
                        <a:t>记录项</a:t>
                      </a:r>
                    </a:p>
                  </a:txBody>
                  <a:tcPr marL="88900" marR="88900" marT="38100" marB="38100" anchor="ctr"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1">
                          <a:solidFill>
                            <a:srgbClr val="003C8B"/>
                          </a:solidFill>
                          <a:latin typeface="微软雅黑"/>
                          <a:ea typeface="微软雅黑"/>
                        </a:rPr>
                        <a:t>填写内容</a:t>
                      </a:r>
                    </a:p>
                  </a:txBody>
                  <a:tcPr marL="88900" marR="88900" marT="38100" marB="38100" anchor="ctr">
                    <a:solidFill>
                      <a:srgbClr val="E3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模型与服务参数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模型本地路径、vLLM 版本、启动完整命令（含内存占比、最大长度与解析器参数）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负载说明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任务集来源、请求数、并发数、输入 / 输出 token 的统计（平均与最大）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性能结果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成功 / 失败数、TTFT、TPOT、ITL P99、端到端时延与输出吞吐（mean 与 P95/P99）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资源指标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启动时报告的 KV token 总量、运行期 KV 使用率与 Prefix 命中率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原始文件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550" b="0">
                          <a:solidFill>
                            <a:srgbClr val="172B3A"/>
                          </a:solidFill>
                          <a:latin typeface="微软雅黑"/>
                          <a:ea typeface="微软雅黑"/>
                        </a:rPr>
                        <a:t>bench_lab.py 输出的 JSON、运行记录与运行命令，保证他人可按相同条件复测</a:t>
                      </a:r>
                    </a:p>
                  </a:txBody>
                  <a:tcPr marL="88900" marR="88900" marT="38100" marB="38100" anchor="ctr"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83464" y="146304"/>
            <a:ext cx="1083564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3150" b="1">
                <a:solidFill>
                  <a:srgbClr val="FFFFFF"/>
                </a:solidFill>
                <a:latin typeface="微软雅黑"/>
                <a:ea typeface="微软雅黑"/>
              </a:rPr>
              <a:t>课程小结</a:t>
            </a:r>
          </a:p>
        </p:txBody>
      </p:sp>
      <p:sp>
        <p:nvSpPr>
          <p:cNvPr id="3" name="page-number"/>
          <p:cNvSpPr/>
          <p:nvPr/>
        </p:nvSpPr>
        <p:spPr>
          <a:xfrm>
            <a:off x="11567160" y="6537960"/>
            <a:ext cx="475488" cy="283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r">
              <a:lnSpc>
                <a:spcPct val="113000"/>
              </a:lnSpc>
            </a:pPr>
            <a:r>
              <a:rPr sz="1725" b="1">
                <a:solidFill>
                  <a:srgbClr val="003C8B"/>
                </a:solidFill>
                <a:latin typeface="微软雅黑"/>
                <a:ea typeface="微软雅黑"/>
              </a:rPr>
              <a:t>21</a:t>
            </a:r>
          </a:p>
        </p:txBody>
      </p:sp>
      <p:sp>
        <p:nvSpPr>
          <p:cNvPr id="4" name="lead"/>
          <p:cNvSpPr/>
          <p:nvPr/>
        </p:nvSpPr>
        <p:spPr>
          <a:xfrm>
            <a:off x="612648" y="1133856"/>
            <a:ext cx="109728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2250" b="1">
                <a:solidFill>
                  <a:srgbClr val="003C8B"/>
                </a:solidFill>
                <a:latin typeface="微软雅黑"/>
                <a:ea typeface="微软雅黑"/>
              </a:rPr>
              <a:t>以统一口径测量服务，再用对比实验支撑每一次参数调整</a:t>
            </a:r>
          </a:p>
        </p:txBody>
      </p:sp>
      <p:sp>
        <p:nvSpPr>
          <p:cNvPr id="5" name="body-0"/>
          <p:cNvSpPr/>
          <p:nvPr/>
        </p:nvSpPr>
        <p:spPr>
          <a:xfrm>
            <a:off x="612648" y="1929384"/>
            <a:ext cx="3099816" cy="4754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2100" b="1">
                <a:solidFill>
                  <a:srgbClr val="003C8B"/>
                </a:solidFill>
                <a:latin typeface="微软雅黑"/>
                <a:ea typeface="微软雅黑"/>
              </a:rPr>
              <a:t>指标必须带口径</a:t>
            </a:r>
          </a:p>
        </p:txBody>
      </p:sp>
      <p:sp>
        <p:nvSpPr>
          <p:cNvPr id="6" name="body-1"/>
          <p:cNvSpPr/>
          <p:nvPr/>
        </p:nvSpPr>
        <p:spPr>
          <a:xfrm>
            <a:off x="3968496" y="1929384"/>
            <a:ext cx="7607808" cy="8595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1950" b="0">
                <a:solidFill>
                  <a:srgbClr val="172B3A"/>
                </a:solidFill>
                <a:latin typeface="微软雅黑"/>
                <a:ea typeface="微软雅黑"/>
              </a:rPr>
              <a:t>TTFT、TPOT、ITL 与吞吐应随测量位置与负载条件一同报告</a:t>
            </a:r>
          </a:p>
        </p:txBody>
      </p:sp>
      <p:sp>
        <p:nvSpPr>
          <p:cNvPr id="7" name="body-2"/>
          <p:cNvSpPr/>
          <p:nvPr/>
        </p:nvSpPr>
        <p:spPr>
          <a:xfrm>
            <a:off x="612648" y="2898648"/>
            <a:ext cx="3099816" cy="4754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2100" b="1">
                <a:solidFill>
                  <a:srgbClr val="003C8B"/>
                </a:solidFill>
                <a:latin typeface="微软雅黑"/>
                <a:ea typeface="微软雅黑"/>
              </a:rPr>
              <a:t>吞吐与延迟成对看</a:t>
            </a:r>
          </a:p>
        </p:txBody>
      </p:sp>
      <p:sp>
        <p:nvSpPr>
          <p:cNvPr id="8" name="body-3"/>
          <p:cNvSpPr/>
          <p:nvPr/>
        </p:nvSpPr>
        <p:spPr>
          <a:xfrm>
            <a:off x="3968496" y="2898648"/>
            <a:ext cx="7607808" cy="8595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1950" b="0">
                <a:solidFill>
                  <a:srgbClr val="172B3A"/>
                </a:solidFill>
                <a:latin typeface="微软雅黑"/>
                <a:ea typeface="微软雅黑"/>
              </a:rPr>
              <a:t>并发带来的总吞吐提升，需同时用 TTFT 与 ITL 尾延迟检验是否可接受</a:t>
            </a:r>
          </a:p>
        </p:txBody>
      </p:sp>
      <p:sp>
        <p:nvSpPr>
          <p:cNvPr id="9" name="body-4"/>
          <p:cNvSpPr/>
          <p:nvPr/>
        </p:nvSpPr>
        <p:spPr>
          <a:xfrm>
            <a:off x="612648" y="3867912"/>
            <a:ext cx="3099816" cy="4754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2100" b="1">
                <a:solidFill>
                  <a:srgbClr val="003C8B"/>
                </a:solidFill>
                <a:latin typeface="微软雅黑"/>
                <a:ea typeface="微软雅黑"/>
              </a:rPr>
              <a:t>资源指标用于归因</a:t>
            </a:r>
          </a:p>
        </p:txBody>
      </p:sp>
      <p:sp>
        <p:nvSpPr>
          <p:cNvPr id="10" name="body-5"/>
          <p:cNvSpPr/>
          <p:nvPr/>
        </p:nvSpPr>
        <p:spPr>
          <a:xfrm>
            <a:off x="3968496" y="3867912"/>
            <a:ext cx="7607808" cy="8595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1950" b="0">
                <a:solidFill>
                  <a:srgbClr val="172B3A"/>
                </a:solidFill>
                <a:latin typeface="微软雅黑"/>
                <a:ea typeface="微软雅黑"/>
              </a:rPr>
              <a:t>KV 使用率、Prefix 命中率与 Running / Waiting 帮助区分排队、Prefill 与 KV 压力。</a:t>
            </a:r>
          </a:p>
        </p:txBody>
      </p:sp>
      <p:sp>
        <p:nvSpPr>
          <p:cNvPr id="11" name="body-6"/>
          <p:cNvSpPr/>
          <p:nvPr/>
        </p:nvSpPr>
        <p:spPr>
          <a:xfrm>
            <a:off x="612648" y="4837176"/>
            <a:ext cx="3099816" cy="4754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2100" b="1">
                <a:solidFill>
                  <a:srgbClr val="003C8B"/>
                </a:solidFill>
                <a:latin typeface="微软雅黑"/>
                <a:ea typeface="微软雅黑"/>
              </a:rPr>
              <a:t>优化必须复测</a:t>
            </a:r>
          </a:p>
        </p:txBody>
      </p:sp>
      <p:sp>
        <p:nvSpPr>
          <p:cNvPr id="12" name="body-7"/>
          <p:cNvSpPr/>
          <p:nvPr/>
        </p:nvSpPr>
        <p:spPr>
          <a:xfrm>
            <a:off x="3968496" y="4837176"/>
            <a:ext cx="7607808" cy="8595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1950" b="0">
                <a:solidFill>
                  <a:srgbClr val="172B3A"/>
                </a:solidFill>
                <a:latin typeface="微软雅黑"/>
                <a:ea typeface="微软雅黑"/>
              </a:rPr>
              <a:t>每次只改一个参数，在相同负载下复测，并保存原始 JSON 与运行记录。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83464" y="146304"/>
            <a:ext cx="1083564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3150" b="1">
                <a:solidFill>
                  <a:srgbClr val="FFFFFF"/>
                </a:solidFill>
                <a:latin typeface="微软雅黑"/>
                <a:ea typeface="微软雅黑"/>
              </a:rPr>
              <a:t>参考资料与实验文件</a:t>
            </a:r>
          </a:p>
        </p:txBody>
      </p:sp>
      <p:sp>
        <p:nvSpPr>
          <p:cNvPr id="3" name="page-number"/>
          <p:cNvSpPr/>
          <p:nvPr/>
        </p:nvSpPr>
        <p:spPr>
          <a:xfrm>
            <a:off x="11567160" y="6537960"/>
            <a:ext cx="475488" cy="2834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r">
              <a:lnSpc>
                <a:spcPct val="113000"/>
              </a:lnSpc>
            </a:pPr>
            <a:r>
              <a:rPr sz="1725" b="1">
                <a:solidFill>
                  <a:srgbClr val="003C8B"/>
                </a:solidFill>
                <a:latin typeface="微软雅黑"/>
                <a:ea typeface="微软雅黑"/>
              </a:rPr>
              <a:t>22</a:t>
            </a:r>
          </a:p>
        </p:txBody>
      </p:sp>
      <p:sp>
        <p:nvSpPr>
          <p:cNvPr id="4" name="lead"/>
          <p:cNvSpPr/>
          <p:nvPr/>
        </p:nvSpPr>
        <p:spPr>
          <a:xfrm>
            <a:off x="612648" y="1133856"/>
            <a:ext cx="109728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2250" b="1">
                <a:solidFill>
                  <a:srgbClr val="003C8B"/>
                </a:solidFill>
                <a:latin typeface="微软雅黑"/>
                <a:ea typeface="微软雅黑"/>
              </a:rPr>
              <a:t>实验一至实验五已在 DGX Spark 上完成，本课件中的表格均为实测值</a:t>
            </a:r>
          </a:p>
        </p:txBody>
      </p:sp>
      <p:sp>
        <p:nvSpPr>
          <p:cNvPr id="6" name="body-0"/>
          <p:cNvSpPr/>
          <p:nvPr/>
        </p:nvSpPr>
        <p:spPr>
          <a:xfrm>
            <a:off x="612648" y="1929384"/>
            <a:ext cx="10972800" cy="4389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2100" b="1">
                <a:solidFill>
                  <a:srgbClr val="003C8B"/>
                </a:solidFill>
                <a:latin typeface="微软雅黑"/>
                <a:ea typeface="微软雅黑"/>
              </a:rPr>
              <a:t>vLLM 官方文档：Metrics 与 bench serve</a:t>
            </a:r>
          </a:p>
        </p:txBody>
      </p:sp>
      <p:sp>
        <p:nvSpPr>
          <p:cNvPr id="7" name="body-1"/>
          <p:cNvSpPr/>
          <p:nvPr/>
        </p:nvSpPr>
        <p:spPr>
          <a:xfrm>
            <a:off x="612648" y="2423160"/>
            <a:ext cx="109728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1950" b="0">
                <a:solidFill>
                  <a:srgbClr val="172B3A"/>
                </a:solidFill>
                <a:latin typeface="微软雅黑"/>
                <a:ea typeface="微软雅黑"/>
              </a:rPr>
              <a:t>请求生命周期与 TTFT、ITL 的统计边界，以及在线性能测试的请求发送与结果指标。</a:t>
            </a:r>
          </a:p>
        </p:txBody>
      </p:sp>
      <p:sp>
        <p:nvSpPr>
          <p:cNvPr id="8" name="body-2"/>
          <p:cNvSpPr/>
          <p:nvPr/>
        </p:nvSpPr>
        <p:spPr>
          <a:xfrm>
            <a:off x="612648" y="3017520"/>
            <a:ext cx="10972800" cy="4389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2100" b="1">
                <a:solidFill>
                  <a:srgbClr val="003C8B"/>
                </a:solidFill>
                <a:latin typeface="微软雅黑"/>
                <a:ea typeface="微软雅黑"/>
              </a:rPr>
              <a:t>vLLM 官方文档：Optimization and Tuning</a:t>
            </a:r>
          </a:p>
        </p:txBody>
      </p:sp>
      <p:sp>
        <p:nvSpPr>
          <p:cNvPr id="9" name="body-3"/>
          <p:cNvSpPr/>
          <p:nvPr/>
        </p:nvSpPr>
        <p:spPr>
          <a:xfrm>
            <a:off x="612648" y="3511296"/>
            <a:ext cx="109728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1950" b="0">
                <a:solidFill>
                  <a:srgbClr val="172B3A"/>
                </a:solidFill>
                <a:latin typeface="微软雅黑"/>
                <a:ea typeface="微软雅黑"/>
              </a:rPr>
              <a:t>Chunked Prefill、Prefix Caching、抢占重算与内存占比的参数取舍。</a:t>
            </a:r>
          </a:p>
        </p:txBody>
      </p:sp>
      <p:sp>
        <p:nvSpPr>
          <p:cNvPr id="10" name="body-4"/>
          <p:cNvSpPr/>
          <p:nvPr/>
        </p:nvSpPr>
        <p:spPr>
          <a:xfrm>
            <a:off x="612648" y="4105656"/>
            <a:ext cx="10972800" cy="4389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2100" b="1">
                <a:solidFill>
                  <a:srgbClr val="003C8B"/>
                </a:solidFill>
                <a:latin typeface="微软雅黑"/>
                <a:ea typeface="微软雅黑"/>
              </a:rPr>
              <a:t>本讲实验文件</a:t>
            </a:r>
          </a:p>
        </p:txBody>
      </p:sp>
      <p:sp>
        <p:nvSpPr>
          <p:cNvPr id="11" name="body-5"/>
          <p:cNvSpPr/>
          <p:nvPr/>
        </p:nvSpPr>
        <p:spPr>
          <a:xfrm>
            <a:off x="612648" y="4599432"/>
            <a:ext cx="10972800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</a:pPr>
            <a:r>
              <a:rPr sz="1950" b="0" dirty="0" err="1">
                <a:solidFill>
                  <a:srgbClr val="172B3A"/>
                </a:solidFill>
                <a:latin typeface="微软雅黑"/>
                <a:ea typeface="微软雅黑"/>
              </a:rPr>
              <a:t>bench_lab.py：流式逐</a:t>
            </a:r>
            <a:r>
              <a:rPr sz="1950" b="0" dirty="0">
                <a:solidFill>
                  <a:srgbClr val="172B3A"/>
                </a:solidFill>
                <a:latin typeface="微软雅黑"/>
                <a:ea typeface="微软雅黑"/>
              </a:rPr>
              <a:t> token </a:t>
            </a:r>
            <a:r>
              <a:rPr sz="1950" b="0" dirty="0" err="1">
                <a:solidFill>
                  <a:srgbClr val="172B3A"/>
                </a:solidFill>
                <a:latin typeface="微软雅黑"/>
                <a:ea typeface="微软雅黑"/>
              </a:rPr>
              <a:t>计时与分位数统计</a:t>
            </a:r>
            <a:r>
              <a:rPr lang="zh-CN" altLang="en-US" sz="1950" dirty="0">
                <a:solidFill>
                  <a:srgbClr val="172B3A"/>
                </a:solidFill>
                <a:latin typeface="微软雅黑"/>
                <a:ea typeface="微软雅黑"/>
              </a:rPr>
              <a:t>。</a:t>
            </a:r>
            <a:endParaRPr sz="1950" b="0" dirty="0">
              <a:solidFill>
                <a:srgbClr val="172B3A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90f36d3f-ffec-4fe5-9788-afc451dde4a9&quot;,&quot;Name&quot;:null,&quot;Kind&quot;:&quot;Custom&quot;,&quot;OldGuidesSetting&quot;:{&quot;HeaderHeight&quot;:0.0,&quot;FooterHeight&quot;:0.0,&quot;SideMargin&quot;:0.0,&quot;TopMargin&quot;:0.0,&quot;BottomMargin&quot;:0.0,&quot;IntervalMargin&quot;:0.0}}"/>
</p:tagLst>
</file>

<file path=ppt/theme/theme1.xml><?xml version="1.0" encoding="utf-8"?>
<a:theme xmlns:a="http://schemas.openxmlformats.org/drawingml/2006/main" name="Office 主题​​">
  <a:themeElements>
    <a:clrScheme name="自定义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3C8B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309481"/>
      </a:accent6>
      <a:hlink>
        <a:srgbClr val="0563C1"/>
      </a:hlink>
      <a:folHlink>
        <a:srgbClr val="954F72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1692</Words>
  <Application>Microsoft Office PowerPoint</Application>
  <PresentationFormat>宽屏</PresentationFormat>
  <Paragraphs>386</Paragraphs>
  <Slides>21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5" baseType="lpstr">
      <vt:lpstr>微软雅黑</vt:lpstr>
      <vt:lpstr>Arial</vt:lpstr>
      <vt:lpstr>Trebuchet MS</vt:lpstr>
      <vt:lpstr>Office 主题​​</vt:lpstr>
      <vt:lpstr>vLLM Serving 指标与实测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Knowledge 与 RAG：知识检索、上下文组织与来源引用</dc:title>
  <dc:creator/>
  <cp:lastModifiedBy>泠锟 龙</cp:lastModifiedBy>
  <cp:revision>172</cp:revision>
  <dcterms:created xsi:type="dcterms:W3CDTF">2021-12-28T08:11:00Z</dcterms:created>
  <dcterms:modified xsi:type="dcterms:W3CDTF">2026-10-22T07:22:17Z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B57AE2A8B969466CA4131FA5B0769B5E_12</vt:lpwstr>
  </property>
  <property fmtid="{D5CDD505-2E9C-101B-9397-08002B2CF9AE}" pid="3" name="KSOProductBuildVer">
    <vt:lpwstr>2052-12.1.0.28488</vt:lpwstr>
  </property>
</Properties>
</file>