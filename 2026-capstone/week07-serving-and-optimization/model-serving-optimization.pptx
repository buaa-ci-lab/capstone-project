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8001" r:id="rId3"/>
    <p:sldId id="18002" r:id="rId5"/>
    <p:sldId id="18003" r:id="rId6"/>
    <p:sldId id="18004" r:id="rId7"/>
    <p:sldId id="18005" r:id="rId8"/>
    <p:sldId id="18006" r:id="rId9"/>
    <p:sldId id="18007" r:id="rId10"/>
    <p:sldId id="18008" r:id="rId11"/>
    <p:sldId id="18009" r:id="rId12"/>
    <p:sldId id="18010" r:id="rId13"/>
    <p:sldId id="18011" r:id="rId14"/>
    <p:sldId id="18012" r:id="rId15"/>
    <p:sldId id="18013" r:id="rId16"/>
    <p:sldId id="18014" r:id="rId17"/>
    <p:sldId id="18015" r:id="rId18"/>
    <p:sldId id="18016" r:id="rId19"/>
    <p:sldId id="18017" r:id="rId20"/>
    <p:sldId id="18018" r:id="rId21"/>
    <p:sldId id="18019" r:id="rId22"/>
    <p:sldId id="18020" r:id="rId23"/>
    <p:sldId id="18021" r:id="rId24"/>
    <p:sldId id="18022" r:id="rId25"/>
    <p:sldId id="18023" r:id="rId26"/>
    <p:sldId id="18024" r:id="rId27"/>
    <p:sldId id="18025" r:id="rId28"/>
    <p:sldId id="18026" r:id="rId29"/>
    <p:sldId id="18027" r:id="rId30"/>
    <p:sldId id="18028" r:id="rId31"/>
    <p:sldId id="18029" r:id="rId32"/>
    <p:sldId id="18030" r:id="rId33"/>
    <p:sldId id="18031" r:id="rId34"/>
    <p:sldId id="18032" r:id="rId35"/>
    <p:sldId id="18033" r:id="rId36"/>
    <p:sldId id="18035" r:id="rId37"/>
    <p:sldId id="18037" r:id="rId38"/>
    <p:sldId id="18039" r:id="rId39"/>
    <p:sldId id="18042" r:id="rId40"/>
    <p:sldId id="18043" r:id="rId41"/>
    <p:sldId id="18044" r:id="rId42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2" userDrawn="1">
          <p15:clr>
            <a:srgbClr val="A4A3A4"/>
          </p15:clr>
        </p15:guide>
        <p15:guide id="2" orient="horz" pos="21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599C"/>
    <a:srgbClr val="003C8B"/>
    <a:srgbClr val="39B099"/>
    <a:srgbClr val="2A9195"/>
    <a:srgbClr val="ABCFFF"/>
    <a:srgbClr val="D3EEE9"/>
    <a:srgbClr val="8FBFFF"/>
    <a:srgbClr val="C52E37"/>
    <a:srgbClr val="E7E7E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138" y="180"/>
      </p:cViewPr>
      <p:guideLst>
        <p:guide pos="3822"/>
        <p:guide orient="horz" pos="211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25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按图从左向右解释 API Server、Engine Core、GPU Workers，再沿结果路径返回。图来自当前官方 Architecture Overview，其中四张 GPU 是 TP=4 的组件示例，不代表运行 vLLM 必须使用四张卡。本课关注服务分工，不展开进程通信和张量并行。 本图以TP=4展示进程分工，课堂只读API Server、EngineCore和Worker之间的职责，不展开并行部署。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Architecture</a:t>
            </a:r>
          </a:p>
          <a:p>
            <a:r>
              <a:t>https://docs.vllm.ai/en/stable/design/arch_overview/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原论文 Figure 4，Mistral-7B、单A100；左横轴是输入序列长度，右横轴是decode batch size，二者不是同一个变量。颜色区分linear、attention、others。不是所有prefill都天然算力受限，也不是所有decode都只受带宽限制，具体随模型和工作量变化。末段prefill计算最后位置的logits，可直接采样首token；后续每轮以已有输出为输入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Sarathi-Serve · OSDI 2024</a:t>
            </a:r>
          </a:p>
          <a:p>
            <a:r>
              <a:t>https://www.usenix.org/conference/osdi24/presentation/agrawal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6：LLaMA2-70B线性层，A100，TP=2/4。只观察同一曲线，不能把该图线性层时间直接当整个模型一步时间。可用粗略理解 T_step≈max(数据搬运时间,计算时间)+其他开销，但不把它作为精确性能模型。批中的多个token能复用权重访问，且每个请求仍需访问自己的KV。该图的阈值与斜率不能外推到课堂设备。 “更多token”专指当前iteration处理的token位置，不指未来全部输出，也不指读到的所有历史KV。仅解释一次。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Sarathi-Serve · OSDI 2024</a:t>
            </a:r>
          </a:p>
          <a:p>
            <a:r>
              <a:t>https://www.usenix.org/conference/osdi24/presentation/agrawal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原图来自 Sarathi-Serve Figure 3：Mistral-7B，单 A100，prompt length 1024。横轴均为 batch size，纵轴刻度不同。图中 decode 的批量收益明显，prefill 并非单调提高。只解释原实验中的趋势；不将具体倍数外推到所有模型和 GPU。吞吐提高不等于每个请求更早结束，后文会补上等待与时延。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Sarathi-Serve · OSDI 2024</a:t>
            </a:r>
          </a:p>
          <a:p>
            <a:r>
              <a:t>https://www.usenix.org/conference/osdi24/presentation/agrawal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原图是 Orca Figure 3。阴影表示输入，EOS 表示结束，横向按 iter 1到4读。原图的横杠是该调度方式造成的额外输入输出计算。这里讲请求集合固定造成的资源浪费，不把所有静态组批实现都概括为完成的结果一定不能提前返回。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Orca · OSDI 2022</a:t>
            </a:r>
          </a:p>
          <a:p>
            <a:r>
              <a:t>https://www.usenix.org/conference/osdi22/presentation/yu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图来自 vLLM V1 官方介绍中的 Persistent Batch，用采样参数 temperature 的数组展示请求退出与加入时怎样更新持久化批状态。图中 max_num_reqs 是该图的数据结构容量标注，不将其当成用户应调的 CLI 参数。连续组批与持久化批结构不是同一个概念；借该原图观察集合更新即可。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 Sarathi-Serve Figure 7 中 vLLM 行的局部原图，描述2024论文时期对照配置。p 表示 prefill，d 表示 decode，TBT 表示相邻 token 的时间间隔。仅用来解释长 prefill 干扰，不代表当前 vLLM 的调度能力；当前 V1 支持 chunked prefill。其余系统对比行不展开。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Sarathi-Serve · OSDI 2024</a:t>
            </a:r>
          </a:p>
          <a:p>
            <a:r>
              <a:t>https://www.usenix.org/conference/osdi24/presentation/agrawal</a:t>
            </a:r>
          </a:p>
          <a:p/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先介绍图中的三个请求及颜色，R1 输入3个、R2 输入5个、R3 输入12个 token。每个方格代表本轮处理的一个 token，右侧输出是 request_id 到 num_tokens 的映射。V1 调度器以已计算 token 数与目标进度决定工作；prefill/decode 仍有计算含义，但不是彼此隔离的两套调度器。本页看整体，后两页再看长输入的切分和数值。 指图先看同列Step1：两个decode请求各推进一个位置，余下8个位置用于R3的输入；再看相邻列中分配随进度变化。max_tokens是生成上限，不是真实输出长度预测。本图色块不是每轮新生成的全部输出。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按当前V1 Scheduler主流程归纳：先遍历running，之后考虑waiting；每个请求有computed与target进度，用预算截断拟执行token数并尝试分配KV。某些资源不足情形可导致跳过、等待或抢占。普通同步文本生成用于课堂简化，实际实现包含异步、推测、多模态和远端KV等分支。本页不是可逐行替代源码的伪代码。 不把“目标进度”解释为整个回答的未来长度。调度只处理当前已知工作；采样到EOS或达到生成上限后结束。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/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明示假设的教学演算，不是实测trace。R1–R3的输入长度取自官方示意，输出长度和R4到达由课程设定。活跃请求上限3和每轮可调度序列上限3在本例相同；当前版本可能区分active与scheduled限制，本例不用一个参数代表所有入口控制。普通同步迭代，所有输出以指定长度结束，不启用缓存共享/提前EOS。每个请求最终prefill完成时产生第一个输出token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/>
          <a:p>
            <a:r>
              <a:t>vLLM · Engine Arguments</a:t>
            </a:r>
          </a:p>
          <a:p>
            <a:r>
              <a:t>https://docs.vllm.ai/en/stable/configuration/engine_args/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逐行演算：Step0总输入3+5+2=10。R1/R2完成prefill可采样首token；R3未完成。Step1两个decode各1，加R3的8=10。Step2仍有三个活跃请求，R3最后2个输入与两个decode共4。此轮R1达到第三个输出而结束，R2达到第三个输出但还未结束，R3首次输出。R4即使输入只有2，且预算有剩余，仍受活跃上限限制，不能预先假定R1会在本轮中途退出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p3开头R1已移除，先推进R2/R3的decode，再接纳R4处理2个输入，合计4；R2输出第四个token结束，R3输出第二个token，R4采样首token。Step4仅R3/R4各decode一次，两者结束。输出总长度分别3、4、3、2。各请求开始/结束不同，batch集合与每轮token数持续改变。例子说明TTFT包含等待，不从轮次数推算毫秒时间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/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按官方Optimization说明归纳方向，不给通用最优数值。chunked prefill允许decode和部分prefill合批；预算取舍取决于模型、GPU和请求长度。这里完成机制讲解，后面的长输入调优页只讨论如何验证，不再重复概念。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/>
          <a:p>
            <a:r>
              <a:t>vLLM · Engine Arguments</a:t>
            </a:r>
          </a:p>
          <a:p>
            <a:r>
              <a:t>https://docs.vllm.ai/en/stable/configuration/engine_args/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x_num_seqs控制每轮序列数，max_num_batched_tokens控制每轮输入工作量；新版本另有活跃/入口限制，不能把一个上限理解成全系统限流。KV容量是第三种独立约束。用户通常先固定两个上限，改变一个再观察，不能仅凭GPU利用率判断哪个约束生效。缓存算法细节留给后续课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Engine Arguments</a:t>
            </a:r>
          </a:p>
          <a:p>
            <a:r>
              <a:t>https://docs.vllm.ai/en/stable/configuration/engine_args/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/>
          <a:p>
            <a:r>
              <a:t>PagedAttention · SOSP 2023</a:t>
            </a:r>
          </a:p>
          <a:p>
            <a:r>
              <a:t>https://doi.org/10.1145/3600006.3613165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沿用服务链路原图定位统计位置，不另造并发数值例子。相同时间窗口分别记录客户端in-flight、引擎waiting/running和执行batch。running不意味着在任意时刻都在GPU执行；也不能直接用客户端并发数推定batch size。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Architecture</a:t>
            </a:r>
          </a:p>
          <a:p>
            <a:r>
              <a:t>https://docs.vllm.ai/en/stable/design/arch_overview/</a:t>
            </a:r>
          </a:p>
          <a:p/>
          <a:p>
            <a:r>
              <a:t>vLLM · Metrics</a:t>
            </a:r>
          </a:p>
          <a:p>
            <a:r>
              <a:t>https://docs.vllm.ai/en/stable/usage/metrics/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ttle定律L=λW。用于本课时，选稳定、无失败丢弃和取消、到达率与完成率平衡的测量窗口；L是平均在途请求数，λ是请求完成速率，W是同一边界的平均响应时间。客户端边界应包含客户端侧等待，引擎边界则对应引擎内请求。闭环无think time时可用固定并发近似L。这里恢复关系本身，不恢复原先两组自设数值，不推导排队论，也不把恒等关系当作调参的因果模型。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MIT · Little 定律</a:t>
            </a:r>
          </a:p>
          <a:p>
            <a:r>
              <a:t>https://web.mit.edu/urban_or_book/www/book/chapter4/4.4.html</a:t>
            </a:r>
          </a:p>
          <a:p/>
          <a:p>
            <a:r>
              <a:t>vLLM · bench serve</a:t>
            </a:r>
          </a:p>
          <a:p>
            <a:r>
              <a:t>https://docs.vllm.ai/en/stable/cli/bench/serve/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图来自2025年 vLLM V1官方介绍，原始实验硬件和模型保留在图上。横轴是 Queries Per Second 的发压负载，不是客户端并发，也不是完成吞吐；纵轴是原报告 latency。此处只观察同一实现随负载变化的现象，不作版本性能对比，也不推断所有环境相同的拐点。更多并发可能提供更多可合批工作，资源饱和后积压却会增加，需结合完成吞吐与排队记录判断。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/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图为PagedAttention原论文Figure11，展示论文使用的两个数据集长度分布，不代表当前线上业务。横轴为token数，纵轴为密度。关注输入与输出的不同分布和长尾；服务测试应固定请求集并记录实际生成长度。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PagedAttention · SOSP 2023</a:t>
            </a:r>
          </a:p>
          <a:p>
            <a:r>
              <a:t>https://doi.org/10.1145/3600006.3613165</a:t>
            </a:r>
          </a:p>
          <a:p/>
          <a:p>
            <a:r>
              <a:t>vLLM · bench serve</a:t>
            </a:r>
          </a:p>
          <a:p>
            <a:r>
              <a:t>https://docs.vllm.ai/en/stable/cli/bench/serve/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承接前页曲线选择工作区间。以业务要求确定服务等级目标SLO，但不展开新的SLO概念专题。并发控制的目标是满足响应约束时获得稳定吞吐，不是简单追求running最大。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/>
          <a:p>
            <a:r>
              <a:t>vLLM · bench serve</a:t>
            </a:r>
          </a:p>
          <a:p>
            <a:r>
              <a:t>https://docs.vllm.ai/en/stable/cli/bench/serve/</a:t>
            </a:r>
          </a:p>
          <a:p/>
          <a:p>
            <a:r>
              <a:t>Sarathi-Serve · OSDI 2024</a:t>
            </a:r>
          </a:p>
          <a:p>
            <a:r>
              <a:t>https://www.usenix.org/conference/osdi24/presentation/agrawal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当前V1调度器同时维护waiting和running；waiting还可包含等待特定依赖的分支，本课按普通文本生成简化。与并发观测页不同，本页讲状态如何随调度和执行改变，不重复计数定义。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/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以官方scheduler和engine arguments为准：priority数值较小表示较高优先级。这里不构造另一组ABC请求，不扩展到其他调度算法。持续高优先级负载可能让低优先级等待更久，需结合业务设置。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Engine Arguments</a:t>
            </a:r>
          </a:p>
          <a:p>
            <a:r>
              <a:t>https://docs.vllm.ai/en/stable/configuration/engine_args/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PagedAttention原论文Figure7用于说明分块内存管理，只读逻辑块与物理块映射，不展开attention kernel。完成请求的块可回收用于其他请求；缓存复用可能保留可重用内容，但不继续占用活跃请求状态。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PagedAttention · SOSP 2023</a:t>
            </a:r>
          </a:p>
          <a:p>
            <a:r>
              <a:t>https://doi.org/10.1145/3600006.3613165</a:t>
            </a:r>
          </a:p>
          <a:p/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V1默认抢占模式为RECOMPUTE。图展示preempted decode，请读图下半部分的PREEMPTED、SCHEDULED、NEW_TOKEN事件：暂停后重新获得调度机会，再恢复输出。先前已发送的输出不会因为恢复而重新发送。重算与客户端重试不同。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/>
          <a:p>
            <a:r>
              <a:t>vLLM · Metrics Design</a:t>
            </a:r>
          </a:p>
          <a:p>
            <a:r>
              <a:t>https://docs.vllm.ai/en/stable/design/metrics/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原论文Figure6用于指认请求持有的块表和物理KV引用，不把该图说成释放操作的时间线。正常结束与取消分开讲；finish reason按具体API实现读取。共享块仍被其他请求持有时不可回收；启用前缀缓存时，引用归还后内容也可能保留供复用。GPU内存池通常仍由进程持有，nvidia-smi未下降不等于请求没有释放。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/>
          <a:p>
            <a:r>
              <a:t>vLLM · Metrics</a:t>
            </a:r>
          </a:p>
          <a:p>
            <a:r>
              <a:t>https://docs.vllm.ai/en/stable/usage/metrics/</a:t>
            </a:r>
          </a:p>
          <a:p/>
          <a:p>
            <a:r>
              <a:t>PagedAttention · SOSP 2023</a:t>
            </a:r>
          </a:p>
          <a:p>
            <a:r>
              <a:t>https://doi.org/10.1145/3600006.3613165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依据AsyncLLM.generate对CancelledError和GeneratorExit的处理及abort接口。客户端超时不自动等同引擎已取消，代理和应用需要正确关闭/取消后端生成任务。应以同一request ID确认入口、引擎结束状态与资源回收；不保证连接已断开时还可向客户端返回终止事件。原图展示组件间通道，abort为该控制路径上的请求，不宣称原图画了专用abort箭头。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V1 · AsyncLLM</a:t>
            </a:r>
          </a:p>
          <a:p>
            <a:r>
              <a:t>https://docs.vllm.ai/en/stable/api/vllm/v1/engine/async_llm/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/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按当前Engine Arguments：max_num_queued_reqs限制API进程中的waiting+running，默认None为不限制，满时以503拒绝；DP跨rank等细节仅在备注中说明，不展开部署。不同版本可由网关或应用落实同类控制。持续过载的队列增长是流量收支结论，不新增恒定处理能力的虚构数值。边界需与实际负载、突发和业务等待期限匹配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Engine Arguments</a:t>
            </a:r>
          </a:p>
          <a:p>
            <a:r>
              <a:t>https://docs.vllm.ai/en/stable/configuration/engine_args/</a:t>
            </a:r>
          </a:p>
          <a:p/>
          <a:p>
            <a:r>
              <a:t>vLLM · Metrics</a:t>
            </a:r>
          </a:p>
          <a:p>
            <a:r>
              <a:t>https://docs.vllm.ai/en/stable/usage/metrics/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超时只表示调用方未在期限内收到期望结果，不证明服务端工作结束。vLLM的取消传播依据AsyncLLM；有限重试、总deadline、退避和抖动依据AWS Builders Library。将这些工程原则用于推理服务，不展开新的分布式系统专题，也不宣称vLLM默认提供业务幂等或恰好一次执行。已经流式返回部分结果后重试，还需由业务决定如何处理已展示内容。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V1 · AsyncLLM</a:t>
            </a:r>
          </a:p>
          <a:p>
            <a:r>
              <a:t>https://docs.vllm.ai/en/stable/api/vllm/v1/engine/async_llm/</a:t>
            </a:r>
          </a:p>
          <a:p/>
          <a:p>
            <a:r>
              <a:t>vLLM · Engine Arguments</a:t>
            </a:r>
          </a:p>
          <a:p>
            <a:r>
              <a:t>https://docs.vllm.ai/en/stable/configuration/engine_args/</a:t>
            </a:r>
          </a:p>
          <a:p/>
          <a:p>
            <a:r>
              <a:t>AWS · Timeouts, retries and backoff</a:t>
            </a:r>
          </a:p>
          <a:p>
            <a:r>
              <a:t>https://aws.amazon.com/builders-library/timeouts-retries-and-backoff-with-jitter/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依据vLLM Metrics Design定义指标边界。本页定位TTFT、ITL、queue和prefill等时间段；下一页再讲TTFT升高时的诊断。服务端TTFT从输入处理的arrival time到前端接收首token；客户端还可能包含网络和额外前端处理。不能直接将不同边界的指标相加。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Metrics Design</a:t>
            </a:r>
          </a:p>
          <a:p>
            <a:r>
              <a:t>https://docs.vllm.ai/en/stable/design/metrics/</a:t>
            </a:r>
          </a:p>
          <a:p/>
          <a:p>
            <a:r>
              <a:t>vLLM · Metrics</a:t>
            </a:r>
          </a:p>
          <a:p>
            <a:r>
              <a:t>https://docs.vllm.ai/en/stable/usage/metrics/</a:t>
            </a:r>
          </a:p>
          <a:p/>
          <a:p>
            <a:r>
              <a:t>vLLM · bench serve</a:t>
            </a:r>
          </a:p>
          <a:p>
            <a:r>
              <a:t>https://docs.vllm.ai/en/stable/cli/bench/serve/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使用Metrics Design的preempted prefill原图：QUEUED、SCHEDULED、PREEMPTED、再次SCHEDULED直到FIRST_TOKEN。官方将prefill中抢占的影响计入TTFT及prefill interval；因此不能把prefill阶段时间都视作GPU kernel执行。实际诊断还应比较服务端与客户端TTFT，定位差额是否在输入预处理、网络或输出处理。按安装版本确认统计边界，不再用600+150+50等虚构毫秒相加。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Metrics Design</a:t>
            </a:r>
          </a:p>
          <a:p>
            <a:r>
              <a:t>https://docs.vllm.ai/en/stable/design/metrics/</a:t>
            </a:r>
          </a:p>
          <a:p/>
          <a:p>
            <a:r>
              <a:t>vLLM · Metrics</a:t>
            </a:r>
          </a:p>
          <a:p>
            <a:r>
              <a:t>https://docs.vllm.ai/en/stable/usage/metrics/</a:t>
            </a:r>
          </a:p>
          <a:p/>
          <a:p>
            <a:r>
              <a:t>vLLM V1 · Scheduler</a:t>
            </a:r>
          </a:p>
          <a:p>
            <a:r>
              <a:t>https://docs.vllm.ai/en/stable/api/vllm/v1/core/sched/scheduler/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原论文Figure1，Yi-34B，2张A100，arxiv-summarization，128请求。历史vLLM对比只用于说明generation stall和尾部观测，不用其差距评价当前V1。TPOT通常由首token后时间除以后续输出token数；不足两个输出token时无该均值。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Sarathi-Serve · OSDI 2024</a:t>
            </a:r>
          </a:p>
          <a:p>
            <a:r>
              <a:t>https://www.usenix.org/conference/osdi24/presentation/agrawal</a:t>
            </a:r>
          </a:p>
          <a:p/>
          <a:p>
            <a:r>
              <a:t>vLLM · bench serve</a:t>
            </a:r>
          </a:p>
          <a:p>
            <a:r>
              <a:t>https://docs.vllm.ai/en/stable/cli/bench/serve/</a:t>
            </a:r>
          </a:p>
          <a:p/>
          <a:p>
            <a:r>
              <a:t>vLLM · Metrics Design</a:t>
            </a:r>
          </a:p>
          <a:p>
            <a:r>
              <a:t>https://docs.vllm.ai/en/stable/design/metrics/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前面介绍的TTFT、ITL和完成吞吐出发，将性能表现与排队、prefill工作和KV资源联系起来。调优方向分别对应入口并发、每轮工作量与资源容量。调整后同时观察用户等待和有效完成工作。比较时保持模型与请求条件可比。具体收益取决于模型、硬件和负载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/>
          <a:p>
            <a:r>
              <a:t>vLLM · bench serve</a:t>
            </a:r>
          </a:p>
          <a:p>
            <a:r>
              <a:t>https://docs.vllm.ai/en/stable/cli/bench/serve/</a:t>
            </a:r>
          </a:p>
          <a:p/>
          <a:p>
            <a:r>
              <a:t>vLLM · Metrics</a:t>
            </a:r>
          </a:p>
          <a:p>
            <a:r>
              <a:t>https://docs.vllm.ai/en/stable/usage/metrics/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图来自2025年vLLM V1官方介绍。横轴QPS是请求到达速率，纵轴是原报告的latency，图中的模型和硬件条件保持原样。它展示负载增加后的延迟变化。若实际运行还观察到完成吞吐趋平、排队增加，可以考虑限制入口并发，在吞吐与等待之间选择合适范围。曲线本身没有给出完成吞吐或队列数据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V1 官方介绍（2025）</a:t>
            </a:r>
          </a:p>
          <a:p>
            <a:r>
              <a:t>https://vllm.ai/blog/2025-01-27-v1-alpha-release</a:t>
            </a:r>
          </a:p>
          <a:p/>
          <a:p>
            <a:r>
              <a:t>vLLM · Metrics</a:t>
            </a:r>
          </a:p>
          <a:p>
            <a:r>
              <a:t>https://docs.vllm.ai/en/stable/usage/metrics/</a:t>
            </a:r>
          </a:p>
          <a:p/>
          <a:p>
            <a:r>
              <a:t>vLLM · bench serve</a:t>
            </a:r>
          </a:p>
          <a:p>
            <a:r>
              <a:t>https://docs.vllm.ai/en/stable/cli/bench/serve/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图来自Sarathi-Serve论文Figure9a，比较decode-only、decode与chunked prefill混合、decode与完整prefill混合时的单轮batch耗时，条件为Mistral-7B、单张A100、分块预算256。完整prefill可能拉长一轮执行，从而影响已有输出。vLLM官方文档说明，较小的每轮token预算通常有利于ITL，较大的预算有利于更快推进prefill。需要同时考虑已有输出的流畅度、新请求的TTFT和整体吞吐。图中实验数值不作为通用参数建议。</a:t>
            </a:r>
          </a:p>
          <a:p/>
          <a:p>
            <a:r>
              <a:t>建议讲授：3 分钟</a:t>
            </a:r>
          </a:p>
          <a:p/>
          <a:p>
            <a:r>
              <a:t>[Sources]</a:t>
            </a:r>
          </a:p>
          <a:p>
            <a:r>
              <a:t>Sarathi-Serve · OSDI 2024</a:t>
            </a:r>
          </a:p>
          <a:p>
            <a:r>
              <a:t>https://www.usenix.org/conference/osdi24/presentation/agrawal</a:t>
            </a:r>
          </a:p>
          <a:p/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LLM官方优化文档将频繁抢占与KV容量不足联系起来。默认的RECOMPUTE恢复方式会产生额外等待和计算。可考虑减少同时活跃的请求，在显存有余量时增加可用于KV的容量。评价时同时看完成吞吐和用户等待，避免将等待转移到客户端后误判整体收益。左图为官方Metrics Design的抢占时间线，用于说明等待和恢复，不代表具体耗时。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/>
          <a:p>
            <a:r>
              <a:t>vLLM · Metrics Design</a:t>
            </a:r>
          </a:p>
          <a:p>
            <a:r>
              <a:t>https://docs.vllm.ai/en/stable/design/metrics/</a:t>
            </a:r>
          </a:p>
          <a:p/>
          <a:p>
            <a:r>
              <a:t>vLLM · Metrics</a:t>
            </a:r>
          </a:p>
          <a:p>
            <a:r>
              <a:t>https://docs.vllm.ai/en/stable/usage/metrics/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回到课程四部分的职责关系，避免再从头演算四请求。组批是每轮执行组织，并发是同时在途和接纳规模，队列与请求管理保证状态和资源可持续，观测与测试负责判断是否真的改善。讲完后进入资料拓展。</a:t>
            </a:r>
          </a:p>
          <a:p/>
          <a:p>
            <a:r>
              <a:t>建议讲授：2 分钟</a:t>
            </a:r>
          </a:p>
          <a:p/>
          <a:p>
            <a:r>
              <a:t>[Sources]</a:t>
            </a:r>
          </a:p>
          <a:p>
            <a:r>
              <a:t>vLLM · Architecture</a:t>
            </a:r>
          </a:p>
          <a:p>
            <a:r>
              <a:t>https://docs.vllm.ai/en/stable/design/arch_overview/</a:t>
            </a:r>
          </a:p>
          <a:p/>
          <a:p>
            <a:r>
              <a:t>vLLM · Optimization</a:t>
            </a:r>
          </a:p>
          <a:p>
            <a:r>
              <a:t>https://docs.vllm.ai/en/stable/configuration/optimization/</a:t>
            </a:r>
          </a:p>
          <a:p/>
          <a:p>
            <a:r>
              <a:t>vLLM · bench serve</a:t>
            </a:r>
          </a:p>
          <a:p>
            <a:r>
              <a:t>https://docs.vllm.ai/en/stable/cli/bench/serve/</a:t>
            </a:r>
          </a:p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本页所有资源名和网址都可点击。按主题查阅原文；官方stable文档随版本更新，使用时对照部署版本。</a:t>
            </a:r>
          </a:p>
          <a:p/>
          <a:p>
            <a:r>
              <a:t>建议讲授：1 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本页所有资源名和网址都可点击。按主题查阅原文；官方stable文档随版本更新，使用时对照部署版本。</a:t>
            </a:r>
          </a:p>
          <a:p/>
          <a:p>
            <a:r>
              <a:t>建议讲授：1 分钟</a:t>
            </a:r>
          </a:p>
          <a:p/>
          <a:p>
            <a:r>
              <a:t>[Sources]</a:t>
            </a:r>
          </a:p>
          <a:p/>
          <a:p>
            <a:r>
              <a:t>[/Sources]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872283"/>
            <a:ext cx="11235193" cy="4392054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>
            <a:off x="283209" y="1644336"/>
            <a:ext cx="1592243" cy="0"/>
          </a:xfrm>
          <a:prstGeom prst="line">
            <a:avLst/>
          </a:prstGeom>
          <a:ln w="38100">
            <a:solidFill>
              <a:srgbClr val="C52E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28"/>
          <p:cNvSpPr>
            <a:spLocks noGrp="1"/>
          </p:cNvSpPr>
          <p:nvPr>
            <p:ph type="body" sz="quarter" idx="13"/>
          </p:nvPr>
        </p:nvSpPr>
        <p:spPr>
          <a:xfrm>
            <a:off x="189904" y="1081386"/>
            <a:ext cx="3397250" cy="5984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904" y="136525"/>
            <a:ext cx="9030296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81386"/>
            <a:ext cx="11235193" cy="5182951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lt"/>
                <a:ea typeface="微软雅黑" panose="020B0503020204020204" pitchFamily="34" charset="-122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lt"/>
                <a:ea typeface="微软雅黑" panose="020B0503020204020204" pitchFamily="34" charset="-122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lt"/>
                <a:ea typeface="微软雅黑" panose="020B0503020204020204" pitchFamily="34" charset="-122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lt"/>
                <a:ea typeface="微软雅黑" panose="020B0503020204020204" pitchFamily="34" charset="-122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1" y="6536805"/>
            <a:ext cx="1247775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410009" y="6339238"/>
            <a:ext cx="53719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Trebuchet MS" panose="020B0603020202020204" pitchFamily="34" charset="0"/>
                <a:ea typeface="微软雅黑" panose="020B0503020204020204" pitchFamily="34" charset="-122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Trebuchet MS" panose="020B06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vllm.ai/en/stable/design/arch_overview/" TargetMode="Externa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api/vllm/v1/core/sched/scheduler/" TargetMode="External"/><Relationship Id="rId2" Type="http://schemas.openxmlformats.org/officeDocument/2006/relationships/hyperlink" Target="https://www.usenix.org/conference/osdi24/presentation/agrawal" TargetMode="Externa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usenix.org/conference/osdi24/presentation/agrawal" TargetMode="Externa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usenix.org/conference/osdi24/presentation/agrawal" TargetMode="Externa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www.usenix.org/conference/osdi22/presentation/yu" TargetMode="Externa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api/vllm/v1/core/sched/scheduler/" TargetMode="External"/><Relationship Id="rId2" Type="http://schemas.openxmlformats.org/officeDocument/2006/relationships/hyperlink" Target="https://vllm.ai/blog/2025-01-27-v1-alpha-release" TargetMode="Externa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configuration/optimization/" TargetMode="External"/><Relationship Id="rId2" Type="http://schemas.openxmlformats.org/officeDocument/2006/relationships/hyperlink" Target="https://www.usenix.org/conference/osdi24/presentation/agrawal" TargetMode="Externa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api/vllm/v1/core/sched/scheduler/" TargetMode="External"/><Relationship Id="rId2" Type="http://schemas.openxmlformats.org/officeDocument/2006/relationships/hyperlink" Target="https://vllm.ai/blog/2025-01-27-v1-alpha-release" TargetMode="Externa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vllm.ai/blog/2025-01-27-v1-alpha-release" TargetMode="External"/><Relationship Id="rId2" Type="http://schemas.openxmlformats.org/officeDocument/2006/relationships/hyperlink" Target="https://docs.vllm.ai/en/stable/api/vllm/v1/core/sched/scheduler/" TargetMode="Externa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configuration/engine_args/" TargetMode="External"/><Relationship Id="rId2" Type="http://schemas.openxmlformats.org/officeDocument/2006/relationships/hyperlink" Target="https://docs.vllm.ai/en/stable/api/vllm/v1/core/sched/scheduler/" TargetMode="External"/><Relationship Id="rId1" Type="http://schemas.openxmlformats.org/officeDocument/2006/relationships/hyperlink" Target="https://vllm.ai/blog/2025-01-27-v1-alpha-release" TargetMode="Externa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vllm.ai/en/stable/api/vllm/v1/core/sched/scheduler/" TargetMode="External"/><Relationship Id="rId1" Type="http://schemas.openxmlformats.org/officeDocument/2006/relationships/hyperlink" Target="https://vllm.ai/blog/2025-01-27-v1-alpha-release" TargetMode="Externa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vllm.ai/blog/2025-01-27-v1-alpha-release" TargetMode="External"/><Relationship Id="rId1" Type="http://schemas.openxmlformats.org/officeDocument/2006/relationships/hyperlink" Target="https://docs.vllm.ai/en/stable/api/vllm/v1/core/sched/scheduler/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vllm.ai/en/stable/configuration/engine_args/" TargetMode="External"/><Relationship Id="rId1" Type="http://schemas.openxmlformats.org/officeDocument/2006/relationships/hyperlink" Target="https://docs.vllm.ai/en/stable/configuration/optimization/" TargetMode="Externa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i.org/10.1145/3600006.3613165" TargetMode="External"/><Relationship Id="rId2" Type="http://schemas.openxmlformats.org/officeDocument/2006/relationships/hyperlink" Target="https://docs.vllm.ai/en/stable/api/vllm/v1/core/sched/scheduler/" TargetMode="External"/><Relationship Id="rId1" Type="http://schemas.openxmlformats.org/officeDocument/2006/relationships/hyperlink" Target="https://docs.vllm.ai/en/stable/configuration/engine_args/" TargetMode="Externa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vllm.ai/en/stable/api/vllm/v1/core/sched/scheduler/" TargetMode="External"/><Relationship Id="rId3" Type="http://schemas.openxmlformats.org/officeDocument/2006/relationships/hyperlink" Target="https://docs.vllm.ai/en/stable/usage/metrics/" TargetMode="External"/><Relationship Id="rId2" Type="http://schemas.openxmlformats.org/officeDocument/2006/relationships/hyperlink" Target="https://docs.vllm.ai/en/stable/design/arch_overview/" TargetMode="Externa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vllm.ai/en/stable/cli/bench/serve/" TargetMode="External"/><Relationship Id="rId1" Type="http://schemas.openxmlformats.org/officeDocument/2006/relationships/hyperlink" Target="https://web.mit.edu/urban_or_book/www/book/chapter4/4.4.html" TargetMode="Externa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configuration/optimization/" TargetMode="External"/><Relationship Id="rId2" Type="http://schemas.openxmlformats.org/officeDocument/2006/relationships/hyperlink" Target="https://vllm.ai/blog/2025-01-27-v1-alpha-release" TargetMode="Externa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cli/bench/serve/" TargetMode="External"/><Relationship Id="rId2" Type="http://schemas.openxmlformats.org/officeDocument/2006/relationships/hyperlink" Target="https://doi.org/10.1145/3600006.3613165" TargetMode="External"/><Relationship Id="rId1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www.usenix.org/conference/osdi24/presentation/agrawal" TargetMode="External"/><Relationship Id="rId2" Type="http://schemas.openxmlformats.org/officeDocument/2006/relationships/hyperlink" Target="https://docs.vllm.ai/en/stable/cli/bench/serve/" TargetMode="External"/><Relationship Id="rId1" Type="http://schemas.openxmlformats.org/officeDocument/2006/relationships/hyperlink" Target="https://docs.vllm.ai/en/stable/configuration/optimization/" TargetMode="Externa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vllm.ai/blog/2025-01-27-v1-alpha-release" TargetMode="External"/><Relationship Id="rId2" Type="http://schemas.openxmlformats.org/officeDocument/2006/relationships/hyperlink" Target="https://docs.vllm.ai/en/stable/api/vllm/v1/core/sched/scheduler/" TargetMode="Externa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vllm.ai/en/stable/api/vllm/v1/core/sched/scheduler/" TargetMode="External"/><Relationship Id="rId1" Type="http://schemas.openxmlformats.org/officeDocument/2006/relationships/hyperlink" Target="https://docs.vllm.ai/en/stable/configuration/engine_args/" TargetMode="Externa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configuration/optimization/" TargetMode="External"/><Relationship Id="rId2" Type="http://schemas.openxmlformats.org/officeDocument/2006/relationships/hyperlink" Target="https://doi.org/10.1145/3600006.3613165" TargetMode="Externa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vllm.ai/en/stable/api/vllm/v1/core/sched/scheduler/" TargetMode="External"/><Relationship Id="rId3" Type="http://schemas.openxmlformats.org/officeDocument/2006/relationships/hyperlink" Target="https://docs.vllm.ai/en/stable/design/metrics/" TargetMode="External"/><Relationship Id="rId2" Type="http://schemas.openxmlformats.org/officeDocument/2006/relationships/hyperlink" Target="https://docs.vllm.ai/en/stable/configuration/optimization/" TargetMode="Externa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i.org/10.1145/3600006.3613165" TargetMode="External"/><Relationship Id="rId3" Type="http://schemas.openxmlformats.org/officeDocument/2006/relationships/hyperlink" Target="https://docs.vllm.ai/en/stable/usage/metrics/" TargetMode="External"/><Relationship Id="rId2" Type="http://schemas.openxmlformats.org/officeDocument/2006/relationships/hyperlink" Target="https://docs.vllm.ai/en/stable/api/vllm/v1/core/sched/scheduler/" TargetMode="Externa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vllm.ai/blog/2025-01-27-v1-alpha-release" TargetMode="External"/><Relationship Id="rId3" Type="http://schemas.openxmlformats.org/officeDocument/2006/relationships/hyperlink" Target="https://docs.vllm.ai/en/stable/api/vllm/v1/core/sched/scheduler/" TargetMode="External"/><Relationship Id="rId2" Type="http://schemas.openxmlformats.org/officeDocument/2006/relationships/hyperlink" Target="https://docs.vllm.ai/en/stable/api/vllm/v1/engine/async_llm/" TargetMode="Externa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3.xml"/><Relationship Id="rId2" Type="http://schemas.openxmlformats.org/officeDocument/2006/relationships/hyperlink" Target="https://docs.vllm.ai/en/stable/usage/metrics/" TargetMode="External"/><Relationship Id="rId1" Type="http://schemas.openxmlformats.org/officeDocument/2006/relationships/hyperlink" Target="https://docs.vllm.ai/en/stable/configuration/engine_args/" TargetMode="Externa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aws.amazon.com/builders-library/timeouts-retries-and-backoff-with-jitter/" TargetMode="External"/><Relationship Id="rId2" Type="http://schemas.openxmlformats.org/officeDocument/2006/relationships/hyperlink" Target="https://docs.vllm.ai/en/stable/configuration/engine_args/" TargetMode="External"/><Relationship Id="rId1" Type="http://schemas.openxmlformats.org/officeDocument/2006/relationships/hyperlink" Target="https://docs.vllm.ai/en/stable/api/vllm/v1/engine/async_llm/" TargetMode="Externa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vllm.ai/en/stable/cli/bench/serve/" TargetMode="External"/><Relationship Id="rId3" Type="http://schemas.openxmlformats.org/officeDocument/2006/relationships/hyperlink" Target="https://docs.vllm.ai/en/stable/usage/metrics/" TargetMode="External"/><Relationship Id="rId2" Type="http://schemas.openxmlformats.org/officeDocument/2006/relationships/hyperlink" Target="https://docs.vllm.ai/en/stable/design/metrics/" TargetMode="External"/><Relationship Id="rId1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vllm.ai/en/stable/api/vllm/v1/core/sched/scheduler/" TargetMode="External"/><Relationship Id="rId3" Type="http://schemas.openxmlformats.org/officeDocument/2006/relationships/hyperlink" Target="https://docs.vllm.ai/en/stable/usage/metrics/" TargetMode="External"/><Relationship Id="rId2" Type="http://schemas.openxmlformats.org/officeDocument/2006/relationships/hyperlink" Target="https://docs.vllm.ai/en/stable/design/metrics/" TargetMode="Externa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vllm.ai/en/stable/design/metrics/" TargetMode="External"/><Relationship Id="rId3" Type="http://schemas.openxmlformats.org/officeDocument/2006/relationships/hyperlink" Target="https://docs.vllm.ai/en/stable/cli/bench/serve/" TargetMode="External"/><Relationship Id="rId2" Type="http://schemas.openxmlformats.org/officeDocument/2006/relationships/hyperlink" Target="https://www.usenix.org/conference/osdi24/presentation/agrawal" TargetMode="External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usage/metrics/" TargetMode="External"/><Relationship Id="rId2" Type="http://schemas.openxmlformats.org/officeDocument/2006/relationships/hyperlink" Target="https://docs.vllm.ai/en/stable/cli/bench/serve/" TargetMode="External"/><Relationship Id="rId1" Type="http://schemas.openxmlformats.org/officeDocument/2006/relationships/hyperlink" Target="https://docs.vllm.ai/en/stable/configuration/optimization/" TargetMode="Externa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vllm.ai/en/stable/cli/bench/serve/" TargetMode="External"/><Relationship Id="rId3" Type="http://schemas.openxmlformats.org/officeDocument/2006/relationships/hyperlink" Target="https://docs.vllm.ai/en/stable/usage/metrics/" TargetMode="External"/><Relationship Id="rId2" Type="http://schemas.openxmlformats.org/officeDocument/2006/relationships/hyperlink" Target="https://vllm.ai/blog/2025-01-27-v1-alpha-release" TargetMode="External"/><Relationship Id="rId1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configuration/optimization/" TargetMode="External"/><Relationship Id="rId2" Type="http://schemas.openxmlformats.org/officeDocument/2006/relationships/hyperlink" Target="https://www.usenix.org/conference/osdi24/presentation/agrawal" TargetMode="External"/><Relationship Id="rId1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3.xml"/><Relationship Id="rId4" Type="http://schemas.openxmlformats.org/officeDocument/2006/relationships/hyperlink" Target="https://docs.vllm.ai/en/stable/usage/metrics/" TargetMode="External"/><Relationship Id="rId3" Type="http://schemas.openxmlformats.org/officeDocument/2006/relationships/hyperlink" Target="https://docs.vllm.ai/en/stable/design/metrics/" TargetMode="External"/><Relationship Id="rId2" Type="http://schemas.openxmlformats.org/officeDocument/2006/relationships/hyperlink" Target="https://docs.vllm.ai/en/stable/configuration/optimization/" TargetMode="External"/><Relationship Id="rId1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3.xml"/><Relationship Id="rId3" Type="http://schemas.openxmlformats.org/officeDocument/2006/relationships/hyperlink" Target="https://docs.vllm.ai/en/stable/cli/bench/serve/" TargetMode="External"/><Relationship Id="rId2" Type="http://schemas.openxmlformats.org/officeDocument/2006/relationships/hyperlink" Target="https://docs.vllm.ai/en/stable/configuration/optimization/" TargetMode="External"/><Relationship Id="rId1" Type="http://schemas.openxmlformats.org/officeDocument/2006/relationships/hyperlink" Target="https://docs.vllm.ai/en/stable/design/arch_overview/" TargetMode="Externa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hyperlink" Target="https://docs.vllm.ai/en/stable/configuration/optimization/" TargetMode="Externa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hyperlink" Target="https://docs.vllm.ai/en/stable/design/arch_overview/" TargetMode="External"/><Relationship Id="rId18" Type="http://schemas.openxmlformats.org/officeDocument/2006/relationships/notesSlide" Target="../notesSlides/notesSlide38.xml"/><Relationship Id="rId17" Type="http://schemas.openxmlformats.org/officeDocument/2006/relationships/slideLayout" Target="../slideLayouts/slideLayout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hyperlink" Target="https://docs.vllm.ai/en/stable/design/metrics/" TargetMode="Externa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hyperlink" Target="https://docs.vllm.ai/en/stable/configuration/engine_args/" TargetMode="External"/><Relationship Id="rId1" Type="http://schemas.openxmlformats.org/officeDocument/2006/relationships/tags" Target="../tags/tag1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hyperlink" Target="https://www.usenix.org/conference/osdi22/presentation/yu" TargetMode="Externa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hyperlink" Target="https://docs.vllm.ai/en/stable/cli/bench/serve/" TargetMode="External"/><Relationship Id="rId18" Type="http://schemas.openxmlformats.org/officeDocument/2006/relationships/notesSlide" Target="../notesSlides/notesSlide39.xml"/><Relationship Id="rId17" Type="http://schemas.openxmlformats.org/officeDocument/2006/relationships/slideLayout" Target="../slideLayouts/slideLayout3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hyperlink" Target="https://www.usenix.org/conference/osdi24/presentation/agrawal" TargetMode="Externa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hyperlink" Target="https://doi.org/10.1145/3600006.3613165" TargetMode="Externa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Model Serving 优化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50"/>
            </a:pPr>
            <a:r>
              <a:rPr lang="en-US" altLang="zh-CN" dirty="0">
                <a:sym typeface="+mn-ea"/>
              </a:rPr>
              <a:t>batching、concurrency、调度队列与请求管理</a:t>
            </a:r>
            <a:endParaRPr lang="en-US" altLang="zh-CN" dirty="0"/>
          </a:p>
          <a:p>
            <a:pPr>
              <a:defRPr sz="2250"/>
            </a:pPr>
            <a:r>
              <a:rPr lang="en-US" altLang="zh-CN" dirty="0">
                <a:sym typeface="+mn-ea"/>
              </a:rPr>
              <a:t>第七周    2026 年 10 月 20 日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课程内容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如何在响应速度、输出流畅度和服务吞吐之间取得平衡？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1933575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  组批与每轮调度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3971925" y="1933575"/>
            <a:ext cx="76104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组织哪些请求、计算多少 token；理解连续组批与输入分块。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2905125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  并发与性能取舍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3971925" y="2905125"/>
            <a:ext cx="76104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理解请求数量、长度分布与吞吐—延迟之间的关系。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3876675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  队列与请求管理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3971925" y="3876675"/>
            <a:ext cx="76104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决定等待顺序，管理 KV Cache、抢占、结束与取消。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4848225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  性能观测与调优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3971925" y="4848225"/>
            <a:ext cx="76104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用指标和性能测试定位问题，再调整对应的控制项。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  vLLM 的服务链路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</a:t>
            </a:r>
            <a:r>
              <a:rPr lang="zh-CN"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接收、调度、执行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488" y="1962150"/>
            <a:ext cx="6985000" cy="381000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8058150" y="2000250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API Server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058150" y="24669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处理输入、管理连接，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将生成结果返回给客户端。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058150" y="3400425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Engine Core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058150" y="3867150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维护请求进度，决定本轮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让哪些请求推进多少 token。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8058150" y="4800600"/>
            <a:ext cx="3524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 Workers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8058150" y="5267325"/>
            <a:ext cx="35242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执行模型计算并返回结果。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· Architecture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  Prefill 与 decode 的工作差异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一个请求的 prefill 可并行多个位置，decode 逐步推进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202" y="2190750"/>
            <a:ext cx="5907446" cy="316230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696200" y="1952625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Prefill：输入已经给定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696200" y="2505075"/>
            <a:ext cx="38862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同一层的多个输入位置可并行；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因果掩码限制可见范围，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不要求逐个生成输入 token。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696200" y="3819525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Decode：后续输入还未知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696200" y="4371975"/>
            <a:ext cx="38862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先采样出前一个 token，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才能计算下一步；普通生成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每个请求每轮推进一个位置。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原论文实验：Mistral-7B，单 A100。Prefill 最后一块可采样首 token；后续由 decode 生成。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来源：Sarathi-Serve · OSDI 2024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V1 · Scheduler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 Batching 为什么能摊薄开销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541" y="1924050"/>
            <a:ext cx="5874718" cy="33337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397750" y="1743075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本轮实际计算的位置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397750" y="2295525"/>
            <a:ext cx="38862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可来自多个请求的 decode，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也可来自 prefill 输入块；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它们共同分摊部分权重读取。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397750" y="3609975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读图：同一条曲线的变化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397750" y="4162425"/>
            <a:ext cx="3886200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工作量小时，增加 token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耗时增长较缓；继续增加后，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计算成本逐渐上升。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原论文图仅测线性层：LLaMA2-70B，A100，TP=2/4；不等于整个模型的单轮耗时。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来源：Sarathi-Serve · OSDI 2024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 Batching 的吞吐收益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411" y="2070735"/>
            <a:ext cx="6007642" cy="32575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484745" y="1880235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实验条件：输入长度 1024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484745" y="2432685"/>
            <a:ext cx="38862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 prefill 请求已提供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1024 个可并行位置；单个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decode 请求每轮只有 1 个。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484745" y="3766185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更多请求对 decode 更关键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484745" y="4318635"/>
            <a:ext cx="38862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它增加同轮可计算的位置，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更容易摊薄权重读取开销；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实际收益仍取决于负载和硬件。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原论文受控实验；左右分别统计输入和输出 token 吞吐，纵轴刻度不同，不能直接比高度。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来源：Sarathi-Serve · OSDI 2024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 固定请求集合留下的空位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332" y="2066925"/>
            <a:ext cx="6093565" cy="331470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486650" y="2047875"/>
            <a:ext cx="4095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x₂ 先产生 EOS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486650" y="2571750"/>
            <a:ext cx="40957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它在第二轮结束；x₁ 还需要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继续生成后面的 token。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486650" y="3724275"/>
            <a:ext cx="4095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整批更换的限制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486650" y="4257675"/>
            <a:ext cx="409575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如果执行集合不能及时更新，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结束请求留下的位置无法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马上交给新的等待请求。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来源：Orca · OSDI 2022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1.2  连续组批更新每轮请求集合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连续组批在什么时刻让新请求加入？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1915555"/>
            <a:ext cx="6572250" cy="3884141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715250" y="2019300"/>
            <a:ext cx="3867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图中的变化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715250" y="2562225"/>
            <a:ext cx="386715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R₁ 完成后退出。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R₅ 复用空位，R₆ 加入。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其他请求继续保留。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715250" y="4095750"/>
            <a:ext cx="3867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进入仍受资源限制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715250" y="4619625"/>
            <a:ext cx="38671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新请求需要等待下一次调度，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并满足本轮预算和显存条件。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原图以 temperature 数组展示批状态更新；本页只观察请求的保留、退出与加入。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V1 官方介绍（2025）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V1 · Scheduler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  长 prefill 与已有 decode 的干扰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加入长输入时，正在生成的请求为什么可能停顿？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1992694"/>
            <a:ext cx="10477500" cy="2480181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4829175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图中的长 prefill 占用一轮较长的执行时间，已有请求要等待后才能继续输出。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54578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因此还要控制每轮加入多少输入工作：这引出 chunked prefill。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历史论文示意，用于说明干扰来源；不是当前 vLLM V1 默认调度的完整行为。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来源：Sarathi-Serve · OSDI 2024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Optimization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  V1 按 token 分配每轮工作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调度器除了选请求，还要决定每个请求本轮计算多少 token。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339" y="1914525"/>
            <a:ext cx="6363323" cy="326707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2959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 Step 1：R₁ decode 1 + R₂ decode 1 + R₃ prefill 8 = 本轮预算 10。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57340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每个色块表示本轮计算的位置；预算逐轮重置，无需预先知道整个回答有多长。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V1 官方介绍（2025）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V1 · Scheduler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1.3  调度—执行—更新的循环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不知道最终输出长度，也能根据当前进度安排下一轮。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rcRect l="31414" t="53963" r="39791"/>
          <a:stretch>
            <a:fillRect/>
          </a:stretch>
        </p:blipFill>
        <p:spPr>
          <a:xfrm>
            <a:off x="1562100" y="1922145"/>
            <a:ext cx="3552825" cy="39052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153150" y="2009775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 计算还需推进多少 token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153150" y="2447925"/>
            <a:ext cx="5429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输入按剩余进度，decode 推进下一位置。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153150" y="3019425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分配预算并检查缓存空间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153150" y="3457575"/>
            <a:ext cx="5429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先处理运行集合，再考虑可接纳的等待请求。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153150" y="40957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 执行本轮分配的工作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153150" y="4533900"/>
            <a:ext cx="5429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Worker 运行模型，返回采样结果与执行状态。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6153150" y="5172075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更新进度和结束状态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dy-8"/>
          <p:cNvSpPr>
            <a:spLocks noGrp="1"/>
          </p:cNvSpPr>
          <p:nvPr/>
        </p:nvSpPr>
        <p:spPr>
          <a:xfrm>
            <a:off x="6153150" y="5610225"/>
            <a:ext cx="54292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保留未完成请求，清理已结束请求。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4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以普通文本生成主流程说明；特殊依赖与异步执行分支省略。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5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V1 · Scheduler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V1 官方介绍（2025）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  逐轮演算：四个请求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用同一组请求观察输入分块、输出推进和完成后补位。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81200"/>
          <a:ext cx="10972800" cy="2800350"/>
        </p:xfrm>
        <a:graphic>
          <a:graphicData uri="http://schemas.openxmlformats.org/drawingml/2006/table">
            <a:tbl>
              <a:tblPr/>
              <a:tblGrid>
                <a:gridCol w="1762125"/>
                <a:gridCol w="3143250"/>
                <a:gridCol w="2952750"/>
                <a:gridCol w="3114675"/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请求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到达时间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输入长度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输出长度（设定）</a:t>
                      </a:r>
                      <a:endParaRPr sz="187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R₁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0 前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R₂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0 前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R₃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0 前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R₄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1 前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7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 token</a:t>
                      </a:r>
                      <a:endParaRPr sz="187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0101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每轮预算 10 token；最多 3 个活跃请求；按到达顺序接纳。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55816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假设缓存充足、无前缀命中、无推测解码；执行完本轮才确认结束。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V1 官方介绍（2025）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V1 · Scheduler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Engine Arguments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  Step 0—2：长输入分块，R₄ 等待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哪些位置占用本轮预算？R₄ 为什么还不能加入？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81200"/>
          <a:ext cx="10972800" cy="2847975"/>
        </p:xfrm>
        <a:graphic>
          <a:graphicData uri="http://schemas.openxmlformats.org/drawingml/2006/table">
            <a:tbl>
              <a:tblPr/>
              <a:tblGrid>
                <a:gridCol w="1466850"/>
                <a:gridCol w="3762375"/>
                <a:gridCol w="1952625"/>
                <a:gridCol w="3790950"/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轮次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本轮分配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R₃ 输入进度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轮末结果</a:t>
                      </a:r>
                      <a:endParaRPr sz="1725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7651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0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R₁:P3  R₂:P5  R₃:P2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 / 12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R₁、R₂ 各输出第 1 token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7651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1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R₁:D1  R₂:D1  R₃:P8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 / 12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R₁、R₂ 各输出第 2 token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5175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2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R₁:D1  R₂:D1  R₃:P2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 / 12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725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R₁ 结束；R₃ 输出第 1 token</a:t>
                      </a:r>
                      <a:endParaRPr sz="1725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505777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R₄ 从 Step 1 起等待：已有 3 个活跃请求，暂时没有接纳位置。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560070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2 只处理 4 个 token，但 R₁ 要在这一轮执行结束后才退出。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166687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575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P：本轮处理的输入 token 数；D：decode 推进的位置数。</a:t>
            </a:r>
            <a:endParaRPr sz="1575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V1 官方介绍（2025）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V1 · Scheduler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1.4  Step 3—4：完成后补位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请求退出后，下一轮怎样把位置交给等待请求？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05" name="表格 104"/>
          <p:cNvGraphicFramePr/>
          <p:nvPr/>
        </p:nvGraphicFramePr>
        <p:xfrm>
          <a:off x="609600" y="1981200"/>
          <a:ext cx="10972800" cy="2238376"/>
        </p:xfrm>
        <a:graphic>
          <a:graphicData uri="http://schemas.openxmlformats.org/drawingml/2006/table">
            <a:tbl>
              <a:tblPr/>
              <a:tblGrid>
                <a:gridCol w="1466850"/>
                <a:gridCol w="3762375"/>
                <a:gridCol w="1952625"/>
                <a:gridCol w="3790950"/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轮次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本轮分配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本轮 token 数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003C8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轮末结果</a:t>
                      </a:r>
                      <a:endParaRPr sz="1800" b="1">
                        <a:solidFill>
                          <a:srgbClr val="003C8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E3EDF4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3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R₂:D1  R₃:D1  R₄:P2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R₂ 结束；R₄ 输出第 1 token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3F6F8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Step 4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R₃:D1  R₄:D1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72B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R₃、R₄ 均结束</a:t>
                      </a:r>
                      <a:endParaRPr sz="1800" b="0">
                        <a:solidFill>
                          <a:srgbClr val="172B3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0" marB="0" anchor="ctr">
                    <a:lnL w="9525">
                      <a:solidFill>
                        <a:srgbClr val="FFFFFF"/>
                      </a:solidFill>
                    </a:lnL>
                    <a:lnR w="9525">
                      <a:solidFill>
                        <a:srgbClr val="FFFFFF"/>
                      </a:solidFill>
                    </a:lnR>
                    <a:lnT w="9525">
                      <a:solidFill>
                        <a:srgbClr val="FFFFFF"/>
                      </a:solidFill>
                    </a:lnT>
                    <a:lnB w="9525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" name="body-1"/>
          <p:cNvSpPr>
            <a:spLocks noGrp="1"/>
          </p:cNvSpPr>
          <p:nvPr/>
        </p:nvSpPr>
        <p:spPr>
          <a:xfrm>
            <a:off x="609600" y="4505325"/>
            <a:ext cx="28860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R₄ 获得首 token 前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3790950" y="4505325"/>
            <a:ext cx="779145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先等 R₁ 退出，再处理自己的 2 个输入 token；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所以首 token 时间（TTFT）也受到前面请求的影响。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" y="565785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输入短，并不保证立即响应；预算有空余，也不保证能加入更多请求。</a:t>
            </a:r>
            <a:endParaRPr sz="2025" b="1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V1 · Scheduler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V1 官方介绍（2025）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  Chunked prefill 的预算取舍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预算大小会怎样同时影响首 token 和后续输出？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0955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较小的每轮 token 预算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800350"/>
            <a:ext cx="50958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每轮混入的 prefill 工作较少，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通常更有利于缩短已有请求的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输出间隔（ITL）。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48425" y="2095500"/>
            <a:ext cx="51339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较大的每轮 token 预算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48425" y="2800350"/>
            <a:ext cx="51339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一轮可处理更多输入，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可能缩短新请求的首 token 时间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（TTFT），但会增加单轮工作。</a:t>
            </a:r>
            <a:endParaRPr sz="21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9530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的主要调节项：max_num_batched_tokens。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5816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选择依据是目标延迟和实测吞吐，不是把预算设置得越大越好。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· Optimization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· Engine Arguments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1.5  调度时同时检查哪些约束？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请求数量、每轮工作量与 KV 空间，是三种不同的约束。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00977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序列数量限制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3257550" y="2009775"/>
            <a:ext cx="83248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限制一次调度可容纳的序列数，例如 max_num_seqs；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它不等于整个服务中所有尚未完成的请求数。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31470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计算预算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3257550" y="3314700"/>
            <a:ext cx="83248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max_num_batched_tokens 限制本轮处理的位置总数；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输入分块和 decode 都占用这一预算。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619625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Cache 容量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3257550" y="4619625"/>
            <a:ext cx="832485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为请求保存已计算上下文；空间不足会影响接纳或续跑，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即使本轮 token 预算仍有余量。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参数边界随版本演进；入口并发、活跃集合与本轮可调度集合需分别确认。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· Engine Arguments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V1 · Scheduler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；PagedAttention · SOSP 2023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  并发请求在哪里计数？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客户端尚未结束的请求，不等于这一轮正在 GPU 上计算的请求。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113" y="2190750"/>
            <a:ext cx="6461125" cy="35242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620000" y="2047875"/>
            <a:ext cx="3962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客户端：在途请求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620000" y="2600325"/>
            <a:ext cx="396240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已发出、尚未完成；其中可能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有请求正在接口处理或排队。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620000" y="3829050"/>
            <a:ext cx="3962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引擎与执行：两个观察面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620000" y="4381500"/>
            <a:ext cx="396240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waiting / running 是调度状态；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本轮 batch 是实际选中的工作，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这些数量不能直接互相替代。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· Architecture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Metrics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；vLLM V1 · Scheduler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  并发、吞吐与平均耗时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稳定运行时，这三个平均量必须放在同一测量边界内理解。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124075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平均在途请求数 = 请求完成速率 × 平均响应时间</a:t>
            </a:r>
            <a:endParaRPr sz="28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94322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单位：请求 = 请求／秒 × 秒</a:t>
            </a:r>
            <a:endParaRPr sz="19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4175125"/>
            <a:ext cx="2714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如何用于服务分析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3600450" y="4175125"/>
            <a:ext cx="798195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吞吐不再增加时，更多在途请求会对应更长的平均响应时间。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并发增加本身，不能证明服务处理能力提高。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来源：MIT · Little 定律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· bench serve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  并发与吞吐的收益存在边界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负载继续增加时，响应延迟会怎样变化？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900" y="1990725"/>
            <a:ext cx="8966200" cy="336232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" y="55340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负载较低时，更多请求有助于形成批次；接近容量边界后，等待和延迟明显增加。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官方历史实验，用于读吞吐—延迟关系；QPS 是到达速率。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V1 官方介绍（2025）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Optimization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2.2  同样的请求数，为什么负载不同？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输入长度和输出长度决定计算量，也改变请求驻留时间。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11082"/>
            <a:ext cx="6762750" cy="2788286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696200" y="2019300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输入更长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696200" y="2571750"/>
            <a:ext cx="38862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增加 prefill 工作和初始 KV；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可能干扰其他请求的输出。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696200" y="3810000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输出更长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696200" y="4362450"/>
            <a:ext cx="38862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需要更多 decode 轮次，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驻留更久，KV 随生成增长。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6007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描述负载要同时报告输入／输出长度分布，而不仅是请求数量或平均长度。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来源：PagedAttention · SOSP 2023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bench serve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2.3  为服务选择合适的工作区间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先明确用户体验目标，再确定能接纳多少并发请求。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009775"/>
            <a:ext cx="2238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交互式服务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3114675" y="2009775"/>
            <a:ext cx="8467725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 token 要及时，后续输出要连续；重点约束 TTFT、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ITL 的尾部延迟，并在此范围内提高吞吐。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295650"/>
            <a:ext cx="2238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批量处理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3114675" y="3295650"/>
            <a:ext cx="8467725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更关注总完成时间和持续吞吐；仍需控制资源压力，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避免频繁抢占、失败和重复工作。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581525"/>
            <a:ext cx="2238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容量边界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3114675" y="4581525"/>
            <a:ext cx="8467725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入口并发与请求长度共同决定负载；可接纳范围需要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在目标模型、硬件和真实请求分布下测得。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· Optimization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· bench serve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；Sarathi-Serve · OSDI 2024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  Waiting 与 running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调度器维护请求进度，每轮决定谁继续、谁等待。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rcRect l="31414" t="53963" r="39791"/>
          <a:stretch>
            <a:fillRect/>
          </a:stretch>
        </p:blipFill>
        <p:spPr>
          <a:xfrm>
            <a:off x="1333500" y="1990725"/>
            <a:ext cx="3714750" cy="390525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96000" y="2009775"/>
            <a:ext cx="5486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Waiting：尚待获得运行机会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0" y="2562225"/>
            <a:ext cx="54864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新请求进入等待集合；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被抢占的请求也可能重新等待。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96000" y="3886200"/>
            <a:ext cx="5486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Running：已接纳的未完成请求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0" y="4438650"/>
            <a:ext cx="54864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调度时继续检查 token 与 KV；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轮末更新进度，移除完成请求。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V1 · Scheduler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V1 官方介绍（2025）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3.1  等待顺序由什么决定？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调度顺序决定谁先获得机会，但不会增加计算或显存容量。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00977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FCFS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3162300" y="2009775"/>
            <a:ext cx="84201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默认按到达顺序组织等待请求；规则直接，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但短请求也可能排在较早到达的长请求之后。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3295650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Priority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3162300" y="3295650"/>
            <a:ext cx="84201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按优先级排序，同优先级按到达时间排序；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需使用支持相应策略的版本和配置。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5815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仍需满足资源条件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3162300" y="4581525"/>
            <a:ext cx="84201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排在前面不等于立刻执行；token 预算、KV 空间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和依赖状态仍会影响本轮调度。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· Engine Arguments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V1 · Scheduler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  KV Cache 怎样支撑连续组批？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请求的上下文按块增长，物理块可以分散存放。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311082"/>
            <a:ext cx="6762750" cy="2788286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7696200" y="2000250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读图：A、B 各自维护映射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7696200" y="2552700"/>
            <a:ext cx="38862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逻辑上连续的上下文，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不要求物理显存连续；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 token 到来时按需分配块。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7696200" y="3886200"/>
            <a:ext cx="3886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作用与边界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7696200" y="4438650"/>
            <a:ext cx="38862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减少预留与碎片浪费，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让更多请求共存；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 KV 容量仍然有限。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6007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长输入、长输出和更多活跃请求，都可能提高 KV 占用。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来源：PagedAttention · SOSP 2023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Optimization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3.2  KV 空间不足后如何继续服务？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抢占让部分请求暂停并归还空间，之后通过重算恢复。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113" y="1885950"/>
            <a:ext cx="3682149" cy="406717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5972175" y="2038350"/>
            <a:ext cx="56102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图中的 PREEMPTED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5972175" y="2590800"/>
            <a:ext cx="561022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请求的运行被中断，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重新等待可用资源。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5972175" y="3800475"/>
            <a:ext cx="56102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恢复不是从客户端重发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5972175" y="4352925"/>
            <a:ext cx="561022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引擎保留请求和 token 记录，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重新计算缺失的 KV，再继续；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等待与重算会拉长响应时间。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官方时间线示意；具体暂停和恢复时长取决于负载。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· Optimization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Metrics Design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；vLLM V1 · Scheduler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  请求正常结束后释放哪些资源？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确认结束后，调度器停止推进请求，并归还它持有的运行资源。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67191"/>
            <a:ext cx="5905500" cy="2895119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934200" y="1990725"/>
            <a:ext cx="4648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确定结束原因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934200" y="2552700"/>
            <a:ext cx="46482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EOS、停止条件或长度上限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触发结束；记录对应原因，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避免把长度截断当作自然完成。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934200" y="3838575"/>
            <a:ext cx="4648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清理状态与块引用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934200" y="4400550"/>
            <a:ext cx="46482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从运行集合移除请求，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释放其持有的 KV 引用；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可回收的块供后续请求复用。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60070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图中展示的是请求的块映射；结束时需要清理相应状态和引用。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“释放”指请求状态和 KV 块可回收／复用；不要求进程显存占用立即下降。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V1 · Scheduler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Metrics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；PagedAttention · SOSP 2023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  一次取消怎样传播到引擎？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客户端放弃结果之后，后台工作仍需要收到明确的取消信号。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24" y="2009775"/>
            <a:ext cx="5615902" cy="385762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762750" y="2000250"/>
            <a:ext cx="48196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API 与 AsyncLLM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762750" y="2562225"/>
            <a:ext cx="481965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关闭生成任务并传播 abort；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将取消关联到正确的 request ID，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让引擎找到待终止请求。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762750" y="3867150"/>
            <a:ext cx="48196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EngineCore 与资源管理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762750" y="4429125"/>
            <a:ext cx="4819650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取消后续调度，清理请求状态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并释放 KV 引用；已提交的 GPU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工作不保证瞬时中断。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取消是跨层生命周期操作；不能只依据前端不再显示结果来判断是否完成。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V1 · AsyncLLM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V1 · Scheduler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；vLLM V1 官方介绍（2025）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 持续过载时如何限制排队？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当接纳请求的速度长期高于完成速度，等待会不断累积。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047875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队列的作用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33675"/>
            <a:ext cx="4953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吸收短时突发，为暂时无法运行的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请求保留位置；持续增长意味着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服务还没有消化当前负载。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38900" y="2047875"/>
            <a:ext cx="5143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的入口控制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38900" y="2647950"/>
            <a:ext cx="5143500" cy="1724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支持的版本可用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max_num_queued_reqs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限制 waiting + running 的总量；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达到限制后拒绝新请求。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4578350"/>
            <a:ext cx="24384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与每轮组批区分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3371850" y="4578350"/>
            <a:ext cx="82105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max_num_seqs 限制引擎调度规模；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入口限额限制有多少请求进入服务。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55245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同时记录拒绝率和等待时间，按业务目标选择接纳范围。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队列参数与拒绝行为以部署版本为准；新请求被拒绝后仍需由客户端决定如何处理。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· Engine Arguments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· Metrics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3.4  超时和重试为什么会放大负载？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旧请求尚未停止时，重试可能为同一业务再启动一份推理。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057400"/>
            <a:ext cx="50958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超时之后的后台状态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609600" y="2733675"/>
            <a:ext cx="5095875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客户端已结束等待，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但旧请求可能仍在排队或生成。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此时直接重试，会让两份工作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同时消耗服务资源。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477000" y="2057400"/>
            <a:ext cx="51054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让重试受到控制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477000" y="2733675"/>
            <a:ext cx="51054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先传播取消并核对旧请求状态；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为重试设置次数与总时间上限，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采用退避和抖动，避免大量请求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在同一时刻再次到达。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5381625"/>
            <a:ext cx="109728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评估时区分业务请求数与实际推理尝试数，并把失败、取消和重试计入结果。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V1 · AsyncLLM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· Engine Arguments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；AWS · Timeouts, retries and backoff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  定位等待与执行的观测指标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先定位等待、首 token 与后续输出，再选择要调整的控制项。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875" y="1895475"/>
            <a:ext cx="3682149" cy="406717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5905500" y="2009775"/>
            <a:ext cx="5676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首次响应：TTFT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5905500" y="2562225"/>
            <a:ext cx="56769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从请求到达至首 token 的时间；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 queue 和 prefill 时间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判断主要慢在哪里。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5905500" y="3914775"/>
            <a:ext cx="56769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后续输出：ITL 与总时延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5905500" y="4467225"/>
            <a:ext cx="56769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ITL 看相邻输出的间隔；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端到端时延看整个请求，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不能只报告平均吞吐。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· Metrics Design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Metrics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；vLLM · bench serve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  TTFT 变长：慢在排队还是输入处理？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31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结合请求阶段与资源状态，判断首 token 前的时间花在哪里。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404" y="1885950"/>
            <a:ext cx="3716642" cy="4105275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6067425" y="2000250"/>
            <a:ext cx="55149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先看排队是否变长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67425" y="2562225"/>
            <a:ext cx="551497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waiting 与 queue time 同时升高，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优先检查入口负载和接纳限制。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6067425" y="3867150"/>
            <a:ext cx="55149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再看输入阶段为何变长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67425" y="4429125"/>
            <a:ext cx="5514975" cy="1276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核对输入长度、实际计算量与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缓存命中；图中抢占也会延后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 token，阶段时间不等于纯计算。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· Metrics Design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Metrics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；vLLM V1 · Scheduler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  为什么还要看尾部延迟？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平均速度接近，并不意味着每个请求都输出顺畅。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74" y="2057400"/>
            <a:ext cx="7046953" cy="3162300"/>
          </a:xfrm>
          <a:prstGeom prst="rect">
            <a:avLst/>
          </a:prstGeom>
        </p:spPr>
      </p:pic>
      <p:sp>
        <p:nvSpPr>
          <p:cNvPr id="106" name="body-1"/>
          <p:cNvSpPr>
            <a:spLocks noGrp="1"/>
          </p:cNvSpPr>
          <p:nvPr/>
        </p:nvSpPr>
        <p:spPr>
          <a:xfrm>
            <a:off x="8029575" y="1971675"/>
            <a:ext cx="35528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左图：累计输出的停顿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8029575" y="2524125"/>
            <a:ext cx="355282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局部平台表示一段时间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没有推进输出；整体斜率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无法完整反映停顿。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8029575" y="3876675"/>
            <a:ext cx="35528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右图：P99 输出间隔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8029575" y="4429125"/>
            <a:ext cx="355282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高分位数暴露少量长间隔；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同时检查失败率、取消数，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87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避免只统计成功请求。</a:t>
            </a:r>
            <a:endParaRPr sz="187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609600" y="5581650"/>
            <a:ext cx="109728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 TPOT 反映请求内的平均生成速度；ITL 分布用于检查输出间隔是否稳定。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历史实验：Yi-34B、2×A100、128 请求；不代表当前 vLLM 版本的性能。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来源：Sarathi-Serve · OSDI 2024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bench serve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；vLLM · Metrics Design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33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4.2  调优的整体思路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3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把性能表现与组批、并发和请求管理机制联系起来。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4" name="body-0"/>
          <p:cNvSpPr>
            <a:spLocks noGrp="1"/>
          </p:cNvSpPr>
          <p:nvPr/>
        </p:nvSpPr>
        <p:spPr>
          <a:xfrm>
            <a:off x="609600" y="2009775"/>
            <a:ext cx="2238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观察表现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5" name="body-1"/>
          <p:cNvSpPr>
            <a:spLocks noGrp="1"/>
          </p:cNvSpPr>
          <p:nvPr/>
        </p:nvSpPr>
        <p:spPr>
          <a:xfrm>
            <a:off x="3114675" y="2009775"/>
            <a:ext cx="84677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 token 慢、输出有停顿，还是完成吞吐不足？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先明确需要改善的表现。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6" name="body-2"/>
          <p:cNvSpPr>
            <a:spLocks noGrp="1"/>
          </p:cNvSpPr>
          <p:nvPr/>
        </p:nvSpPr>
        <p:spPr>
          <a:xfrm>
            <a:off x="609600" y="3295650"/>
            <a:ext cx="2238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判断原因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7" name="body-3"/>
          <p:cNvSpPr>
            <a:spLocks noGrp="1"/>
          </p:cNvSpPr>
          <p:nvPr/>
        </p:nvSpPr>
        <p:spPr>
          <a:xfrm>
            <a:off x="3114675" y="3295650"/>
            <a:ext cx="84677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结合队列、单轮 prefill 工作和 KV 状态，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寻找与问题对应的限制。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8" name="body-4"/>
          <p:cNvSpPr>
            <a:spLocks noGrp="1"/>
          </p:cNvSpPr>
          <p:nvPr/>
        </p:nvSpPr>
        <p:spPr>
          <a:xfrm>
            <a:off x="609600" y="4581525"/>
            <a:ext cx="22383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7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选择方向</a:t>
            </a:r>
            <a:endParaRPr sz="217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9" name="body-5"/>
          <p:cNvSpPr>
            <a:spLocks noGrp="1"/>
          </p:cNvSpPr>
          <p:nvPr/>
        </p:nvSpPr>
        <p:spPr>
          <a:xfrm>
            <a:off x="3114675" y="4581525"/>
            <a:ext cx="84677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考虑入口并发、每轮 token 预算或 KV 容量，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在可比负载下观察吞吐与响应体验的变化。</a:t>
            </a:r>
            <a:endParaRPr sz="210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10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· Optimization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· bench serve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Metrics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34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922780"/>
            <a:ext cx="8229600" cy="3086100"/>
          </a:xfrm>
          <a:prstGeom prst="rect">
            <a:avLst/>
          </a:prstGeom>
        </p:spPr>
      </p:pic>
      <p:sp>
        <p:nvSpPr>
          <p:cNvPr id="90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 例一：并发增加与排队等待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3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并发继续增加，新增请求可能主要停留在队列中。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4" name="body-0"/>
          <p:cNvSpPr>
            <a:spLocks noGrp="1"/>
          </p:cNvSpPr>
          <p:nvPr/>
        </p:nvSpPr>
        <p:spPr>
          <a:xfrm>
            <a:off x="609600" y="523875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可能的表现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5" name="body-1"/>
          <p:cNvSpPr>
            <a:spLocks noGrp="1"/>
          </p:cNvSpPr>
          <p:nvPr/>
        </p:nvSpPr>
        <p:spPr>
          <a:xfrm>
            <a:off x="2381250" y="5238750"/>
            <a:ext cx="92011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完成吞吐增长有限，排队和首 token 等待却持续增加。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6" name="body-2"/>
          <p:cNvSpPr>
            <a:spLocks noGrp="1"/>
          </p:cNvSpPr>
          <p:nvPr/>
        </p:nvSpPr>
        <p:spPr>
          <a:xfrm>
            <a:off x="609600" y="565785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调整方向</a:t>
            </a:r>
            <a:endParaRPr sz="20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7" name="body-3"/>
          <p:cNvSpPr>
            <a:spLocks noGrp="1"/>
          </p:cNvSpPr>
          <p:nvPr/>
        </p:nvSpPr>
        <p:spPr>
          <a:xfrm>
            <a:off x="2381250" y="5657850"/>
            <a:ext cx="9201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适当限制入口并发，在可接受的等待时间内保持稳定吞吐。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8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历史负载—延迟曲线。判断排队还需结合完成吞吐与队列指标。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9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V1 官方介绍（2025）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Metrics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；vLLM · bench serve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35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52698"/>
            <a:ext cx="10972800" cy="2581129"/>
          </a:xfrm>
          <a:prstGeom prst="rect">
            <a:avLst/>
          </a:prstGeom>
        </p:spPr>
      </p:pic>
      <p:sp>
        <p:nvSpPr>
          <p:cNvPr id="90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 例二：长输入与输出停顿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3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已有输出的流畅度与新请求的首 token 时间，需要一起考虑。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4" name="body-0"/>
          <p:cNvSpPr>
            <a:spLocks noGrp="1"/>
          </p:cNvSpPr>
          <p:nvPr/>
        </p:nvSpPr>
        <p:spPr>
          <a:xfrm>
            <a:off x="609600" y="4810125"/>
            <a:ext cx="1857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原图现象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5" name="body-1"/>
          <p:cNvSpPr>
            <a:spLocks noGrp="1"/>
          </p:cNvSpPr>
          <p:nvPr/>
        </p:nvSpPr>
        <p:spPr>
          <a:xfrm>
            <a:off x="2771775" y="4810125"/>
            <a:ext cx="881062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完整 prefill 让单轮计算变长，分块后对 decode 的干扰较小。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6" name="body-2"/>
          <p:cNvSpPr>
            <a:spLocks noGrp="1"/>
          </p:cNvSpPr>
          <p:nvPr/>
        </p:nvSpPr>
        <p:spPr>
          <a:xfrm>
            <a:off x="609600" y="5467350"/>
            <a:ext cx="1857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调整方向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7" name="body-3"/>
          <p:cNvSpPr>
            <a:spLocks noGrp="1"/>
          </p:cNvSpPr>
          <p:nvPr/>
        </p:nvSpPr>
        <p:spPr>
          <a:xfrm>
            <a:off x="2771775" y="5467350"/>
            <a:ext cx="88106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利用分块 prefill 和每轮 token 预算，在输出流畅度与新请求 TTFT 之间取舍。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8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原论文实验：Mistral-7B，1×A100，分块预算 256。该数值是实验条件。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9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来源：Sarathi-Serve · OSDI 2024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Optimization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36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400" y="1895475"/>
            <a:ext cx="3682149" cy="4067175"/>
          </a:xfrm>
          <a:prstGeom prst="rect">
            <a:avLst/>
          </a:prstGeom>
        </p:spPr>
      </p:pic>
      <p:sp>
        <p:nvSpPr>
          <p:cNvPr id="90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4.3  例三：KV 压力与抢占重算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3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空间紧张时，抢占与重算可能让请求耗时增加。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4" name="body-0"/>
          <p:cNvSpPr>
            <a:spLocks noGrp="1"/>
          </p:cNvSpPr>
          <p:nvPr/>
        </p:nvSpPr>
        <p:spPr>
          <a:xfrm>
            <a:off x="5953125" y="2009775"/>
            <a:ext cx="56292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可能的表现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5" name="body-1"/>
          <p:cNvSpPr>
            <a:spLocks noGrp="1"/>
          </p:cNvSpPr>
          <p:nvPr/>
        </p:nvSpPr>
        <p:spPr>
          <a:xfrm>
            <a:off x="5953125" y="2571750"/>
            <a:ext cx="562927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使用率较高，抢占频繁，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输出间隔或总时延随之变长。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6" name="body-2"/>
          <p:cNvSpPr>
            <a:spLocks noGrp="1"/>
          </p:cNvSpPr>
          <p:nvPr/>
        </p:nvSpPr>
        <p:spPr>
          <a:xfrm>
            <a:off x="5953125" y="3714750"/>
            <a:ext cx="56292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调整方向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7" name="body-3"/>
          <p:cNvSpPr>
            <a:spLocks noGrp="1"/>
          </p:cNvSpPr>
          <p:nvPr/>
        </p:nvSpPr>
        <p:spPr>
          <a:xfrm>
            <a:off x="5953125" y="4276725"/>
            <a:ext cx="5629275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减少同时活跃的请求。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显存有余量时，增加 KV 容量。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3000"/>
              </a:lnSpc>
              <a:buNone/>
              <a:def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0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兼顾完成吞吐与用户等待。</a:t>
            </a:r>
            <a:endParaRPr sz="20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8" name="bottom-note"/>
          <p:cNvSpPr>
            <a:spLocks noGrp="1"/>
          </p:cNvSpPr>
          <p:nvPr/>
        </p:nvSpPr>
        <p:spPr>
          <a:xfrm>
            <a:off x="609600" y="6057900"/>
            <a:ext cx="109728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 KV 占用需结合抢占和延迟判断。左图展示抢占后的等待与恢复。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009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来源：vLLM · Optimization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Metrics Design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；vLLM · Metrics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4.4  课程回顾：Model Serving 优化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37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lead"/>
          <p:cNvSpPr>
            <a:spLocks noGrp="1"/>
          </p:cNvSpPr>
          <p:nvPr/>
        </p:nvSpPr>
        <p:spPr>
          <a:xfrm>
            <a:off x="609600" y="113347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2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优化同一个 vLLM 服务，需要把每轮执行与完整请求生命周期连起来。</a:t>
            </a:r>
            <a:endParaRPr sz="22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5" name="body-0"/>
          <p:cNvSpPr>
            <a:spLocks noGrp="1"/>
          </p:cNvSpPr>
          <p:nvPr/>
        </p:nvSpPr>
        <p:spPr>
          <a:xfrm>
            <a:off x="609600" y="2018665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Batching／每轮调度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body-1"/>
          <p:cNvSpPr>
            <a:spLocks noGrp="1"/>
          </p:cNvSpPr>
          <p:nvPr/>
        </p:nvSpPr>
        <p:spPr>
          <a:xfrm>
            <a:off x="3962400" y="2018665"/>
            <a:ext cx="7620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决定本轮哪些请求推进、每个请求计算多少 token。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2"/>
          <p:cNvSpPr>
            <a:spLocks noGrp="1"/>
          </p:cNvSpPr>
          <p:nvPr/>
        </p:nvSpPr>
        <p:spPr>
          <a:xfrm>
            <a:off x="609600" y="2990215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Concurrency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8" name="body-3"/>
          <p:cNvSpPr>
            <a:spLocks noGrp="1"/>
          </p:cNvSpPr>
          <p:nvPr/>
        </p:nvSpPr>
        <p:spPr>
          <a:xfrm>
            <a:off x="3962400" y="2990215"/>
            <a:ext cx="7620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决定同时承受多少请求，选择吞吐与延迟都可接受的范围。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9" name="body-4"/>
          <p:cNvSpPr>
            <a:spLocks noGrp="1"/>
          </p:cNvSpPr>
          <p:nvPr/>
        </p:nvSpPr>
        <p:spPr>
          <a:xfrm>
            <a:off x="609600" y="3961765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队列／请求管理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5"/>
          <p:cNvSpPr>
            <a:spLocks noGrp="1"/>
          </p:cNvSpPr>
          <p:nvPr/>
        </p:nvSpPr>
        <p:spPr>
          <a:xfrm>
            <a:off x="3962400" y="3961765"/>
            <a:ext cx="7620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决定等待顺序，并在完成、取消或抢占时正确管理状态与 KV。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body-6"/>
          <p:cNvSpPr>
            <a:spLocks noGrp="1"/>
          </p:cNvSpPr>
          <p:nvPr/>
        </p:nvSpPr>
        <p:spPr>
          <a:xfrm>
            <a:off x="609600" y="4933315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10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观测／调优</a:t>
            </a:r>
            <a:endParaRPr sz="210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2" name="body-7"/>
          <p:cNvSpPr>
            <a:spLocks noGrp="1"/>
          </p:cNvSpPr>
          <p:nvPr/>
        </p:nvSpPr>
        <p:spPr>
          <a:xfrm>
            <a:off x="3962400" y="4933315"/>
            <a:ext cx="7620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用统一边界的指标定位限制，通过同负载复测确认改动收益。</a:t>
            </a:r>
            <a:endParaRPr sz="1950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citation"/>
          <p:cNvSpPr>
            <a:spLocks noGrp="1"/>
          </p:cNvSpPr>
          <p:nvPr/>
        </p:nvSpPr>
        <p:spPr>
          <a:xfrm>
            <a:off x="609600" y="6257925"/>
            <a:ext cx="109728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"/>
              </a:rPr>
              <a:t>来源：vLLM · Architecture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；vLLM · Optimization</a:t>
            </a:r>
            <a:r>
              <a:rPr sz="1050" b="0">
                <a:solidFill>
                  <a:srgbClr val="60717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；vLLM · bench serve</a:t>
            </a:r>
            <a:endParaRPr sz="1050" b="0">
              <a:solidFill>
                <a:srgbClr val="60717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资料拓展：vLLM 官方文档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38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body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4732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Architecture / V1 服务结构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sp>
        <p:nvSpPr>
          <p:cNvPr id="105" name="body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18446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https://docs.vllm.ai/en/stable/design/arch_overview/</a:t>
            </a:r>
            <a:endParaRPr sz="1350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sp>
        <p:nvSpPr>
          <p:cNvPr id="106" name="body-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00" y="212090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API Server、EngineCore 与 Worker 的职责，以及请求执行链路。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00" y="24638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Optimization and Tuning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6"/>
            </a:endParaRPr>
          </a:p>
        </p:txBody>
      </p:sp>
      <p:sp>
        <p:nvSpPr>
          <p:cNvPr id="108" name="body-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00" y="28352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https://docs.vllm.ai/en/stable/configuration/optimization/</a:t>
            </a:r>
            <a:endParaRPr sz="1350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6"/>
            </a:endParaRPr>
          </a:p>
        </p:txBody>
      </p:sp>
      <p:sp>
        <p:nvSpPr>
          <p:cNvPr id="109" name="body-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600" y="311150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Chunked prefill、抢占重算及相关参数的性能取舍。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00" y="34544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0"/>
              </a:rPr>
              <a:t>Engine Arguments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0"/>
            </a:endParaRPr>
          </a:p>
        </p:txBody>
      </p:sp>
      <p:sp>
        <p:nvSpPr>
          <p:cNvPr id="111" name="body-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9600" y="38258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0"/>
              </a:rPr>
              <a:t>https://docs.vllm.ai/en/stable/configuration/engine_args/</a:t>
            </a:r>
            <a:endParaRPr sz="1350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0"/>
            </a:endParaRPr>
          </a:p>
        </p:txBody>
      </p:sp>
      <p:sp>
        <p:nvSpPr>
          <p:cNvPr id="112" name="body-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09600" y="410210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预算、序列限制、调度策略等配置项的定义。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dy-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09600" y="444500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4"/>
              </a:rPr>
              <a:t>Metrics Design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4"/>
            </a:endParaRPr>
          </a:p>
        </p:txBody>
      </p:sp>
      <p:sp>
        <p:nvSpPr>
          <p:cNvPr id="114" name="body-1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09600" y="48164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4"/>
              </a:rPr>
              <a:t>https://docs.vllm.ai/en/stable/design/metrics/</a:t>
            </a:r>
            <a:endParaRPr sz="1350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4"/>
            </a:endParaRPr>
          </a:p>
        </p:txBody>
      </p:sp>
      <p:sp>
        <p:nvSpPr>
          <p:cNvPr id="115" name="body-1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09600" y="509270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请求事件与 TTFT、ITL、排队和执行时间的统计边界。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>
            <a:spLocks noGrp="1"/>
          </p:cNvSpPr>
          <p:nvPr/>
        </p:nvSpPr>
        <p:spPr>
          <a:xfrm>
            <a:off x="285750" y="142875"/>
            <a:ext cx="10839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资料拓展：测试工具与</a:t>
            </a:r>
            <a:r>
              <a:rPr lang="zh-CN"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</a:t>
            </a:r>
            <a:r>
              <a:rPr sz="31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</a:t>
            </a:r>
            <a:endParaRPr sz="31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page-number"/>
          <p:cNvSpPr>
            <a:spLocks noGrp="1"/>
          </p:cNvSpPr>
          <p:nvPr/>
        </p:nvSpPr>
        <p:spPr>
          <a:xfrm>
            <a:off x="11563350" y="6534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39</a:t>
            </a:r>
            <a:endParaRPr sz="1725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" name="body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08000" y="151320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vLLM bench serve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sp>
        <p:nvSpPr>
          <p:cNvPr id="105" name="body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8000" y="188468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https://docs.vllm.ai/en/stable/cli/bench/serve/</a:t>
            </a:r>
            <a:endParaRPr sz="1350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sp>
        <p:nvSpPr>
          <p:cNvPr id="106" name="body-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8000" y="216090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在线性能测试的请求发送方式、并发限制和结果指标。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7" name="body-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8000" y="250380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Orca · OSDI 2022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6"/>
            </a:endParaRPr>
          </a:p>
        </p:txBody>
      </p:sp>
      <p:sp>
        <p:nvSpPr>
          <p:cNvPr id="108" name="body-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08000" y="287528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https://www.usenix.org/conference/osdi22/presentation/yu</a:t>
            </a:r>
            <a:endParaRPr sz="1350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6"/>
            </a:endParaRPr>
          </a:p>
        </p:txBody>
      </p:sp>
      <p:sp>
        <p:nvSpPr>
          <p:cNvPr id="109" name="body-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08000" y="315150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按迭代调度请求，是理解连续组批的重要机制来源。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0" name="body-6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08000" y="349440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0"/>
              </a:rPr>
              <a:t>PagedAttention · SOSP 2023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0"/>
            </a:endParaRPr>
          </a:p>
        </p:txBody>
      </p:sp>
      <p:sp>
        <p:nvSpPr>
          <p:cNvPr id="111" name="body-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08000" y="386588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0"/>
              </a:rPr>
              <a:t>https://doi.org/10.1145/3600006.3613165</a:t>
            </a:r>
            <a:endParaRPr sz="1350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0"/>
            </a:endParaRPr>
          </a:p>
        </p:txBody>
      </p:sp>
      <p:sp>
        <p:nvSpPr>
          <p:cNvPr id="112" name="body-8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08000" y="414210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的 KV Cache 分块管理，解释显存利用与组批容量。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3" name="body-9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508000" y="448500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950" b="1">
                <a:solidFill>
                  <a:srgbClr val="003C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4"/>
              </a:rPr>
              <a:t>Sarathi-Serve · OSDI 2024</a:t>
            </a:r>
            <a:endParaRPr sz="1950" b="1">
              <a:solidFill>
                <a:srgbClr val="003C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4"/>
            </a:endParaRPr>
          </a:p>
        </p:txBody>
      </p:sp>
      <p:sp>
        <p:nvSpPr>
          <p:cNvPr id="114" name="body-1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08000" y="485648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0">
                <a:solidFill>
                  <a:srgbClr val="2387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14"/>
              </a:rPr>
              <a:t>https://www.usenix.org/conference/osdi24/presentation/agrawal</a:t>
            </a:r>
            <a:endParaRPr sz="1350" b="0">
              <a:solidFill>
                <a:srgbClr val="23877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14"/>
            </a:endParaRPr>
          </a:p>
        </p:txBody>
      </p:sp>
      <p:sp>
        <p:nvSpPr>
          <p:cNvPr id="115" name="body-1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508000" y="5132705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defPPr>
            <a:lvl1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pPr>
              <a:lnSpc>
                <a:spcPct val="113000"/>
              </a:lnSpc>
              <a:buNone/>
              <a:def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725" b="0">
                <a:solidFill>
                  <a:srgbClr val="172B3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Prefill / decode 的性能特征，以及分块输入对吞吐和延迟的影响。</a:t>
            </a:r>
            <a:endParaRPr sz="1725" b="0">
              <a:solidFill>
                <a:srgbClr val="172B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2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3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4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5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6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7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8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9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10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11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12.xml><?xml version="1.0" encoding="utf-8"?>
<p:tagLst xmlns:p="http://schemas.openxmlformats.org/presentationml/2006/main">
  <p:tag name="KSO_WM_DIAGRAM_VIRTUALLY_FRAME" val="{&quot;height&quot;:309.75,&quot;left&quot;:48,&quot;top&quot;:116,&quot;width&quot;:864}"/>
</p:tagLst>
</file>

<file path=ppt/tags/tag13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14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15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16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17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18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19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20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21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22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23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24.xml><?xml version="1.0" encoding="utf-8"?>
<p:tagLst xmlns:p="http://schemas.openxmlformats.org/presentationml/2006/main">
  <p:tag name="KSO_WM_DIAGRAM_VIRTUALLY_FRAME" val="{&quot;height&quot;:309.75,&quot;left&quot;:40,&quot;top&quot;:119.15,&quot;width&quot;:864}"/>
</p:tagLst>
</file>

<file path=ppt/tags/tag25.xml><?xml version="1.0" encoding="utf-8"?>
<p:tagLst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9158</Words>
  <Application>WPS 演示</Application>
  <PresentationFormat>宽屏</PresentationFormat>
  <Paragraphs>885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Trebuchet MS</vt:lpstr>
      <vt:lpstr>Arial Unicode MS</vt:lpstr>
      <vt:lpstr>Calibri</vt:lpstr>
      <vt:lpstr>Office 主题​​</vt:lpstr>
      <vt:lpstr>Model Serving 优化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Serving 优化：batching、concurrency、调度队列与请求管理</dc:title>
  <dc:creator/>
  <cp:lastModifiedBy>苑泽兰</cp:lastModifiedBy>
  <cp:revision>110</cp:revision>
  <dcterms:created xsi:type="dcterms:W3CDTF">2021-12-28T08:11:00Z</dcterms:created>
  <dcterms:modified xsi:type="dcterms:W3CDTF">2026-10-19T12:58:53Z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B57AE2A8B969466CA4131FA5B0769B5E_12</vt:lpwstr>
  </property>
  <property fmtid="{D5CDD505-2E9C-101B-9397-08002B2CF9AE}" pid="3" name="KSOProductBuildVer">
    <vt:lpwstr>2052-12.1.0.28488</vt:lpwstr>
  </property>
</Properties>
</file>