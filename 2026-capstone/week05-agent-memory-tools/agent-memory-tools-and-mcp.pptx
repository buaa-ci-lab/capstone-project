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0001" r:id="rId3"/>
    <p:sldId id="20002" r:id="rId5"/>
    <p:sldId id="20003" r:id="rId6"/>
    <p:sldId id="20004" r:id="rId7"/>
    <p:sldId id="20005" r:id="rId8"/>
    <p:sldId id="20006" r:id="rId9"/>
    <p:sldId id="20007" r:id="rId10"/>
    <p:sldId id="20008" r:id="rId11"/>
    <p:sldId id="20009" r:id="rId12"/>
    <p:sldId id="20010" r:id="rId13"/>
    <p:sldId id="20011" r:id="rId14"/>
    <p:sldId id="20012" r:id="rId15"/>
    <p:sldId id="20013" r:id="rId16"/>
    <p:sldId id="20014" r:id="rId17"/>
    <p:sldId id="20015" r:id="rId18"/>
    <p:sldId id="20016" r:id="rId19"/>
    <p:sldId id="20017" r:id="rId20"/>
    <p:sldId id="20018" r:id="rId21"/>
    <p:sldId id="20019" r:id="rId22"/>
    <p:sldId id="20020" r:id="rId23"/>
    <p:sldId id="20021" r:id="rId24"/>
    <p:sldId id="20022" r:id="rId25"/>
    <p:sldId id="20023" r:id="rId26"/>
    <p:sldId id="20024" r:id="rId27"/>
    <p:sldId id="20026" r:id="rId28"/>
    <p:sldId id="20027" r:id="rId29"/>
    <p:sldId id="20028" r:id="rId30"/>
    <p:sldId id="20029" r:id="rId31"/>
    <p:sldId id="20030" r:id="rId32"/>
    <p:sldId id="20031" r:id="rId33"/>
    <p:sldId id="20032" r:id="rId34"/>
    <p:sldId id="20033" r:id="rId35"/>
    <p:sldId id="20034" r:id="rId36"/>
    <p:sldId id="20035" r:id="rId37"/>
    <p:sldId id="20036" r:id="rId38"/>
    <p:sldId id="20037" r:id="rId39"/>
    <p:sldId id="20038" r:id="rId40"/>
    <p:sldId id="20039" r:id="rId41"/>
    <p:sldId id="20040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38" y="180"/>
      </p:cViewPr>
      <p:guideLst>
        <p:guide pos="3840"/>
        <p:guide orient="horz" pos="210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29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本课按课程计划讲Memory、File/Python/Search Tool和MCP。Coding Agent是主要场景，重点放在问题背景、瓶颈、方法设计与系统架构。主体约90分钟，另附资料入口和备用讲解。不安排课堂讨论或课后任务。</a:t>
            </a:r>
          </a:p>
          <a:p/>
          <a:p>
            <a:r>
              <a:t>建议讲授：0.5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简短说明 Memory 占主要时间。File/Python/Search 讲概念和场景，MCP 讲连接层，不展开安装、部署与认证步骤。</a:t>
            </a:r>
          </a:p>
          <a:p/>
          <a:p>
            <a:r>
              <a:t>建议讲授：0.5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这是一张逻辑关系图，Agent 应用包含上下文构建和模型调用控制，模型服务可以在外部。MCP 是可选连接方式，本地函数也能提供工具能力。无需细讲与前一周的接口衔接，只用一个代码仓库维护场景解释三项主题。图为教学示意。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CoALA</a:t>
            </a:r>
          </a:p>
          <a:p>
            <a:r>
              <a:t>https://arxiv.org/abs/2309.02427v3</a:t>
            </a:r>
          </a:p>
          <a:p/>
          <a:p>
            <a:r>
              <a:t>MCP架构</a:t>
            </a:r>
          </a:p>
          <a:p>
            <a:r>
              <a:t>https://modelcontextprotocol.io/docs/2026-07-28/learn/architecture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长期维护同一仓库串起三个瓶颈。第一类是有限上下文中的选择，第二类是跨会话的信息保持，第三类是已有知识的更新。这些瓶颈都不能仅靠把日志存下来解决。扩大上下文缓解容量压力，但输入成本、有效选择、持续维护仍需系统设计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Agent Memory综述v2</a:t>
            </a:r>
          </a:p>
          <a:p>
            <a:r>
              <a:t>https://arxiv.org/abs/2512.13564v2</a:t>
            </a:r>
          </a:p>
          <a:p/>
          <a:p>
            <a:r>
              <a:t>Anthropic上下文工程</a:t>
            </a:r>
          </a:p>
          <a:p>
            <a:r>
              <a:t>https://www.anthropic.com/engineering/effective-context-engineering-for-ai-agents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引用CoALA Figure 4建立功能视角，只解释一次工作、语义、情节与程序性记忆。后续主要研究应用层的显式记忆。程序性记忆在该框架中还包括Agent代码和模型参数，不把它简单等同于操作笔记。不展开更多分类维度。</a:t>
            </a:r>
          </a:p>
          <a:p/>
          <a:p>
            <a:r>
              <a:t>建议讲授：1.5 分钟</a:t>
            </a:r>
          </a:p>
          <a:p/>
          <a:p>
            <a:r>
              <a:t>[Sources]</a:t>
            </a:r>
          </a:p>
          <a:p>
            <a:r>
              <a:t>CoALA</a:t>
            </a:r>
          </a:p>
          <a:p>
            <a:r>
              <a:t>https://arxiv.org/abs/2309.02427v3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图为教学整合流程，观察、提取、存储、检索、使用和维护可以被不同系统合并或异步执行。只建立全局视角，不逐一重复术语。后续论文分别把设计重点放在数据移动、事实更新、经验形成或动态关系组织上。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Agent Memory综述v2</a:t>
            </a:r>
          </a:p>
          <a:p>
            <a:r>
              <a:t>https://arxiv.org/abs/2512.13564v2</a:t>
            </a:r>
          </a:p>
          <a:p/>
          <a:p>
            <a:r>
              <a:t>Mem0论文</a:t>
            </a:r>
          </a:p>
          <a:p>
            <a:r>
              <a:t>https://arxiv.org/abs/2504.19413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综合设计分析，不声称存在统一最优架构。将“存什么、何时算、谁决策”作为阅读后面系统图的线索。写入时整理能把部分计算提前，但新增或修正信息也要付出模型调用成本。检索仍受当前上下文预算约束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Agent Memory综述v2</a:t>
            </a:r>
          </a:p>
          <a:p>
            <a:r>
              <a:t>https://arxiv.org/abs/2512.13564v2</a:t>
            </a:r>
          </a:p>
          <a:p/>
          <a:p>
            <a:r>
              <a:t>CoALA</a:t>
            </a:r>
          </a:p>
          <a:p>
            <a:r>
              <a:t>https://arxiv.org/abs/2309.02427v3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MemGPT §2借鉴虚拟内存思路。该类比说明不同容量与访问方式的层级，不表示LLM真的拥有无限上下文。方法关键是控制信息何时移出、何时取回，而不是把所有历史同时输入。原论文包含长期对话与文档分析任务。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MemGPT</a:t>
            </a:r>
          </a:p>
          <a:p>
            <a:r>
              <a:t>https://arxiv.org/abs/2310.08560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沿Figure 3讲清数据流。当前上下文分为系统指令、可写工作区和FIFO消息队列。队列管理器保存历史并管理溢出，接近上限时提示模型，达到限制后将旧消息移出当前输入并生成递归摘要。历史仍在Recall Storage。模型通过函数查询历史或归档，结果重新进入消息队列。多步检索可以连续发生。分层减少持续占用，但增加检索与调度，并依赖模型正确决定保留和取回的信息。不要把论文的旧接口等同于当前Letta产品。</a:t>
            </a:r>
          </a:p>
          <a:p/>
          <a:p>
            <a:r>
              <a:t>建议讲授：4 分钟</a:t>
            </a:r>
          </a:p>
          <a:p/>
          <a:p>
            <a:r>
              <a:t>[Sources]</a:t>
            </a:r>
          </a:p>
          <a:p>
            <a:r>
              <a:t>MemGPT</a:t>
            </a:r>
          </a:p>
          <a:p>
            <a:r>
              <a:t>https://arxiv.org/abs/2310.08560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Mem0将记忆处理分为抽取与更新两阶段。抽取保留与新交互有关的显著信息，更新减少冗余并处理语义关系。本页背景与设计为对论文机制的概括。不要把作者某一基准的质量或成本结果当作所有场景的保证。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Mem0论文</a:t>
            </a:r>
          </a:p>
          <a:p>
            <a:r>
              <a:t>https://arxiv.org/abs/2504.19413</a:t>
            </a:r>
          </a:p>
          <a:p/>
          <a:p>
            <a:r>
              <a:t>Mem0 开源项目</a:t>
            </a:r>
          </a:p>
          <a:p>
            <a:r>
              <a:t>https://github.com/mem0ai/mem0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。抽取器同时参考新交互、较早历史的摘要和近期消息。摘要提供全局背景，近期消息提供尚未进入摘要的细节。候选事实先检索相似旧记忆，再由模型选择新增、更新、删除或不变。系统执行这些操作，而非只追加新文本。要点：抽取损失的条件可能难以恢复，错误的更新还会影响后续所有读取。维护成本转移到写入路径，并没有消失。基础方案与Mem0g图增强方案分开讲，不混用结果。</a:t>
            </a:r>
          </a:p>
          <a:p/>
          <a:p>
            <a:r>
              <a:t>建议讲授：4 分钟</a:t>
            </a:r>
          </a:p>
          <a:p/>
          <a:p>
            <a:r>
              <a:t>[Sources]</a:t>
            </a:r>
          </a:p>
          <a:p>
            <a:r>
              <a:t>Mem0论文</a:t>
            </a:r>
          </a:p>
          <a:p>
            <a:r>
              <a:t>https://arxiv.org/abs/2504.19413</a:t>
            </a:r>
          </a:p>
          <a:p/>
          <a:p>
            <a:r>
              <a:t>Mem0 开源项目</a:t>
            </a:r>
          </a:p>
          <a:p>
            <a:r>
              <a:t>https://github.com/mem0ai/mem0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题来自论文对稀疏奖励与文本反馈的讨论。Reflexion把轨迹和反馈转成更具体的语言反思，在下一次尝试中读取。本页讲原方法的多次尝试机制，不把它自动等同于跨任意新任务的能力迁移。它与看到一次参数报错后立即纠正参数具有不同的经验保存结构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Reflexion</a:t>
            </a:r>
          </a:p>
          <a:p>
            <a:r>
              <a:t>https://arxiv.org/abs/2303.11366</a:t>
            </a:r>
          </a:p>
          <a:p/>
          <a:p>
            <a:r>
              <a:t>Reflexion作者代码</a:t>
            </a:r>
          </a:p>
          <a:p>
            <a:r>
              <a:t>https://github.com/noahshinn/reflexion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a。Actor产生程序或行动轨迹，Evaluator给出任务反馈，Self-reflection结合轨迹和反馈生成经验。当前轨迹与过去反思一起进入后续尝试的上下文。Evaluator不一定是模型，也可利用执行结果或任务特定规则。论文在编程任务中使用程序执行与自生成测试反馈。经验窗口有容量约束，因此不是无限追加所有反思。核心设计将“产生行动”“判断结果”“形成经验”分开。</a:t>
            </a:r>
          </a:p>
          <a:p/>
          <a:p>
            <a:r>
              <a:t>建议讲授：4 分钟</a:t>
            </a:r>
          </a:p>
          <a:p/>
          <a:p>
            <a:r>
              <a:t>[Sources]</a:t>
            </a:r>
          </a:p>
          <a:p>
            <a:r>
              <a:t>Reflexion</a:t>
            </a:r>
          </a:p>
          <a:p>
            <a:r>
              <a:t>https://arxiv.org/abs/2303.11366</a:t>
            </a:r>
          </a:p>
          <a:p/>
          <a:p>
            <a:r>
              <a:t>Reflexion作者代码</a:t>
            </a:r>
          </a:p>
          <a:p>
            <a:r>
              <a:t>https://github.com/noahshinn/reflexion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论文编程实验及失败分析提示执行反馈、自生成测试和反思质量都会影响结果。这里的评估建议为教学分析，不是复现结果。还需区分修好同一题与迁移到新题。课堂不展开测试代码规范或日志字段。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Reflexion</a:t>
            </a:r>
          </a:p>
          <a:p>
            <a:r>
              <a:t>https://arxiv.org/abs/2303.11366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UIST 2023，Figure 5。背景是多角色在持续模拟环境中表现出连贯行为，问题不仅是保存事实，还要让先前观察影响之后的行动。原始观察进入记忆流，检索综合新近性、重要性和相关性。反思从多条观察形成较高层次推断，写回同一记忆流，后续还能被检索。设计价值在于观察与抽象认知共同参与行为生成，不代表它已证明软件任务的可靠性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Generative Agents</a:t>
            </a:r>
          </a:p>
          <a:p>
            <a:r>
              <a:t>https://arxiv.org/abs/2304.03442</a:t>
            </a:r>
          </a:p>
          <a:p/>
          <a:p>
            <a:r>
              <a:t>Generative Agents 代码</a:t>
            </a:r>
          </a:p>
          <a:p>
            <a:r>
              <a:t>https://github.com/joonspk-research/generative_agents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-MEM受Zettelkasten启发，用原子笔记、灵活关联和记忆演化组织长期信息。这里讲论文提出的问题动机，不把所有RAG系统都描述成静态知识库，也不认为图结构必然优于简单文本。具体效果依赖任务及额外生成的语义信息是否可靠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A-MEM</a:t>
            </a:r>
          </a:p>
          <a:p>
            <a:r>
              <a:t>https://arxiv.org/abs/2502.12110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、§3。笔记包含原始内容及模型生成的关键词、标签和上下文说明。先用向量相似度找到候选，再由模型判断链接，而非全库两两比较。新信息还能更新相关旧笔记的上下文、关键词和标签。查询阶段仍使用语义检索获取相关记忆，不将其描述为必然依赖图遍历。生成式关系和修订有可能出错，额外组织应由任务收益证明。</a:t>
            </a:r>
          </a:p>
          <a:p/>
          <a:p>
            <a:r>
              <a:t>建议讲授：4 分钟</a:t>
            </a:r>
          </a:p>
          <a:p/>
          <a:p>
            <a:r>
              <a:t>[Sources]</a:t>
            </a:r>
          </a:p>
          <a:p>
            <a:r>
              <a:t>A-MEM</a:t>
            </a:r>
          </a:p>
          <a:p>
            <a:r>
              <a:t>https://arxiv.org/abs/2502.12110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OpenHands 是开源的软件开发 Agent 平台。这里先认识它能做的任务，再沿官方 Fig.1(b) 解释应用层、SDK、工具和工作区的关系。图裁自论文第 2 页，保留原始内容。SDK 是 OpenHands CLI 和 Cloud 的执行基础，可用于本地或远程工作区。只讲各模块的责任，不展开类名和部署细节。后续三页分别讨论会话日志、上下文压缩与跨会话知识复用。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OpenHands SDK 论文 Fig.1(b)</a:t>
            </a:r>
          </a:p>
          <a:p>
            <a:r>
              <a:t>https://arxiv.org/abs/2511.03690</a:t>
            </a:r>
          </a:p>
          <a:p/>
          <a:p>
            <a:r>
              <a:t>OpenHands SDK 官方项目</a:t>
            </a:r>
          </a:p>
          <a:p>
            <a:r>
              <a:t>https://github.com/OpenHands/software-agent-sdk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DK论文§4.2、§4.6。OpenHands保留追加式事件日志，压缩结果也记录为事件。构造模型输入时应用压缩记录，以摘要替换指定历史内容。因此保留完整执行记录与减少本次输入可以同时成立。图为教学整合，未逐一映射SDK类名。架构重点是执行状态与模型可见视图分开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OpenHands SDK 论文</a:t>
            </a:r>
          </a:p>
          <a:p>
            <a:r>
              <a:t>https://arxiv.org/abs/2511.03690</a:t>
            </a:r>
          </a:p>
          <a:p/>
          <a:p>
            <a:r>
              <a:t>OpenHands上下文压缩</a:t>
            </a:r>
          </a:p>
          <a:p>
            <a:r>
              <a:t>https://docs.openhands.dev/sdk/guides/context-condenser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官方原图显示旧内容压缩成摘要并与近期内容组合。默认LLMSummarizingCondenser以模型生成摘要，保留目标、关键文件和近期进展。调用压缩本身有开销，丢失的关键条件可能造成后续错误。原图为简化机制，具体实现还可保留首部事件。本课不引用跨环境通用压缩倍数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OpenHands上下文压缩</a:t>
            </a:r>
          </a:p>
          <a:p>
            <a:r>
              <a:t>https://docs.openhands.dev/sdk/guides/context-condenser</a:t>
            </a:r>
          </a:p>
          <a:p/>
          <a:p>
            <a:r>
              <a:t>OpenHands官方压缩示例</a:t>
            </a:r>
          </a:p>
          <a:p>
            <a:r>
              <a:t>https://github.com/OpenHands/software-agent-sdk/blob/main/examples/01_standalone_sdk/14_context_condenser.py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先讲读写路径，再看官方文档中的用户偏好与项目事实示例。MEMORY.md 同时包含可直接使用的持久事实和详细工作笔记的查找入口。新会话启动时，系统将两类作用域的索引注入系统提示；日常工作笔记不自动注入，由 Agent 按需用文件工具读取。工作笔记不是完整 EventLog。官方 55_persistent_memory.py 演示同一工作区的两个新会话：第一个要求记录 uv 决策，第二个询问依赖管理工具。本课未运行该示例。功能默认关闭。配图为官方文档截图，不是另外绘制的架构图。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OpenHands Persistent Memory</a:t>
            </a:r>
          </a:p>
          <a:p>
            <a:r>
              <a:t>https://docs.openhands.dev/sdk/guides/persistent-memory</a:t>
            </a:r>
          </a:p>
          <a:p/>
          <a:p>
            <a:r>
              <a:t>官方跨会话示例</a:t>
            </a:r>
          </a:p>
          <a:p>
            <a:r>
              <a:t>https://github.com/OpenHands/software-agent-sdk/blob/main/examples/01_standalone_sdk/55_persistent_memory.py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这页说明编码产品中的文件式记忆如何使用。Claude Code 的人工指令文件与自动经验来源不同。MEMORY.md 是索引，每条记忆的详情放在主题文件。新会话先加载有限长度的索引，主题文件按需读取。所有内容作为上下文影响模型，不能将其当成强制执行的程序规则。与前一页 OpenHands 共同采用文件保存及选择性加载的思路；这里的重点是产品如何把人工约定和工作中形成的经验结合起来。官方目录截图保留原文件名，不展示配置步骤、路径选项或行数限制。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Claude Code 官方记忆文档</a:t>
            </a:r>
          </a:p>
          <a:p>
            <a:r>
              <a:t>https://code.claude.com/docs/en/memory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官方图从左向右讲：应用提交事件，短期记忆保存原始输入，异步任务执行提取，整合阶段检索相似旧记录，再更新向量存储。不同策略决定抽取何种信息。此图重点是长期记忆的形成管线，使用阶段仍需应用检索记忆并放入上下文。官方例子中预算从 500 变为 750，旧记录标记为无效并保留历史。与 OpenHands / Claude Code 的 Agent 自行维护文件相比，这里由托管服务处理提取与整合。后台处理带来写入到可检索之间的时间间隔。图取自 2025 年官方架构文章，不将当时列出的策略数量视为当前全部功能。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AWS 官方长期记忆架构</a:t>
            </a:r>
          </a:p>
          <a:p>
            <a:r>
              <a:t>https://aws.amazon.com/blogs/machine-learning/building-smarter-ai-agents-agentcore-long-term-memory-deep-dive/</a:t>
            </a:r>
          </a:p>
          <a:p/>
          <a:p>
            <a:r>
              <a:t>AgentCore Memory 官方文档</a:t>
            </a:r>
          </a:p>
          <a:p>
            <a:r>
              <a:t>https://docs.aws.amazon.com/bedrock-agentcore/latest/devguide/memory-types.html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这是一项记忆方法与开源项目，不是评测基准。新增价值在于时间有效性和历史状态保留。现实时间与系统获知时间不同，尤其适用于后到的消息描述更早事件的情况。Graphiti 用实体、关系及来源事件组织知识，矛盾识别可能让旧边失效而非删除。图来自 Graphiti 官方产品页，显示有效区间以及工作单位关系由 Acme 变为 Globex。这里与 A-MEM 的对照仅限设计重点：语义笔记连接与时间化事实关系，没有公平实验支持谁总体更好。Zep 商业服务与 Graphiti 开源框架的性能不可直接互换。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Graphiti 官方时间与更新示意</a:t>
            </a:r>
          </a:p>
          <a:p>
            <a:r>
              <a:t>https://www.getzep.com/platform/graphiti/</a:t>
            </a:r>
          </a:p>
          <a:p/>
          <a:p>
            <a:r>
              <a:t>Zep / Graphiti 论文 §2.2.3</a:t>
            </a:r>
          </a:p>
          <a:p>
            <a:r>
              <a:t>https://arxiv.org/abs/2501.13956</a:t>
            </a:r>
          </a:p>
          <a:p/>
          <a:p>
            <a:r>
              <a:t>Graphiti 官方项目</a:t>
            </a:r>
          </a:p>
          <a:p>
            <a:r>
              <a:t>https://github.com/getzep/graphiti</a:t>
            </a:r>
          </a:p>
          <a:p/>
          <a:p>
            <a:r>
              <a:t>A-MEM 论文</a:t>
            </a:r>
          </a:p>
          <a:p>
            <a:r>
              <a:t>https://arxiv.org/abs/2502.12110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评测设计的扩展，不是新的记忆存储架构。论文中的考试与追剧例子说明目标对后续建议构成隐含约束。构造过程中，研究者过滤过于相似的线索与触发问题，降低仅靠表面相似度找到答案的捷径。评价关注回答是否落在满足约束的有效答案集合内，不要求匹配单一参考措辞。输入不额外透露任务类型。原图 Figure 4 对比传统评价与作者提出的评价范式。与 LME-V2 的环境操作经验不同，本页考查长对话中的状态、目标、价值或因果约束。两者都不能直接等同于完整 Agent 工具任务执行成功率。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LoCoMo-Plus 论文 Fig.4、§4–5</a:t>
            </a:r>
          </a:p>
          <a:p>
            <a:r>
              <a:t>https://aclanthology.org/2026.acl-long.1150/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依据综述 Memory in the Age of AI Agents v2，§3.1.1–3.1.3 各节 Discussion 及 Figure 3。三个名称分别是 Flat Memory、Planar Memory 和 Hierarchical Memory，按记忆单元的显式拓扑结构分类。原图及论述共同说明轻量追加、关系检索和跨粒度组织的不同取舍。这是综述作者提出的一种分类，不是领域唯一标准。此处的多层结构指记忆内容的组织层次，和 MemGPT 的主上下文/外部存储分层属于不同分类维度。正文不把具体方法机械对应为唯一最优选择，也不声称结构越复杂效果一定越好。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Agent Memory 综述 v2，§3.1、Fig.3</a:t>
            </a:r>
          </a:p>
          <a:p>
            <a:r>
              <a:t>https://arxiv.org/html/2512.13564v2#S3.SS1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讲文件能力在Agent架构中的位置，不重复第三周read_file实现、路径检查或编码规范。一次返回整个仓库通常不合适，定位与按需读取体现接口粒度选择。File Tool也可以提供编辑能力，具体权限由环境决定。下一次RAG再讨论知识库切分和索引。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MCP Filesystem参考服务</a:t>
            </a:r>
          </a:p>
          <a:p>
            <a:r>
              <a:t>https://github.com/modelcontextprotocol/servers/tree/main/src/filesystem</a:t>
            </a:r>
          </a:p>
          <a:p/>
          <a:p>
            <a:r>
              <a:t>Anthropic工具设计</a:t>
            </a:r>
          </a:p>
          <a:p>
            <a:r>
              <a:t>https://www.anthropic.com/engineering/writing-tools-for-agents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Tool扩展了可执行动作空间。解释模型生成代码、运行时执行、结果回传的分工，不展示安装和具体代码格式。环境约束会影响能够读写的文件、网络访问及执行资源。CodeAct是下一页的方法案例。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CodeAct · ICML 2024</a:t>
            </a:r>
          </a:p>
          <a:p>
            <a:r>
              <a:t>https://arxiv.org/abs/2402.01030</a:t>
            </a:r>
          </a:p>
          <a:p/>
          <a:p>
            <a:r>
              <a:t>smolagents</a:t>
            </a:r>
          </a:p>
          <a:p>
            <a:r>
              <a:t>https://github.com/huggingface/smolagents</a:t>
            </a:r>
          </a:p>
          <a:p/>
          <a:p>
            <a:r>
              <a:t>smolagents 执行环境</a:t>
            </a:r>
          </a:p>
          <a:p>
            <a:r>
              <a:t>https://huggingface.co/docs/smolagents/tutorials/secure_code_execution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CML2024，Figure1上半部分原图。任务是在多个国家中选择成本最低的购买地，需要查询汇率、价格、税费和运费。设计将循环、变量传递和现有函数组合到可执行代码中，运行反馈继续进入Agent。讲解聚焦右侧for循环与min，不要求逐行读完图片。不用下方未展示的实验图作普遍性能承诺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CodeAct · ICML 2024</a:t>
            </a:r>
          </a:p>
          <a:p>
            <a:r>
              <a:t>https://arxiv.org/abs/2402.01030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用检索与正文读取说明应用架构，不展开API返回字段或异常处理。搜索摘要可能不完整，查询得到的高相关材料也未必正确或适用于目标版本。说明外部资料与本地验证的互补关系即可。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Tavily Search接口</a:t>
            </a:r>
          </a:p>
          <a:p>
            <a:r>
              <a:t>https://docs.tavily.com/documentation/api-reference/endpoint/search</a:t>
            </a:r>
          </a:p>
          <a:p/>
          <a:p>
            <a:r>
              <a:t>Anthropic工具设计</a:t>
            </a:r>
          </a:p>
          <a:p>
            <a:r>
              <a:t>https://www.anthropic.com/engineering/writing-tools-for-agents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依赖升级为一个完整任务贯穿File、Search与Python。文件说明当前状态，外部文档说明公开变化，执行提供指定环境下的行为证据。各工具在同一Agent决策循环中协作，具体工具可以是本地函数也可以来自外部服务。不重讲循环代码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CodeAct · ICML 2024</a:t>
            </a:r>
          </a:p>
          <a:p>
            <a:r>
              <a:t>https://arxiv.org/abs/2402.01030</a:t>
            </a:r>
          </a:p>
          <a:p/>
          <a:p>
            <a:r>
              <a:t>GAIA</a:t>
            </a:r>
          </a:p>
          <a:p>
            <a:r>
              <a:t>https://arxiv.org/abs/2311.12983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MCP为应用和外部工具、上下文服务提供共同协议。背景是不同应用需要接入仓库、文档和执行结果等多种能力，逐一做独立适配成本高。统一协议支持服务复用。Function Calling表达模型的调用意图，Host再控制外部调用；二者分工只说明一次。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MCP规范2026-07-28</a:t>
            </a:r>
          </a:p>
          <a:p>
            <a:r>
              <a:t>https://modelcontextprotocol.io/specification/2026-07-28</a:t>
            </a:r>
          </a:p>
          <a:p/>
          <a:p>
            <a:r>
              <a:t>MCP架构</a:t>
            </a:r>
          </a:p>
          <a:p>
            <a:r>
              <a:t>https://modelcontextprotocol.io/docs/2026-07-28/learn/architecture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原图来自 Hugging Face MCP Course 的 Architectural Components 页面。一个 Host 可以包含多个 Client，分别访问不同 Server。图聚焦协议连接，没有画出模型 API，需结合前页说明模型提出动作后由 Host 控制执行。Server 可以本地运行，也可以远程提供服务，不以物理机器数量定义角色。该课程其他页面含旧版生命周期与 Sampling 介绍，本课流程以 MCP 2026-07-28 规范核查，未采用这些旧版细节。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Hugging Face MCP 架构图</a:t>
            </a:r>
          </a:p>
          <a:p>
            <a:r>
              <a:t>https://huggingface.co/learn/mcp-course/en/unit1/architectural-components</a:t>
            </a:r>
          </a:p>
          <a:p/>
          <a:p>
            <a:r>
              <a:t>MCP架构</a:t>
            </a:r>
          </a:p>
          <a:p>
            <a:r>
              <a:t>https://modelcontextprotocol.io/docs/2026-07-28/learn/architecture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表中的仓库能力用于概念对应，未声称 GitHub MCP Server 必然提供所有例子。规范通常从模型、应用和用户控制等角度区分这些原语的使用方式，但界面和触发策略由 Host 决定。课堂不展开 resource URI 或 prompt 参数 schema。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MCP规范2026-07-28</a:t>
            </a:r>
          </a:p>
          <a:p>
            <a:r>
              <a:t>https://modelcontextprotocol.io/specification/2026-07-28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只解释集成架构，不展示配置JSON、启动命令、认证过程或参数校验代码。fetch负责读取已知URL，发现未知网页仍需搜索能力。官方文档核查于2026-10-06，未执行接入示例。不同Host对各原语的支持和上下文策略可能不同，连接成功不等于任务成功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OpenHands MCP指南</a:t>
            </a:r>
          </a:p>
          <a:p>
            <a:r>
              <a:t>https://docs.openhands.dev/sdk/guides/mcp</a:t>
            </a:r>
          </a:p>
          <a:p/>
          <a:p>
            <a:r>
              <a:t>GitHub MCP Server</a:t>
            </a:r>
          </a:p>
          <a:p>
            <a:r>
              <a:t>https://github.com/github/github-mcp-server</a:t>
            </a:r>
          </a:p>
          <a:p/>
          <a:p>
            <a:r>
              <a:t>MCP架构</a:t>
            </a:r>
          </a:p>
          <a:p>
            <a:r>
              <a:t>https://modelcontextprotocol.io/docs/2026-07-28/learn/architecture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简短回收本课的架构要点，不布置课后任务，也不设置课堂讨论。课程衔接只说明下一次主题。</a:t>
            </a:r>
          </a:p>
          <a:p/>
          <a:p>
            <a:r>
              <a:t>建议讲授：1.5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可点击页脚短标题打开原论文，完整链接也列在备注中。先读机制图和对应段落，再看实验设置。不要只读摘要中的性能数字。</a:t>
            </a:r>
          </a:p>
          <a:p/>
          <a:p>
            <a:r>
              <a:t>建议讲授：0 分钟</a:t>
            </a:r>
          </a:p>
          <a:p/>
          <a:p>
            <a:r>
              <a:t>[Sources]</a:t>
            </a:r>
          </a:p>
          <a:p>
            <a:r>
              <a:t>CoALA</a:t>
            </a:r>
          </a:p>
          <a:p>
            <a:r>
              <a:t>https://arxiv.org/abs/2309.02427v3</a:t>
            </a:r>
          </a:p>
          <a:p/>
          <a:p>
            <a:r>
              <a:t>Generative Agents</a:t>
            </a:r>
          </a:p>
          <a:p>
            <a:r>
              <a:t>https://arxiv.org/abs/2304.03442</a:t>
            </a:r>
          </a:p>
          <a:p/>
          <a:p>
            <a:r>
              <a:t>MemGPT</a:t>
            </a:r>
          </a:p>
          <a:p>
            <a:r>
              <a:t>https://arxiv.org/abs/2310.08560</a:t>
            </a:r>
          </a:p>
          <a:p/>
          <a:p>
            <a:r>
              <a:t>Mem0论文</a:t>
            </a:r>
          </a:p>
          <a:p>
            <a:r>
              <a:t>https://arxiv.org/abs/2504.19413</a:t>
            </a:r>
          </a:p>
          <a:p/>
          <a:p>
            <a:r>
              <a:t>Reflexion</a:t>
            </a:r>
          </a:p>
          <a:p>
            <a:r>
              <a:t>https://arxiv.org/abs/2303.11366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OpenHands 三个指南足以理解课内例子，无需先通读全部 SDK。实现或复现时应核对所选版本，公开文档与本页核对日期均为 2026-10-06。完整资源清单另见备课目录的课程资源索引。</a:t>
            </a:r>
          </a:p>
          <a:p/>
          <a:p>
            <a:r>
              <a:t>建议讲授：0 分钟</a:t>
            </a:r>
          </a:p>
          <a:p/>
          <a:p>
            <a:r>
              <a:t>[Sources]</a:t>
            </a:r>
          </a:p>
          <a:p>
            <a:r>
              <a:t>OpenHands上下文压缩</a:t>
            </a:r>
          </a:p>
          <a:p>
            <a:r>
              <a:t>https://docs.openhands.dev/sdk/guides/context-condenser</a:t>
            </a:r>
          </a:p>
          <a:p/>
          <a:p>
            <a:r>
              <a:t>OpenHands持久记忆</a:t>
            </a:r>
          </a:p>
          <a:p>
            <a:r>
              <a:t>https://docs.openhands.dev/sdk/guides/persistent-memory</a:t>
            </a:r>
          </a:p>
          <a:p/>
          <a:p>
            <a:r>
              <a:t>OpenHands MCP指南</a:t>
            </a:r>
          </a:p>
          <a:p>
            <a:r>
              <a:t>https://docs.openhands.dev/sdk/guides/mcp</a:t>
            </a:r>
          </a:p>
          <a:p/>
          <a:p>
            <a:r>
              <a:t>Mem0 开源项目</a:t>
            </a:r>
          </a:p>
          <a:p>
            <a:r>
              <a:t>https://github.com/mem0ai/mem0</a:t>
            </a:r>
          </a:p>
          <a:p/>
          <a:p>
            <a:r>
              <a:t>Reflexion作者代码</a:t>
            </a:r>
          </a:p>
          <a:p>
            <a:r>
              <a:t>https://github.com/noahshinn/reflexion</a:t>
            </a:r>
          </a:p>
          <a:p/>
          <a:p>
            <a:r>
              <a:t>LongMemEval</a:t>
            </a:r>
          </a:p>
          <a:p>
            <a:r>
              <a:t>https://github.com/xiaowu0162/LongMemEval</a:t>
            </a:r>
          </a:p>
          <a:p/>
          <a:p>
            <a:r>
              <a:t>MCP规范2026-07-28</a:t>
            </a:r>
          </a:p>
          <a:p>
            <a:r>
              <a:t>https://modelcontextprotocol.io/specification/2026-07-28</a:t>
            </a:r>
          </a:p>
          <a:p/>
          <a:p>
            <a:r>
              <a:t>GitHub MCP Server</a:t>
            </a:r>
          </a:p>
          <a:p>
            <a:r>
              <a:t>https://github.com/github/github-mcp-server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不要给 Memory 与 RAG 画绝对边界。RAG 是检索增强生成的范式，检索对象既可以是文档也可以是记忆。KV Cache 不承担本课的语义事实选择与维护，具体机制在后续课程讲解。微调也可能承载参数记忆，但它与写入一条外部记录的代价和机制不同。</a:t>
            </a:r>
          </a:p>
          <a:p/>
          <a:p>
            <a:r>
              <a:t>建议讲授：2 分钟，备用讲解</a:t>
            </a:r>
          </a:p>
          <a:p/>
          <a:p>
            <a:r>
              <a:t>[Sources]</a:t>
            </a:r>
          </a:p>
          <a:p>
            <a:r>
              <a:t>Agent Memory综述v2</a:t>
            </a:r>
          </a:p>
          <a:p>
            <a:r>
              <a:t>https://arxiv.org/abs/2512.13564v2</a:t>
            </a:r>
          </a:p>
          <a:p/>
          <a:p>
            <a:r>
              <a:t>Anthropic上下文工程</a:t>
            </a:r>
          </a:p>
          <a:p>
            <a:r>
              <a:t>https://www.anthropic.com/engineering/effective-context-engineering-for-ai-agents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modelcontextprotocol.io/docs/2026-07-28/learn/architecture" TargetMode="External"/><Relationship Id="rId2" Type="http://schemas.openxmlformats.org/officeDocument/2006/relationships/hyperlink" Target="https://arxiv.org/abs/2309.02427v3" TargetMode="Externa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effective-context-engineering-for-ai-agents" TargetMode="External"/><Relationship Id="rId1" Type="http://schemas.openxmlformats.org/officeDocument/2006/relationships/hyperlink" Target="https://arxiv.org/abs/2512.13564v2" TargetMode="Externa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3.xml"/><Relationship Id="rId10" Type="http://schemas.openxmlformats.org/officeDocument/2006/relationships/hyperlink" Target="https://arxiv.org/abs/2309.02427v3" TargetMode="Externa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arxiv.org/abs/2504.19413" TargetMode="External"/><Relationship Id="rId2" Type="http://schemas.openxmlformats.org/officeDocument/2006/relationships/hyperlink" Target="https://arxiv.org/abs/2512.13564v2" TargetMode="Externa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hyperlink" Target="https://arxiv.org/abs/2309.02427v3" TargetMode="External"/><Relationship Id="rId7" Type="http://schemas.openxmlformats.org/officeDocument/2006/relationships/hyperlink" Target="https://arxiv.org/abs/2512.13564v2" TargetMode="Externa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arxiv.org/abs/2310.08560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310.08560" TargetMode="Externa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3.xml"/><Relationship Id="rId6" Type="http://schemas.openxmlformats.org/officeDocument/2006/relationships/hyperlink" Target="https://github.com/mem0ai/mem0" TargetMode="External"/><Relationship Id="rId5" Type="http://schemas.openxmlformats.org/officeDocument/2006/relationships/hyperlink" Target="https://arxiv.org/abs/2504.19413" TargetMode="Externa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mem0ai/mem0" TargetMode="External"/><Relationship Id="rId2" Type="http://schemas.openxmlformats.org/officeDocument/2006/relationships/hyperlink" Target="https://arxiv.org/abs/2504.19413" TargetMode="Externa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3.xml"/><Relationship Id="rId6" Type="http://schemas.openxmlformats.org/officeDocument/2006/relationships/hyperlink" Target="https://github.com/noahshinn/reflexion" TargetMode="External"/><Relationship Id="rId5" Type="http://schemas.openxmlformats.org/officeDocument/2006/relationships/hyperlink" Target="https://arxiv.org/abs/2303.11366" TargetMode="Externa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noahshinn/reflexion" TargetMode="External"/><Relationship Id="rId2" Type="http://schemas.openxmlformats.org/officeDocument/2006/relationships/hyperlink" Target="https://arxiv.org/abs/2303.11366" TargetMode="Externa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3.xml"/><Relationship Id="rId7" Type="http://schemas.openxmlformats.org/officeDocument/2006/relationships/hyperlink" Target="https://arxiv.org/abs/2303.11366" TargetMode="Externa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joonspk-research/generative_agents" TargetMode="External"/><Relationship Id="rId2" Type="http://schemas.openxmlformats.org/officeDocument/2006/relationships/hyperlink" Target="https://arxiv.org/abs/2304.03442" TargetMode="Externa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arxiv.org/abs/2502.12110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502.12110" TargetMode="Externa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OpenHands/software-agent-sdk" TargetMode="External"/><Relationship Id="rId2" Type="http://schemas.openxmlformats.org/officeDocument/2006/relationships/hyperlink" Target="https://arxiv.org/abs/2511.03690" TargetMode="Externa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openhands.dev/sdk/guides/context-condenser" TargetMode="External"/><Relationship Id="rId2" Type="http://schemas.openxmlformats.org/officeDocument/2006/relationships/hyperlink" Target="https://arxiv.org/abs/2511.03690" TargetMode="Externa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OpenHands/software-agent-sdk/blob/main/examples/01_standalone_sdk/14_context_condenser.py" TargetMode="External"/><Relationship Id="rId2" Type="http://schemas.openxmlformats.org/officeDocument/2006/relationships/hyperlink" Target="https://docs.openhands.dev/sdk/guides/context-condenser" TargetMode="Externa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OpenHands/software-agent-sdk/blob/main/examples/01_standalone_sdk/55_persistent_memory.py" TargetMode="External"/><Relationship Id="rId2" Type="http://schemas.openxmlformats.org/officeDocument/2006/relationships/hyperlink" Target="https://docs.openhands.dev/sdk/guides/persistent-memory" TargetMode="External"/><Relationship Id="rId1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code.claude.com/docs/en/memory" TargetMode="External"/><Relationship Id="rId1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aws.amazon.com/bedrock-agentcore/latest/devguide/memory-types.html" TargetMode="External"/><Relationship Id="rId2" Type="http://schemas.openxmlformats.org/officeDocument/2006/relationships/hyperlink" Target="https://aws.amazon.com/blogs/machine-learning/building-smarter-ai-agents-agentcore-long-term-memory-deep-dive/" TargetMode="Externa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3.xml"/><Relationship Id="rId5" Type="http://schemas.openxmlformats.org/officeDocument/2006/relationships/hyperlink" Target="https://arxiv.org/abs/2502.12110" TargetMode="External"/><Relationship Id="rId4" Type="http://schemas.openxmlformats.org/officeDocument/2006/relationships/hyperlink" Target="https://github.com/getzep/graphiti" TargetMode="External"/><Relationship Id="rId3" Type="http://schemas.openxmlformats.org/officeDocument/2006/relationships/hyperlink" Target="https://arxiv.org/abs/2501.13956" TargetMode="External"/><Relationship Id="rId2" Type="http://schemas.openxmlformats.org/officeDocument/2006/relationships/hyperlink" Target="https://www.getzep.com/platform/graphiti/" TargetMode="External"/><Relationship Id="rId1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clanthology.org/2026.acl-long.1150/" TargetMode="Externa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html/2512.13564v2#S3.SS1" TargetMode="Externa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writing-tools-for-agents" TargetMode="External"/><Relationship Id="rId1" Type="http://schemas.openxmlformats.org/officeDocument/2006/relationships/hyperlink" Target="https://github.com/modelcontextprotocol/servers/tree/main/src/filesystem" TargetMode="Externa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huggingface.co/docs/smolagents/tutorials/secure_code_execution" TargetMode="External"/><Relationship Id="rId2" Type="http://schemas.openxmlformats.org/officeDocument/2006/relationships/hyperlink" Target="https://github.com/huggingface/smolagents" TargetMode="External"/><Relationship Id="rId1" Type="http://schemas.openxmlformats.org/officeDocument/2006/relationships/hyperlink" Target="https://arxiv.org/abs/2402.01030" TargetMode="Externa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402.01030" TargetMode="External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writing-tools-for-agents" TargetMode="External"/><Relationship Id="rId1" Type="http://schemas.openxmlformats.org/officeDocument/2006/relationships/hyperlink" Target="https://docs.tavily.com/documentation/api-reference/endpoint/search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311.12983" TargetMode="External"/><Relationship Id="rId1" Type="http://schemas.openxmlformats.org/officeDocument/2006/relationships/hyperlink" Target="https://arxiv.org/abs/2402.01030" TargetMode="Externa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modelcontextprotocol.io/docs/2026-07-28/learn/architecture" TargetMode="External"/><Relationship Id="rId1" Type="http://schemas.openxmlformats.org/officeDocument/2006/relationships/hyperlink" Target="https://modelcontextprotocol.io/specification/2026-07-28" TargetMode="Externa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modelcontextprotocol.io/docs/2026-07-28/learn/architecture" TargetMode="External"/><Relationship Id="rId2" Type="http://schemas.openxmlformats.org/officeDocument/2006/relationships/hyperlink" Target="https://huggingface.co/learn/mcp-course/en/unit1/architectural-components" TargetMode="Externa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modelcontextprotocol.io/specification/2026-07-28" TargetMode="Externa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modelcontextprotocol.io/docs/2026-07-28/learn/architecture" TargetMode="External"/><Relationship Id="rId2" Type="http://schemas.openxmlformats.org/officeDocument/2006/relationships/hyperlink" Target="https://github.com/github/github-mcp-server" TargetMode="External"/><Relationship Id="rId1" Type="http://schemas.openxmlformats.org/officeDocument/2006/relationships/hyperlink" Target="https://docs.openhands.dev/sdk/guides/mcp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slideLayout" Target="../slideLayouts/slideLayout3.xml"/><Relationship Id="rId5" Type="http://schemas.openxmlformats.org/officeDocument/2006/relationships/hyperlink" Target="https://arxiv.org/abs/2303.11366" TargetMode="External"/><Relationship Id="rId4" Type="http://schemas.openxmlformats.org/officeDocument/2006/relationships/hyperlink" Target="https://arxiv.org/abs/2504.19413" TargetMode="External"/><Relationship Id="rId3" Type="http://schemas.openxmlformats.org/officeDocument/2006/relationships/hyperlink" Target="https://arxiv.org/abs/2310.08560" TargetMode="External"/><Relationship Id="rId2" Type="http://schemas.openxmlformats.org/officeDocument/2006/relationships/hyperlink" Target="https://arxiv.org/abs/2304.03442" TargetMode="External"/><Relationship Id="rId1" Type="http://schemas.openxmlformats.org/officeDocument/2006/relationships/hyperlink" Target="https://arxiv.org/abs/2309.02427v3" TargetMode="Externa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hyperlink" Target="https://github.com/github/github-mcp-server" TargetMode="External"/><Relationship Id="rId7" Type="http://schemas.openxmlformats.org/officeDocument/2006/relationships/hyperlink" Target="https://modelcontextprotocol.io/specification/2026-07-28" TargetMode="External"/><Relationship Id="rId6" Type="http://schemas.openxmlformats.org/officeDocument/2006/relationships/hyperlink" Target="https://github.com/xiaowu0162/LongMemEval" TargetMode="External"/><Relationship Id="rId5" Type="http://schemas.openxmlformats.org/officeDocument/2006/relationships/hyperlink" Target="https://github.com/noahshinn/reflexion" TargetMode="External"/><Relationship Id="rId4" Type="http://schemas.openxmlformats.org/officeDocument/2006/relationships/hyperlink" Target="https://github.com/mem0ai/mem0" TargetMode="External"/><Relationship Id="rId3" Type="http://schemas.openxmlformats.org/officeDocument/2006/relationships/hyperlink" Target="https://docs.openhands.dev/sdk/guides/mcp" TargetMode="External"/><Relationship Id="rId2" Type="http://schemas.openxmlformats.org/officeDocument/2006/relationships/hyperlink" Target="https://docs.openhands.dev/sdk/guides/persistent-memory" TargetMode="External"/><Relationship Id="rId10" Type="http://schemas.openxmlformats.org/officeDocument/2006/relationships/notesSlide" Target="../notesSlides/notesSlide38.xml"/><Relationship Id="rId1" Type="http://schemas.openxmlformats.org/officeDocument/2006/relationships/hyperlink" Target="https://docs.openhands.dev/sdk/guides/context-condenser" TargetMode="Externa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effective-context-engineering-for-ai-agents" TargetMode="External"/><Relationship Id="rId1" Type="http://schemas.openxmlformats.org/officeDocument/2006/relationships/hyperlink" Target="https://arxiv.org/abs/2512.13564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Agent Memory</a:t>
            </a:r>
            <a:r>
              <a:rPr lang="en-US" altLang="zh-CN" dirty="0"/>
              <a:t> </a:t>
            </a:r>
            <a:r>
              <a:rPr lang="zh-CN" altLang="en-US" dirty="0"/>
              <a:t>与工具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50"/>
            </a:pPr>
            <a:r>
              <a:rPr lang="en-US" altLang="zh-CN" dirty="0">
                <a:sym typeface="+mn-ea"/>
              </a:rPr>
              <a:t>Agent Memory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File / Python / Search Tool 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 MCP</a:t>
            </a:r>
            <a:endParaRPr lang="en-US" altLang="zh-CN" dirty="0">
              <a:sym typeface="+mn-ea"/>
            </a:endParaRPr>
          </a:p>
          <a:p>
            <a:pPr>
              <a:defRPr sz="2250"/>
            </a:pPr>
            <a:r>
              <a:rPr lang="en-US" altLang="zh-CN" dirty="0">
                <a:sym typeface="+mn-ea"/>
              </a:rPr>
              <a:t>2026 年 10 月 8 日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从问题背景进入方法与系统设计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904875" y="20383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sz="33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1971675" y="2038350"/>
            <a:ext cx="466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Memory</a:t>
            </a:r>
            <a:endParaRPr sz="28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1971675" y="2676525"/>
            <a:ext cx="4667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</a:t>
            </a: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瓶颈、方法设计与系统架构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04875" y="390271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33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1971675" y="3902710"/>
            <a:ext cx="466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5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5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File / Python / Search</a:t>
            </a:r>
            <a:r>
              <a:rPr lang="en-US" sz="25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Tool</a:t>
            </a:r>
            <a:endParaRPr lang="en-US" sz="25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1971675" y="4540885"/>
            <a:ext cx="4667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能力架构与应用场景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7058025" y="20383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33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8124825" y="203835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 概念</a:t>
            </a:r>
            <a:endParaRPr sz="28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/>
        </p:nvSpPr>
        <p:spPr>
          <a:xfrm>
            <a:off x="8124825" y="267652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连接架构与服务复用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body-9"/>
          <p:cNvSpPr>
            <a:spLocks noGrp="1"/>
          </p:cNvSpPr>
          <p:nvPr/>
        </p:nvSpPr>
        <p:spPr>
          <a:xfrm>
            <a:off x="7058025" y="390271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3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33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body-10"/>
          <p:cNvSpPr>
            <a:spLocks noGrp="1"/>
          </p:cNvSpPr>
          <p:nvPr/>
        </p:nvSpPr>
        <p:spPr>
          <a:xfrm>
            <a:off x="8124825" y="3902710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4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课程小结</a:t>
            </a:r>
            <a:endParaRPr sz="24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body-11"/>
          <p:cNvSpPr>
            <a:spLocks noGrp="1"/>
          </p:cNvSpPr>
          <p:nvPr/>
        </p:nvSpPr>
        <p:spPr>
          <a:xfrm>
            <a:off x="8124825" y="454088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回顾主要机制与应用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课程概览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记忆、工具与连接协议分别解决不同问题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753" y="1838325"/>
            <a:ext cx="9646495" cy="3857625"/>
          </a:xfrm>
          <a:prstGeom prst="rect">
            <a:avLst/>
          </a:prstGeom>
        </p:spPr>
      </p:pic>
      <p:sp>
        <p:nvSpPr>
          <p:cNvPr id="106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来源：CoALA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；MCP架构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长期任务带来的记忆瓶颈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一个修复任务结束后，哪些信息能帮助下一次工作？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4310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上下文不断增长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533775" y="194310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多轮读文件、测试和修改产生大量历史，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全部重放的输入成本与干扰持续增加。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248025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任务需要跨会话延续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533775" y="3248025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重新开始一个会话后，模型无法自动获得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先前发现的项目约束和失败经验。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55295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信息本身会变化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533775" y="455295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新的版本和新证据可能推翻旧结论，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只追加记录会让矛盾与过时信息不断累积。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来源：Agent Memory综述v2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；Anthropic上下文工程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理论视角：CoALA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CoALA 用功能区分事实、经历、方法和当前状态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61558"/>
            <a:ext cx="5924550" cy="2924164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34200" y="1809750"/>
            <a:ext cx="46005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工作记忆  Working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34200" y="2200275"/>
            <a:ext cx="46005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当前目标、待处理错误、最近观察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34200" y="2781300"/>
            <a:ext cx="46005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语义记忆  Semantic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934200" y="3171825"/>
            <a:ext cx="46005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关于项目或者世界的事实</a:t>
            </a:r>
            <a:endParaRPr lang="zh-CN"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934200" y="3705225"/>
            <a:ext cx="46005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情节记忆  Episodic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34200" y="4095750"/>
            <a:ext cx="4600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过去发生的具体经历，</a:t>
            </a: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某次修复采取了什么行动、结果如何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934200" y="4896485"/>
            <a:ext cx="46005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程序性记忆  Procedural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934200" y="5287010"/>
            <a:ext cx="4600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系统如何执行和决策，</a:t>
            </a: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可执行的处理过程、代码和模型参数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来源：CoALA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记忆系统的整体流程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保存什么、如何读取、何时失效，都需要决策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b="15421"/>
          <a:stretch>
            <a:fillRect/>
          </a:stretch>
        </p:blipFill>
        <p:spPr>
          <a:xfrm>
            <a:off x="1189355" y="1957705"/>
            <a:ext cx="9813290" cy="331914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7435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一条项目约定从出现到失效，会经过多次选择与修正。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来源：Agent Memory综述v2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；Mem0论文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记忆架构要作出的选择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同一份历史，可以产生不同的系统设计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04216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何时加工历史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33775" y="204216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写入时先整理，后续读取更直接。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读取时再分析，能适配任务但增加当前开销。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3171825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保留哪一种信息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33775" y="3171825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保存摘要，方便恢复“目前做到哪里”。</a:t>
            </a:r>
            <a:endParaRPr lang="zh-CN" altLang="en-US"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保存事实，方便沿用项目约束。</a:t>
            </a:r>
            <a:endParaRPr lang="zh-CN" altLang="en-US"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保存执行经历，方便理解“试过什么、为什么没有奏效”。</a:t>
            </a:r>
            <a:endParaRPr lang="zh-CN" altLang="en-US"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保存形式应服务于未来怎样使用信息。</a:t>
            </a:r>
            <a:endParaRPr lang="zh-CN" altLang="en-US"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497205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由谁控制读写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33775" y="497205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固定策略易预测，模型决策更灵活。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实际系统常把两者组合起来。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来源：Agent Memory综述v2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；CoALA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MemGPT：容量瓶颈与分层思路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让有限窗口的模型，能够按需使用窗口之外的信息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问题背景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长期对话和大文档超过窗口。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不断丢弃旧消息，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会损失后续需要的细节。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方法设计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借鉴操作系统的分层存储。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当前窗口保留活跃信息，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外部存储保留更长的历史，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通过函数把信息移回窗口。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外部存储扩大可保存的信息量，真正参与推理的内容仍受窗口限制。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来源：MemGPT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MemGPT：架构与控制流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模型通过函数在当前上下文与外部存储之间移动信息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290" y="1824355"/>
            <a:ext cx="9548920" cy="34956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3911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当前上下文：系统指令、可写工作区、消息队列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外部存储：历史对话与归档信息，需要时再读取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来源：MemGPT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Mem0：冗长对话中的有效事实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直接检索原始对话，往往带回大量与当前问题无关的内容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问题背景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用户事实分散在多次交互中，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可能重复、补充或相互矛盾。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每次从整段对话重新推断，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既消耗输入，也容易遗漏变化。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方法设计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从新交互中</a:t>
            </a: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抽取候选事实，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再与相关的已有记忆比较。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写入时完成部分整理，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后续按更紧凑的条目检索。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设计重点落在“写入之前怎样整理”，更新机制影响后续回答质量。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来源：Mem0论文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；Mem0 开源项目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Mem0：抽取与更新架构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新对话先产生候选事实，再与已有记忆比较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933575"/>
            <a:ext cx="8398510" cy="35433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9117965" y="1976120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抽取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9117965" y="2547620"/>
            <a:ext cx="266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结合当前对话、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摘要和近期消息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117965" y="3804920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9117965" y="4376420"/>
            <a:ext cx="2237740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检索相似条目，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决定增、改、删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或保持不变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75056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检索单位从整段对话变成更紧凑的记忆条目。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来源：Mem0论文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；Mem0 开源项目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Reflexion：失败反馈的信息量不足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一次“失败”通常没有告诉 Agent 下一次应改变什么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问题背景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能看到任务失败，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却可能在下一次重试中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重复相同的无效决策。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稀疏反馈难以直接指导修改。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方法设计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结合执行轨迹与评估反馈，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生成可供下一次使用的反思。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把反思保存在经验记忆中，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通过上下文影响后续行动。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46798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Reflexion 在多次尝试间改进决策，原方法不通过梯度更新模型权重。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来源：Reflexion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；Reflexion作者代码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Reflexion：经验形成与再利用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后续尝试读取反思文本，模型权重保持不变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66" y="1790700"/>
            <a:ext cx="4318868" cy="38671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48375" y="1943100"/>
            <a:ext cx="5524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Actor：产生行动或程序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48375" y="2781300"/>
            <a:ext cx="552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Evaluator：依据结果给出反馈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48375" y="3648075"/>
            <a:ext cx="5524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Self-reflection：解释失败并提出修正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48375" y="4712970"/>
            <a:ext cx="5524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反思写入经验记忆，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下一次尝试把它作为上下文。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来源：Reflexion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；Reflexion作者代码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Reflexion 的关键限制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加入反思之后，系统仍然需要可靠的反馈和验证。</a:t>
            </a:r>
            <a:endParaRPr lang="zh-CN" altLang="en-US"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反馈质量决定经验是否值得保留</a:t>
            </a:r>
            <a:r>
              <a:rPr lang="zh-CN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50698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评估可能不充分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33775" y="250698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自生成测试只覆盖部分输入。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通过这些测试，并不能证明程序完全正确。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3728085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解释可能不正确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33775" y="3728085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失败是可观察的结果，失败原因需要推断。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错误归因写入记忆后，会影响后续尝试。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4956810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改进需要单独验证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33775" y="4956810"/>
            <a:ext cx="80200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比较相同模型、任务与尝试预算。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区分文本更像反思，和任务结果确实改善。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来源：Reflexion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1.6 Generative Agents：记忆驱动行为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观察记录、检索与反思共同影响后续行动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936" y="1838325"/>
            <a:ext cx="8532128" cy="320992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248275"/>
            <a:ext cx="32766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 Stream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保留观察与时间信息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4362450" y="5248275"/>
            <a:ext cx="32766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Retrieve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按当前情境选取记忆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115300" y="5248275"/>
            <a:ext cx="34575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Reflect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归纳较高层次的认识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来源：Generative Agents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；Generative Agents 代码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1.7 A-MEM：孤立条目的组织瓶颈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信息逐条保存以后，新的经历可能改变对旧经历的理解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问题背景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独立条目容易丢失信息之间的关联。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新信息到来时，只追加一个条目，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难以更新已有的知识组织。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方法设计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借鉴卡片笔记与关联组织。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先构造带语义信息的笔记，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寻找可能相关的历史笔记，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再建立联系并修订旧笔记。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963795"/>
            <a:ext cx="10972800" cy="11093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fontAlgn="auto">
              <a:lnSpc>
                <a:spcPct val="150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写入一条新记忆时，系统同时维护它与已有记忆的关系。</a:t>
            </a:r>
            <a:endParaRPr lang="zh-CN" altLang="en-US"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维护对象包括记忆内容与关系，组织成本也随之增加。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来源：A-MEM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1.7 A-MEM：动态记忆组织架构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新笔记先找到邻近记忆，再生成链接和更新既有语义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360" y="1752600"/>
            <a:ext cx="8740775" cy="421132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1936115" y="6088380"/>
            <a:ext cx="7820025" cy="3829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构造笔记    相似检索筛选候选    模型判断联系    修订旧笔记    查询时检索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10555605" y="6029960"/>
            <a:ext cx="1299210" cy="3321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来源：A-MEM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 OpenHands：开源的软件开发 Agent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模型在代码仓库中读取文件、修改代码并运行验证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vision-0"/>
          <p:cNvSpPr>
            <a:spLocks noGrp="1"/>
          </p:cNvSpPr>
          <p:nvPr/>
        </p:nvSpPr>
        <p:spPr>
          <a:xfrm>
            <a:off x="609600" y="2009775"/>
            <a:ext cx="5105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面向软件开发的开源平台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vision-1"/>
          <p:cNvSpPr>
            <a:spLocks noGrp="1"/>
          </p:cNvSpPr>
          <p:nvPr/>
        </p:nvSpPr>
        <p:spPr>
          <a:xfrm>
            <a:off x="609600" y="2571750"/>
            <a:ext cx="4927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可以围绕一个开发任务，读取仓库、修改文件、执行命令，再根据运行结果继续处理。</a:t>
            </a: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借助文件与执行工具操作工作区。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vision-2"/>
          <p:cNvSpPr>
            <a:spLocks noGrp="1"/>
          </p:cNvSpPr>
          <p:nvPr/>
        </p:nvSpPr>
        <p:spPr>
          <a:xfrm>
            <a:off x="609600" y="3962400"/>
            <a:ext cx="5105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应用与执行能力分开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609600" y="4486275"/>
            <a:ext cx="50673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GUI、CLI 和自定义应用共用 SDK。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SDK 组织 Agent 与工具，Workspace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提供本地或远程的工作环境。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2054028"/>
            <a:ext cx="5391150" cy="3816743"/>
          </a:xfrm>
          <a:prstGeom prst="rect">
            <a:avLst/>
          </a:prstGeom>
        </p:spPr>
      </p:pic>
      <p:sp>
        <p:nvSpPr>
          <p:cNvPr id="9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来源：OpenHands SDK 论文 Fig.1(b)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；OpenHands SDK 官方项目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 OpenHands：保留日志与选择上下文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长任务需要恢复完整执行历史，也需要控制每次模型输入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0" y="1809750"/>
            <a:ext cx="9491980" cy="379603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863590"/>
            <a:ext cx="62325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完整历史用于回溯与恢复，压缩后的视图用于本次决策。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8145780" y="6065520"/>
            <a:ext cx="3893820" cy="2171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来源：OpenHands SDK 论文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；OpenHands上下文压缩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 OpenHands：Condenser 的工作位置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较早事件形成摘要，近期交互继续保留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498" y="1752600"/>
            <a:ext cx="7475904" cy="40957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8724900" y="1952625"/>
            <a:ext cx="2847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724900" y="2457450"/>
            <a:ext cx="28479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历史超过阈值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724900" y="3267075"/>
            <a:ext cx="2847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压缩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724900" y="3771900"/>
            <a:ext cx="28479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概括较早内容，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保留关键信息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724900" y="4895850"/>
            <a:ext cx="2847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724900" y="5400675"/>
            <a:ext cx="284797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摘要与近期内容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共同进入模型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来源：OpenHands上下文压缩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；OpenHands官方压缩示例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 OpenHands：跨会话记忆设计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整理记忆文件，系统在新会话中重新加载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vision-0"/>
          <p:cNvSpPr>
            <a:spLocks noGrp="1"/>
          </p:cNvSpPr>
          <p:nvPr/>
        </p:nvSpPr>
        <p:spPr>
          <a:xfrm>
            <a:off x="609600" y="1924050"/>
            <a:ext cx="5353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写入：任务中的经验留在磁盘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vision-1"/>
          <p:cNvSpPr>
            <a:spLocks noGrp="1"/>
          </p:cNvSpPr>
          <p:nvPr/>
        </p:nvSpPr>
        <p:spPr>
          <a:xfrm>
            <a:off x="609600" y="2352675"/>
            <a:ext cx="53149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关键事实写入 MEMORY.md。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详细经过保存在工作笔记中。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vision-2"/>
          <p:cNvSpPr>
            <a:spLocks noGrp="1"/>
          </p:cNvSpPr>
          <p:nvPr/>
        </p:nvSpPr>
        <p:spPr>
          <a:xfrm>
            <a:off x="609600" y="3390900"/>
            <a:ext cx="5353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读入：新会话自动获得关键事实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609600" y="3819525"/>
            <a:ext cx="53530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系统加载用户级与项目级索引。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需要详情时，Agent 再用文件工具查阅。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609600" y="4905375"/>
            <a:ext cx="5334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维护：Agent 合并重复、清理过时内容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vision-5"/>
          <p:cNvSpPr>
            <a:spLocks noGrp="1"/>
          </p:cNvSpPr>
          <p:nvPr/>
        </p:nvSpPr>
        <p:spPr>
          <a:xfrm>
            <a:off x="609600" y="5314950"/>
            <a:ext cx="533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质量依赖持续整理。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vision-6"/>
          <p:cNvSpPr>
            <a:spLocks noGrp="1"/>
          </p:cNvSpPr>
          <p:nvPr/>
        </p:nvSpPr>
        <p:spPr>
          <a:xfrm>
            <a:off x="6429375" y="19526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进入系统提示的记忆片段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 l="29328" t="67556" r="32174" b="15309"/>
          <a:stretch>
            <a:fillRect/>
          </a:stretch>
        </p:blipFill>
        <p:spPr>
          <a:xfrm>
            <a:off x="6429375" y="2665680"/>
            <a:ext cx="5143500" cy="1288515"/>
          </a:xfrm>
          <a:prstGeom prst="rect">
            <a:avLst/>
          </a:prstGeom>
        </p:spPr>
      </p:pic>
      <p:sp>
        <p:nvSpPr>
          <p:cNvPr id="12" name="revision-8"/>
          <p:cNvSpPr>
            <a:spLocks noGrp="1"/>
          </p:cNvSpPr>
          <p:nvPr/>
        </p:nvSpPr>
        <p:spPr>
          <a:xfrm>
            <a:off x="6429375" y="4295775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用户偏好：使用 uv 管理 Python 工具。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项目事实：API 采用游标分页。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evision-9"/>
          <p:cNvSpPr>
            <a:spLocks noGrp="1"/>
          </p:cNvSpPr>
          <p:nvPr/>
        </p:nvSpPr>
        <p:spPr>
          <a:xfrm>
            <a:off x="6429375" y="552450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6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用户偏好跨项目复用，项目知识限定当前仓库。</a:t>
            </a:r>
            <a:endParaRPr sz="16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bottom-note"/>
          <p:cNvSpPr>
            <a:spLocks noGrp="1"/>
          </p:cNvSpPr>
          <p:nvPr/>
        </p:nvSpPr>
        <p:spPr>
          <a:xfrm>
            <a:off x="609600" y="59721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4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官方示例：会话 1 保存“本项目使用 uv”，全新会话 2 读取该决策。持久记忆需显式启用。</a:t>
            </a:r>
            <a:endParaRPr sz="14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来源：OpenHands Persistent Memory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；官方跨会话示例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1.9 工业界的落地方式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Claude Code：让人工约定与自动积累的经验共同进入新会话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vision-0"/>
          <p:cNvSpPr>
            <a:spLocks noGrp="1"/>
          </p:cNvSpPr>
          <p:nvPr/>
        </p:nvSpPr>
        <p:spPr>
          <a:xfrm>
            <a:off x="609600" y="200025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自动记忆保存在项目对应的文件中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l="29565" t="44803" r="54704" b="41854"/>
          <a:stretch>
            <a:fillRect/>
          </a:stretch>
        </p:blipFill>
        <p:spPr>
          <a:xfrm>
            <a:off x="1082675" y="3004185"/>
            <a:ext cx="3136900" cy="1497330"/>
          </a:xfrm>
          <a:prstGeom prst="rect">
            <a:avLst/>
          </a:prstGeom>
        </p:spPr>
      </p:pic>
      <p:sp>
        <p:nvSpPr>
          <p:cNvPr id="6" name="revision-2"/>
          <p:cNvSpPr>
            <a:spLocks noGrp="1"/>
          </p:cNvSpPr>
          <p:nvPr/>
        </p:nvSpPr>
        <p:spPr>
          <a:xfrm>
            <a:off x="914400" y="4962525"/>
            <a:ext cx="4286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官方目录片段</a:t>
            </a:r>
            <a:endParaRPr sz="12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609600" y="5381625"/>
            <a:ext cx="523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MEMORY.md 提供索引，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主题文件保留具体经验。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6429375" y="20002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人工约定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vision-5"/>
          <p:cNvSpPr>
            <a:spLocks noGrp="1"/>
          </p:cNvSpPr>
          <p:nvPr/>
        </p:nvSpPr>
        <p:spPr>
          <a:xfrm>
            <a:off x="6429375" y="2438400"/>
            <a:ext cx="5105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CLAUDE.md 保存团队明确写下的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项目要求和工作约定。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vision-6"/>
          <p:cNvSpPr>
            <a:spLocks noGrp="1"/>
          </p:cNvSpPr>
          <p:nvPr/>
        </p:nvSpPr>
        <p:spPr>
          <a:xfrm>
            <a:off x="6429375" y="34861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自动经验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vision-7"/>
          <p:cNvSpPr>
            <a:spLocks noGrp="1"/>
          </p:cNvSpPr>
          <p:nvPr/>
        </p:nvSpPr>
        <p:spPr>
          <a:xfrm>
            <a:off x="6429375" y="3924300"/>
            <a:ext cx="5105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Claude 在工作中记录用户纠正、偏好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与项目中积累的经验。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vision-8"/>
          <p:cNvSpPr>
            <a:spLocks noGrp="1"/>
          </p:cNvSpPr>
          <p:nvPr/>
        </p:nvSpPr>
        <p:spPr>
          <a:xfrm>
            <a:off x="6429375" y="49720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新会话如何复用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revision-9"/>
          <p:cNvSpPr>
            <a:spLocks noGrp="1"/>
          </p:cNvSpPr>
          <p:nvPr/>
        </p:nvSpPr>
        <p:spPr>
          <a:xfrm>
            <a:off x="6429375" y="5410200"/>
            <a:ext cx="51054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启动时加载简短索引，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相关主题文件由文件工具按需读取。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来源：Claude Code 官方记忆文档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1.9 AgentCore：异步提取与记忆整合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把原始交互加工成可检索的长期记录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802" y="1847850"/>
            <a:ext cx="9758395" cy="2952750"/>
          </a:xfrm>
          <a:prstGeom prst="rect">
            <a:avLst/>
          </a:prstGeom>
        </p:spPr>
      </p:pic>
      <p:sp>
        <p:nvSpPr>
          <p:cNvPr id="5" name="revision-1"/>
          <p:cNvSpPr>
            <a:spLocks noGrp="1"/>
          </p:cNvSpPr>
          <p:nvPr/>
        </p:nvSpPr>
        <p:spPr>
          <a:xfrm>
            <a:off x="609600" y="5086350"/>
            <a:ext cx="5095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提取在后台进行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vision-2"/>
          <p:cNvSpPr>
            <a:spLocks noGrp="1"/>
          </p:cNvSpPr>
          <p:nvPr/>
        </p:nvSpPr>
        <p:spPr>
          <a:xfrm>
            <a:off x="609600" y="5524500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会话事件触发异步处理，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不同策略分别抽取事实、偏好等内容。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6419850" y="5086350"/>
            <a:ext cx="5162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新记忆先与旧记录整合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6419850" y="5524500"/>
            <a:ext cx="51625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检索相似旧记录后决定新增、更新或跳过，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失效记录保留审计历史。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来源：AWS 官方长期记忆架构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；AgentCore Memory 官方文档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1.10 研究进展：从回忆到后续任务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Graphiti：增加时间有效性，保留事实的变化历史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revision-0"/>
          <p:cNvSpPr>
            <a:spLocks noGrp="1"/>
          </p:cNvSpPr>
          <p:nvPr/>
        </p:nvSpPr>
        <p:spPr>
          <a:xfrm>
            <a:off x="609600" y="2009775"/>
            <a:ext cx="5314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示意</a:t>
            </a:r>
            <a:r>
              <a:rPr lang="zh-CN"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：事实有有效区间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2451" t="16573" r="53676" b="55618"/>
          <a:stretch>
            <a:fillRect/>
          </a:stretch>
        </p:blipFill>
        <p:spPr>
          <a:xfrm>
            <a:off x="623888" y="2457450"/>
            <a:ext cx="5286375" cy="18859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l="2451" t="75983" r="53676" b="2107"/>
          <a:stretch>
            <a:fillRect/>
          </a:stretch>
        </p:blipFill>
        <p:spPr>
          <a:xfrm>
            <a:off x="623888" y="4543425"/>
            <a:ext cx="5286375" cy="1485900"/>
          </a:xfrm>
          <a:prstGeom prst="rect">
            <a:avLst/>
          </a:prstGeom>
        </p:spPr>
      </p:pic>
      <p:sp>
        <p:nvSpPr>
          <p:cNvPr id="7" name="revision-3"/>
          <p:cNvSpPr>
            <a:spLocks noGrp="1"/>
          </p:cNvSpPr>
          <p:nvPr/>
        </p:nvSpPr>
        <p:spPr>
          <a:xfrm>
            <a:off x="6543675" y="2009775"/>
            <a:ext cx="5029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两条时间线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6543675" y="2428875"/>
            <a:ext cx="50292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事实在现实中何时成立，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与系统何时获知这件事分别记录。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vision-5"/>
          <p:cNvSpPr>
            <a:spLocks noGrp="1"/>
          </p:cNvSpPr>
          <p:nvPr/>
        </p:nvSpPr>
        <p:spPr>
          <a:xfrm>
            <a:off x="6543675" y="3514725"/>
            <a:ext cx="5029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新事实使旧关系失效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vision-6"/>
          <p:cNvSpPr>
            <a:spLocks noGrp="1"/>
          </p:cNvSpPr>
          <p:nvPr/>
        </p:nvSpPr>
        <p:spPr>
          <a:xfrm>
            <a:off x="6543675" y="3933825"/>
            <a:ext cx="50292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保留旧关系及有效区间，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支持按当前或历史时点查询。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revision-7"/>
          <p:cNvSpPr>
            <a:spLocks noGrp="1"/>
          </p:cNvSpPr>
          <p:nvPr/>
        </p:nvSpPr>
        <p:spPr>
          <a:xfrm>
            <a:off x="6543675" y="5019675"/>
            <a:ext cx="5029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相较 A-MEM 的侧重点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vision-8"/>
          <p:cNvSpPr>
            <a:spLocks noGrp="1"/>
          </p:cNvSpPr>
          <p:nvPr/>
        </p:nvSpPr>
        <p:spPr>
          <a:xfrm>
            <a:off x="6543675" y="5438775"/>
            <a:ext cx="5029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A-MEM 侧重笔记之间的语义组织，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Graphiti 显式建模关系随时间的变化。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9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来源：Graphiti 官方时间与更新示意</a:t>
            </a:r>
            <a:r>
              <a:rPr sz="9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；Zep / Graphiti 论文 §2.2.3</a:t>
            </a:r>
            <a:r>
              <a:rPr sz="9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；Graphiti 官方项目</a:t>
            </a:r>
            <a:r>
              <a:rPr sz="9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；A-MEM 论文</a:t>
            </a:r>
            <a:endParaRPr sz="9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5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1.11 LoCoMo-Plus：隐含约束是否被使用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新的问题可能与旧线索措辞不同，但回答仍需符合此前目标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20733"/>
            <a:ext cx="4076700" cy="3788084"/>
          </a:xfrm>
          <a:prstGeom prst="rect">
            <a:avLst/>
          </a:prstGeom>
        </p:spPr>
      </p:pic>
      <p:sp>
        <p:nvSpPr>
          <p:cNvPr id="5" name="revision-1"/>
          <p:cNvSpPr>
            <a:spLocks noGrp="1"/>
          </p:cNvSpPr>
          <p:nvPr/>
        </p:nvSpPr>
        <p:spPr>
          <a:xfrm>
            <a:off x="5286375" y="1981200"/>
            <a:ext cx="628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论文中的例子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vision-2"/>
          <p:cNvSpPr>
            <a:spLocks noGrp="1"/>
          </p:cNvSpPr>
          <p:nvPr/>
        </p:nvSpPr>
        <p:spPr>
          <a:xfrm>
            <a:off x="5286375" y="2409825"/>
            <a:ext cx="62865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先前：正在准备重要考试，希望减少干扰。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后来：要不要开始追一部热门新剧？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5286375" y="3514725"/>
            <a:ext cx="628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构造上的变化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5286375" y="3943350"/>
            <a:ext cx="62865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让旧线索与新问题保持较低语义相似度，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并插入长对话中的时间间隔与无关内容。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vision-5"/>
          <p:cNvSpPr>
            <a:spLocks noGrp="1"/>
          </p:cNvSpPr>
          <p:nvPr/>
        </p:nvSpPr>
        <p:spPr>
          <a:xfrm>
            <a:off x="5286375" y="4991100"/>
            <a:ext cx="6286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评价上的变化</a:t>
            </a:r>
            <a:endParaRPr sz="210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vision-6"/>
          <p:cNvSpPr>
            <a:spLocks noGrp="1"/>
          </p:cNvSpPr>
          <p:nvPr/>
        </p:nvSpPr>
        <p:spPr>
          <a:xfrm>
            <a:off x="5286375" y="5419725"/>
            <a:ext cx="62865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判断回答是否符合历史约束，允许多种合理表达。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不预先提示模型“这是记忆测试”。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来源：LoCoMo-Plus 论文 Fig.4、§4–5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/>
          <p:cNvSpPr>
            <a:spLocks noGrp="1"/>
          </p:cNvSpPr>
          <p:nvPr/>
        </p:nvSpPr>
        <p:spPr>
          <a:xfrm>
            <a:off x="285750" y="142875"/>
            <a:ext cx="109156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1.12 从瓶颈选择架构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1620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按记忆条目</a:t>
            </a:r>
            <a:r>
              <a:rPr lang="zh-CN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之间怎样</a:t>
            </a: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</a:t>
            </a:r>
            <a:r>
              <a:rPr lang="zh-CN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来讨论不同方案</a:t>
            </a: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，分析不同架构的能力与代价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374" y="2133600"/>
            <a:ext cx="6203723" cy="3486150"/>
          </a:xfrm>
          <a:prstGeom prst="rect">
            <a:avLst/>
          </a:prstGeom>
        </p:spPr>
      </p:pic>
      <p:sp>
        <p:nvSpPr>
          <p:cNvPr id="5" name="revision-1"/>
          <p:cNvSpPr>
            <a:spLocks noGrp="1"/>
          </p:cNvSpPr>
          <p:nvPr/>
        </p:nvSpPr>
        <p:spPr>
          <a:xfrm>
            <a:off x="7210425" y="1933575"/>
            <a:ext cx="4371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独立条目：轻量追加与检索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vision-2"/>
          <p:cNvSpPr>
            <a:spLocks noGrp="1"/>
          </p:cNvSpPr>
          <p:nvPr/>
        </p:nvSpPr>
        <p:spPr>
          <a:xfrm>
            <a:off x="7210425" y="2371725"/>
            <a:ext cx="437197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组织成本低，便于积累经历。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缺少显式关系，关联推理依赖检索质量。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vision-3"/>
          <p:cNvSpPr>
            <a:spLocks noGrp="1"/>
          </p:cNvSpPr>
          <p:nvPr/>
        </p:nvSpPr>
        <p:spPr>
          <a:xfrm>
            <a:off x="7210425" y="3486150"/>
            <a:ext cx="4371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单层结构：树或图连接记忆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vision-4"/>
          <p:cNvSpPr>
            <a:spLocks noGrp="1"/>
          </p:cNvSpPr>
          <p:nvPr/>
        </p:nvSpPr>
        <p:spPr>
          <a:xfrm>
            <a:off x="7210425" y="3924300"/>
            <a:ext cx="43719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支持沿关系查找信息。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建图、维护与搜索引入额外成本。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revision-5"/>
          <p:cNvSpPr>
            <a:spLocks noGrp="1"/>
          </p:cNvSpPr>
          <p:nvPr/>
        </p:nvSpPr>
        <p:spPr>
          <a:xfrm>
            <a:off x="7210425" y="4914900"/>
            <a:ext cx="43719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多层结构：跨粒度组织信息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revision-6"/>
          <p:cNvSpPr>
            <a:spLocks noGrp="1"/>
          </p:cNvSpPr>
          <p:nvPr/>
        </p:nvSpPr>
        <p:spPr>
          <a:xfrm>
            <a:off x="7210425" y="5353050"/>
            <a:ext cx="43719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支持细节与高层概括之间的检索。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2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结构更复杂，需维护跨层语义一致性。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citation"/>
          <p:cNvSpPr>
            <a:spLocks noGrp="1"/>
          </p:cNvSpPr>
          <p:nvPr/>
        </p:nvSpPr>
        <p:spPr>
          <a:xfrm>
            <a:off x="609600" y="6248400"/>
            <a:ext cx="10934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来源：Agent Memory 综述 v2，§3.1、Fig.3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File Tool：把项目环境变成可观察对象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需要定位并读取工作区，才能理解和验证修改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能力层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查找文件与相关内容。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读取代码、配置与数据。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在允许范围内编辑文件。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修复问题时，先定位实现，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再读取相关测试和配置。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工具返回当前环境中的证据，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支撑模型选择下一步行动。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设计重点是任务需要的访问粒度，以及结果是否足以支持下一步。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来源：MCP Filesystem参考服务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；Anthropic工具设计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Python Tool：把推理中的步骤交给执行环境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模型生成</a:t>
            </a:r>
            <a:r>
              <a:rPr lang="zh-CN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要执行的</a:t>
            </a: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程序，运行</a:t>
            </a:r>
            <a:r>
              <a:rPr lang="zh-CN"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环境完成计算，再把结果交回给模型。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能力设计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可执行代码承载变量、循环，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组合已有工具与计算库。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执行器返回结果、错误或产物，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模型据此继续任务。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分析批量执行记录。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转换与核对结构化数据。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运行最小验证和测试。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执行能力取决于环境与权限。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语言模型选择计算过程，执行环境负责实际计算与状态变化。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来源：CodeAct · ICML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；smolagents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；smolagents 执行环境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CodeAct：代码作为组合动作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循环和变量可以把多次工具操作组织成一个程序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011" y="1752600"/>
            <a:ext cx="9477978" cy="40005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8578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论文示例：比较多个国家的商品总价，代码负责循环、传值与取最小值。</a:t>
            </a:r>
            <a:endParaRPr sz="18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来源：CodeAct · ICML 2024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 Search Tool：把外部知识引入当前任务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当前项目需要的知识，可能没有出现在训练数据或本地文件中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能力架构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4991735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发现来源：</a:t>
            </a: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搜索服务发现候选来源。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读取材料：</a:t>
            </a: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内容读取获取原始材料</a:t>
            </a:r>
            <a:r>
              <a:rPr lang="zh-CN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结合项目版本和实际环境，判断是否适用</a:t>
            </a: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模型结合来源形成结论。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升级依赖时查官方变更记录。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遇到新报错时查相关文档。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版本与来源决定材料是否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适用于当前项目。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38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搜索负责找到材料，可靠结论还需要正文、当前环境与执行结果。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来源：Tavily Search接口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；Anthropic工具设计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 工具组合：从材料到验证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一次结论，需要外部文档与本地验证共同支撑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33575"/>
            <a:ext cx="5105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 先确认项目现状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628900"/>
            <a:ext cx="51054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File 读取锁文件与调用位置，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确定当前版本和受影响的代码。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48425" y="1933575"/>
            <a:ext cx="51149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  再确认公开变化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48425" y="2628900"/>
            <a:ext cx="51149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Search 找到官方升级说明，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核对需要调整的接口。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219575"/>
            <a:ext cx="5105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 用执行结果验证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4914900"/>
            <a:ext cx="51054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运行最小检查与相关测试，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观察当前环境中的实际行为。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448425" y="4219575"/>
            <a:ext cx="51149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 给出有范围的结论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448425" y="4914900"/>
            <a:ext cx="511492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说明文档依据、验证条件，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以及还没有检查的部分。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教学场景：依赖升级核对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来源：CodeAct · ICML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；GAIA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MCP：多服务接入的共同协议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同一个编码应用，可能需要接入许多外部服务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81200"/>
            <a:ext cx="514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一个代码审查任务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71775"/>
            <a:ext cx="5143500" cy="1743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读取仓库中的 Issue，</a:t>
            </a:r>
            <a:endParaRPr sz="23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查内部文档，</a:t>
            </a:r>
            <a:endParaRPr sz="23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再获取持续集成的执行结果。</a:t>
            </a:r>
            <a:endParaRPr sz="23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3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2325" b="1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如果每个应用都分别实现一套接入方式，适配工作会重复。</a:t>
            </a:r>
            <a:endParaRPr lang="zh-CN" altLang="en-US" sz="2325" b="1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48425" y="1981200"/>
            <a:ext cx="51149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MCP：Model Context Protocol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48425" y="2971800"/>
            <a:ext cx="5114925" cy="2400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服务按共同协议暴露能力，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应用发现并调用这些能力。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00"/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模型仍通过工具描述提出动作，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应用控制实际调用。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6197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Function Calling 负责表达调用意图，MCP 支持应用连接外部服务。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来源：MCP规范2026-07-28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；MCP架构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MCP 的连接架构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连接逻辑在应用中，具体能力由服务提供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28475"/>
            <a:ext cx="10972800" cy="36201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6388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Host 管理交互与执行控制；Client 负责协议交互；Server 暴露能力。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来源：Hugging Face MCP 架构图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；MCP架构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服务可以暴露哪些能力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动作、上下文资源和提示模板具有不同用途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57375"/>
          <a:ext cx="10972800" cy="2762250"/>
        </p:xfrm>
        <a:graphic>
          <a:graphicData uri="http://schemas.openxmlformats.org/drawingml/2006/table">
            <a:tbl>
              <a:tblPr/>
              <a:tblGrid>
                <a:gridCol w="1975485"/>
                <a:gridCol w="4330700"/>
                <a:gridCol w="4666615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能力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用途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仓库场景中的概念例子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Tools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可调用的操作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查询 Issue、搜索代码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Resources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可读取的上下文资源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项目说明、指定文档内容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Prompts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可复用且可参数化的提示模板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按给定范围组织代码审查任务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257800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实际可用能力取决于 Host 与 Server 的支持，不要求每个服务同时提供三类。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来源：MCP规范2026-07-28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OpenHands 中的 MCP 接入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应用发现服务能力，模型选择动作，服务执行并返回结果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71675"/>
            <a:ext cx="5181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接入后的工作过程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81300"/>
            <a:ext cx="51816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Host 发现服务提供的工具。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把能力描述提供给模型。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把选中的调用交给服务。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把返回结果交回模型。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57950" y="1971675"/>
            <a:ext cx="5105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公开项目例子</a:t>
            </a:r>
            <a:endParaRPr sz="22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57950" y="2781300"/>
            <a:ext cx="51054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OpenHands 可接入 fetch 服务，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读取已知 URL 的内容。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175"/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GitHub MCP Server 提供仓库、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Issue 等相关能力。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590550" y="5193030"/>
            <a:ext cx="10972800" cy="7639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 统一连接方式，</a:t>
            </a:r>
            <a:r>
              <a:rPr lang="zh-CN" altLang="en-US">
                <a:sym typeface="+mn-ea"/>
              </a:rPr>
              <a:t>让外部能力进入 </a:t>
            </a:r>
            <a:r>
              <a:rPr lang="en-US" altLang="zh-CN">
                <a:sym typeface="+mn-ea"/>
              </a:rPr>
              <a:t>Agent </a:t>
            </a:r>
            <a:r>
              <a:rPr lang="zh-CN" altLang="en-US">
                <a:sym typeface="+mn-ea"/>
              </a:rPr>
              <a:t>的工具体系，</a:t>
            </a:r>
            <a:endParaRPr lang="zh-CN" altLang="en-US">
              <a:sym typeface="+mn-ea"/>
            </a:endParaRPr>
          </a:p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而如何选择工具、组织上下文和判断任务是否完成，即</a:t>
            </a:r>
            <a:r>
              <a:rPr>
                <a:sym typeface="+mn-ea"/>
              </a:rPr>
              <a:t>任务策略与执行控制</a:t>
            </a:r>
            <a:r>
              <a:rPr lang="zh-CN" altLang="en-US"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仍由 </a:t>
            </a:r>
            <a:r>
              <a:rPr lang="en-US" altLang="zh-CN"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 </a:t>
            </a:r>
            <a:r>
              <a:rPr lang="zh-CN" altLang="en-US"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负责。</a:t>
            </a:r>
            <a:endParaRPr lang="zh-CN" altLang="en-US"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来源：OpenHands MCP指南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；GitHub MCP Server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；MCP架构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课程小结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从记忆管理、环境交互到服务连接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33905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Memory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4375785" y="2033905"/>
            <a:ext cx="65786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围绕容量、信息变化与经验复用设计读写路径，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使过去的信息能够改善后续决策。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338830"/>
            <a:ext cx="347789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File / Python / Search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4375785" y="3338830"/>
            <a:ext cx="65786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提供对环境的观察与执行能力，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把模型判断连接到可检查的材料和结果。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643755"/>
            <a:ext cx="27146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</a:t>
            </a:r>
            <a:endParaRPr sz="217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4375785" y="4643755"/>
            <a:ext cx="65786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让应用以共同协议接入外部能力。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下一次课程继续学习 Knowledge 与 RAG。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参考资料：相关论文</a:t>
            </a:r>
            <a:endParaRPr lang="zh-CN"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59639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CoALA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4191000" y="1596390"/>
            <a:ext cx="7391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Figure 4、§4.1：认知架构与记忆功能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2396490"/>
            <a:ext cx="3429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Generative Agents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4191000" y="2396490"/>
            <a:ext cx="7391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Figure 5、§4.1–4.2：检索、记忆流与反思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319659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MemGPT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4191000" y="3196590"/>
            <a:ext cx="7391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Figure 3、§2：分层存储与上下文管理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399669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Mem0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4191000" y="3996690"/>
            <a:ext cx="7391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Figure 2 与更新机制：事实提取与维护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/>
        </p:nvSpPr>
        <p:spPr>
          <a:xfrm>
            <a:off x="609600" y="479679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Reflexion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body-9"/>
          <p:cNvSpPr>
            <a:spLocks noGrp="1"/>
          </p:cNvSpPr>
          <p:nvPr/>
        </p:nvSpPr>
        <p:spPr>
          <a:xfrm>
            <a:off x="4191000" y="4796790"/>
            <a:ext cx="73914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Figure 2、编程任务部分：反馈如何影响后续尝试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citation"/>
          <p:cNvSpPr>
            <a:spLocks noGrp="1"/>
          </p:cNvSpPr>
          <p:nvPr/>
        </p:nvSpPr>
        <p:spPr>
          <a:xfrm>
            <a:off x="609600" y="5784850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来源：CoALA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；Generative Agents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；MemGPT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；Mem0论文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；Reflexion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5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资料：开源项目与官方文档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1047115" y="1971675"/>
            <a:ext cx="492696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OpenHands SDK</a:t>
            </a:r>
            <a:r>
              <a:rPr lang="zh-CN"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sz="23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1047115" y="2714625"/>
            <a:ext cx="4926965" cy="20561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 Condenser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Persistent Memory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</a:t>
            </a:r>
            <a:endParaRPr sz="22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77000" y="19716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</a:t>
            </a:r>
            <a:r>
              <a:rPr lang="zh-CN"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sz="23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77000" y="2714625"/>
            <a:ext cx="5095875" cy="2676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Mem0 / Reflexion：论文对应实现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025"/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LongMemEval：任务类型与数据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sz="2025"/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MCP / GitHub MCP Server：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协议能力与真实服务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57245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来源：OpenHands上下文压缩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；OpenHands持久记忆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；OpenHands MCP指南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；Mem0 开源项目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；Reflexion作者代码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；LongMemEval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；MCP规范2026-07-28</a:t>
            </a:r>
            <a:r>
              <a:rPr sz="8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；GitHub MCP Server</a:t>
            </a:r>
            <a:endParaRPr sz="82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拓展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：Memory 与</a:t>
            </a:r>
            <a:r>
              <a:rPr lang="zh-CN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相关机制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525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信息复用、计算复用和参数更新处于不同层面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57375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095750"/>
                <a:gridCol w="4781550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概念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主要操作对象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典型用途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显式 Memory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过去的交互、事实与经验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让历史信息影响后续任务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检索到的外部材料或记忆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为当前生成提供依据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Cache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推理过程中的键和值张量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减少重复的注意力计算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微调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模型参数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通过训练改变模型行为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5149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检索记忆可以采用 RAG 思路；显式记忆的写入通常不改变模型权重。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057900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来源：Agent Memory综述v2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；Anthropic上下文工程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2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3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4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5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6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7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8.xml><?xml version="1.0" encoding="utf-8"?>
<p:tagLst xmlns:p="http://schemas.openxmlformats.org/presentationml/2006/main">
  <p:tag name="KSO_WM_DIAGRAM_VIRTUALLY_FRAME" val="{&quot;height&quot;:318.05,&quot;left&quot;:546,&quot;top&quot;:142.5,&quot;width&quot;:362.25}"/>
</p:tagLst>
</file>

<file path=ppt/tags/tag9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0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1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2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3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4.xml><?xml version="1.0" encoding="utf-8"?>
<p:tagLst xmlns:p="http://schemas.openxmlformats.org/presentationml/2006/main">
  <p:tag name="KSO_WM_DIAGRAM_VIRTUALLY_FRAME" val="{&quot;height&quot;:313.35,&quot;left&quot;:48,&quot;top&quot;:153,&quot;width&quot;:861.75}"/>
</p:tagLst>
</file>

<file path=ppt/tags/tag15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16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17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18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19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20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21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22.xml><?xml version="1.0" encoding="utf-8"?>
<p:tagLst xmlns:p="http://schemas.openxmlformats.org/presentationml/2006/main">
  <p:tag name="KSO_WM_DIAGRAM_VIRTUALLY_FRAME" val="{&quot;height&quot;:266.25,&quot;left&quot;:48,&quot;top&quot;:155.25,&quot;width&quot;:862.5}"/>
</p:tagLst>
</file>

<file path=ppt/tags/tag23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4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5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6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7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8.xml><?xml version="1.0" encoding="utf-8"?>
<p:tagLst xmlns:p="http://schemas.openxmlformats.org/presentationml/2006/main">
  <p:tag name="KSO_WM_DIAGRAM_VIRTUALLY_FRAME" val="{&quot;height&quot;:304.95,&quot;left&quot;:48,&quot;top&quot;:153,&quot;width&quot;:861.75}"/>
</p:tagLst>
</file>

<file path=ppt/tags/tag29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7007</Words>
  <Application>WPS 演示</Application>
  <PresentationFormat>宽屏</PresentationFormat>
  <Paragraphs>847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Trebuchet MS</vt:lpstr>
      <vt:lpstr>Arial Unicode MS</vt:lpstr>
      <vt:lpstr>Calibri</vt:lpstr>
      <vt:lpstr>Office 主题​​</vt:lpstr>
      <vt:lpstr>Agent Memory 与工具拓展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Memory、File/Python/Search Tool 与 MCP 概念</dc:title>
  <dc:creator/>
  <cp:lastModifiedBy>苑泽兰</cp:lastModifiedBy>
  <cp:revision>128</cp:revision>
  <dcterms:created xsi:type="dcterms:W3CDTF">2021-12-28T08:11:00Z</dcterms:created>
  <dcterms:modified xsi:type="dcterms:W3CDTF">2026-10-07T14:16:52Z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