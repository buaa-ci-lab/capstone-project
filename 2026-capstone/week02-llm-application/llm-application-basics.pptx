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9001" r:id="rId3"/>
    <p:sldId id="9002" r:id="rId5"/>
    <p:sldId id="9003" r:id="rId6"/>
    <p:sldId id="9004" r:id="rId7"/>
    <p:sldId id="9005" r:id="rId8"/>
    <p:sldId id="9006" r:id="rId9"/>
    <p:sldId id="9007" r:id="rId10"/>
    <p:sldId id="9008" r:id="rId11"/>
    <p:sldId id="9009" r:id="rId12"/>
    <p:sldId id="9010" r:id="rId13"/>
    <p:sldId id="9011" r:id="rId14"/>
    <p:sldId id="9012" r:id="rId15"/>
    <p:sldId id="9013" r:id="rId16"/>
    <p:sldId id="9014" r:id="rId17"/>
    <p:sldId id="9015" r:id="rId18"/>
    <p:sldId id="9016" r:id="rId19"/>
    <p:sldId id="9017" r:id="rId20"/>
    <p:sldId id="9018" r:id="rId21"/>
    <p:sldId id="9019" r:id="rId22"/>
    <p:sldId id="9020" r:id="rId23"/>
    <p:sldId id="9021" r:id="rId24"/>
    <p:sldId id="9022" r:id="rId25"/>
    <p:sldId id="9023" r:id="rId26"/>
    <p:sldId id="9024" r:id="rId27"/>
    <p:sldId id="9025" r:id="rId28"/>
    <p:sldId id="9026" r:id="rId29"/>
    <p:sldId id="9027" r:id="rId30"/>
    <p:sldId id="9028" r:id="rId31"/>
    <p:sldId id="9029" r:id="rId32"/>
    <p:sldId id="9030" r:id="rId33"/>
    <p:sldId id="9031" r:id="rId34"/>
    <p:sldId id="9032" r:id="rId35"/>
    <p:sldId id="9033" r:id="rId36"/>
    <p:sldId id="9034" r:id="rId37"/>
    <p:sldId id="9035" r:id="rId38"/>
    <p:sldId id="9036" r:id="rId39"/>
    <p:sldId id="9037" r:id="rId40"/>
    <p:sldId id="9038" r:id="rId41"/>
    <p:sldId id="9039" r:id="rId42"/>
    <p:sldId id="9040" r:id="rId43"/>
    <p:sldId id="9041" r:id="rId44"/>
    <p:sldId id="9042" r:id="rId45"/>
    <p:sldId id="9043" r:id="rId46"/>
    <p:sldId id="9044" r:id="rId47"/>
    <p:sldId id="9045" r:id="rId48"/>
    <p:sldId id="9046" r:id="rId49"/>
    <p:sldId id="9047" r:id="rId50"/>
    <p:sldId id="9048" r:id="rId51"/>
    <p:sldId id="9049" r:id="rId52"/>
  </p:sldIdLst>
  <p:sldSz cx="12192000" cy="6858000"/>
  <p:notesSz cx="6858000" cy="9144000"/>
  <p:custDataLst>
    <p:tags r:id="rId5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4" userDrawn="1">
          <p15:clr>
            <a:srgbClr val="A4A3A4"/>
          </p15:clr>
        </p15:guide>
        <p15:guide id="2" orient="horz" pos="210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599C"/>
    <a:srgbClr val="003C8B"/>
    <a:srgbClr val="39B099"/>
    <a:srgbClr val="2A9195"/>
    <a:srgbClr val="ABCFFF"/>
    <a:srgbClr val="D3EEE9"/>
    <a:srgbClr val="8FBFFF"/>
    <a:srgbClr val="C52E37"/>
    <a:srgbClr val="E7E7E8"/>
    <a:srgbClr val="FBFB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745" autoAdjust="0"/>
    <p:restoredTop sz="94660"/>
  </p:normalViewPr>
  <p:slideViewPr>
    <p:cSldViewPr snapToGrid="0" showGuides="1">
      <p:cViewPr varScale="1">
        <p:scale>
          <a:sx n="112" d="100"/>
          <a:sy n="112" d="100"/>
        </p:scale>
        <p:origin x="138" y="180"/>
      </p:cViewPr>
      <p:guideLst>
        <p:guide pos="3834"/>
        <p:guide orient="horz" pos="210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6" Type="http://schemas.openxmlformats.org/officeDocument/2006/relationships/tags" Target="tags/tag1.xml"/><Relationship Id="rId55" Type="http://schemas.openxmlformats.org/officeDocument/2006/relationships/tableStyles" Target="tableStyles.xml"/><Relationship Id="rId54" Type="http://schemas.openxmlformats.org/officeDocument/2006/relationships/viewProps" Target="viewProps.xml"/><Relationship Id="rId53" Type="http://schemas.openxmlformats.org/officeDocument/2006/relationships/presProps" Target="presProps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F67BDE9-2D55-407C-98B2-E2DF74583E41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2BD924A-1BD4-4D96-AE1B-CA9C4B79CE3E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四个模块依次回答：应用如何组织模型输入，怎样通过程序发起一次生成，服务接口如何表达这次调用，应用如何消费逐步到达的输出。本讲承接第一周推理流程，为第二次课的结构化输出和后续 Agent Loop、Serving 建立接口与观测基础。</a:t>
            </a:r>
          </a:p>
          <a:p/>
          <a:p>
            <a:r>
              <a:t>[Sources]</a:t>
            </a:r>
          </a:p>
          <a:p/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讲沿一次模型调用展开。先在应用侧准备输入，再通过客户端发出请求，随后展开客户端背后的网络通信，最后把完整返回改成逐步返回。四项对应课程表，不要求学生在目录就掌握采样、delta或SSE。第一周已经解释模型推理，本讲把这些推理行为与应用程序联系起来。</a:t>
            </a:r>
          </a:p>
          <a:p/>
          <a:p>
            <a:r>
              <a:t>讲授预算：0.5分钟</a:t>
            </a:r>
          </a:p>
          <a:p/>
          <a:p>
            <a:r>
              <a:t>[Sources]</a:t>
            </a:r>
          </a:p>
          <a:p/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先按图右侧Apps、左侧Inference server和下方Hardware解释位置。应用并不直接操作模型的每个张量，而是发送一次生成请求。服务端管理模型执行和硬件资源。模型服务可以由外部平台提供，也可以自行部署，本讲先讨论共同接口。后续四节分别展开输入、调用、通信和输出过程。图中多个模型只是服务的一种可能配置，不是每次请求同时运行三个模型。此图来自作者公开的第9章配套材料，使用其应用和服务边界建立课程起点。</a:t>
            </a:r>
          </a:p>
          <a:p/>
          <a:p>
            <a:r>
              <a:t>讲授预算：2分钟</a:t>
            </a:r>
          </a:p>
          <a:p/>
          <a:p>
            <a:r>
              <a:t>[Sources]</a:t>
            </a:r>
          </a:p>
          <a:p>
            <a:r>
              <a:t>Chip Huyen · AI Engineering</a:t>
            </a:r>
          </a:p>
          <a:p>
            <a:r>
              <a:t>https://github.com/chiphuyen/aie-book/blob/main/chapter-summaries.md</a:t>
            </a:r>
          </a:p>
          <a:p>
            <a:r>
              <a:t>定位：AI Engineering，Fig9-1 A simple inference service</a:t>
            </a:r>
          </a:p>
          <a:p>
            <a:r>
              <a:t>引用：作者公开配套资料；原图限量教学引用，正文为概念解释与教学重组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用作者原图解释标准构成。上方要求从文本抽取实体并约定输出形式，中间给一组输入输出，下方是运行时替换的文本。强调示例不是本次待处理数据，固定任务说明也不应随用户输入被任意替换。实体抽取只是说明Prompt结构的公开示例，不展开实体识别算法。本讲后续会把这一结构放进消息列表，再放进API请求。Prompt的措辞是否有效需要实验，结构清晰使输入来源和错误位置更容易识别。</a:t>
            </a:r>
          </a:p>
          <a:p/>
          <a:p>
            <a:r>
              <a:t>讲授预算：1.7分钟</a:t>
            </a:r>
          </a:p>
          <a:p/>
          <a:p>
            <a:r>
              <a:t>[Sources]</a:t>
            </a:r>
          </a:p>
          <a:p>
            <a:r>
              <a:t>Chip Huyen · AI Engineering</a:t>
            </a:r>
          </a:p>
          <a:p>
            <a:r>
              <a:t>https://github.com/chiphuyen/aie-book/blob/main/chapter-summaries.md</a:t>
            </a:r>
          </a:p>
          <a:p>
            <a:r>
              <a:t>定位：AI Engineering，Fig5-1 A simple example to show the anatomy of a prompt</a:t>
            </a:r>
          </a:p>
          <a:p>
            <a:r>
              <a:t>引用：作者公开配套资料；原图限量教学引用，正文为概念解释与教学重组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此处先解释任务和输入输出，不先让学生背五个标签。案例来自Anthropic公开的分类评估课程，测试项包含应用崩溃和手机发热两个现象，标准答案包含软件和硬件两个标签。课程定义的是分类任务；把标签交给后续处理规则是说明应用消费方式，不声称公开仓库实现了工单路由系统。这页想说明：应用需要一个可判断正确与否的结果约定，不能只要求模型给一段看上去合理的回答。接着检查一条真实保存的输出，说明理解意思与满足接口约定的区别。</a:t>
            </a:r>
          </a:p>
          <a:p/>
          <a:p>
            <a:r>
              <a:t>讲授预算：1.7分钟</a:t>
            </a:r>
          </a:p>
          <a:p/>
          <a:p>
            <a:r>
              <a:t>[Sources]</a:t>
            </a:r>
          </a:p>
          <a:p>
            <a:r>
              <a:t>Anthropic · Classification Evals</a:t>
            </a:r>
          </a:p>
          <a:p>
            <a:r>
              <a:t>https://github.com/anthropics/courses/blob/f4dbb137d7b02dddaf3cc73e32e20a702d3b5e77/prompt_evaluations/04_code_graded_classification_evals/04_code_graded_classification_evals.ipynb</a:t>
            </a:r>
          </a:p>
          <a:p>
            <a:r>
              <a:t>定位：Classification Evals，eval_data第11项、basic_prompt、保存的评估输出</a:t>
            </a:r>
          </a:p>
          <a:p>
            <a:r>
              <a:t>引用：CC BY-NC 4.0; excerpted/translated for noncommercial teaching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是同一条投诉在公开Notebook中保存的失败记录，不是本次重新调用的结果。模型输出了两个正确标签，但它们用换行分隔。代码只按逗号split，因此得到一个带换行的字符串，而不是两个标签。真正失败的位置是输出格式与消费程序的约定不一致。修复可以改Prompt、改解析器，或者使用下一次课的结构化输出约束；仅要求模型“认真分类”并不能针对性解决这个故障。此页不宣称只增加一句逗号规则就解释全部准确率提升。</a:t>
            </a:r>
          </a:p>
          <a:p/>
          <a:p>
            <a:r>
              <a:t>讲授预算：2.2分钟</a:t>
            </a:r>
          </a:p>
          <a:p/>
          <a:p>
            <a:r>
              <a:t>[Sources]</a:t>
            </a:r>
          </a:p>
          <a:p>
            <a:r>
              <a:t>Anthropic · Classification Evals</a:t>
            </a:r>
          </a:p>
          <a:p>
            <a:r>
              <a:t>https://github.com/anthropics/courses/blob/f4dbb137d7b02dddaf3cc73e32e20a702d3b5e77/prompt_evaluations/04_code_graded_classification_evals/04_code_graded_classification_evals.ipynb</a:t>
            </a:r>
          </a:p>
          <a:p>
            <a:r>
              <a:t>定位：Classification Evals，calculate_accuracy 与 cell9 保存输出</a:t>
            </a:r>
          </a:p>
          <a:p>
            <a:r>
              <a:t>引用：CC BY-NC 4.0; excerpted/translated for noncommercial teaching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按标准流程把任务拆成可维护的组成，再映射回公开案例。类别集合和定义是业务规则，不应散落在每次用户输入里。输出约定必须与解析器一致。示例用来表达边界，运行时变量只承载当前投诉。XML标签是人和模型容易识别的分隔方式，标签本身不会创建安全边界。这里是根据公开改进Prompt整理的结构，而不是宣称逐字复制完整Prompt。将模板、类别枚举、解析器版本和模型配置一起记录，才能在失败时判断哪个部分变了。后面的few-shot和上下文选择将分别解释示例和运行时信息怎样准备。</a:t>
            </a:r>
          </a:p>
          <a:p/>
          <a:p>
            <a:r>
              <a:t>讲授预算：2.2分钟</a:t>
            </a:r>
          </a:p>
          <a:p/>
          <a:p>
            <a:r>
              <a:t>[Sources]</a:t>
            </a:r>
          </a:p>
          <a:p>
            <a:r>
              <a:t>Anthropic · Classification Evals</a:t>
            </a:r>
          </a:p>
          <a:p>
            <a:r>
              <a:t>https://github.com/anthropics/courses/blob/f4dbb137d7b02dddaf3cc73e32e20a702d3b5e77/prompt_evaluations/04_code_graded_classification_evals/04_code_graded_classification_evals.ipynb</a:t>
            </a:r>
          </a:p>
          <a:p>
            <a:r>
              <a:t>定位：Anthropic improved_prompt；Effective Context Engineering，Anatomy of effective context</a:t>
            </a:r>
          </a:p>
          <a:p>
            <a:r>
              <a:t>引用：CC BY-NC 4.0; excerpted/translated for noncommercial teaching</a:t>
            </a:r>
          </a:p>
          <a:p/>
          <a:p>
            <a:r>
              <a:t>Anthropic · Effective Context Engineering</a:t>
            </a:r>
          </a:p>
          <a:p>
            <a:r>
              <a:t>https://www.anthropic.com/engineering/effective-context-engineering-for-ai-agents</a:t>
            </a:r>
          </a:p>
          <a:p>
            <a:r>
              <a:t>定位：Anthropic improved_prompt；Effective Context Engineering，Anatomy of effective context</a:t>
            </a:r>
          </a:p>
          <a:p>
            <a:r>
              <a:t>引用：Public engineering article; paraphrase with attribution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定义zero-shot和few-shot：区别在输入中是否提供任务演示，模型权重不会在这次调用中因此更新。然后用两个公开评估项说明应选什么示例。单纯设备变慢和同时崩溃发热，涉及不同类别判断，适合检查规则是否清楚。表格是边界分析，不把评估项悄悄当作训练示例并用相同数据宣称泛化。增加示例会增加输入token和处理开销，也可能引入顺序敏感性或偏置，因此不是越多越好。对于这一分类问题，先完善类别定义，再挑能覆盖歧义和格式的示例，最后用未参与设计的数据验证。</a:t>
            </a:r>
          </a:p>
          <a:p/>
          <a:p>
            <a:r>
              <a:t>讲授预算：2.2分钟</a:t>
            </a:r>
          </a:p>
          <a:p/>
          <a:p>
            <a:r>
              <a:t>[Sources]</a:t>
            </a:r>
          </a:p>
          <a:p>
            <a:r>
              <a:t>Anthropic · Classification Evals</a:t>
            </a:r>
          </a:p>
          <a:p>
            <a:r>
              <a:t>https://github.com/anthropics/courses/blob/f4dbb137d7b02dddaf3cc73e32e20a702d3b5e77/prompt_evaluations/04_code_graded_classification_evals/04_code_graded_classification_evals.ipynb</a:t>
            </a:r>
          </a:p>
          <a:p>
            <a:r>
              <a:t>定位：Classification eval_data；Anthropic Context Engineering，Examples</a:t>
            </a:r>
          </a:p>
          <a:p>
            <a:r>
              <a:t>引用：CC BY-NC 4.0; excerpted/translated for noncommercial teaching</a:t>
            </a:r>
          </a:p>
          <a:p/>
          <a:p>
            <a:r>
              <a:t>Anthropic · Effective Context Engineering</a:t>
            </a:r>
          </a:p>
          <a:p>
            <a:r>
              <a:t>https://www.anthropic.com/engineering/effective-context-engineering-for-ai-agents</a:t>
            </a:r>
          </a:p>
          <a:p>
            <a:r>
              <a:t>定位：Classification eval_data；Anthropic Context Engineering，Examples</a:t>
            </a:r>
          </a:p>
          <a:p>
            <a:r>
              <a:t>引用：Public engineering article; paraphrase with attribution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案例来自Anthropic客服Notebook，提问为I want to speak to someone at Acme on the phone。初版在已提供的产品资料没有电话的情况下生成1-800-555-0123及服务时间，后续版承认缺少信息并建议查询官方来源。页面对保存回答作中文节译，不是本次实测，也不构成真实客服电话。该材料里直接问电话号码时初版曾承认未知，换成想与工作人员通话后却编出号码，说明一次测试通过不能代表各种问法都可靠。教学流程是确认所需证据、提供相关资料、约定缺失处理、用不同输入验证。后续Prompt修改包含多项要求，不能归因于单独一句规则。</a:t>
            </a:r>
          </a:p>
          <a:p/>
          <a:p>
            <a:r>
              <a:t>讲授预算：1.7分钟</a:t>
            </a:r>
          </a:p>
          <a:p/>
          <a:p>
            <a:r>
              <a:t>[Sources]</a:t>
            </a:r>
          </a:p>
          <a:p>
            <a:r>
              <a:t>Anthropic · Customer Support Prompt</a:t>
            </a:r>
          </a:p>
          <a:p>
            <a:r>
              <a:t>https://github.com/anthropics/courses/blob/f4dbb137d7b02dddaf3cc73e32e20a702d3b5e77/real_world_prompting/05_customer_support_ai.ipynb</a:t>
            </a:r>
          </a:p>
          <a:p>
            <a:r>
              <a:t>定位：Customer Support AI，cells19、37保存回答，中文节译；cell14为另一问法</a:t>
            </a:r>
          </a:p>
          <a:p>
            <a:r>
              <a:t>引用：CC BY-NC 4.0; excerpted/translated for noncommercial teaching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Prompt chaining把任务分成固定步骤，每个调用处理前一阶段结果。图中LLM Call是模型子任务，Gate是程序检查，不满足要求时可提前退出。作者给出的公开例子包括先写文档提纲、检查提纲是否满足标准、再据此写正文。图示是通用的多步工作流，调用数可随任务调整，不强行把每个图框对应成文档写作的某一步。分解使每次调用任务更明确，中间结果也更容易定位错误，代价是顺序调用增加延迟和成本。把所有步骤写在一个Prompt里只能要求模型遵循步骤，不能代替应用在步骤之间真正执行检查；同时也不应该为了复杂而拆分。是否使用链式调用要通过任务评估比较。后续Agent课程再讲动态决定步骤，本页只解释固定流程。</a:t>
            </a:r>
          </a:p>
          <a:p/>
          <a:p>
            <a:r>
              <a:t>讲授预算：2.2分钟</a:t>
            </a:r>
          </a:p>
          <a:p/>
          <a:p>
            <a:r>
              <a:t>[Sources]</a:t>
            </a:r>
          </a:p>
          <a:p>
            <a:r>
              <a:t>Anthropic · Building Effective Agents</a:t>
            </a:r>
          </a:p>
          <a:p>
            <a:r>
              <a:t>https://www.anthropic.com/engineering/building-effective-agents</a:t>
            </a:r>
          </a:p>
          <a:p>
            <a:r>
              <a:t>定位：Building Effective Agents，Workflow: Prompt chaining 原图，裁去上下空白</a:t>
            </a:r>
          </a:p>
          <a:p>
            <a:r>
              <a:t>引用：作者公开工程文章；有限原图教学引用，保留来源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将前面的Prompt组成放入消息API，而不是立即介绍某一种聊天界面。system或developer通常放应用级要求，user放本轮输入，assistant放历史回答，tool放工具结果。不同接口和模型支持的角色并不完全相同，因此不能把一套角色优先级当作所有本地模型的通则。引用Instruction Hierarchy说明外部低信任内容可能试图覆盖上层指令。分隔符和角色有帮助，但不是不可绕过的执行隔离。Agent能否执行某个动作，必须由应用权限和校验决定。后续Agent Loop会使用tool消息，本讲只建立消息来源和责任边界。</a:t>
            </a:r>
          </a:p>
          <a:p/>
          <a:p>
            <a:r>
              <a:t>讲授预算：1.7分钟</a:t>
            </a:r>
          </a:p>
          <a:p/>
          <a:p>
            <a:r>
              <a:t>[Sources]</a:t>
            </a:r>
          </a:p>
          <a:p>
            <a:r>
              <a:t>OpenAI · Chat Completions API</a:t>
            </a:r>
          </a:p>
          <a:p>
            <a:r>
              <a:t>https://developers.openai.com/api/reference/resources/chat/subresources/completions/methods/create</a:t>
            </a:r>
          </a:p>
          <a:p>
            <a:r>
              <a:t>定位：Chat Completions messages；Instruction Hierarchy §3</a:t>
            </a:r>
          </a:p>
          <a:p>
            <a:r>
              <a:t>引用：Official API documentation; limited educational excerpt and paraphrase</a:t>
            </a:r>
          </a:p>
          <a:p/>
          <a:p>
            <a:r>
              <a:t>Wallace et al. · Instruction Hierarchy</a:t>
            </a:r>
          </a:p>
          <a:p>
            <a:r>
              <a:t>https://arxiv.org/abs/2404.13208</a:t>
            </a:r>
          </a:p>
          <a:p>
            <a:r>
              <a:t>定位：Chat Completions messages；Instruction Hierarchy §3</a:t>
            </a:r>
          </a:p>
          <a:p>
            <a:r>
              <a:t>引用：arXiv nonexclusive distribution license; paraphrase only, no open reuse license asserted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对话改写案例来自Huyen的公开架构文章。本页对前两条消息作中文节译，省略回答中的具体日期以集中说明指代，事实无需验证，也不是我们实际查询的客户信息。只把最后一句发给一个没有会话状态的接口，模型无法可靠知道How about针对什么。应用可以提供必要历史，也可以先将它改写成自包含的问题。这是多轮消息构造的动机，不是为了展示一个更长的Python列表。下一页把“保留历史”和“重写问题”放在程序设计的位置上，解释它们各自的收益与损失。</a:t>
            </a:r>
          </a:p>
          <a:p/>
          <a:p>
            <a:r>
              <a:t>讲授预算：1.7分钟</a:t>
            </a:r>
          </a:p>
          <a:p/>
          <a:p>
            <a:r>
              <a:t>[Sources]</a:t>
            </a:r>
          </a:p>
          <a:p>
            <a:r>
              <a:t>Chip Huyen · Building A Generative AI Platform</a:t>
            </a:r>
          </a:p>
          <a:p>
            <a:r>
              <a:t>https://huyenchip.com/2024/07/25/genai-platform.html</a:t>
            </a:r>
          </a:p>
          <a:p>
            <a:r>
              <a:t>定位：Building A Generative AI Platform，Query rewriting，John/Emily 对话节选</a:t>
            </a:r>
          </a:p>
          <a:p>
            <a:r>
              <a:t>引用：公开作者文章，有限转述并注明来源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这段代码展示逻辑结构，RULES和question等变量代表前面定义的内容。它不是完整运行脚本。对无服务器会话引用的Chat Completions调用，应用发送本次需要的历史，而不是依赖客户端对象自动记住。上一页的Emily问题需要保留John的问题才能消解查询类型。摘要可节省上下文，但要保留用户明确约束和关键事实，并能追溯原始历史。工具调用场景还要保留请求和结果的关联关系，不能任意截掉其中一半。先检查最终messages，而不是只看界面里显示了哪些消息，这对后续Agent状态管理和调试尤其关键。</a:t>
            </a:r>
          </a:p>
          <a:p/>
          <a:p>
            <a:r>
              <a:t>讲授预算：2.2分钟</a:t>
            </a:r>
          </a:p>
          <a:p/>
          <a:p>
            <a:r>
              <a:t>[Sources]</a:t>
            </a:r>
          </a:p>
          <a:p>
            <a:r>
              <a:t>OpenAI · Chat Completions API</a:t>
            </a:r>
          </a:p>
          <a:p>
            <a:r>
              <a:t>https://developers.openai.com/api/reference/resources/chat/subresources/completions/methods/create</a:t>
            </a:r>
          </a:p>
          <a:p>
            <a:r>
              <a:t>定位：Chat Completions messages；DSPy History；Huyen Query rewriting</a:t>
            </a:r>
          </a:p>
          <a:p>
            <a:r>
              <a:t>引用：Official API documentation; limited educational excerpt and paraphrase</a:t>
            </a:r>
          </a:p>
          <a:p/>
          <a:p>
            <a:r>
              <a:t>DSPy · Managing Conversation History</a:t>
            </a:r>
          </a:p>
          <a:p>
            <a:r>
              <a:t>https://dspy.ai/tutorials/conversation_history/</a:t>
            </a:r>
          </a:p>
          <a:p>
            <a:r>
              <a:t>定位：Chat Completions messages；DSPy History；Huyen Query rewriting</a:t>
            </a:r>
          </a:p>
          <a:p>
            <a:r>
              <a:t>引用：MIT; Stanford Future Data Systems; local dspy_LICENSE retained</a:t>
            </a:r>
          </a:p>
          <a:p/>
          <a:p>
            <a:r>
              <a:t>Chip Huyen · Building A Generative AI Platform</a:t>
            </a:r>
          </a:p>
          <a:p>
            <a:r>
              <a:t>https://huyenchip.com/2024/07/25/genai-platform.html</a:t>
            </a:r>
          </a:p>
          <a:p>
            <a:r>
              <a:t>定位：Chat Completions messages；DSPy History；Huyen Query rewriting</a:t>
            </a:r>
          </a:p>
          <a:p>
            <a:r>
              <a:t>引用：公开作者文章，有限转述并注明来源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在讲完messages后再承接第一周的Chat Template与Tokenizer，说明这里为什么需要它们。API消息是结构化表示，模型最终消费的是带特殊标记的token序列。Hugging Face文档展示Mistral和Zephyr对同一段对话使用不同模板，本页仅节选首个user轮次，反斜杠n可视化表示换行。手写一种模板后喂给另一模型会偏离它训练时的输入格式。应用采用兼容服务时通常由服务端执行模板，但客户端仍需了解其作用，用于计算预算和定位兼容问题。Tokenizer不是突然加入的算法话题，它回答消息怎样成为第一周讲过的模型输入。</a:t>
            </a:r>
          </a:p>
          <a:p/>
          <a:p>
            <a:r>
              <a:t>讲授预算：1.7分钟</a:t>
            </a:r>
          </a:p>
          <a:p/>
          <a:p>
            <a:r>
              <a:t>[Sources]</a:t>
            </a:r>
          </a:p>
          <a:p>
            <a:r>
              <a:t>Transformers · Chat Templates</a:t>
            </a:r>
          </a:p>
          <a:p>
            <a:r>
              <a:t>https://github.com/huggingface/transformers/blob/f24b457be29ef5e3630380b91a0fc9a364ec65a1/docs/source/en/chat_templating.md</a:t>
            </a:r>
          </a:p>
          <a:p>
            <a:r>
              <a:t>定位：Hugging Face Chat Templates，Mistral/Zephyr example，节选</a:t>
            </a:r>
          </a:p>
          <a:p>
            <a:r>
              <a:t>引用：Apache-2.0; source header and license saved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页只用一幅论文图说明上下文选择的重要性，不引入额外模型榜单。实验在20篇文档中放入一篇含答案的相关文档，通过改变其位置观察问答准确率。先带学生读横纵轴，再说明其中间位置下降的现象。论文研究具有模型和任务边界，不能断言所有新模型都呈相同曲线。对应用的直接启示是：上下文窗口只是容量上限，需要检查相关性、顺序和冗余。多轮历史全部追加会使关键约束逐渐远离末尾，检索也不能只评估是否找到了文档，还应看最终输入是否能支持回答。</a:t>
            </a:r>
          </a:p>
          <a:p/>
          <a:p>
            <a:r>
              <a:t>讲授预算：2.2分钟</a:t>
            </a:r>
          </a:p>
          <a:p/>
          <a:p>
            <a:r>
              <a:t>[Sources]</a:t>
            </a:r>
          </a:p>
          <a:p>
            <a:r>
              <a:t>Liu et al. · Lost in the Middle · TACL</a:t>
            </a:r>
          </a:p>
          <a:p>
            <a:r>
              <a:t>https://aclanthology.org/2024.tacl-1.9/</a:t>
            </a:r>
          </a:p>
          <a:p>
            <a:r>
              <a:t>定位：Liu et al. TACL2024，Fig1；Anthropic Context Engineering</a:t>
            </a:r>
          </a:p>
          <a:p>
            <a:r>
              <a:t>引用：CC BY 4.0, explicitly stated on PDF p1</a:t>
            </a:r>
          </a:p>
          <a:p/>
          <a:p>
            <a:r>
              <a:t>Anthropic · Effective Context Engineering</a:t>
            </a:r>
          </a:p>
          <a:p>
            <a:r>
              <a:t>https://www.anthropic.com/engineering/effective-context-engineering-for-ai-agents</a:t>
            </a:r>
          </a:p>
          <a:p>
            <a:r>
              <a:t>定位：Liu et al. TACL2024，Fig1；Anthropic Context Engineering</a:t>
            </a:r>
          </a:p>
          <a:p>
            <a:r>
              <a:t>引用：Public engineering article; paraphrase with attribution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用公开流程图把前面的提示构造重新接到工程迭代。先定义任务和可判断结果的评估方法，再准备Prompt，收集输出，分析失败，修改后复测。分类Notebook保存的初始版本正确17项、改进20项，模型为claude-3-haiku-20240307。这是公开材料中的示范结果，不是本次实测或对当前模型的性能承诺，改进同时改变了多项内容，也没有独立证明少样本学习的因果收益。对课程应强调保留难例和回归样本，在独立数据上检查泛化。不要用一个看起来好的回答替代整个测试集。</a:t>
            </a:r>
          </a:p>
          <a:p/>
          <a:p>
            <a:r>
              <a:t>讲授预算：2.2分钟</a:t>
            </a:r>
          </a:p>
          <a:p/>
          <a:p>
            <a:r>
              <a:t>[Sources]</a:t>
            </a:r>
          </a:p>
          <a:p>
            <a:r>
              <a:t>Anthropic · Classification Evals</a:t>
            </a:r>
          </a:p>
          <a:p>
            <a:r>
              <a:t>https://github.com/anthropics/courses/blob/f4dbb137d7b02dddaf3cc73e32e20a702d3b5e77/prompt_evaluations/04_code_graded_classification_evals/04_code_graded_classification_evals.ipynb</a:t>
            </a:r>
          </a:p>
          <a:p>
            <a:r>
              <a:t>定位：Prompt engineering lifecycle 原图；Classification notebook cells9,13</a:t>
            </a:r>
          </a:p>
          <a:p>
            <a:r>
              <a:t>引用：CC BY-NC 4.0; excerpted/translated for noncommercial teaching</a:t>
            </a:r>
          </a:p>
          <a:p/>
          <a:p>
            <a:r>
              <a:t>Anthropic · Customer Support Prompt</a:t>
            </a:r>
          </a:p>
          <a:p>
            <a:r>
              <a:t>https://github.com/anthropics/courses/blob/f4dbb137d7b02dddaf3cc73e32e20a702d3b5e77/real_world_prompting/05_customer_support_ai.ipynb</a:t>
            </a:r>
          </a:p>
          <a:p>
            <a:r>
              <a:t>定位：Prompt engineering lifecycle 原图；Classification notebook cells9,13</a:t>
            </a:r>
          </a:p>
          <a:p>
            <a:r>
              <a:t>引用：CC BY-NC 4.0; excerpted/translated for noncommercial teaching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此页将公开分类案例的基础任务说明和逗号格式要求作中文改编，并映射到Chat Completions消息结构。它展示本讲贯穿请求所用的最小messages，而不是声称是Anthropic改进Prompt的全文或20/20版本。system消息承载固定类别和输出约定，user消息承载当前投诉，规则不再藏在一个未解释的变量里。简单分类不依赖对话历史，所以本次仅发送这两条消息；需要多轮或证据时再按前面流程加入。检查类别约定和实际输入后，下一节直接把这份messages传给Client。模型是否支持system角色和这些设置必须核对。</a:t>
            </a:r>
          </a:p>
          <a:p/>
          <a:p>
            <a:r>
              <a:t>讲授预算：1.4分钟</a:t>
            </a:r>
          </a:p>
          <a:p/>
          <a:p>
            <a:r>
              <a:t>[Sources]</a:t>
            </a:r>
          </a:p>
          <a:p>
            <a:r>
              <a:t>Anthropic · Classification Evals</a:t>
            </a:r>
          </a:p>
          <a:p>
            <a:r>
              <a:t>https://github.com/anthropics/courses/blob/f4dbb137d7b02dddaf3cc73e32e20a702d3b5e77/prompt_evaluations/04_code_graded_classification_evals/04_code_graded_classification_evals.ipynb</a:t>
            </a:r>
          </a:p>
          <a:p>
            <a:r>
              <a:t>定位：Anthropic Classification Evals basic_prompt / format instruction 的中文改编；Chat Completions messages</a:t>
            </a:r>
          </a:p>
          <a:p>
            <a:r>
              <a:t>引用：CC BY-NC 4.0; excerpted/translated for noncommercial teaching</a:t>
            </a:r>
          </a:p>
          <a:p/>
          <a:p>
            <a:r>
              <a:t>Transformers · Chat Templates</a:t>
            </a:r>
          </a:p>
          <a:p>
            <a:r>
              <a:t>https://github.com/huggingface/transformers/blob/f24b457be29ef5e3630380b91a0fc9a364ec65a1/docs/source/en/chat_templating.md</a:t>
            </a:r>
          </a:p>
          <a:p>
            <a:r>
              <a:t>定位：Anthropic Classification Evals basic_prompt / format instruction 的中文改编；Chat Completions messages</a:t>
            </a:r>
          </a:p>
          <a:p>
            <a:r>
              <a:t>引用：Apache-2.0; source header and license saved</a:t>
            </a:r>
          </a:p>
          <a:p/>
          <a:p>
            <a:r>
              <a:t>OpenAI · Chat Completions API</a:t>
            </a:r>
          </a:p>
          <a:p>
            <a:r>
              <a:t>https://developers.openai.com/api/reference/resources/chat/subresources/completions/methods/create</a:t>
            </a:r>
          </a:p>
          <a:p>
            <a:r>
              <a:t>定位：Anthropic Classification Evals basic_prompt / format instruction 的中文改编；Chat Completions messages</a:t>
            </a:r>
          </a:p>
          <a:p>
            <a:r>
              <a:t>引用：Official API documentation; limited educational excerpt and paraphrase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解释动机再给代码。交互界面里的一个回答要进入真实应用，需要程序提交输入、等待结果、读取结构并处理失败。手工写HTTP也能实现这些工作，SDK把通用的编码、请求和解码封装成Python对象和方法。它不会替应用定义任务正确性，也不等同于把模型加载到了Python进程。客户端的好处是可维护的接口和较少的重复通信代码，代价是开发者仍需要理解其默认配置和错误行为。下一页用同一分类请求指出输入和返回在哪里，而不是逐行教授Python语法。</a:t>
            </a:r>
          </a:p>
          <a:p/>
          <a:p>
            <a:r>
              <a:t>讲授预算：2.0分钟</a:t>
            </a:r>
          </a:p>
          <a:p/>
          <a:p>
            <a:r>
              <a:t>[Sources]</a:t>
            </a:r>
          </a:p>
          <a:p>
            <a:r>
              <a:t>OpenAI Python SDK</a:t>
            </a:r>
          </a:p>
          <a:p>
            <a:r>
              <a:t>https://github.com/openai/openai-python/tree/e12b81d3bbf644ec7045e152d69bc4b68d69cd48</a:t>
            </a:r>
          </a:p>
          <a:p>
            <a:r>
              <a:t>定位：OpenAI Python README，Usage / Error handling / Configuring the HTTP client</a:t>
            </a:r>
          </a:p>
          <a:p>
            <a:r>
              <a:t>引用：Apache-2.0; local license snapshot saved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段代码只展示一次调用的结构，BASE_URL、MODEL_ID、messages为已配置变量，不把它包装成无需配置即可运行的脚本。任务沿用前面分类案例，messages内含分类规则和那条投诉。OpenAI()从环境读取OPENAI_API_KEY等配置。base_url指向兼容服务，但接口兼容不代表每个参数都能用。示例temperature和max_completion_tokens后面逐项解释，现代某些推理模型不接受temperature等设置，本页不指定一个无法保证参数支持的模型名。调用返回result，程序随后读取choice内容及结束状态。具体部署配置留到需要部署时说明。</a:t>
            </a:r>
          </a:p>
          <a:p/>
          <a:p>
            <a:r>
              <a:t>讲授预算：2.0分钟</a:t>
            </a:r>
          </a:p>
          <a:p/>
          <a:p>
            <a:r>
              <a:t>[Sources]</a:t>
            </a:r>
          </a:p>
          <a:p>
            <a:r>
              <a:t>OpenAI Python SDK</a:t>
            </a:r>
          </a:p>
          <a:p>
            <a:r>
              <a:t>https://github.com/openai/openai-python/tree/e12b81d3bbf644ec7045e152d69bc4b68d69cd48</a:t>
            </a:r>
          </a:p>
          <a:p>
            <a:r>
              <a:t>定位：README: Usage, Using types, Request IDs, Retries, Timeouts, Managing HTTP resources; _base_client.py</a:t>
            </a:r>
          </a:p>
          <a:p>
            <a:r>
              <a:t>引用：Apache-2.0; local license snapshot saved</a:t>
            </a:r>
          </a:p>
          <a:p/>
          <a:p>
            <a:r>
              <a:t>OpenAI · Chat Completions API</a:t>
            </a:r>
          </a:p>
          <a:p>
            <a:r>
              <a:t>https://developers.openai.com/api/reference/resources/chat/subresources/completions/methods/create</a:t>
            </a:r>
          </a:p>
          <a:p>
            <a:r>
              <a:t>定位：Create request; model/messages/max_completion_tokens/temperature/top_p/stop; ChatCompletion response</a:t>
            </a:r>
          </a:p>
          <a:p>
            <a:r>
              <a:t>引用：Official API documentation; limited educational excerpt and paraphrase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Client的意义不仅是少写几行代码，还包括资源和等待策略。连接池在多请求间复用连接，可减少重复建立连接的开销。客户端复用不会让服务端自动记住messages，也不是复用KV cache。超时、重试和关闭接口是SDK封装的重要部分，应在应用入口统一配置。这里先建立概念，REST/API部分将用响应丢失说明重试为什么可能重复执行，Streaming部分说明持续到达的小片段为什么使读取超时不同于总期限。没有必要让学生背某版本默认超时值，但要知道默认值存在且必须核对。</a:t>
            </a:r>
          </a:p>
          <a:p/>
          <a:p>
            <a:r>
              <a:t>讲授预算：2.0分钟</a:t>
            </a:r>
          </a:p>
          <a:p/>
          <a:p>
            <a:r>
              <a:t>[Sources]</a:t>
            </a:r>
          </a:p>
          <a:p>
            <a:r>
              <a:t>OpenAI Python SDK</a:t>
            </a:r>
          </a:p>
          <a:p>
            <a:r>
              <a:t>https://github.com/openai/openai-python/tree/e12b81d3bbf644ec7045e152d69bc4b68d69cd48</a:t>
            </a:r>
          </a:p>
          <a:p>
            <a:r>
              <a:t>定位：SDK README，Retries / Timeouts / Managing HTTP resources；HTTPX Clients</a:t>
            </a:r>
          </a:p>
          <a:p>
            <a:r>
              <a:t>引用：Apache-2.0; local license snapshot saved</a:t>
            </a:r>
          </a:p>
          <a:p/>
          <a:p>
            <a:r>
              <a:t>HTTPX Clients &amp; Timeouts</a:t>
            </a:r>
          </a:p>
          <a:p>
            <a:r>
              <a:t>https://www.python-httpx.org/advanced/timeouts/</a:t>
            </a:r>
          </a:p>
          <a:p>
            <a:r>
              <a:t>定位：SDK README，Retries / Timeouts / Managing HTTP resources；HTTPX Clients</a:t>
            </a:r>
          </a:p>
          <a:p>
            <a:r>
              <a:t>引用：Official documentation; limited educational paraphrase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同一次分类请求，现在关注响应结构。示例内容用于字段解释，是把公开分类结果映射到Chat Completions返回格式，不冒充一次新的OpenAI调用记录。message.content通常承载文本，finish_reason说明生成为什么结束，usage用于token量统计，request_id用于排查服务请求。request_id不是对话记忆也不是应用任务的唯一业务编号。content可能为空或伴随工具调用，不能假定所有响应都是一个可直接打印的完整字符串。HTTP成功、模型正常结束、分类正确分别是不同判断层次，后面会继续展开。</a:t>
            </a:r>
          </a:p>
          <a:p/>
          <a:p>
            <a:r>
              <a:t>讲授预算：2.0分钟</a:t>
            </a:r>
          </a:p>
          <a:p/>
          <a:p>
            <a:r>
              <a:t>[Sources]</a:t>
            </a:r>
          </a:p>
          <a:p>
            <a:r>
              <a:t>OpenAI Python SDK</a:t>
            </a:r>
          </a:p>
          <a:p>
            <a:r>
              <a:t>https://github.com/openai/openai-python/tree/e12b81d3bbf644ec7045e152d69bc4b68d69cd48</a:t>
            </a:r>
          </a:p>
          <a:p>
            <a:r>
              <a:t>定位：SDK Request IDs；ChatCompletion message/finish_reason/usage</a:t>
            </a:r>
          </a:p>
          <a:p>
            <a:r>
              <a:t>引用：Apache-2.0; local license snapshot saved</a:t>
            </a:r>
          </a:p>
          <a:p/>
          <a:p>
            <a:r>
              <a:t>OpenAI · Chat Completions API</a:t>
            </a:r>
          </a:p>
          <a:p>
            <a:r>
              <a:t>https://developers.openai.com/api/reference/resources/chat/subresources/completions/methods/create</a:t>
            </a:r>
          </a:p>
          <a:p>
            <a:r>
              <a:t>定位：SDK Request IDs；ChatCompletion message/finish_reason/usage</a:t>
            </a:r>
          </a:p>
          <a:p>
            <a:r>
              <a:t>引用：Official API documentation; limited educational excerpt and paraphrase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把参数放回第一周的自回归生成过程。模型根据上下文输出词表分数，采样器把分数转成分布并选择下一个token，随后更新上下文继续生成。因此temperature和top_p不是笼统的智能程度或准确度按钮。Prompt决定条件，采样改变在条件下如何选词，两者可以共同影响结果但不能互相替代。停止条件则决定循环何时结束。下一页用四个候选数值推导temperature的作用，再解释top_p，避免只列参数名和一句说明。</a:t>
            </a:r>
          </a:p>
          <a:p/>
          <a:p>
            <a:r>
              <a:t>讲授预算：2.0分钟</a:t>
            </a:r>
          </a:p>
          <a:p/>
          <a:p>
            <a:r>
              <a:t>[Sources]</a:t>
            </a:r>
          </a:p>
          <a:p>
            <a:r>
              <a:t>Transformers · Sampling Implementation</a:t>
            </a:r>
          </a:p>
          <a:p>
            <a:r>
              <a:t>https://github.com/huggingface/transformers/blob/f24b457be29ef5e3630380b91a0fc9a364ec65a1/src/transformers/generation/logits_process.py</a:t>
            </a:r>
          </a:p>
          <a:p>
            <a:r>
              <a:t>定位：Transformers logits_process；AI Engineering Ch2 Sampling</a:t>
            </a:r>
          </a:p>
          <a:p>
            <a:r>
              <a:t>引用：Apache-2.0; source and license snapshot saved</a:t>
            </a:r>
          </a:p>
          <a:p/>
          <a:p>
            <a:r>
              <a:t>Chip Huyen · AI Engineering</a:t>
            </a:r>
          </a:p>
          <a:p>
            <a:r>
              <a:t>https://github.com/chiphuyen/aie-book/blob/main/chapter-summaries.md</a:t>
            </a:r>
          </a:p>
          <a:p>
            <a:r>
              <a:t>定位：Transformers logits_process；AI Engineering Ch2 Sampling</a:t>
            </a:r>
          </a:p>
          <a:p>
            <a:r>
              <a:t>引用：作者公开配套资料；原图限量教学引用，正文为概念解释与教学重组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逐步解释公式而不要求学生背API默认值。固定分数2、1、0、-1，以T为0.5、1、2计算softmax。低温放大相对分数差异，最高分候选占据更大概率；高温使分布更平缓。数值是四候选的教学计算，不是某模型词表实测。T=0不能直接代入除法公式，常见实现单独进入贪心路径。低温并不保证事实正确，因为最高分候选也可能错误；更高温也不等价于更强推理。分类任务常从较集中分布开始实验，但最佳设置仍要由任务评估确定。</a:t>
            </a:r>
          </a:p>
          <a:p/>
          <a:p>
            <a:r>
              <a:t>讲授预算：2.9分钟</a:t>
            </a:r>
          </a:p>
          <a:p/>
          <a:p>
            <a:r>
              <a:t>[Sources]</a:t>
            </a:r>
          </a:p>
          <a:p>
            <a:r>
              <a:t>Transformers · Sampling Implementation</a:t>
            </a:r>
          </a:p>
          <a:p>
            <a:r>
              <a:t>https://github.com/huggingface/transformers/blob/f24b457be29ef5e3630380b91a0fc9a364ec65a1/src/transformers/generation/logits_process.py</a:t>
            </a:r>
          </a:p>
          <a:p>
            <a:r>
              <a:t>定位：Transformers TemperatureLogitsWarper；vLLM sampling implementation</a:t>
            </a:r>
          </a:p>
          <a:p>
            <a:r>
              <a:t>引用：Apache-2.0; source and license snapshot saved</a:t>
            </a:r>
          </a:p>
          <a:p/>
          <a:p>
            <a:r>
              <a:t>vLLM · Sampling &amp; Reproducibility</a:t>
            </a:r>
          </a:p>
          <a:p>
            <a:r>
              <a:t>https://docs.vllm.ai/en/latest/usage/reproducibility/</a:t>
            </a:r>
          </a:p>
          <a:p>
            <a:r>
              <a:t>定位：Transformers TemperatureLogitsWarper；vLLM sampling implementation</a:t>
            </a:r>
          </a:p>
          <a:p>
            <a:r>
              <a:t>引用：Apache-2.0; source and license snapshot saved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继续使用上一页T=1的同一组概率，保持数值连续。按概率排序后，A未达到0.8，加入B后达到0.8808，因此选取A、B构成nucleus。采样前要把保留概率重新归一化。top_p与temperature影响不同：一个截断候选集合，一个缩放分布。实际处理顺序和最少保留token规则由实现决定，本计算采用温度缩放后再做top-p的常见顺序。不能把top_p=0.8误解成保留80%的词表或80%的固定候选数。若同时调整多个参数，评估时更难判断改动来源。</a:t>
            </a:r>
          </a:p>
          <a:p/>
          <a:p>
            <a:r>
              <a:t>讲授预算：2.4分钟</a:t>
            </a:r>
          </a:p>
          <a:p/>
          <a:p>
            <a:r>
              <a:t>[Sources]</a:t>
            </a:r>
          </a:p>
          <a:p>
            <a:r>
              <a:t>Holtzman et al. · ICLR 2020</a:t>
            </a:r>
          </a:p>
          <a:p>
            <a:r>
              <a:t>https://arxiv.org/abs/1904.09751</a:t>
            </a:r>
          </a:p>
          <a:p>
            <a:r>
              <a:t>定位：Holtzman et al. Nucleus Sampling；Transformers TopPLogitsWarper</a:t>
            </a:r>
          </a:p>
          <a:p>
            <a:r>
              <a:t>引用：Public paper; one original figure reproduced with attribution for teaching</a:t>
            </a:r>
          </a:p>
          <a:p/>
          <a:p>
            <a:r>
              <a:t>Transformers · Sampling Implementation</a:t>
            </a:r>
          </a:p>
          <a:p>
            <a:r>
              <a:t>https://github.com/huggingface/transformers/blob/f24b457be29ef5e3630380b91a0fc9a364ec65a1/src/transformers/generation/logits_process.py</a:t>
            </a:r>
          </a:p>
          <a:p>
            <a:r>
              <a:t>定位：Holtzman et al. Nucleus Sampling；Transformers TopPLogitsWarper</a:t>
            </a:r>
          </a:p>
          <a:p>
            <a:r>
              <a:t>引用：Apache-2.0; source and license snapshot saved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页把前两页数学计算落到应用选择，避免参数讲完就结束。对于固定分类，优先关注正确率和格式一致性，而不是追求输出丰富。对候选生成，提高多样性可能带来更多可用方案，也可能增加无效输出和验证成本。缩短输出能减少decode工作量，但过低的上限会截断结果，尤其是模型还需要生成推理token时。参数设置是否可用取决于模型和接口版本，一些模型不支持temperature或stop。进行Prompt比较时尽量固定其他设置，并承认运行平台、模型版本和采样带来的变动，不能以temperature=0宣称跨平台完全确定。</a:t>
            </a:r>
          </a:p>
          <a:p/>
          <a:p>
            <a:r>
              <a:t>讲授预算：2.0分钟</a:t>
            </a:r>
          </a:p>
          <a:p/>
          <a:p>
            <a:r>
              <a:t>[Sources]</a:t>
            </a:r>
          </a:p>
          <a:p>
            <a:r>
              <a:t>OpenAI · Chat Completions API</a:t>
            </a:r>
          </a:p>
          <a:p>
            <a:r>
              <a:t>https://developers.openai.com/api/reference/resources/chat/subresources/completions/methods/create</a:t>
            </a:r>
          </a:p>
          <a:p>
            <a:r>
              <a:t>定位：Create request; model/messages/max_completion_tokens/temperature/top_p/stop; ChatCompletion response</a:t>
            </a:r>
          </a:p>
          <a:p>
            <a:r>
              <a:t>引用：Official API documentation; limited educational excerpt and paraphrase</a:t>
            </a:r>
          </a:p>
          <a:p/>
          <a:p>
            <a:r>
              <a:t>vLLM · Sampling &amp; Reproducibility</a:t>
            </a:r>
          </a:p>
          <a:p>
            <a:r>
              <a:t>https://docs.vllm.ai/en/latest/usage/reproducibility/</a:t>
            </a:r>
          </a:p>
          <a:p>
            <a:r>
              <a:t>定位：Same hardware/version; online batch invariance; pinned sampler.py L277/L287, commit23cfaad49701c497def53552b23317335431f72a</a:t>
            </a:r>
          </a:p>
          <a:p>
            <a:r>
              <a:t>引用：Apache-2.0; source and license snapshot saved</a:t>
            </a:r>
          </a:p>
          <a:p/>
          <a:p>
            <a:r>
              <a:t>Anthropic · Classification Evals</a:t>
            </a:r>
          </a:p>
          <a:p>
            <a:r>
              <a:t>https://github.com/anthropics/courses/blob/f4dbb137d7b02dddaf3cc73e32e20a702d3b5e77/prompt_evaluations/04_code_graded_classification_evals/04_code_graded_classification_evals.ipynb</a:t>
            </a:r>
          </a:p>
          <a:p>
            <a:r>
              <a:t>定位：cells2,4,6,9,11,13,14 (zero-based)</a:t>
            </a:r>
          </a:p>
          <a:p>
            <a:r>
              <a:t>引用：CC BY-NC 4.0; excerpted/translated for noncommercial teaching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输入token应包括角色和模板标记等实际序列化开销，不能只算用户句子的字数。8192示例是假设窗口预算的简单算术，不对应某指定模型。实际接口可能有独立最大输出限制，max_completion_tokens在部分推理模型还包括推理token，因此可见答案可能远少于配置上限。finish_reason是生成语义，不是HTTP状态。stop不证明答案正确，length提示生成被限制，tool_calls只表示请求调用工具，执行仍由应用决定。第二次课将展开结构化结果和异常处理，本页只建立返回判断所需的基础。</a:t>
            </a:r>
          </a:p>
          <a:p/>
          <a:p>
            <a:r>
              <a:t>讲授预算：2.4分钟</a:t>
            </a:r>
          </a:p>
          <a:p/>
          <a:p>
            <a:r>
              <a:t>[Sources]</a:t>
            </a:r>
          </a:p>
          <a:p>
            <a:r>
              <a:t>OpenAI · Chat Completions API</a:t>
            </a:r>
          </a:p>
          <a:p>
            <a:r>
              <a:t>https://developers.openai.com/api/reference/resources/chat/subresources/completions/methods/create</a:t>
            </a:r>
          </a:p>
          <a:p>
            <a:r>
              <a:t>定位：Create request; model/messages/max_completion_tokens/temperature/top_p/stop; ChatCompletion response</a:t>
            </a:r>
          </a:p>
          <a:p>
            <a:r>
              <a:t>引用：Official API documentation; limited educational excerpt and paraphrase</a:t>
            </a:r>
          </a:p>
          <a:p/>
          <a:p>
            <a:r>
              <a:t>Transformers · Chat Templates</a:t>
            </a:r>
          </a:p>
          <a:p>
            <a:r>
              <a:t>https://github.com/huggingface/transformers/blob/f24b457be29ef5e3630380b91a0fc9a364ec65a1/docs/source/en/chat_templating.md</a:t>
            </a:r>
          </a:p>
          <a:p>
            <a:r>
              <a:t>定位：Mistral/Zephyr comparison; local lines30–75; apply_chat_template</a:t>
            </a:r>
          </a:p>
          <a:p>
            <a:r>
              <a:t>引用：Apache-2.0; source header and license saved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把本节输入、生成控制和返回消费闭合起来。一个响应可以是HTTP200却因length而只生成一半，也可以正常stop却给错标签。用前面换行分隔的公开案例说明，内容语义合理仍可能不满足程序接口。SDK可以提供类型化对象，但不会知道五类业务规则和正确答案。下一节展开第一个层次：client.chat.completions.create究竟发送了什么，HTTP状态和JSON分别处于哪里。通过这一步转场，REST/API不再像额外的网络常识清单。</a:t>
            </a:r>
          </a:p>
          <a:p/>
          <a:p>
            <a:r>
              <a:t>讲授预算：1.3分钟</a:t>
            </a:r>
          </a:p>
          <a:p/>
          <a:p>
            <a:r>
              <a:t>[Sources]</a:t>
            </a:r>
          </a:p>
          <a:p>
            <a:r>
              <a:t>OpenAI Python SDK</a:t>
            </a:r>
          </a:p>
          <a:p>
            <a:r>
              <a:t>https://github.com/openai/openai-python/tree/e12b81d3bbf644ec7045e152d69bc4b68d69cd48</a:t>
            </a:r>
          </a:p>
          <a:p>
            <a:r>
              <a:t>定位：README: Usage, Using types, Request IDs, Retries, Timeouts, Managing HTTP resources; _base_client.py</a:t>
            </a:r>
          </a:p>
          <a:p>
            <a:r>
              <a:t>引用：Apache-2.0; local license snapshot saved</a:t>
            </a:r>
          </a:p>
          <a:p/>
          <a:p>
            <a:r>
              <a:t>OpenAI · Chat Completions API</a:t>
            </a:r>
          </a:p>
          <a:p>
            <a:r>
              <a:t>https://developers.openai.com/api/reference/resources/chat/subresources/completions/methods/create</a:t>
            </a:r>
          </a:p>
          <a:p>
            <a:r>
              <a:t>定位：Create request; model/messages/max_completion_tokens/temperature/top_p/stop; ChatCompletion response</a:t>
            </a:r>
          </a:p>
          <a:p>
            <a:r>
              <a:t>引用：Official API documentation; limited educational excerpt and paraphrase</a:t>
            </a:r>
          </a:p>
          <a:p/>
          <a:p>
            <a:r>
              <a:t>Anthropic · Classification Evals</a:t>
            </a:r>
          </a:p>
          <a:p>
            <a:r>
              <a:t>https://github.com/anthropics/courses/blob/f4dbb137d7b02dddaf3cc73e32e20a702d3b5e77/prompt_evaluations/04_code_graded_classification_evals/04_code_graded_classification_evals.ipynb</a:t>
            </a:r>
          </a:p>
          <a:p>
            <a:r>
              <a:t>定位：cells2,4,6,9,11,13,14 (zero-based)</a:t>
            </a:r>
          </a:p>
          <a:p>
            <a:r>
              <a:t>引用：CC BY-NC 4.0; excerpted/translated for noncommercial teaching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回到2.2的同一行Python调用，按字段说明它怎样映射到HTTP。base_url配置服务地址，SDK将操作映射成路径与POST方法，凭据进入请求头，参数进入JSON请求体。/v1前缀取决于服务base_url和路径约定，不能随意重复添加。网络协议不需要知道投诉的业务含义，只负责传输符合接口约定的结构。这里明确使用Chat Completions作为教学协议，不暗示它等于所有模型接口；Responses等API会有不同字段和事件类型。</a:t>
            </a:r>
          </a:p>
          <a:p/>
          <a:p>
            <a:r>
              <a:t>讲授预算：1.8分钟</a:t>
            </a:r>
          </a:p>
          <a:p/>
          <a:p>
            <a:r>
              <a:t>[Sources]</a:t>
            </a:r>
          </a:p>
          <a:p>
            <a:r>
              <a:t>OpenAI Python SDK</a:t>
            </a:r>
          </a:p>
          <a:p>
            <a:r>
              <a:t>https://github.com/openai/openai-python/tree/e12b81d3bbf644ec7045e152d69bc4b68d69cd48</a:t>
            </a:r>
          </a:p>
          <a:p>
            <a:r>
              <a:t>定位：README: Usage, Using types, Request IDs, Retries, Timeouts, Managing HTTP resources; _base_client.py</a:t>
            </a:r>
          </a:p>
          <a:p>
            <a:r>
              <a:t>引用：Apache-2.0; local license snapshot saved</a:t>
            </a:r>
          </a:p>
          <a:p/>
          <a:p>
            <a:r>
              <a:t>OpenAI · Chat Completions API</a:t>
            </a:r>
          </a:p>
          <a:p>
            <a:r>
              <a:t>https://developers.openai.com/api/reference/resources/chat/subresources/completions/methods/create</a:t>
            </a:r>
          </a:p>
          <a:p>
            <a:r>
              <a:t>定位：Create request; model/messages/max_completion_tokens/temperature/top_p/stop; ChatCompletion response</a:t>
            </a:r>
          </a:p>
          <a:p>
            <a:r>
              <a:t>引用：Official API documentation; limited educational excerpt and paraphrase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报文为基于规范整理的教学表示，不是抓包记录。model.example是示例域名，凭据和模型ID是占位符。HTTP/1.1便于展示请求行与头部，实际服务可能采用HTTP/2等版本，语义仍可对应。请求头和请求体之间有空行，Content-Type声明体中的数据为JSON，Authorization传达认证信息。messages在传输时仍是一个数组，前面的Prompt构造逻辑没有消失，只是被序列化。输出长度等省略字段可以按接口需要加入，此处集中讲边界而不是展示完整SDK生成的全部请求头。</a:t>
            </a:r>
          </a:p>
          <a:p/>
          <a:p>
            <a:r>
              <a:t>讲授预算：2.3分钟</a:t>
            </a:r>
          </a:p>
          <a:p/>
          <a:p>
            <a:r>
              <a:t>[Sources]</a:t>
            </a:r>
          </a:p>
          <a:p>
            <a:r>
              <a:t>RFC 9110 · HTTP Semantics</a:t>
            </a:r>
          </a:p>
          <a:p>
            <a:r>
              <a:t>https://www.rfc-editor.org/rfc/rfc9110.html</a:t>
            </a:r>
          </a:p>
          <a:p>
            <a:r>
              <a:t>定位：RFC9110 message semantics；Chat Completions request schema</a:t>
            </a:r>
          </a:p>
          <a:p>
            <a:r>
              <a:t>引用：IETF Trust legal provisions; standards quotation/paraphrase</a:t>
            </a:r>
          </a:p>
          <a:p/>
          <a:p>
            <a:r>
              <a:t>OpenAI · Chat Completions API</a:t>
            </a:r>
          </a:p>
          <a:p>
            <a:r>
              <a:t>https://developers.openai.com/api/reference/resources/chat/subresources/completions/methods/create</a:t>
            </a:r>
          </a:p>
          <a:p>
            <a:r>
              <a:t>定位：RFC9110 message semantics；Chat Completions request schema</a:t>
            </a:r>
          </a:p>
          <a:p>
            <a:r>
              <a:t>引用：Official API documentation; limited educational excerpt and paraphrase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看过具体报文再辨别术语，避免网络名词先行。API是契约，可以有PythonAPI也可以有网络API。REST是一组架构约束，除无状态和统一接口还涉及缓存、分层等，因此不能简单等同于POSTJSON。HTTP规定通信语义，而JSON只编码结构。JSON文本能解析并不代表字段满足API模式，更不代表结果满足业务规则。这样的分层有助于故障定位：JSON语法错、参数字段错、认证失败、模型输出错属于不同层次。详细JSON Schema留到第二次课。</a:t>
            </a:r>
          </a:p>
          <a:p/>
          <a:p>
            <a:r>
              <a:t>讲授预算：2.3分钟</a:t>
            </a:r>
          </a:p>
          <a:p/>
          <a:p>
            <a:r>
              <a:t>[Sources]</a:t>
            </a:r>
          </a:p>
          <a:p>
            <a:r>
              <a:t>RFC 9110 · HTTP Semantics</a:t>
            </a:r>
          </a:p>
          <a:p>
            <a:r>
              <a:t>https://www.rfc-editor.org/rfc/rfc9110.html</a:t>
            </a:r>
          </a:p>
          <a:p>
            <a:r>
              <a:t>定位：§3.3 Connections; §9.2.2 Idempotent Methods; §9.3.3 POST; §15 Status Codes</a:t>
            </a:r>
          </a:p>
          <a:p>
            <a:r>
              <a:t>引用：IETF Trust legal provisions; standards quotation/paraphrase</a:t>
            </a:r>
          </a:p>
          <a:p/>
          <a:p>
            <a:r>
              <a:t>Fielding · REST Architecture</a:t>
            </a:r>
          </a:p>
          <a:p>
            <a:r>
              <a:t>https://roy.gbiv.com/pubs/dissertation/rest_arch_style.htm</a:t>
            </a:r>
          </a:p>
          <a:p>
            <a:r>
              <a:t>定位：Chapter 5 §5.1, particularly §5.1.3 Stateless and §5.1.5 Uniform Interface</a:t>
            </a:r>
          </a:p>
          <a:p>
            <a:r>
              <a:t>引用：Public dissertation; limited educational paraphrase</a:t>
            </a:r>
          </a:p>
          <a:p/>
          <a:p>
            <a:r>
              <a:t>RFC 8259 · JSON</a:t>
            </a:r>
          </a:p>
          <a:p>
            <a:r>
              <a:t>https://www.rfc-editor.org/rfc/rfc8259.html</a:t>
            </a:r>
          </a:p>
          <a:p>
            <a:r>
              <a:t>定位：§1 Introduction; §2 Grammar; §4 Objects; §5 Arrays</a:t>
            </a:r>
          </a:p>
          <a:p>
            <a:r>
              <a:t>引用：IETF Trust legal provisions; standards quotation/paraphrase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是同一分类结果的响应结构示意，省略了id、model、created、usage等非本页重点字段，不能称作真实抓包。头部200说明请求按HTTP语义成功返回，JSON中的finish_reason说明模型结束方式，content再交给应用解析。对应回2.4，SDK会把这些JSON字段映射成Python对象属性。若服务拒绝请求，响应会采用相应状态码和错误结构，而不是总有choices。流式返回时头部只发送一次，之后出错不能简单重新发送一个HTTP状态行，这为后面的流式完成状态做铺垫。</a:t>
            </a:r>
          </a:p>
          <a:p/>
          <a:p>
            <a:r>
              <a:t>讲授预算：1.8分钟</a:t>
            </a:r>
          </a:p>
          <a:p/>
          <a:p>
            <a:r>
              <a:t>[Sources]</a:t>
            </a:r>
          </a:p>
          <a:p>
            <a:r>
              <a:t>RFC 9110 · HTTP Semantics</a:t>
            </a:r>
          </a:p>
          <a:p>
            <a:r>
              <a:t>https://www.rfc-editor.org/rfc/rfc9110.html</a:t>
            </a:r>
          </a:p>
          <a:p>
            <a:r>
              <a:t>定位：§3.3 Connections; §9.2.2 Idempotent Methods; §9.3.3 POST; §15 Status Codes</a:t>
            </a:r>
          </a:p>
          <a:p>
            <a:r>
              <a:t>引用：IETF Trust legal provisions; standards quotation/paraphrase</a:t>
            </a:r>
          </a:p>
          <a:p/>
          <a:p>
            <a:r>
              <a:t>OpenAI · Chat Completions API</a:t>
            </a:r>
          </a:p>
          <a:p>
            <a:r>
              <a:t>https://developers.openai.com/api/reference/resources/chat/subresources/completions/methods/create</a:t>
            </a:r>
          </a:p>
          <a:p>
            <a:r>
              <a:t>定位：Create request; model/messages/max_completion_tokens/temperature/top_p/stop; ChatCompletion response</a:t>
            </a:r>
          </a:p>
          <a:p>
            <a:r>
              <a:t>引用：Official API documentation; limited educational excerpt and paraphrase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解释REST无状态约束的含义：服务器理解一次请求所需信息由请求提供，而不是依赖此前某条连接的会话过程。服务依然可以有数据库、模型权重和缓存，应用也当然可以保存会话。对本讲Chat Completions示例，应用选择历史构造messages；有些API支持会话引用，由其契约定义服务器状态，不能套同一种假设。显式请求有利于跨实例处理、日志重放和故障定位，但长历史会重复传输并增加输入开销。将HTTP连接、会话历史和KV缓存分开，后续解释Agent记忆和Serving缓存时才不会混淆。</a:t>
            </a:r>
          </a:p>
          <a:p/>
          <a:p>
            <a:r>
              <a:t>讲授预算：2.3分钟</a:t>
            </a:r>
          </a:p>
          <a:p/>
          <a:p>
            <a:r>
              <a:t>[Sources]</a:t>
            </a:r>
          </a:p>
          <a:p>
            <a:r>
              <a:t>Fielding · REST Architecture</a:t>
            </a:r>
          </a:p>
          <a:p>
            <a:r>
              <a:t>https://roy.gbiv.com/pubs/dissertation/rest_arch_style.htm</a:t>
            </a:r>
          </a:p>
          <a:p>
            <a:r>
              <a:t>定位：Chapter 5 §5.1, particularly §5.1.3 Stateless and §5.1.5 Uniform Interface</a:t>
            </a:r>
          </a:p>
          <a:p>
            <a:r>
              <a:t>引用：Public dissertation; limited educational paraphrase</a:t>
            </a:r>
          </a:p>
          <a:p/>
          <a:p>
            <a:r>
              <a:t>OpenAI · Chat Completions API</a:t>
            </a:r>
          </a:p>
          <a:p>
            <a:r>
              <a:t>https://developers.openai.com/api/reference/resources/chat/subresources/completions/methods/create</a:t>
            </a:r>
          </a:p>
          <a:p>
            <a:r>
              <a:t>定位：Create request; model/messages/max_completion_tokens/temperature/top_p/stop; ChatCompletion response</a:t>
            </a:r>
          </a:p>
          <a:p>
            <a:r>
              <a:t>引用：Official API documentation; limited educational excerpt and paraphrase</a:t>
            </a:r>
          </a:p>
          <a:p/>
          <a:p>
            <a:r>
              <a:t>vLLM · Automatic Prefix Caching</a:t>
            </a:r>
          </a:p>
          <a:p>
            <a:r>
              <a:t>https://docs.vllm.ai/en/latest/features/automatic_prefix_caching/</a:t>
            </a:r>
          </a:p>
          <a:p>
            <a:r>
              <a:t>定位：Introduction; Example workloads; Limits; fixed commit23cfaad49701c497def53552b23317335431f72a</a:t>
            </a:r>
          </a:p>
          <a:p>
            <a:r>
              <a:t>引用：Apache-2.0; source and license snapshot saved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使用Orca论文Fig2解释一类传统服务流程，不能声称所有现行vLLM服务都恰好有同样组件连接。请求先由endpoint接收，scheduler组织工作，engine运行模型。由此区分网络慢、排队慢和模型执行慢。前面的max token和上下文长度会改变执行工作量，多个并发请求则影响队列。第一周关注单次模型计算，本讲开始建立客户端观测与服务内部阶段的对应。连续批处理算法留到Serving课程，此处不展开Orca的新调度方案。</a:t>
            </a:r>
          </a:p>
          <a:p/>
          <a:p>
            <a:r>
              <a:t>讲授预算：1.8分钟</a:t>
            </a:r>
          </a:p>
          <a:p/>
          <a:p>
            <a:r>
              <a:t>[Sources]</a:t>
            </a:r>
          </a:p>
          <a:p>
            <a:r>
              <a:t>Orca · OSDI 2022</a:t>
            </a:r>
          </a:p>
          <a:p>
            <a:r>
              <a:t>https://www.usenix.org/system/files/osdi22-yu.pdf</a:t>
            </a:r>
          </a:p>
          <a:p>
            <a:r>
              <a:t>定位：Orca OSDI2022，Fig2 Traditional model serving workflow</a:t>
            </a:r>
          </a:p>
          <a:p>
            <a:r>
              <a:t>引用：论文原图节选，保留作者与出处；未核实独立再许可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以顺序表解释分布式系统中的不确定性。客户端超时只说明没有在期限内等到所需数据，不能推断服务器未执行。SDK自动重试可能使任务成功，也会延长等待和增加重复工作。对于纯文本生成，重复主要意味着成本和重复结果；未来Agent调用外部写操作时，重复还可能改变业务状态，因此不能把所有错误都无条件重试。HTTP规范不把POST定义为幂等，服务是否有幂等键或去重必须查契约，不假设OpenAI兼容服务自动保证恰好执行一次。异常处理代码和策略实现留到下一课。</a:t>
            </a:r>
          </a:p>
          <a:p/>
          <a:p>
            <a:r>
              <a:t>讲授预算：2.3分钟</a:t>
            </a:r>
          </a:p>
          <a:p/>
          <a:p>
            <a:r>
              <a:t>[Sources]</a:t>
            </a:r>
          </a:p>
          <a:p>
            <a:r>
              <a:t>OpenAI Python SDK</a:t>
            </a:r>
          </a:p>
          <a:p>
            <a:r>
              <a:t>https://github.com/openai/openai-python/tree/e12b81d3bbf644ec7045e152d69bc4b68d69cd48</a:t>
            </a:r>
          </a:p>
          <a:p>
            <a:r>
              <a:t>定位：SDK Retries；RFC9110 §9.2.2 Idempotent methods</a:t>
            </a:r>
          </a:p>
          <a:p>
            <a:r>
              <a:t>引用：Apache-2.0; local license snapshot saved</a:t>
            </a:r>
          </a:p>
          <a:p/>
          <a:p>
            <a:r>
              <a:t>RFC 9110 · HTTP Semantics</a:t>
            </a:r>
          </a:p>
          <a:p>
            <a:r>
              <a:t>https://www.rfc-editor.org/rfc/rfc9110.html</a:t>
            </a:r>
          </a:p>
          <a:p>
            <a:r>
              <a:t>定位：SDK Retries；RFC9110 §9.2.2 Idempotent methods</a:t>
            </a:r>
          </a:p>
          <a:p>
            <a:r>
              <a:t>引用：IETF Trust legal provisions; standards quotation/paraphrase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在学习完整请求和响应后再说明部署差异，不在开头分三种路径。vLLM等服务提供OpenAI兼容端点，往往可以复用Client接口，但是模型角色、模板和采样参数支持仍有差异。例如服务端没有正确chat template就无法把messages转换为该模型所需序列。直接在进程内用Transformers生成不经过HTTP，本讲描述的是采用模型服务接口的调用方式。这里不布置环境任务，等完整两次课后的小练习再选适合学生设备的方式。API迁移要验证真实输入输出，不只改一个URL就宣布兼容。</a:t>
            </a:r>
          </a:p>
          <a:p/>
          <a:p>
            <a:r>
              <a:t>讲授预算：1.4分钟</a:t>
            </a:r>
          </a:p>
          <a:p/>
          <a:p>
            <a:r>
              <a:t>[Sources]</a:t>
            </a:r>
          </a:p>
          <a:p>
            <a:r>
              <a:t>vLLM · OpenAI-compatible Serving</a:t>
            </a:r>
          </a:p>
          <a:p>
            <a:r>
              <a:t>https://docs.vllm.ai/en/latest/serving/online_serving/</a:t>
            </a:r>
          </a:p>
          <a:p>
            <a:r>
              <a:t>定位：OpenAI-Compatible Server compatibility notes; Chat Template</a:t>
            </a:r>
          </a:p>
          <a:p>
            <a:r>
              <a:t>引用：Official vLLM documentation; limited educational paraphrase</a:t>
            </a:r>
          </a:p>
          <a:p/>
          <a:p>
            <a:r>
              <a:t>Transformers · Chat Templates</a:t>
            </a:r>
          </a:p>
          <a:p>
            <a:r>
              <a:t>https://github.com/huggingface/transformers/blob/f24b457be29ef5e3630380b91a0fc9a364ec65a1/docs/source/en/chat_templating.md</a:t>
            </a:r>
          </a:p>
          <a:p>
            <a:r>
              <a:t>定位：Mistral/Zephyr comparison; local lines30–75; apply_chat_template</a:t>
            </a:r>
          </a:p>
          <a:p>
            <a:r>
              <a:t>引用：Apache-2.0; source header and license saved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沿同一分类调用比较交付方式，而不是直接给delta定义。完整返回时应用通常等到生成完毕再收到结果对象；流式返回在生成过程中交付事件，应用可提前显示部分结果。表内切片是为解释协议设计的示意，不是一次实测，也不表示每个片段恰好一个token。分类答案很短，流式收益可能有限，但长文本、交互式应用更容易受益。更早看到文字不意味着GPU推理必然更快，下一页用自回归生成过程解释为什么可以边生成边交付。</a:t>
            </a:r>
          </a:p>
          <a:p/>
          <a:p>
            <a:r>
              <a:t>讲授预算：1.5分钟</a:t>
            </a:r>
          </a:p>
          <a:p/>
          <a:p>
            <a:r>
              <a:t>[Sources]</a:t>
            </a:r>
          </a:p>
          <a:p>
            <a:r>
              <a:t>OpenAI · Chat Completions API</a:t>
            </a:r>
          </a:p>
          <a:p>
            <a:r>
              <a:t>https://developers.openai.com/api/reference/resources/chat/subresources/completions/methods/create</a:t>
            </a:r>
          </a:p>
          <a:p>
            <a:r>
              <a:t>定位：Create request; model/messages/max_completion_tokens/temperature/top_p/stop; ChatCompletion response</a:t>
            </a:r>
          </a:p>
          <a:p>
            <a:r>
              <a:t>引用：Official API documentation; limited educational excerpt and paraphrase</a:t>
            </a:r>
          </a:p>
          <a:p/>
          <a:p>
            <a:r>
              <a:t>OpenAI Python · ChatCompletionChunk</a:t>
            </a:r>
          </a:p>
          <a:p>
            <a:r>
              <a:t>https://github.com/openai/openai-python/blob/main/src/openai/types/chat/chat_completion_chunk.py</a:t>
            </a:r>
          </a:p>
          <a:p>
            <a:r>
              <a:t>定位：ChoiceDelta; Choice.finish_reason; ChatCompletionChunk.usage</a:t>
            </a:r>
          </a:p>
          <a:p>
            <a:r>
              <a:t>引用：Apache-2.0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承接第一周，用原图提醒输入阶段与输出阶段。Prefill处理输入，Decode在已有状态基础上逐步生成新token。因为输出逐步产生，服务有机会在整体答案完成前交付已经生成的部分。KV缓存避免每一步重算所有前缀，但不消除自回归依赖。图是论文对常见自回归过程的示意，现代推测解码可能一次验证多token，因此不能断言一个网络事件就对应一次前向。Stream是通信交付策略，Decode是模型执行过程，两者应当区分。这一区分是理解下一页时延指标和后面delta分片的前提。图中纵向三个节点代表三层模型，同色节点共享对应层的参数，1至9表示执行顺序；iter1处理所有输入并产生is，之后迭代继续生成great和结束标记。</a:t>
            </a:r>
          </a:p>
          <a:p/>
          <a:p>
            <a:r>
              <a:t>讲授预算：1.5分钟</a:t>
            </a:r>
          </a:p>
          <a:p/>
          <a:p>
            <a:r>
              <a:t>[Sources]</a:t>
            </a:r>
          </a:p>
          <a:p>
            <a:r>
              <a:t>Orca · OSDI 2022</a:t>
            </a:r>
          </a:p>
          <a:p>
            <a:r>
              <a:t>https://www.usenix.org/system/files/osdi22-yu.pdf</a:t>
            </a:r>
          </a:p>
          <a:p>
            <a:r>
              <a:t>定位：Orca Fig1a；vLLM metrics phases</a:t>
            </a:r>
          </a:p>
          <a:p>
            <a:r>
              <a:t>引用：论文原图节选，保留作者与出处；未核实独立再许可</a:t>
            </a:r>
          </a:p>
          <a:p/>
          <a:p>
            <a:r>
              <a:t>vLLM · Metrics design</a:t>
            </a:r>
          </a:p>
          <a:p>
            <a:r>
              <a:t>https://docs.vllm.ai/en/latest/design/metrics/</a:t>
            </a:r>
          </a:p>
          <a:p>
            <a:r>
              <a:t>定位：Orca Fig1a；vLLM metrics phases</a:t>
            </a:r>
          </a:p>
          <a:p>
            <a:r>
              <a:t>引用：vLLM 项目 Apache-2.0；原图保持署名出处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按vLLM原图从左到右读请求生命周期，解释到达、排队、prefill、decode、完成之间的关系，再引入指标。首token延迟不能只归因于Prefill，排队和输入处理也可能占重要部分。原图的服务端到达边界与用户点击发送的边界不同，客户端测量还包含网络、代理和SDK解析等。不同统计项起点也可能不同，因此对比监控图时必须核对定义。这里图用于解释阶段，不从图中读取不存在的具体毫秒值。下一页统一采用客户端接收事件的教学计时边界来推导数值。</a:t>
            </a:r>
          </a:p>
          <a:p/>
          <a:p>
            <a:r>
              <a:t>讲授预算：1.9分钟</a:t>
            </a:r>
          </a:p>
          <a:p/>
          <a:p>
            <a:r>
              <a:t>[Sources]</a:t>
            </a:r>
          </a:p>
          <a:p>
            <a:r>
              <a:t>vLLM · Metrics design</a:t>
            </a:r>
          </a:p>
          <a:p>
            <a:r>
              <a:t>https://docs.vllm.ai/en/latest/design/metrics/</a:t>
            </a:r>
          </a:p>
          <a:p>
            <a:r>
              <a:t>定位：vLLM Metrics，Intervals 原图；计时起点说明</a:t>
            </a:r>
          </a:p>
          <a:p>
            <a:r>
              <a:t>引用：vLLM 项目 Apache-2.0；原图保持署名出处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定义N为可观测输出token数量，且N大于1。首个到最后一个之间有N-1个间隔，因此公式中的系数不能写N。这里以客户端提交和接收为边界，是便于教学的理想化token观测；实际SDK事件未必逐token，客户端直接计事件间隔不能自动得到真实TPOT，需结合token计数和服务指标。该公式截止最后一个输出token，不包含随后完成事件、连接收尾或UI渲染的额外时间。0.8与0.04为计算示例，不是本次性能实测。观察系统慢时，先辨别慢在首输出还是后续速率，再选对应优化方向。</a:t>
            </a:r>
          </a:p>
          <a:p/>
          <a:p>
            <a:r>
              <a:t>讲授预算：2.2分钟</a:t>
            </a:r>
          </a:p>
          <a:p/>
          <a:p>
            <a:r>
              <a:t>[Sources]</a:t>
            </a:r>
          </a:p>
          <a:p>
            <a:r>
              <a:t>vLLM · Metrics design</a:t>
            </a:r>
          </a:p>
          <a:p>
            <a:r>
              <a:t>https://docs.vllm.ai/en/latest/design/metrics/</a:t>
            </a:r>
          </a:p>
          <a:p>
            <a:r>
              <a:t>定位：vLLM latency metrics；本页统一的客户端计时边界与教学计算</a:t>
            </a:r>
          </a:p>
          <a:p>
            <a:r>
              <a:t>引用：vLLM 项目 Apache-2.0；原图保持署名出处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该流是删除无关字段后的Chat Completions协议示意，延续前面的分类文本，保留全部四个内容片段。SSE规定text/event-stream、data行和空行事件分隔；JSON内容的字段和DONE标记由API另外约定。先按事件边界解析，再对事件data解析JSON，不能把每次socket读取都当一个JSON对象。一个读取块可能半个事件，也可能多个事件，UTF-8字符也可能跨底层字节块。SSE用于服务端向客户端推送事件数据，本例由SDK通过POST请求消费响应体，不等于只能用浏览器EventSource的GET模式。</a:t>
            </a:r>
          </a:p>
          <a:p>
            <a:r>
              <a:rPr lang="en-US" altLang="zh-CN"/>
              <a:t>Server-Sent Events（</a:t>
            </a:r>
            <a:r>
              <a:rPr lang="zh-CN" altLang="en-US"/>
              <a:t>服务器推送事件）</a:t>
            </a:r>
            <a:endParaRPr lang="zh-CN" altLang="en-US"/>
          </a:p>
          <a:p/>
          <a:p>
            <a:r>
              <a:t>[Sources]</a:t>
            </a:r>
          </a:p>
          <a:p>
            <a:r>
              <a:t>WHATWG · Server-sent events</a:t>
            </a:r>
          </a:p>
          <a:p>
            <a:r>
              <a:t>https://html.spec.whatwg.org/multipage/server-sent-events.html</a:t>
            </a:r>
          </a:p>
          <a:p>
            <a:r>
              <a:t>定位：WHATWG SSE Parsing an event stream；Chat Completions stream schema，字段节选</a:t>
            </a:r>
          </a:p>
          <a:p>
            <a:r>
              <a:t>引用：官方标准的有限引用；按来源页面使用条款</a:t>
            </a:r>
          </a:p>
          <a:p/>
          <a:p>
            <a:r>
              <a:t>OpenAI Python · ChatCompletionChunk</a:t>
            </a:r>
          </a:p>
          <a:p>
            <a:r>
              <a:t>https://github.com/openai/openai-python/blob/main/src/openai/types/chat/chat_completion_chunk.py</a:t>
            </a:r>
          </a:p>
          <a:p>
            <a:r>
              <a:t>定位：WHATWG SSE Parsing an event stream；Chat Completions stream schema，字段节选</a:t>
            </a:r>
          </a:p>
          <a:p>
            <a:r>
              <a:t>引用：Apache-2.0</a:t>
            </a:r>
          </a:p>
          <a:p/>
          <a:p>
            <a:r>
              <a:t>OpenAI · Chat Completions API</a:t>
            </a:r>
          </a:p>
          <a:p>
            <a:r>
              <a:t>https://developers.openai.com/api/reference/resources/chat/subresources/completions/methods/create</a:t>
            </a:r>
          </a:p>
          <a:p>
            <a:r>
              <a:t>定位：WHATWG SSE Parsing an event stream；Chat Completions stream schema，字段节选</a:t>
            </a:r>
          </a:p>
          <a:p>
            <a:r>
              <a:t>引用：Official API documentation; limited educational excerpt and paraphrase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用同一份结果演示增量累积，字符串前面的空格也是内容，不能每片strip后拼接，否则可能把词粘在一起。delta有时包含role，有时包含content，也可能包含工具调用的参数片段；不能假定每个事件都是文字。完成事件可以没有新增内容但带finish_reason，因此过滤空内容时仍要处理状态。表里的片段是语义示意，不声称其切分等同模型token。若应用需要展示，只要正确累积和刷新即可；如果后续要执行结构化指令，必须等待并检查完整结果，下一页解释消费者代码怎样对应这些责任。</a:t>
            </a:r>
          </a:p>
          <a:p/>
          <a:p>
            <a:r>
              <a:t>讲授预算：1.9分钟</a:t>
            </a:r>
          </a:p>
          <a:p/>
          <a:p>
            <a:r>
              <a:t>[Sources]</a:t>
            </a:r>
          </a:p>
          <a:p>
            <a:r>
              <a:t>OpenAI Python · ChatCompletionChunk</a:t>
            </a:r>
          </a:p>
          <a:p>
            <a:r>
              <a:t>https://github.com/openai/openai-python/blob/main/src/openai/types/chat/chat_completion_chunk.py</a:t>
            </a:r>
          </a:p>
          <a:p>
            <a:r>
              <a:t>定位：ChoiceDelta; Choice.finish_reason; ChatCompletionChunk.usage</a:t>
            </a:r>
          </a:p>
          <a:p>
            <a:r>
              <a:t>引用：Apache-2.0</a:t>
            </a:r>
          </a:p>
          <a:p/>
          <a:p>
            <a:r>
              <a:t>OpenAI Python · Streaming helpers</a:t>
            </a:r>
          </a:p>
          <a:p>
            <a:r>
              <a:t>https://github.com/openai/openai-python/blob/main/helpers.md</a:t>
            </a:r>
          </a:p>
          <a:p>
            <a:r>
              <a:t>定位：Chat Completions Events; get_final_completion; context manager</a:t>
            </a:r>
          </a:p>
          <a:p>
            <a:r>
              <a:t>引用：Apache-2.0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短代码用于映射前面解释的责任，不是一个完整的健壮客户端。stream来自同一次create(..., stream=True)调用，render是界面更新函数。示例跳过choices为空的usage事件，因此它不是用量采集代码；需要用量时应另行读取。第一条有效choice通常采用index0，本例仅讨论单候选文本。delta.content为空不代表没有结束信息，要继续读取finish_reason。实际应用还需异常捕获、资源关闭、取消和部分结果策略，分别在后续页面解释。用代码旁注说明消费者为什么这样组织，不逐行讲Python语法。</a:t>
            </a:r>
          </a:p>
          <a:p/>
          <a:p>
            <a:r>
              <a:t>讲授预算：1.9分钟</a:t>
            </a:r>
          </a:p>
          <a:p/>
          <a:p>
            <a:r>
              <a:t>[Sources]</a:t>
            </a:r>
          </a:p>
          <a:p>
            <a:r>
              <a:t>OpenAI Python SDK</a:t>
            </a:r>
          </a:p>
          <a:p>
            <a:r>
              <a:t>https://github.com/openai/openai-python/tree/e12b81d3bbf644ec7045e152d69bc4b68d69cd48</a:t>
            </a:r>
          </a:p>
          <a:p>
            <a:r>
              <a:t>定位：README: Usage, Using types, Request IDs, Retries, Timeouts, Managing HTTP resources; _base_client.py</a:t>
            </a:r>
          </a:p>
          <a:p>
            <a:r>
              <a:t>引用：Apache-2.0; local license snapshot saved</a:t>
            </a:r>
          </a:p>
          <a:p/>
          <a:p>
            <a:r>
              <a:t>OpenAI Python · ChatCompletionChunk</a:t>
            </a:r>
          </a:p>
          <a:p>
            <a:r>
              <a:t>https://github.com/openai/openai-python/blob/main/src/openai/types/chat/chat_completion_chunk.py</a:t>
            </a:r>
          </a:p>
          <a:p>
            <a:r>
              <a:t>定位：ChoiceDelta; Choice.finish_reason; ChatCompletionChunk.usage</a:t>
            </a:r>
          </a:p>
          <a:p>
            <a:r>
              <a:t>引用：Apache-2.0</a:t>
            </a:r>
          </a:p>
          <a:p/>
          <a:p>
            <a:r>
              <a:t>OpenAI Python · Streaming helpers</a:t>
            </a:r>
          </a:p>
          <a:p>
            <a:r>
              <a:t>https://github.com/openai/openai-python/blob/main/helpers.md</a:t>
            </a:r>
          </a:p>
          <a:p>
            <a:r>
              <a:t>定位：Chat Completions Events; get_final_completion; context manager</a:t>
            </a:r>
          </a:p>
          <a:p>
            <a:r>
              <a:t>引用：Apache-2.0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页把2.10的三个判断层次扩展到流式。头部200已经发出后，模型服务或网络仍可能出错，不能因为已经显示文字就显示任务成功。普通文章可以允许用户查看部分内容，而工具参数、JSON或程序修改等结果通常需要完整解析和校验后才能执行。即使结束原因stop也不能跳过业务检查。下一次课的Structured Output和异常处理将基于这个边界展开，本讲只说明为什么需要那些机制。流循环自然结束也未必意味着收到了预期终止状态，应将reason和异常情况纳入判断。</a:t>
            </a:r>
          </a:p>
          <a:p/>
          <a:p>
            <a:r>
              <a:t>讲授预算：1.9分钟</a:t>
            </a:r>
          </a:p>
          <a:p/>
          <a:p>
            <a:r>
              <a:t>[Sources]</a:t>
            </a:r>
          </a:p>
          <a:p>
            <a:r>
              <a:t>OpenAI Python · ChatCompletionChunk</a:t>
            </a:r>
          </a:p>
          <a:p>
            <a:r>
              <a:t>https://github.com/openai/openai-python/blob/main/src/openai/types/chat/chat_completion_chunk.py</a:t>
            </a:r>
          </a:p>
          <a:p>
            <a:r>
              <a:t>定位：ChoiceDelta; Choice.finish_reason; ChatCompletionChunk.usage</a:t>
            </a:r>
          </a:p>
          <a:p>
            <a:r>
              <a:t>引用：Apache-2.0</a:t>
            </a:r>
          </a:p>
          <a:p/>
          <a:p>
            <a:r>
              <a:t>OpenAI Python · Streaming helpers</a:t>
            </a:r>
          </a:p>
          <a:p>
            <a:r>
              <a:t>https://github.com/openai/openai-python/blob/main/helpers.md</a:t>
            </a:r>
          </a:p>
          <a:p>
            <a:r>
              <a:t>定位：Chat Completions Events; get_final_completion; context manager</a:t>
            </a:r>
          </a:p>
          <a:p>
            <a:r>
              <a:t>引用：Apache-2.0</a:t>
            </a:r>
          </a:p>
          <a:p/>
          <a:p>
            <a:r>
              <a:t>RFC 9110 · HTTP Semantics</a:t>
            </a:r>
          </a:p>
          <a:p>
            <a:r>
              <a:t>https://www.rfc-editor.org/rfc/rfc9110.html</a:t>
            </a:r>
          </a:p>
          <a:p>
            <a:r>
              <a:t>定位：§3.3 Connections; §9.2.2 Idempotent Methods; §9.3.3 POST; §15 Status Codes</a:t>
            </a:r>
          </a:p>
          <a:p>
            <a:r>
              <a:t>引用：IETF Trust legal provisions; standards quotation/paraphrase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解释“stream=True却一口气显示”的常见现象：模型可能正常生成，代理缓冲或UI刷新策略却把多个片段聚合。NGINX有proxy_buffering等配置，但不需要在课堂背配置文件，应知道在哪层观测。取消同样是端到端问题，关闭消费者或断开连接后，服务实现需要检测并终止相关工作，释放调度和缓存资源。vLLM的AsyncLLM实现中有相应取消和清理路径，这里不把任何客户端break都说成服务已成功取消。建立接收、显示和服务时间分别记录的习惯，有助于后续性能分析。</a:t>
            </a:r>
          </a:p>
          <a:p/>
          <a:p>
            <a:r>
              <a:t>讲授预算：1.5分钟</a:t>
            </a:r>
          </a:p>
          <a:p/>
          <a:p>
            <a:r>
              <a:t>[Sources]</a:t>
            </a:r>
          </a:p>
          <a:p>
            <a:r>
              <a:t>NGINX · proxy_buffering</a:t>
            </a:r>
          </a:p>
          <a:p>
            <a:r>
              <a:t>https://nginx.org/en/docs/http/ngx_http_proxy_module.html#proxy_buffering</a:t>
            </a:r>
          </a:p>
          <a:p>
            <a:r>
              <a:t>定位：proxy_buffering and X-Accel-Buffering</a:t>
            </a:r>
          </a:p>
          <a:p>
            <a:r>
              <a:t>引用：官方文档有限引用；按来源页面使用条款</a:t>
            </a:r>
          </a:p>
          <a:p/>
          <a:p>
            <a:r>
              <a:t>vLLM · AsyncLLM cancellation</a:t>
            </a:r>
          </a:p>
          <a:p>
            <a:r>
              <a:t>https://github.com/vllm-project/vllm/blob/main/vllm/v1/engine/async_llm.py</a:t>
            </a:r>
          </a:p>
          <a:p>
            <a:r>
              <a:t>定位：generate cancellation handling and abort()</a:t>
            </a:r>
          </a:p>
          <a:p>
            <a:r>
              <a:t>引用：Apache-2.0</a:t>
            </a:r>
          </a:p>
          <a:p/>
          <a:p>
            <a:r>
              <a:t>vLLM · Metrics design</a:t>
            </a:r>
          </a:p>
          <a:p>
            <a:r>
              <a:t>https://docs.vllm.ai/en/latest/design/metrics/</a:t>
            </a:r>
          </a:p>
          <a:p>
            <a:r>
              <a:t>定位：Interval Calculations; Frontend Stats Collection</a:t>
            </a:r>
          </a:p>
          <a:p>
            <a:r>
              <a:t>引用：vLLM 项目 Apache-2.0；原图保持署名出处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避免把流式、异步和并发混成“更快”。同步代码也能流式消费；异步代码可以等一个完整响应；并发则是同时存在多个在途请求。await释放的是程序执行机会，不改变单个服务端请求的计算依赖。对多个独立问题可以并发请求，对Agent依赖工具结果再做下一步的调用则不能任意并行。增加并发往往先提高利用率，达到服务容量后会增加排队和尾延迟。因此是否更快需要同时看单请求延迟、吞吐和错误率。调度与批处理优化将在后续Serving课深入。</a:t>
            </a:r>
          </a:p>
          <a:p/>
          <a:p>
            <a:r>
              <a:t>讲授预算：1.9分钟</a:t>
            </a:r>
          </a:p>
          <a:p/>
          <a:p>
            <a:r>
              <a:t>[Sources]</a:t>
            </a:r>
          </a:p>
          <a:p>
            <a:r>
              <a:t>Python · Coroutines and tasks</a:t>
            </a:r>
          </a:p>
          <a:p>
            <a:r>
              <a:t>https://docs.python.org/3/library/asyncio-task.html</a:t>
            </a:r>
          </a:p>
          <a:p>
            <a:r>
              <a:t>定位：Coroutines; Creating tasks; Task cancellation</a:t>
            </a:r>
          </a:p>
          <a:p>
            <a:r>
              <a:t>引用：Python documentation license; official documentation citation</a:t>
            </a:r>
          </a:p>
          <a:p/>
          <a:p>
            <a:r>
              <a:t>OpenAI Python SDK</a:t>
            </a:r>
          </a:p>
          <a:p>
            <a:r>
              <a:t>https://github.com/openai/openai-python/tree/e12b81d3bbf644ec7045e152d69bc4b68d69cd48</a:t>
            </a:r>
          </a:p>
          <a:p>
            <a:r>
              <a:t>定位：README: Usage, Using types, Request IDs, Retries, Timeouts, Managing HTTP resources; _base_client.py</a:t>
            </a:r>
          </a:p>
          <a:p>
            <a:r>
              <a:t>引用：Apache-2.0; local license snapshot saved</a:t>
            </a:r>
          </a:p>
          <a:p/>
          <a:p>
            <a:r>
              <a:t>vLLM · Metrics design</a:t>
            </a:r>
          </a:p>
          <a:p>
            <a:r>
              <a:t>https://docs.vllm.ai/en/latest/design/metrics/</a:t>
            </a:r>
          </a:p>
          <a:p>
            <a:r>
              <a:t>定位：Interval Calculations; Frontend Stats Collection</a:t>
            </a:r>
          </a:p>
          <a:p>
            <a:r>
              <a:t>引用：vLLM 项目 Apache-2.0；原图保持署名出处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在学生已经理解阶段、指标和并发后再展示DistServe图，避免论文先行。这是一项研究对prefill与decode干扰的说明，图中prefill计算会影响已有请求的decode节奏，反过来服务资源分配也影响新请求的首token等待。这里不要求学生掌握预填充解码分离的完整系统设计，而是理解为什么客户端参数相同，性能仍会随负载变化。优化可以改变批处理、调度和资源隔离，但可能在吞吐、延迟、资源成本间交换。后续Serving课程将用TTFT、TPOT和吞吐实测评估这些方案。读图时先区分蓝线decoding-with-one-prefill与橙线decoding-only，横轴是batch size，纵轴是latency(ms)。左右图输入长度分别128和1024；不能把两条曲线直接说成同一请求端到端TTFT或TPOT。这是论文条件下的批次执行测量，用于说明混合阶段的相互影响。</a:t>
            </a:r>
          </a:p>
          <a:p/>
          <a:p>
            <a:r>
              <a:t>讲授预算：1.5分钟</a:t>
            </a:r>
          </a:p>
          <a:p/>
          <a:p>
            <a:r>
              <a:t>[Sources]</a:t>
            </a:r>
          </a:p>
          <a:p>
            <a:r>
              <a:t>DistServe · OSDI 2024</a:t>
            </a:r>
          </a:p>
          <a:p>
            <a:r>
              <a:t>https://www.usenix.org/system/files/osdi24-zhong-yinmin.pdf</a:t>
            </a:r>
          </a:p>
          <a:p>
            <a:r>
              <a:t>定位：DistServe OSDI2024，Fig2 prefill/decode interference</a:t>
            </a:r>
          </a:p>
          <a:p>
            <a:r>
              <a:t>引用：论文原图节选，保留作者与出处；未核实独立再许可</a:t>
            </a:r>
          </a:p>
          <a:p/>
          <a:p>
            <a:r>
              <a:t>vLLM · Metrics design</a:t>
            </a:r>
          </a:p>
          <a:p>
            <a:r>
              <a:t>https://docs.vllm.ai/en/latest/design/metrics/</a:t>
            </a:r>
          </a:p>
          <a:p>
            <a:r>
              <a:t>定位：DistServe OSDI2024，Fig2 prefill/decode interference</a:t>
            </a:r>
          </a:p>
          <a:p>
            <a:r>
              <a:t>引用：vLLM 项目 Apache-2.0；原图保持署名出处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对照课程表做有限衔接：第三周Agent Loop使用本轮messages和工具结果组织下一次输入，第五六周Memory与RAG解决信息选择，第七周Serving分析等待和容量，后续Trace与评估定位多步错误。这里不加入代码助手综合演示，也不布置作业，只指出本讲基础概念在后续课程的位置。强调Agent系统由多次模型调用、工具和状态组成，一次调用的错误假设会在循环中累积，例如把部分JSON当完整工具参数，或者把客户端超时当作服务未执行。</a:t>
            </a:r>
          </a:p>
          <a:p/>
          <a:p>
            <a:r>
              <a:t>讲授预算：1.1分钟</a:t>
            </a:r>
          </a:p>
          <a:p/>
          <a:p>
            <a:r>
              <a:t>[Sources]</a:t>
            </a:r>
          </a:p>
          <a:p>
            <a:r>
              <a:t>顶点课程：16周课程安排</a:t>
            </a:r>
          </a:p>
          <a:p>
            <a:r>
              <a:t>D:/项目-顶点课程/顶点课程-16周课程安排与备课分工.xlsx</a:t>
            </a:r>
          </a:p>
          <a:p>
            <a:r>
              <a:t>定位：课程安排工作表：第2、3、7、9、11、12周</a:t>
            </a:r>
          </a:p>
          <a:p>
            <a:r>
              <a:t>引用：用户提供的课程内部材料，仅用于本课程备课。</a:t>
            </a:r>
          </a:p>
          <a:p/>
          <a:p>
            <a:r>
              <a:t>Chip Huyen · Building A Generative AI Platform</a:t>
            </a:r>
          </a:p>
          <a:p>
            <a:r>
              <a:t>https://huyenchip.com/2024/07/25/genai-platform.html</a:t>
            </a:r>
          </a:p>
          <a:p>
            <a:r>
              <a:t>定位：开篇最小架构、Query rewriting、Gateway、Observability</a:t>
            </a:r>
          </a:p>
          <a:p>
            <a:r>
              <a:t>引用：公开作者文章，有限转述并注明来源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回顾不再堆新名词。把最初那次分类请求从输入到返回快速串起来：规则和投诉进入messages，Client配置并发出请求，HTTP承载JSON，服务执行模型，完整或流式交付，程序最终检查结束和标签。第二次课继续解决输出结构可校验以及失败恢复问题。第一次课结束不安排作业或课堂活动。</a:t>
            </a:r>
          </a:p>
          <a:p/>
          <a:p>
            <a:r>
              <a:t>讲授预算：2分钟</a:t>
            </a:r>
          </a:p>
          <a:p/>
          <a:p>
            <a:r>
              <a:t>[Sources]</a:t>
            </a:r>
          </a:p>
          <a:p/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本页仅列四组代表性阅读。每一教学页的页脚链接对应具体来源，完整定位放在备注和配套讲稿。AI Engineering公开仓库提供章节总结和部分图，完整书籍需要合法获取，备课中的具体细节另由官方文档、论文和公开课程验证。Anthropic课程按CC BY-NC4.0非商业教学使用，代码与协议片段的原始许可和来源保存在资料登记中。论文原图均为相关机制的有限引用，保留图号、条件和作者。</a:t>
            </a:r>
          </a:p>
          <a:p/>
          <a:p>
            <a:r>
              <a:t>讲授预算：0分钟</a:t>
            </a:r>
          </a:p>
          <a:p/>
          <a:p>
            <a:r>
              <a:t>[Sources]</a:t>
            </a:r>
          </a:p>
          <a:p>
            <a:r>
              <a:t>Chip Huyen · AI Engineering</a:t>
            </a:r>
          </a:p>
          <a:p>
            <a:r>
              <a:t>https://github.com/chiphuyen/aie-book/blob/main/chapter-summaries.md</a:t>
            </a:r>
          </a:p>
          <a:p>
            <a:r>
              <a:t>定位：作者公开章节总结，Ch2 / Ch5 / Ch9；Fig5-1、Fig9-1</a:t>
            </a:r>
          </a:p>
          <a:p>
            <a:r>
              <a:t>引用：作者公开配套资料；原图限量教学引用，正文为概念解释与教学重组</a:t>
            </a:r>
          </a:p>
          <a:p/>
          <a:p>
            <a:r>
              <a:t>Anthropic · Classification Evals</a:t>
            </a:r>
          </a:p>
          <a:p>
            <a:r>
              <a:t>https://github.com/anthropics/courses/blob/f4dbb137d7b02dddaf3cc73e32e20a702d3b5e77/prompt_evaluations/04_code_graded_classification_evals/04_code_graded_classification_evals.ipynb</a:t>
            </a:r>
          </a:p>
          <a:p>
            <a:r>
              <a:t>定位：cells2,4,6,9,11,13,14 (zero-based)</a:t>
            </a:r>
          </a:p>
          <a:p>
            <a:r>
              <a:t>引用：CC BY-NC 4.0; excerpted/translated for noncommercial teaching</a:t>
            </a:r>
          </a:p>
          <a:p/>
          <a:p>
            <a:r>
              <a:t>OpenAI Python SDK</a:t>
            </a:r>
          </a:p>
          <a:p>
            <a:r>
              <a:t>https://github.com/openai/openai-python/tree/e12b81d3bbf644ec7045e152d69bc4b68d69cd48</a:t>
            </a:r>
          </a:p>
          <a:p>
            <a:r>
              <a:t>定位：README: Usage, Using types, Request IDs, Retries, Timeouts, Managing HTTP resources; _base_client.py</a:t>
            </a:r>
          </a:p>
          <a:p>
            <a:r>
              <a:t>引用：Apache-2.0; local license snapshot saved</a:t>
            </a:r>
          </a:p>
          <a:p/>
          <a:p>
            <a:r>
              <a:t>vLLM · Metrics design</a:t>
            </a:r>
          </a:p>
          <a:p>
            <a:r>
              <a:t>https://docs.vllm.ai/en/latest/design/metrics/</a:t>
            </a:r>
          </a:p>
          <a:p>
            <a:r>
              <a:t>定位：Interval Calculations; Frontend Stats Collection</a:t>
            </a:r>
          </a:p>
          <a:p>
            <a:r>
              <a:t>引用：vLLM 项目 Apache-2.0；原图保持署名出处</a:t>
            </a:r>
          </a:p>
          <a:p>
            <a:r>
              <a:t>[/Sources]</a:t>
            </a:r>
          </a:p>
          <a:p/>
          <a:p>
            <a:r>
              <a:t>                                 Apache License</a:t>
            </a:r>
          </a:p>
          <a:p>
            <a:r>
              <a:t>                           Version 2.0, January 2004</a:t>
            </a:r>
          </a:p>
          <a:p>
            <a:r>
              <a:t>                        http://www.apache.org/licenses/</a:t>
            </a:r>
          </a:p>
          <a:p/>
          <a:p>
            <a:r>
              <a:t>   TERMS AND CONDITIONS FOR USE, REPRODUCTION, AND DISTRIBUTION</a:t>
            </a:r>
          </a:p>
          <a:p/>
          <a:p>
            <a:r>
              <a:t>   1. Definitions.</a:t>
            </a:r>
          </a:p>
          <a:p/>
          <a:p>
            <a:r>
              <a:t>      "License" shall mean the terms and conditions for use, reproduction,</a:t>
            </a:r>
          </a:p>
          <a:p>
            <a:r>
              <a:t>      and distribution as defined by Sections 1 through 9 of this document.</a:t>
            </a:r>
          </a:p>
          <a:p/>
          <a:p>
            <a:r>
              <a:t>      "Licensor" shall mean the copyright owner or entity authorized by</a:t>
            </a:r>
          </a:p>
          <a:p>
            <a:r>
              <a:t>      the copyright owner that is granting the License.</a:t>
            </a:r>
          </a:p>
          <a:p/>
          <a:p>
            <a:r>
              <a:t>      "Legal Entity" shall mean the union of the acting entity and all</a:t>
            </a:r>
          </a:p>
          <a:p>
            <a:r>
              <a:t>      other entities that control, are controlled by, or are under common</a:t>
            </a:r>
          </a:p>
          <a:p>
            <a:r>
              <a:t>      control with that entity. For the purposes of this definition,</a:t>
            </a:r>
          </a:p>
          <a:p>
            <a:r>
              <a:t>      "control" means (i) the power, direct or indirect, to cause the</a:t>
            </a:r>
          </a:p>
          <a:p>
            <a:r>
              <a:t>      direction or management of such entity, whether by contract or</a:t>
            </a:r>
          </a:p>
          <a:p>
            <a:r>
              <a:t>      otherwise, or (ii) ownership of fifty percent (50%) or more of the</a:t>
            </a:r>
          </a:p>
          <a:p>
            <a:r>
              <a:t>      outstanding shares, or (iii) beneficial ownership of such entity.</a:t>
            </a:r>
          </a:p>
          <a:p/>
          <a:p>
            <a:r>
              <a:t>      "You" (or "Your") shall mean an individual or Legal Entity</a:t>
            </a:r>
          </a:p>
          <a:p>
            <a:r>
              <a:t>      exercising permissions granted by this License.</a:t>
            </a:r>
          </a:p>
          <a:p/>
          <a:p>
            <a:r>
              <a:t>      "Source" form shall mean the preferred form for making modifications,</a:t>
            </a:r>
          </a:p>
          <a:p>
            <a:r>
              <a:t>      including but not limited to software source code, documentation</a:t>
            </a:r>
          </a:p>
          <a:p>
            <a:r>
              <a:t>      source, and configuration files.</a:t>
            </a:r>
          </a:p>
          <a:p/>
          <a:p>
            <a:r>
              <a:t>      "Object" form shall mean any form resulting from mechanical</a:t>
            </a:r>
          </a:p>
          <a:p>
            <a:r>
              <a:t>      transformation or translation of a Source form, including but</a:t>
            </a:r>
          </a:p>
          <a:p>
            <a:r>
              <a:t>      not limited to compiled object code, generated documentation,</a:t>
            </a:r>
          </a:p>
          <a:p>
            <a:r>
              <a:t>      and conversions to other media types.</a:t>
            </a:r>
          </a:p>
          <a:p/>
          <a:p>
            <a:r>
              <a:t>      "Work" shall mean the work of authorship, whether in Source or</a:t>
            </a:r>
          </a:p>
          <a:p>
            <a:r>
              <a:t>      Object form, made available under the License, as indicated by a</a:t>
            </a:r>
          </a:p>
          <a:p>
            <a:r>
              <a:t>      copyright notice that is included in or attached to the work</a:t>
            </a:r>
          </a:p>
          <a:p>
            <a:r>
              <a:t>      (an example is provided in the Appendix below).</a:t>
            </a:r>
          </a:p>
          <a:p/>
          <a:p>
            <a:r>
              <a:t>      "Derivative Works" shall mean any work, whether in Source or Object</a:t>
            </a:r>
          </a:p>
          <a:p>
            <a:r>
              <a:t>      form, that is based on (or derived from) the Work and for which the</a:t>
            </a:r>
          </a:p>
          <a:p>
            <a:r>
              <a:t>      editorial revisions, annotations, elaborations, or other modifications</a:t>
            </a:r>
          </a:p>
          <a:p>
            <a:r>
              <a:t>      represent, as a whole, an original work of authorship. For the purposes</a:t>
            </a:r>
          </a:p>
          <a:p>
            <a:r>
              <a:t>      of this License, Derivative Works shall not include works that remain</a:t>
            </a:r>
          </a:p>
          <a:p>
            <a:r>
              <a:t>      separable from, or merely link (or bind by name) to the interfaces of,</a:t>
            </a:r>
          </a:p>
          <a:p>
            <a:r>
              <a:t>      the Work and Derivative Works thereof.</a:t>
            </a:r>
          </a:p>
          <a:p/>
          <a:p>
            <a:r>
              <a:t>      "Contribution" shall mean any work of authorship, including</a:t>
            </a:r>
          </a:p>
          <a:p>
            <a:r>
              <a:t>      the original version of the Work and any modifications or additions</a:t>
            </a:r>
          </a:p>
          <a:p>
            <a:r>
              <a:t>      to that Work or Derivative Works thereof, that is intentionally</a:t>
            </a:r>
          </a:p>
          <a:p>
            <a:r>
              <a:t>      submitted to Licensor for inclusion in the Work by the copyright owner</a:t>
            </a:r>
          </a:p>
          <a:p>
            <a:r>
              <a:t>      or by an individual or Legal Entity authorized to submit on behalf of</a:t>
            </a:r>
          </a:p>
          <a:p>
            <a:r>
              <a:t>      the copyright owner. For the purposes of this definition, "submitted"</a:t>
            </a:r>
          </a:p>
          <a:p>
            <a:r>
              <a:t>      means any form of electronic, verbal, or written communication sent</a:t>
            </a:r>
          </a:p>
          <a:p>
            <a:r>
              <a:t>      to the Licensor or its representatives, including but not limited to</a:t>
            </a:r>
          </a:p>
          <a:p>
            <a:r>
              <a:t>      communication on electronic mailing lists, source code control systems,</a:t>
            </a:r>
          </a:p>
          <a:p>
            <a:r>
              <a:t>      and issue tracking systems that are managed by, or on behalf of, the</a:t>
            </a:r>
          </a:p>
          <a:p>
            <a:r>
              <a:t>      Licensor for the purpose of discussing and improving the Work, but</a:t>
            </a:r>
          </a:p>
          <a:p>
            <a:r>
              <a:t>      excluding communication that is conspicuously marked or otherwise</a:t>
            </a:r>
          </a:p>
          <a:p>
            <a:r>
              <a:t>      designated in writing by the copyright owner as "Not a Contribution."</a:t>
            </a:r>
          </a:p>
          <a:p/>
          <a:p>
            <a:r>
              <a:t>      "Contributor" shall mean Licensor and any individual or Legal Entity</a:t>
            </a:r>
          </a:p>
          <a:p>
            <a:r>
              <a:t>      on behalf of whom a Contribution has been received by Licensor and</a:t>
            </a:r>
          </a:p>
          <a:p>
            <a:r>
              <a:t>      subsequently incorporated within the Work.</a:t>
            </a:r>
          </a:p>
          <a:p/>
          <a:p>
            <a:r>
              <a:t>   2. Grant of Copyright License. Subject to the terms and conditions of</a:t>
            </a:r>
          </a:p>
          <a:p>
            <a:r>
              <a:t>      this License, each Contributor hereby grants to You a perpetual,</a:t>
            </a:r>
          </a:p>
          <a:p>
            <a:r>
              <a:t>      worldwide, non-exclusive, no-charge, royalty-free, irrevocable</a:t>
            </a:r>
          </a:p>
          <a:p>
            <a:r>
              <a:t>      copyright license to reproduce, prepare Derivative Works of,</a:t>
            </a:r>
          </a:p>
          <a:p>
            <a:r>
              <a:t>      publicly display, publicly perform, sublicense, and distribute the</a:t>
            </a:r>
          </a:p>
          <a:p>
            <a:r>
              <a:t>      Work and such Derivative Works in Source or Object form.</a:t>
            </a:r>
          </a:p>
          <a:p/>
          <a:p>
            <a:r>
              <a:t>   3. Grant of Patent License. Subject to the terms and conditions of</a:t>
            </a:r>
          </a:p>
          <a:p>
            <a:r>
              <a:t>      this License, each Contributor hereby grants to You a perpetual,</a:t>
            </a:r>
          </a:p>
          <a:p>
            <a:r>
              <a:t>      worldwide, non-exclusive, no-charge, royalty-free, irrevocable</a:t>
            </a:r>
          </a:p>
          <a:p>
            <a:r>
              <a:t>      (except as stated in this section) patent license to make, have made,</a:t>
            </a:r>
          </a:p>
          <a:p>
            <a:r>
              <a:t>      use, offer to sell, sell, import, and otherwise transfer the Work,</a:t>
            </a:r>
          </a:p>
          <a:p>
            <a:r>
              <a:t>      where such license applies only to those patent claims licensable</a:t>
            </a:r>
          </a:p>
          <a:p>
            <a:r>
              <a:t>      by such Contributor that are necessarily infringed by their</a:t>
            </a:r>
          </a:p>
          <a:p>
            <a:r>
              <a:t>      Contribution(s) alone or by combination of their Contribution(s)</a:t>
            </a:r>
          </a:p>
          <a:p>
            <a:r>
              <a:t>      with the Work to which such Contribution(s) was submitted. If You</a:t>
            </a:r>
          </a:p>
          <a:p>
            <a:r>
              <a:t>      institute patent litigation against any entity (including a</a:t>
            </a:r>
          </a:p>
          <a:p>
            <a:r>
              <a:t>      cross-claim or counterclaim in a lawsuit) alleging that the Work</a:t>
            </a:r>
          </a:p>
          <a:p>
            <a:r>
              <a:t>      or a Contribution incorporated within the Work constitutes direct</a:t>
            </a:r>
          </a:p>
          <a:p>
            <a:r>
              <a:t>      or contributory patent infringement, then any patent licenses</a:t>
            </a:r>
          </a:p>
          <a:p>
            <a:r>
              <a:t>      granted to You under this License for that Work shall terminate</a:t>
            </a:r>
          </a:p>
          <a:p>
            <a:r>
              <a:t>      as of the date such litigation is filed.</a:t>
            </a:r>
          </a:p>
          <a:p/>
          <a:p>
            <a:r>
              <a:t>   4. Redistribution. You may reproduce and distribute copies of the</a:t>
            </a:r>
          </a:p>
          <a:p>
            <a:r>
              <a:t>      Work or Derivative Works thereof in any medium, with or without</a:t>
            </a:r>
          </a:p>
          <a:p>
            <a:r>
              <a:t>      modifications, and in Source or Object form, provided that You</a:t>
            </a:r>
          </a:p>
          <a:p>
            <a:r>
              <a:t>      meet the following conditions:</a:t>
            </a:r>
          </a:p>
          <a:p/>
          <a:p>
            <a:r>
              <a:t>      (a) You must give any other recipients of the Work or</a:t>
            </a:r>
          </a:p>
          <a:p>
            <a:r>
              <a:t>          Derivative Works a copy of this License; and</a:t>
            </a:r>
          </a:p>
          <a:p/>
          <a:p>
            <a:r>
              <a:t>      (b) You must cause any modified files to carry prominent notices</a:t>
            </a:r>
          </a:p>
          <a:p>
            <a:r>
              <a:t>          stating that You changed the files; and</a:t>
            </a:r>
          </a:p>
          <a:p/>
          <a:p>
            <a:r>
              <a:t>      (c) You must retain, in the Source form of any Derivative Works</a:t>
            </a:r>
          </a:p>
          <a:p>
            <a:r>
              <a:t>          that You distribute, all copyright, patent, trademark, and</a:t>
            </a:r>
          </a:p>
          <a:p>
            <a:r>
              <a:t>          attribution notices from the Source form of the Work,</a:t>
            </a:r>
          </a:p>
          <a:p>
            <a:r>
              <a:t>          excluding those notices that do not pertain to any part of</a:t>
            </a:r>
          </a:p>
          <a:p>
            <a:r>
              <a:t>          the Derivative Works; and</a:t>
            </a:r>
          </a:p>
          <a:p/>
          <a:p>
            <a:r>
              <a:t>      (d) If the Work includes a "NOTICE" text file as part of its</a:t>
            </a:r>
          </a:p>
          <a:p>
            <a:r>
              <a:t>          distribution, then any Derivative Works that You distribute must</a:t>
            </a:r>
          </a:p>
          <a:p>
            <a:r>
              <a:t>          include a readable copy of the attribution notices contained</a:t>
            </a:r>
          </a:p>
          <a:p>
            <a:r>
              <a:t>          within such NOTICE file, excluding those notices that do not</a:t>
            </a:r>
          </a:p>
          <a:p>
            <a:r>
              <a:t>          pertain to any part of the Derivative Works, in at least one</a:t>
            </a:r>
          </a:p>
          <a:p>
            <a:r>
              <a:t>          of the following places: within a NOTICE text file distributed</a:t>
            </a:r>
          </a:p>
          <a:p>
            <a:r>
              <a:t>          as part of the Derivative Works; within the Source form or</a:t>
            </a:r>
          </a:p>
          <a:p>
            <a:r>
              <a:t>          documentation, if provided along with the Derivative Works; or,</a:t>
            </a:r>
          </a:p>
          <a:p>
            <a:r>
              <a:t>          within a display generated by the Derivative Works, if and</a:t>
            </a:r>
          </a:p>
          <a:p>
            <a:r>
              <a:t>          wherever such third-party notices normally appear. The contents</a:t>
            </a:r>
          </a:p>
          <a:p>
            <a:r>
              <a:t>          of the NOTICE file are for informational purposes only and</a:t>
            </a:r>
          </a:p>
          <a:p>
            <a:r>
              <a:t>          do not modify the License. You may add Your own attribution</a:t>
            </a:r>
          </a:p>
          <a:p>
            <a:r>
              <a:t>          notices within Derivative Works that You distribute, alongside</a:t>
            </a:r>
          </a:p>
          <a:p>
            <a:r>
              <a:t>          or as an addendum to the NOTICE text from the Work, provided</a:t>
            </a:r>
          </a:p>
          <a:p>
            <a:r>
              <a:t>          that such additional attribution notices cannot be construed</a:t>
            </a:r>
          </a:p>
          <a:p>
            <a:r>
              <a:t>          as modifying the License.</a:t>
            </a:r>
          </a:p>
          <a:p/>
          <a:p>
            <a:r>
              <a:t>      You may add Your own copyright statement to Your modifications and</a:t>
            </a:r>
          </a:p>
          <a:p>
            <a:r>
              <a:t>      may provide additional or different license terms and conditions</a:t>
            </a:r>
          </a:p>
          <a:p>
            <a:r>
              <a:t>      for use, reproduction, or distribution of Your modifications, or</a:t>
            </a:r>
          </a:p>
          <a:p>
            <a:r>
              <a:t>      for any such Derivative Works as a whole, provided Your use,</a:t>
            </a:r>
          </a:p>
          <a:p>
            <a:r>
              <a:t>      reproduction, and distribution of the Work otherwise complies with</a:t>
            </a:r>
          </a:p>
          <a:p>
            <a:r>
              <a:t>      the conditions stated in this License.</a:t>
            </a:r>
          </a:p>
          <a:p/>
          <a:p>
            <a:r>
              <a:t>   5. Submission of Contributions. Unless You explicitly state otherwise,</a:t>
            </a:r>
          </a:p>
          <a:p>
            <a:r>
              <a:t>      any Contribution intentionally submitted for inclusion in the Work</a:t>
            </a:r>
          </a:p>
          <a:p>
            <a:r>
              <a:t>      by You to the Licensor shall be under the terms and conditions of</a:t>
            </a:r>
          </a:p>
          <a:p>
            <a:r>
              <a:t>      this License, without any additional terms or conditions.</a:t>
            </a:r>
          </a:p>
          <a:p>
            <a:r>
              <a:t>      Notwithstanding the above, nothing herein shall supersede or modify</a:t>
            </a:r>
          </a:p>
          <a:p>
            <a:r>
              <a:t>      the terms of any separate license agreement you may have executed</a:t>
            </a:r>
          </a:p>
          <a:p>
            <a:r>
              <a:t>      with Licensor regarding such Contributions.</a:t>
            </a:r>
          </a:p>
          <a:p/>
          <a:p>
            <a:r>
              <a:t>   6. Trademarks. This License does not grant permission to use the trade</a:t>
            </a:r>
          </a:p>
          <a:p>
            <a:r>
              <a:t>      names, trademarks, service marks, or product names of the Licensor,</a:t>
            </a:r>
          </a:p>
          <a:p>
            <a:r>
              <a:t>      except as required for reasonable and customary use in describing the</a:t>
            </a:r>
          </a:p>
          <a:p>
            <a:r>
              <a:t>      origin of the Work and reproducing the content of the NOTICE file.</a:t>
            </a:r>
          </a:p>
          <a:p/>
          <a:p>
            <a:r>
              <a:t>   7. Disclaimer of Warranty. Unless required by applicable law or</a:t>
            </a:r>
          </a:p>
          <a:p>
            <a:r>
              <a:t>      agreed to in writing, Licensor provides the Work (and each</a:t>
            </a:r>
          </a:p>
          <a:p>
            <a:r>
              <a:t>      Contributor provides its Contributions) on an "AS IS" BASIS,</a:t>
            </a:r>
          </a:p>
          <a:p>
            <a:r>
              <a:t>      WITHOUT WARRANTIES OR CONDITIONS OF ANY KIND, either express or</a:t>
            </a:r>
          </a:p>
          <a:p>
            <a:r>
              <a:t>      implied, including, without limitation, any warranties or conditions</a:t>
            </a:r>
          </a:p>
          <a:p>
            <a:r>
              <a:t>      of TITLE, NON-INFRINGEMENT, MERCHANTABILITY, or FITNESS FOR A</a:t>
            </a:r>
          </a:p>
          <a:p>
            <a:r>
              <a:t>      PARTICULAR PURPOSE. You are solely responsible for determining the</a:t>
            </a:r>
          </a:p>
          <a:p>
            <a:r>
              <a:t>      appropriateness of using or redistributing the Work and assume any</a:t>
            </a:r>
          </a:p>
          <a:p>
            <a:r>
              <a:t>      risks associated with Your exercise of permissions under this License.</a:t>
            </a:r>
          </a:p>
          <a:p/>
          <a:p>
            <a:r>
              <a:t>   8. Limitation of Liability. In no event and under no legal theory,</a:t>
            </a:r>
          </a:p>
          <a:p>
            <a:r>
              <a:t>      whether in tort (including negligence), contract, or otherwise,</a:t>
            </a:r>
          </a:p>
          <a:p>
            <a:r>
              <a:t>      unless required by applicable law (such as deliberate and grossly</a:t>
            </a:r>
          </a:p>
          <a:p>
            <a:r>
              <a:t>      negligent acts) or agreed to in writing, shall any Contributor be</a:t>
            </a:r>
          </a:p>
          <a:p>
            <a:r>
              <a:t>      liable to You for damages, including any direct, indirect, special,</a:t>
            </a:r>
          </a:p>
          <a:p>
            <a:r>
              <a:t>      incidental, or consequential damages of any character arising as a</a:t>
            </a:r>
          </a:p>
          <a:p>
            <a:r>
              <a:t>      result of this License or out of the use or inability to use the</a:t>
            </a:r>
          </a:p>
          <a:p>
            <a:r>
              <a:t>      Work (including but not limited to damages for loss of goodwill,</a:t>
            </a:r>
          </a:p>
          <a:p>
            <a:r>
              <a:t>      work stoppage, computer failure or malfunction, or any and all</a:t>
            </a:r>
          </a:p>
          <a:p>
            <a:r>
              <a:t>      other commercial damages or losses), even if such Contributor</a:t>
            </a:r>
          </a:p>
          <a:p>
            <a:r>
              <a:t>      has been advised of the possibility of such damages.</a:t>
            </a:r>
          </a:p>
          <a:p/>
          <a:p>
            <a:r>
              <a:t>   9. Accepting Warranty or Additional Liability. While redistributing</a:t>
            </a:r>
          </a:p>
          <a:p>
            <a:r>
              <a:t>      the Work or Derivative Works thereof, You may choose to offer,</a:t>
            </a:r>
          </a:p>
          <a:p>
            <a:r>
              <a:t>      and charge a fee for, acceptance of support, warranty, indemnity,</a:t>
            </a:r>
          </a:p>
          <a:p>
            <a:r>
              <a:t>      or other liability obligations and/or rights consistent with this</a:t>
            </a:r>
          </a:p>
          <a:p>
            <a:r>
              <a:t>      License. However, in accepting such obligations, You may act only</a:t>
            </a:r>
          </a:p>
          <a:p>
            <a:r>
              <a:t>      on Your own behalf and on Your sole responsibility, not on behalf</a:t>
            </a:r>
          </a:p>
          <a:p>
            <a:r>
              <a:t>      of any other Contributor, and only if You agree to indemnify,</a:t>
            </a:r>
          </a:p>
          <a:p>
            <a:r>
              <a:t>      defend, and hold each Contributor harmless for any liability</a:t>
            </a:r>
          </a:p>
          <a:p>
            <a:r>
              <a:t>      incurred by, or claims asserted against, such Contributor by reason</a:t>
            </a:r>
          </a:p>
          <a:p>
            <a:r>
              <a:t>      of your accepting any such warranty or additional liability.</a:t>
            </a:r>
          </a:p>
          <a:p/>
          <a:p>
            <a:r>
              <a:t>   END OF TERMS AND CONDITIONS</a:t>
            </a:r>
          </a:p>
          <a:p/>
          <a:p>
            <a:r>
              <a:t>   APPENDIX: How to apply the Apache License to your work.</a:t>
            </a:r>
          </a:p>
          <a:p/>
          <a:p>
            <a:r>
              <a:t>      To apply the Apache License to your work, attach the following</a:t>
            </a:r>
          </a:p>
          <a:p>
            <a:r>
              <a:t>      boilerplate notice, with the fields enclosed by brackets "[]"</a:t>
            </a:r>
          </a:p>
          <a:p>
            <a:r>
              <a:t>      replaced with your own identifying information. (Don't include</a:t>
            </a:r>
          </a:p>
          <a:p>
            <a:r>
              <a:t>      the brackets!)  The text should be enclosed in the appropriate</a:t>
            </a:r>
          </a:p>
          <a:p>
            <a:r>
              <a:t>      comment syntax for the file format. We also recommend that a</a:t>
            </a:r>
          </a:p>
          <a:p>
            <a:r>
              <a:t>      file or class name and description of purpose be included on the</a:t>
            </a:r>
          </a:p>
          <a:p>
            <a:r>
              <a:t>      same "printed page" as the copyright notice for easier</a:t>
            </a:r>
          </a:p>
          <a:p>
            <a:r>
              <a:t>      identification within third-party archives.</a:t>
            </a:r>
          </a:p>
          <a:p/>
          <a:p>
            <a:r>
              <a:t>   Copyright 2026 OpenAI</a:t>
            </a:r>
          </a:p>
          <a:p/>
          <a:p>
            <a:r>
              <a:t>   Licensed under the Apache License, Version 2.0 (the "License");</a:t>
            </a:r>
          </a:p>
          <a:p>
            <a:r>
              <a:t>   you may not use this file except in compliance with the License.</a:t>
            </a:r>
          </a:p>
          <a:p>
            <a:r>
              <a:t>   You may obtain a copy of the License at</a:t>
            </a:r>
          </a:p>
          <a:p/>
          <a:p>
            <a:r>
              <a:t>       http://www.apache.org/licenses/LICENSE-2.0</a:t>
            </a:r>
          </a:p>
          <a:p/>
          <a:p>
            <a:r>
              <a:t>   Unless required by applicable law or agreed to in writing, software</a:t>
            </a:r>
          </a:p>
          <a:p>
            <a:r>
              <a:t>   distributed under the License is distributed on an "AS IS" BASIS,</a:t>
            </a:r>
          </a:p>
          <a:p>
            <a:r>
              <a:t>   WITHOUT WARRANTIES OR CONDITIONS OF ANY KIND, either express or implied.</a:t>
            </a:r>
          </a:p>
          <a:p>
            <a:r>
              <a:t>   See the License for the specific language governing permissions and</a:t>
            </a:r>
          </a:p>
          <a:p>
            <a:r>
              <a:t>   limitations under the License.</a:t>
            </a:r>
          </a:p>
          <a:p/>
          <a:p/>
          <a:p>
            <a:r>
              <a:t>                                 Apache License</a:t>
            </a:r>
          </a:p>
          <a:p>
            <a:r>
              <a:t>                           Version 2.0, January 2004</a:t>
            </a:r>
          </a:p>
          <a:p>
            <a:r>
              <a:t>                        http://www.apache.org/licenses/</a:t>
            </a:r>
          </a:p>
          <a:p/>
          <a:p>
            <a:r>
              <a:t>   TERMS AND CONDITIONS FOR USE, REPRODUCTION, AND DISTRIBUTION</a:t>
            </a:r>
          </a:p>
          <a:p/>
          <a:p>
            <a:r>
              <a:t>   1. Definitions.</a:t>
            </a:r>
          </a:p>
          <a:p/>
          <a:p>
            <a:r>
              <a:t>      "License" shall mean the terms and conditions for use, reproduction,</a:t>
            </a:r>
          </a:p>
          <a:p>
            <a:r>
              <a:t>      and distribution as defined by Sections 1 through 9 of this document.</a:t>
            </a:r>
          </a:p>
          <a:p/>
          <a:p>
            <a:r>
              <a:t>      "Licensor" shall mean the copyright owner or entity authorized by</a:t>
            </a:r>
          </a:p>
          <a:p>
            <a:r>
              <a:t>      the copyright owner that is granting the License.</a:t>
            </a:r>
          </a:p>
          <a:p/>
          <a:p>
            <a:r>
              <a:t>      "Legal Entity" shall mean the union of the acting entity and all</a:t>
            </a:r>
          </a:p>
          <a:p>
            <a:r>
              <a:t>      other entities that control, are controlled by, or are under common</a:t>
            </a:r>
          </a:p>
          <a:p>
            <a:r>
              <a:t>      control with that entity. For the purposes of this definition,</a:t>
            </a:r>
          </a:p>
          <a:p>
            <a:r>
              <a:t>      "control" means (i) the power, direct or indirect, to cause the</a:t>
            </a:r>
          </a:p>
          <a:p>
            <a:r>
              <a:t>      direction or management of such entity, whether by contract or</a:t>
            </a:r>
          </a:p>
          <a:p>
            <a:r>
              <a:t>      otherwise, or (ii) ownership of fifty percent (50%) or more of the</a:t>
            </a:r>
          </a:p>
          <a:p>
            <a:r>
              <a:t>      outstanding shares, or (iii) beneficial ownership of such entity.</a:t>
            </a:r>
          </a:p>
          <a:p/>
          <a:p>
            <a:r>
              <a:t>      "You" (or "Your") shall mean an individual or Legal Entity</a:t>
            </a:r>
          </a:p>
          <a:p>
            <a:r>
              <a:t>      exercising permissions granted by this License.</a:t>
            </a:r>
          </a:p>
          <a:p/>
          <a:p>
            <a:r>
              <a:t>      "Source" form shall mean the preferred form for making modifications,</a:t>
            </a:r>
          </a:p>
          <a:p>
            <a:r>
              <a:t>      including but not limited to software source code, documentation</a:t>
            </a:r>
          </a:p>
          <a:p>
            <a:r>
              <a:t>      source, and configuration files.</a:t>
            </a:r>
          </a:p>
          <a:p/>
          <a:p>
            <a:r>
              <a:t>      "Object" form shall mean any form resulting from mechanical</a:t>
            </a:r>
          </a:p>
          <a:p>
            <a:r>
              <a:t>      transformation or translation of a Source form, including but</a:t>
            </a:r>
          </a:p>
          <a:p>
            <a:r>
              <a:t>      not limited to compiled object code, generated documentation,</a:t>
            </a:r>
          </a:p>
          <a:p>
            <a:r>
              <a:t>      and conversions to other media types.</a:t>
            </a:r>
          </a:p>
          <a:p/>
          <a:p>
            <a:r>
              <a:t>      "Work" shall mean the work of authorship, whether in Source or</a:t>
            </a:r>
          </a:p>
          <a:p>
            <a:r>
              <a:t>      Object form, made available under the License, as indicated by a</a:t>
            </a:r>
          </a:p>
          <a:p>
            <a:r>
              <a:t>      copyright notice that is included in or attached to the work</a:t>
            </a:r>
          </a:p>
          <a:p>
            <a:r>
              <a:t>      (an example is provided in the Appendix below).</a:t>
            </a:r>
          </a:p>
          <a:p/>
          <a:p>
            <a:r>
              <a:t>      "Derivative Works" shall mean any work, whether in Source or Object</a:t>
            </a:r>
          </a:p>
          <a:p>
            <a:r>
              <a:t>      form, that is based on (or derived from) the Work and for which the</a:t>
            </a:r>
          </a:p>
          <a:p>
            <a:r>
              <a:t>      editorial revisions, annotations, elaborations, or other modifications</a:t>
            </a:r>
          </a:p>
          <a:p>
            <a:r>
              <a:t>      represent, as a whole, an original work of authorship. For the purposes</a:t>
            </a:r>
          </a:p>
          <a:p>
            <a:r>
              <a:t>      of this License, Derivative Works shall not include works that remain</a:t>
            </a:r>
          </a:p>
          <a:p>
            <a:r>
              <a:t>      separable from, or merely link (or bind by name) to the interfaces of,</a:t>
            </a:r>
          </a:p>
          <a:p>
            <a:r>
              <a:t>      the Work and Derivative Works thereof.</a:t>
            </a:r>
          </a:p>
          <a:p/>
          <a:p>
            <a:r>
              <a:t>      "Contribution" shall mean any work of authorship, including</a:t>
            </a:r>
          </a:p>
          <a:p>
            <a:r>
              <a:t>      the original version of the Work and any modifications or additions</a:t>
            </a:r>
          </a:p>
          <a:p>
            <a:r>
              <a:t>      to that Work or Derivative Works thereof, that is intentionally</a:t>
            </a:r>
          </a:p>
          <a:p>
            <a:r>
              <a:t>      submitted to Licensor for inclusion in the Work by the copyright owner</a:t>
            </a:r>
          </a:p>
          <a:p>
            <a:r>
              <a:t>      or by an individual or Legal Entity authorized to submit on behalf of</a:t>
            </a:r>
          </a:p>
          <a:p>
            <a:r>
              <a:t>      the copyright owner. For the purposes of this definition, "submitted"</a:t>
            </a:r>
          </a:p>
          <a:p>
            <a:r>
              <a:t>      means any form of electronic, verbal, or written communication sent</a:t>
            </a:r>
          </a:p>
          <a:p>
            <a:r>
              <a:t>      to the Licensor or its representatives, including but not limited to</a:t>
            </a:r>
          </a:p>
          <a:p>
            <a:r>
              <a:t>      communication on electronic mailing lists, source code control systems,</a:t>
            </a:r>
          </a:p>
          <a:p>
            <a:r>
              <a:t>      and issue tracking systems that are managed by, or on behalf of, the</a:t>
            </a:r>
          </a:p>
          <a:p>
            <a:r>
              <a:t>      Licensor for the purpose of discussing and improving the Work, but</a:t>
            </a:r>
          </a:p>
          <a:p>
            <a:r>
              <a:t>      excluding communication that is conspicuously marked or otherwise</a:t>
            </a:r>
          </a:p>
          <a:p>
            <a:r>
              <a:t>      designated in writing by the copyright owner as "Not a Contribution."</a:t>
            </a:r>
          </a:p>
          <a:p/>
          <a:p>
            <a:r>
              <a:t>      "Contributor" shall mean Licensor and any individual or Legal Entity</a:t>
            </a:r>
          </a:p>
          <a:p>
            <a:r>
              <a:t>      on behalf of whom a Contribution has been received by Licensor and</a:t>
            </a:r>
          </a:p>
          <a:p>
            <a:r>
              <a:t>      subsequently incorporated within the Work.</a:t>
            </a:r>
          </a:p>
          <a:p/>
          <a:p>
            <a:r>
              <a:t>   2. Grant of Copyright License. Subject to the terms and conditions of</a:t>
            </a:r>
          </a:p>
          <a:p>
            <a:r>
              <a:t>      this License, each Contributor hereby grants to You a perpetual,</a:t>
            </a:r>
          </a:p>
          <a:p>
            <a:r>
              <a:t>      worldwide, non-exclusive, no-charge, royalty-free, irrevocable</a:t>
            </a:r>
          </a:p>
          <a:p>
            <a:r>
              <a:t>      copyright license to reproduce, prepare Derivative Works of,</a:t>
            </a:r>
          </a:p>
          <a:p>
            <a:r>
              <a:t>      publicly display, publicly perform, sublicense, and distribute the</a:t>
            </a:r>
          </a:p>
          <a:p>
            <a:r>
              <a:t>      Work and such Derivative Works in Source or Object form.</a:t>
            </a:r>
          </a:p>
          <a:p/>
          <a:p>
            <a:r>
              <a:t>   3. Grant of Patent License. Subject to the terms and conditions of</a:t>
            </a:r>
          </a:p>
          <a:p>
            <a:r>
              <a:t>      this License, each Contributor hereby grants to You a perpetual,</a:t>
            </a:r>
          </a:p>
          <a:p>
            <a:r>
              <a:t>      worldwide, non-exclusive, no-charge, royalty-free, irrevocable</a:t>
            </a:r>
          </a:p>
          <a:p>
            <a:r>
              <a:t>      (except as stated in this section) patent license to make, have made,</a:t>
            </a:r>
          </a:p>
          <a:p>
            <a:r>
              <a:t>      use, offer to sell, sell, import, and otherwise transfer the Work,</a:t>
            </a:r>
          </a:p>
          <a:p>
            <a:r>
              <a:t>      where such license applies only to those patent claims licensable</a:t>
            </a:r>
          </a:p>
          <a:p>
            <a:r>
              <a:t>      by such Contributor that are necessarily infringed by their</a:t>
            </a:r>
          </a:p>
          <a:p>
            <a:r>
              <a:t>      Contribution(s) alone or by combination of their Contribution(s)</a:t>
            </a:r>
          </a:p>
          <a:p>
            <a:r>
              <a:t>      with the Work to which such Contribution(s) was submitted. If You</a:t>
            </a:r>
          </a:p>
          <a:p>
            <a:r>
              <a:t>      institute patent litigation against any entity (including a</a:t>
            </a:r>
          </a:p>
          <a:p>
            <a:r>
              <a:t>      cross-claim or counterclaim in a lawsuit) alleging that the Work</a:t>
            </a:r>
          </a:p>
          <a:p>
            <a:r>
              <a:t>      or a Contribution incorporated within the Work constitutes direct</a:t>
            </a:r>
          </a:p>
          <a:p>
            <a:r>
              <a:t>      or contributory patent infringement, then any patent licenses</a:t>
            </a:r>
          </a:p>
          <a:p>
            <a:r>
              <a:t>      granted to You under this License for that Work shall terminate</a:t>
            </a:r>
          </a:p>
          <a:p>
            <a:r>
              <a:t>      as of the date such litigation is filed.</a:t>
            </a:r>
          </a:p>
          <a:p/>
          <a:p>
            <a:r>
              <a:t>   4. Redistribution. You may reproduce and distribute copies of the</a:t>
            </a:r>
          </a:p>
          <a:p>
            <a:r>
              <a:t>      Work or Derivative Works thereof in any medium, with or without</a:t>
            </a:r>
          </a:p>
          <a:p>
            <a:r>
              <a:t>      modifications, and in Source or Object form, provided that You</a:t>
            </a:r>
          </a:p>
          <a:p>
            <a:r>
              <a:t>      meet the following conditions:</a:t>
            </a:r>
          </a:p>
          <a:p/>
          <a:p>
            <a:r>
              <a:t>      (a) You must give any other recipients of the Work or</a:t>
            </a:r>
          </a:p>
          <a:p>
            <a:r>
              <a:t>          Derivative Works a copy of this License; and</a:t>
            </a:r>
          </a:p>
          <a:p/>
          <a:p>
            <a:r>
              <a:t>      (b) You must cause any modified files to carry prominent notices</a:t>
            </a:r>
          </a:p>
          <a:p>
            <a:r>
              <a:t>          stating that You changed the files; and</a:t>
            </a:r>
          </a:p>
          <a:p/>
          <a:p>
            <a:r>
              <a:t>      (c) You must retain, in the Source form of any Derivative Works</a:t>
            </a:r>
          </a:p>
          <a:p>
            <a:r>
              <a:t>          that You distribute, all copyright, patent, trademark, and</a:t>
            </a:r>
          </a:p>
          <a:p>
            <a:r>
              <a:t>          attribution notices from the Source form of the Work,</a:t>
            </a:r>
          </a:p>
          <a:p>
            <a:r>
              <a:t>          excluding those notices that do not pertain to any part of</a:t>
            </a:r>
          </a:p>
          <a:p>
            <a:r>
              <a:t>          the Derivative Works; and</a:t>
            </a:r>
          </a:p>
          <a:p/>
          <a:p>
            <a:r>
              <a:t>      (d) If the Work includes a "NOTICE" text file as part of its</a:t>
            </a:r>
          </a:p>
          <a:p>
            <a:r>
              <a:t>          distribution, then any Derivative Works that You distribute must</a:t>
            </a:r>
          </a:p>
          <a:p>
            <a:r>
              <a:t>          include a readable copy of the attribution notices contained</a:t>
            </a:r>
          </a:p>
          <a:p>
            <a:r>
              <a:t>          within such NOTICE file, excluding those notices that do not</a:t>
            </a:r>
          </a:p>
          <a:p>
            <a:r>
              <a:t>          pertain to any part of the Derivative Works, in at least one</a:t>
            </a:r>
          </a:p>
          <a:p>
            <a:r>
              <a:t>          of the following places: within a NOTICE text file distributed</a:t>
            </a:r>
          </a:p>
          <a:p>
            <a:r>
              <a:t>          as part of the Derivative Works; within the Source form or</a:t>
            </a:r>
          </a:p>
          <a:p>
            <a:r>
              <a:t>          documentation, if provided along with the Derivative Works; or,</a:t>
            </a:r>
          </a:p>
          <a:p>
            <a:r>
              <a:t>          within a display generated by the Derivative Works, if and</a:t>
            </a:r>
          </a:p>
          <a:p>
            <a:r>
              <a:t>          wherever such third-party notices normally appear. The contents</a:t>
            </a:r>
          </a:p>
          <a:p>
            <a:r>
              <a:t>          of the NOTICE file are for informational purposes only and</a:t>
            </a:r>
          </a:p>
          <a:p>
            <a:r>
              <a:t>          do not modify the License. You may add Your own attribution</a:t>
            </a:r>
          </a:p>
          <a:p>
            <a:r>
              <a:t>          notices within Derivative Works that You distribute, alongside</a:t>
            </a:r>
          </a:p>
          <a:p>
            <a:r>
              <a:t>          or as an addendum to the NOTICE text from the Work, provided</a:t>
            </a:r>
          </a:p>
          <a:p>
            <a:r>
              <a:t>          that such additional attribution notices cannot be construed</a:t>
            </a:r>
          </a:p>
          <a:p>
            <a:r>
              <a:t>          as modifying the License.</a:t>
            </a:r>
          </a:p>
          <a:p/>
          <a:p>
            <a:r>
              <a:t>      You may add Your own copyright statement to Your modifications and</a:t>
            </a:r>
          </a:p>
          <a:p>
            <a:r>
              <a:t>      may provide additional or different license terms and conditions</a:t>
            </a:r>
          </a:p>
          <a:p>
            <a:r>
              <a:t>      for use, reproduction, or distribution of Your modifications, or</a:t>
            </a:r>
          </a:p>
          <a:p>
            <a:r>
              <a:t>      for any such Derivative Works as a whole, provided Your use,</a:t>
            </a:r>
          </a:p>
          <a:p>
            <a:r>
              <a:t>      reproduction, and distribution of the Work otherwise complies with</a:t>
            </a:r>
          </a:p>
          <a:p>
            <a:r>
              <a:t>      the conditions stated in this License.</a:t>
            </a:r>
          </a:p>
          <a:p/>
          <a:p>
            <a:r>
              <a:t>   5. Submission of Contributions. Unless You explicitly state otherwise,</a:t>
            </a:r>
          </a:p>
          <a:p>
            <a:r>
              <a:t>      any Contribution intentionally submitted for inclusion in the Work</a:t>
            </a:r>
          </a:p>
          <a:p>
            <a:r>
              <a:t>      by You to the Licensor shall be under the terms and conditions of</a:t>
            </a:r>
          </a:p>
          <a:p>
            <a:r>
              <a:t>      this License, without any additional terms or conditions.</a:t>
            </a:r>
          </a:p>
          <a:p>
            <a:r>
              <a:t>      Notwithstanding the above, nothing herein shall supersede or modify</a:t>
            </a:r>
          </a:p>
          <a:p>
            <a:r>
              <a:t>      the terms of any separate license agreement you may have executed</a:t>
            </a:r>
          </a:p>
          <a:p>
            <a:r>
              <a:t>      with Licensor regarding such Contributions.</a:t>
            </a:r>
          </a:p>
          <a:p/>
          <a:p>
            <a:r>
              <a:t>   6. Trademarks. This License does not grant permission to use the trade</a:t>
            </a:r>
          </a:p>
          <a:p>
            <a:r>
              <a:t>      names, trademarks, service marks, or product names of the Licensor,</a:t>
            </a:r>
          </a:p>
          <a:p>
            <a:r>
              <a:t>      except as required for reasonable and customary use in describing the</a:t>
            </a:r>
          </a:p>
          <a:p>
            <a:r>
              <a:t>      origin of the Work and reproducing the content of the NOTICE file.</a:t>
            </a:r>
          </a:p>
          <a:p/>
          <a:p>
            <a:r>
              <a:t>   7. Disclaimer of Warranty. Unless required by applicable law or</a:t>
            </a:r>
          </a:p>
          <a:p>
            <a:r>
              <a:t>      agreed to in writing, Licensor provides the Work (and each</a:t>
            </a:r>
          </a:p>
          <a:p>
            <a:r>
              <a:t>      Contributor provides its Contributions) on an "AS IS" BASIS,</a:t>
            </a:r>
          </a:p>
          <a:p>
            <a:r>
              <a:t>      WITHOUT WARRANTIES OR CONDITIONS OF ANY KIND, either express or</a:t>
            </a:r>
          </a:p>
          <a:p>
            <a:r>
              <a:t>      implied, including, without limitation, any warranties or conditions</a:t>
            </a:r>
          </a:p>
          <a:p>
            <a:r>
              <a:t>      of TITLE, NON-INFRINGEMENT, MERCHANTABILITY, or FITNESS FOR A</a:t>
            </a:r>
          </a:p>
          <a:p>
            <a:r>
              <a:t>      PARTICULAR PURPOSE. You are solely responsible for determining the</a:t>
            </a:r>
          </a:p>
          <a:p>
            <a:r>
              <a:t>      appropriateness of using or redistributing the Work and assume any</a:t>
            </a:r>
          </a:p>
          <a:p>
            <a:r>
              <a:t>      risks associated with Your exercise of permissions under this License.</a:t>
            </a:r>
          </a:p>
          <a:p/>
          <a:p>
            <a:r>
              <a:t>   8. Limitation of Liability. In no event and under no legal theory,</a:t>
            </a:r>
          </a:p>
          <a:p>
            <a:r>
              <a:t>      whether in tort (including negligence), contract, or otherwise,</a:t>
            </a:r>
          </a:p>
          <a:p>
            <a:r>
              <a:t>      unless required by applicable law (such as deliberate and grossly</a:t>
            </a:r>
          </a:p>
          <a:p>
            <a:r>
              <a:t>      negligent acts) or agreed to in writing, shall any Contributor be</a:t>
            </a:r>
          </a:p>
          <a:p>
            <a:r>
              <a:t>      liable to You for damages, including any direct, indirect, special,</a:t>
            </a:r>
          </a:p>
          <a:p>
            <a:r>
              <a:t>      incidental, or consequential damages of any character arising as a</a:t>
            </a:r>
          </a:p>
          <a:p>
            <a:r>
              <a:t>      result of this License or out of the use or inability to use the</a:t>
            </a:r>
          </a:p>
          <a:p>
            <a:r>
              <a:t>      Work (including but not limited to damages for loss of goodwill,</a:t>
            </a:r>
          </a:p>
          <a:p>
            <a:r>
              <a:t>      work stoppage, computer failure or malfunction, or any and all</a:t>
            </a:r>
          </a:p>
          <a:p>
            <a:r>
              <a:t>      other commercial damages or losses), even if such Contributor</a:t>
            </a:r>
          </a:p>
          <a:p>
            <a:r>
              <a:t>      has been advised of the possibility of such damages.</a:t>
            </a:r>
          </a:p>
          <a:p/>
          <a:p>
            <a:r>
              <a:t>   9. Accepting Warranty or Additional Liability. While redistributing</a:t>
            </a:r>
          </a:p>
          <a:p>
            <a:r>
              <a:t>      the Work or Derivative Works thereof, You may choose to offer,</a:t>
            </a:r>
          </a:p>
          <a:p>
            <a:r>
              <a:t>      and charge a fee for, acceptance of support, warranty, indemnity,</a:t>
            </a:r>
          </a:p>
          <a:p>
            <a:r>
              <a:t>      or other liability obligations and/or rights consistent with this</a:t>
            </a:r>
          </a:p>
          <a:p>
            <a:r>
              <a:t>      License. However, in accepting such obligations, You may act only</a:t>
            </a:r>
          </a:p>
          <a:p>
            <a:r>
              <a:t>      on Your own behalf and on Your sole responsibility, not on behalf</a:t>
            </a:r>
          </a:p>
          <a:p>
            <a:r>
              <a:t>      of any other Contributor, and only if You agree to indemnify,</a:t>
            </a:r>
          </a:p>
          <a:p>
            <a:r>
              <a:t>      defend, and hold each Contributor harmless for any liability</a:t>
            </a:r>
          </a:p>
          <a:p>
            <a:r>
              <a:t>      incurred by, or claims asserted against, such Contributor by reason</a:t>
            </a:r>
          </a:p>
          <a:p>
            <a:r>
              <a:t>      of your accepting any such warranty or additional liability.</a:t>
            </a:r>
          </a:p>
          <a:p/>
          <a:p>
            <a:r>
              <a:t>   END OF TERMS AND CONDITIONS</a:t>
            </a:r>
          </a:p>
          <a:p/>
          <a:p>
            <a:r>
              <a:t>   APPENDIX: How to apply the Apache License to your work.</a:t>
            </a:r>
          </a:p>
          <a:p/>
          <a:p>
            <a:r>
              <a:t>      To apply the Apache License to your work, attach the following</a:t>
            </a:r>
          </a:p>
          <a:p>
            <a:r>
              <a:t>      boilerplate notice, with the fields enclosed by brackets "[]"</a:t>
            </a:r>
          </a:p>
          <a:p>
            <a:r>
              <a:t>      replaced with your own identifying information. (Don't include</a:t>
            </a:r>
          </a:p>
          <a:p>
            <a:r>
              <a:t>      the brackets!)  The text should be enclosed in the appropriate</a:t>
            </a:r>
          </a:p>
          <a:p>
            <a:r>
              <a:t>      comment syntax for the file format. We also recommend that a</a:t>
            </a:r>
          </a:p>
          <a:p>
            <a:r>
              <a:t>      file or class name and description of purpose be included on the</a:t>
            </a:r>
          </a:p>
          <a:p>
            <a:r>
              <a:t>      same "printed page" as the copyright notice for easier</a:t>
            </a:r>
          </a:p>
          <a:p>
            <a:r>
              <a:t>      identification within third-party archives.</a:t>
            </a:r>
          </a:p>
          <a:p/>
          <a:p>
            <a:r>
              <a:t>   Copyright [yyyy] [name of copyright owner]</a:t>
            </a:r>
          </a:p>
          <a:p/>
          <a:p>
            <a:r>
              <a:t>   Licensed under the Apache License, Version 2.0 (the "License");</a:t>
            </a:r>
          </a:p>
          <a:p>
            <a:r>
              <a:t>   you may not use this file except in compliance with the License.</a:t>
            </a:r>
          </a:p>
          <a:p>
            <a:r>
              <a:t>   You may obtain a copy of the License at</a:t>
            </a:r>
          </a:p>
          <a:p/>
          <a:p>
            <a:r>
              <a:t>       http://www.apache.org/licenses/LICENSE-2.0</a:t>
            </a:r>
          </a:p>
          <a:p/>
          <a:p>
            <a:r>
              <a:t>   Unless required by applicable law or agreed to in writing, software</a:t>
            </a:r>
          </a:p>
          <a:p>
            <a:r>
              <a:t>   distributed under the License is distributed on an "AS IS" BASIS,</a:t>
            </a:r>
          </a:p>
          <a:p>
            <a:r>
              <a:t>   WITHOUT WARRANTIES OR CONDITIONS OF ANY KIND, either express or implied.</a:t>
            </a:r>
          </a:p>
          <a:p>
            <a:r>
              <a:t>   See the License for the specific language governing permissions and</a:t>
            </a:r>
          </a:p>
          <a:p>
            <a:r>
              <a:t>   limitations under the License.</a:t>
            </a:r>
          </a:p>
          <a:p/>
          <a:p/>
          <a:p>
            <a:r>
              <a:t>Copyright 2018- The Hugging Face team. All rights reserved.</a:t>
            </a:r>
          </a:p>
          <a:p/>
          <a:p>
            <a:r>
              <a:t>                                 Apache License</a:t>
            </a:r>
          </a:p>
          <a:p>
            <a:r>
              <a:t>                           Version 2.0, January 2004</a:t>
            </a:r>
          </a:p>
          <a:p>
            <a:r>
              <a:t>                        http://www.apache.org/licenses/</a:t>
            </a:r>
          </a:p>
          <a:p/>
          <a:p>
            <a:r>
              <a:t>   TERMS AND CONDITIONS FOR USE, REPRODUCTION, AND DISTRIBUTION</a:t>
            </a:r>
          </a:p>
          <a:p/>
          <a:p>
            <a:r>
              <a:t>   1. Definitions.</a:t>
            </a:r>
          </a:p>
          <a:p/>
          <a:p>
            <a:r>
              <a:t>      "License" shall mean the terms and conditions for use, reproduction,</a:t>
            </a:r>
          </a:p>
          <a:p>
            <a:r>
              <a:t>      and distribution as defined by Sections 1 through 9 of this document.</a:t>
            </a:r>
          </a:p>
          <a:p/>
          <a:p>
            <a:r>
              <a:t>      "Licensor" shall mean the copyright owner or entity authorized by</a:t>
            </a:r>
          </a:p>
          <a:p>
            <a:r>
              <a:t>      the copyright owner that is granting the License.</a:t>
            </a:r>
          </a:p>
          <a:p/>
          <a:p>
            <a:r>
              <a:t>      "Legal Entity" shall mean the union of the acting entity and all</a:t>
            </a:r>
          </a:p>
          <a:p>
            <a:r>
              <a:t>      other entities that control, are controlled by, or are under common</a:t>
            </a:r>
          </a:p>
          <a:p>
            <a:r>
              <a:t>      control with that entity. For the purposes of this definition,</a:t>
            </a:r>
          </a:p>
          <a:p>
            <a:r>
              <a:t>      "control" means (i) the power, direct or indirect, to cause the</a:t>
            </a:r>
          </a:p>
          <a:p>
            <a:r>
              <a:t>      direction or management of such entity, whether by contract or</a:t>
            </a:r>
          </a:p>
          <a:p>
            <a:r>
              <a:t>      otherwise, or (ii) ownership of fifty percent (50%) or more of the</a:t>
            </a:r>
          </a:p>
          <a:p>
            <a:r>
              <a:t>      outstanding shares, or (iii) beneficial ownership of such entity.</a:t>
            </a:r>
          </a:p>
          <a:p/>
          <a:p>
            <a:r>
              <a:t>      "You" (or "Your") shall mean an individual or Legal Entity</a:t>
            </a:r>
          </a:p>
          <a:p>
            <a:r>
              <a:t>      exercising permissions granted by this License.</a:t>
            </a:r>
          </a:p>
          <a:p/>
          <a:p>
            <a:r>
              <a:t>      "Source" form shall mean the preferred form for making modifications,</a:t>
            </a:r>
          </a:p>
          <a:p>
            <a:r>
              <a:t>      including but not limited to software source code, documentation</a:t>
            </a:r>
          </a:p>
          <a:p>
            <a:r>
              <a:t>      source, and configuration files.</a:t>
            </a:r>
          </a:p>
          <a:p/>
          <a:p>
            <a:r>
              <a:t>      "Object" form shall mean any form resulting from mechanical</a:t>
            </a:r>
          </a:p>
          <a:p>
            <a:r>
              <a:t>      transformation or translation of a Source form, including but</a:t>
            </a:r>
          </a:p>
          <a:p>
            <a:r>
              <a:t>      not limited to compiled object code, generated documentation,</a:t>
            </a:r>
          </a:p>
          <a:p>
            <a:r>
              <a:t>      and conversions to other media types.</a:t>
            </a:r>
          </a:p>
          <a:p/>
          <a:p>
            <a:r>
              <a:t>      "Work" shall mean the work of authorship, whether in Source or</a:t>
            </a:r>
          </a:p>
          <a:p>
            <a:r>
              <a:t>      Object form, made available under the License, as indicated by a</a:t>
            </a:r>
          </a:p>
          <a:p>
            <a:r>
              <a:t>      copyright notice that is included in or attached to the work</a:t>
            </a:r>
          </a:p>
          <a:p>
            <a:r>
              <a:t>      (an example is provided in the Appendix below).</a:t>
            </a:r>
          </a:p>
          <a:p/>
          <a:p>
            <a:r>
              <a:t>      "Derivative Works" shall mean any work, whether in Source or Object</a:t>
            </a:r>
          </a:p>
          <a:p>
            <a:r>
              <a:t>      form, that is based on (or derived from) the Work and for which the</a:t>
            </a:r>
          </a:p>
          <a:p>
            <a:r>
              <a:t>      editorial revisions, annotations, elaborations, or other modifications</a:t>
            </a:r>
          </a:p>
          <a:p>
            <a:r>
              <a:t>      represent, as a whole, an original work of authorship. For the purposes</a:t>
            </a:r>
          </a:p>
          <a:p>
            <a:r>
              <a:t>      of this License, Derivative Works shall not include works that remain</a:t>
            </a:r>
          </a:p>
          <a:p>
            <a:r>
              <a:t>      separable from, or merely link (or bind by name) to the interfaces of,</a:t>
            </a:r>
          </a:p>
          <a:p>
            <a:r>
              <a:t>      the Work and Derivative Works thereof.</a:t>
            </a:r>
          </a:p>
          <a:p/>
          <a:p>
            <a:r>
              <a:t>      "Contribution" shall mean any work of authorship, including</a:t>
            </a:r>
          </a:p>
          <a:p>
            <a:r>
              <a:t>      the original version of the Work and any modifications or additions</a:t>
            </a:r>
          </a:p>
          <a:p>
            <a:r>
              <a:t>      to that Work or Derivative Works thereof, that is intentionally</a:t>
            </a:r>
          </a:p>
          <a:p>
            <a:r>
              <a:t>      submitted to Licensor for inclusion in the Work by the copyright owner</a:t>
            </a:r>
          </a:p>
          <a:p>
            <a:r>
              <a:t>      or by an individual or Legal Entity authorized to submit on behalf of</a:t>
            </a:r>
          </a:p>
          <a:p>
            <a:r>
              <a:t>      the copyright owner. For the purposes of this definition, "submitted"</a:t>
            </a:r>
          </a:p>
          <a:p>
            <a:r>
              <a:t>      means any form of electronic, verbal, or written communication sent</a:t>
            </a:r>
          </a:p>
          <a:p>
            <a:r>
              <a:t>      to the Licensor or its representatives, including but not limited to</a:t>
            </a:r>
          </a:p>
          <a:p>
            <a:r>
              <a:t>      communication on electronic mailing lists, source code control systems,</a:t>
            </a:r>
          </a:p>
          <a:p>
            <a:r>
              <a:t>      and issue tracking systems that are managed by, or on behalf of, the</a:t>
            </a:r>
          </a:p>
          <a:p>
            <a:r>
              <a:t>      Licensor for the purpose of discussing and improving the Work, but</a:t>
            </a:r>
          </a:p>
          <a:p>
            <a:r>
              <a:t>      excluding communication that is conspicuously marked or otherwise</a:t>
            </a:r>
          </a:p>
          <a:p>
            <a:r>
              <a:t>      designated in writing by the copyright owner as "Not a Contribution."</a:t>
            </a:r>
          </a:p>
          <a:p/>
          <a:p>
            <a:r>
              <a:t>      "Contributor" shall mean Licensor and any individual or Legal Entity</a:t>
            </a:r>
          </a:p>
          <a:p>
            <a:r>
              <a:t>      on behalf of whom a Contribution has been received by Licensor and</a:t>
            </a:r>
          </a:p>
          <a:p>
            <a:r>
              <a:t>      subsequently incorporated within the Work.</a:t>
            </a:r>
          </a:p>
          <a:p/>
          <a:p>
            <a:r>
              <a:t>   2. Grant of Copyright License. Subject to the terms and conditions of</a:t>
            </a:r>
          </a:p>
          <a:p>
            <a:r>
              <a:t>      this License, each Contributor hereby grants to You a perpetual,</a:t>
            </a:r>
          </a:p>
          <a:p>
            <a:r>
              <a:t>      worldwide, non-exclusive, no-charge, royalty-free, irrevocable</a:t>
            </a:r>
          </a:p>
          <a:p>
            <a:r>
              <a:t>      copyright license to reproduce, prepare Derivative Works of,</a:t>
            </a:r>
          </a:p>
          <a:p>
            <a:r>
              <a:t>      publicly display, publicly perform, sublicense, and distribute the</a:t>
            </a:r>
          </a:p>
          <a:p>
            <a:r>
              <a:t>      Work and such Derivative Works in Source or Object form.</a:t>
            </a:r>
          </a:p>
          <a:p/>
          <a:p>
            <a:r>
              <a:t>   3. Grant of Patent License. Subject to the terms and conditions of</a:t>
            </a:r>
          </a:p>
          <a:p>
            <a:r>
              <a:t>      this License, each Contributor hereby grants to You a perpetual,</a:t>
            </a:r>
          </a:p>
          <a:p>
            <a:r>
              <a:t>      worldwide, non-exclusive, no-charge, royalty-free, irrevocable</a:t>
            </a:r>
          </a:p>
          <a:p>
            <a:r>
              <a:t>      (except as stated in this section) patent license to make, have made,</a:t>
            </a:r>
          </a:p>
          <a:p>
            <a:r>
              <a:t>      use, offer to sell, sell, import, and otherwise transfer the Work,</a:t>
            </a:r>
          </a:p>
          <a:p>
            <a:r>
              <a:t>      where such license applies only to those patent claims licensable</a:t>
            </a:r>
          </a:p>
          <a:p>
            <a:r>
              <a:t>      by such Contributor that are necessarily infringed by their</a:t>
            </a:r>
          </a:p>
          <a:p>
            <a:r>
              <a:t>      Contribution(s) alone or by combination of their Contribution(s)</a:t>
            </a:r>
          </a:p>
          <a:p>
            <a:r>
              <a:t>      with the Work to which such Contribution(s) was submitted. If You</a:t>
            </a:r>
          </a:p>
          <a:p>
            <a:r>
              <a:t>      institute patent litigation against any entity (including a</a:t>
            </a:r>
          </a:p>
          <a:p>
            <a:r>
              <a:t>      cross-claim or counterclaim in a lawsuit) alleging that the Work</a:t>
            </a:r>
          </a:p>
          <a:p>
            <a:r>
              <a:t>      or a Contribution incorporated within the Work constitutes direct</a:t>
            </a:r>
          </a:p>
          <a:p>
            <a:r>
              <a:t>      or contributory patent infringement, then any patent licenses</a:t>
            </a:r>
          </a:p>
          <a:p>
            <a:r>
              <a:t>      granted to You under this License for that Work shall terminate</a:t>
            </a:r>
          </a:p>
          <a:p>
            <a:r>
              <a:t>      as of the date such litigation is filed.</a:t>
            </a:r>
          </a:p>
          <a:p/>
          <a:p>
            <a:r>
              <a:t>   4. Redistribution. You may reproduce and distribute copies of the</a:t>
            </a:r>
          </a:p>
          <a:p>
            <a:r>
              <a:t>      Work or Derivative Works thereof in any medium, with or without</a:t>
            </a:r>
          </a:p>
          <a:p>
            <a:r>
              <a:t>      modifications, and in Source or Object form, provided that You</a:t>
            </a:r>
          </a:p>
          <a:p>
            <a:r>
              <a:t>      meet the following conditions:</a:t>
            </a:r>
          </a:p>
          <a:p/>
          <a:p>
            <a:r>
              <a:t>      (a) You must give any other recipients of the Work or</a:t>
            </a:r>
          </a:p>
          <a:p>
            <a:r>
              <a:t>          Derivative Works a copy of this License; and</a:t>
            </a:r>
          </a:p>
          <a:p/>
          <a:p>
            <a:r>
              <a:t>      (b) You must cause any modified files to carry prominent notices</a:t>
            </a:r>
          </a:p>
          <a:p>
            <a:r>
              <a:t>          stating that You changed the files; and</a:t>
            </a:r>
          </a:p>
          <a:p/>
          <a:p>
            <a:r>
              <a:t>      (c) You must retain, in the Source form of any Derivative Works</a:t>
            </a:r>
          </a:p>
          <a:p>
            <a:r>
              <a:t>          that You distribute, all copyright, patent, trademark, and</a:t>
            </a:r>
          </a:p>
          <a:p>
            <a:r>
              <a:t>          attribution notices from the Source form of the Work,</a:t>
            </a:r>
          </a:p>
          <a:p>
            <a:r>
              <a:t>          excluding those notices that do not pertain to any part of</a:t>
            </a:r>
          </a:p>
          <a:p>
            <a:r>
              <a:t>          the Derivative Works; and</a:t>
            </a:r>
          </a:p>
          <a:p/>
          <a:p>
            <a:r>
              <a:t>      (d) If the Work includes a "NOTICE" text file as part of its</a:t>
            </a:r>
          </a:p>
          <a:p>
            <a:r>
              <a:t>          distribution, then any Derivative Works that You distribute must</a:t>
            </a:r>
          </a:p>
          <a:p>
            <a:r>
              <a:t>          include a readable copy of the attribution notices contained</a:t>
            </a:r>
          </a:p>
          <a:p>
            <a:r>
              <a:t>          within such NOTICE file, excluding those notices that do not</a:t>
            </a:r>
          </a:p>
          <a:p>
            <a:r>
              <a:t>          pertain to any part of the Derivative Works, in at least one</a:t>
            </a:r>
          </a:p>
          <a:p>
            <a:r>
              <a:t>          of the following places: within a NOTICE text file distributed</a:t>
            </a:r>
          </a:p>
          <a:p>
            <a:r>
              <a:t>          as part of the Derivative Works; within the Source form or</a:t>
            </a:r>
          </a:p>
          <a:p>
            <a:r>
              <a:t>          documentation, if provided along with the Derivative Works; or,</a:t>
            </a:r>
          </a:p>
          <a:p>
            <a:r>
              <a:t>          within a display generated by the Derivative Works, if and</a:t>
            </a:r>
          </a:p>
          <a:p>
            <a:r>
              <a:t>          wherever such third-party notices normally appear. The contents</a:t>
            </a:r>
          </a:p>
          <a:p>
            <a:r>
              <a:t>          of the NOTICE file are for informational purposes only and</a:t>
            </a:r>
          </a:p>
          <a:p>
            <a:r>
              <a:t>          do not modify the License. You may add Your own attribution</a:t>
            </a:r>
          </a:p>
          <a:p>
            <a:r>
              <a:t>          notices within Derivative Works that You distribute, alongside</a:t>
            </a:r>
          </a:p>
          <a:p>
            <a:r>
              <a:t>          or as an addendum to the NOTICE text from the Work, provided</a:t>
            </a:r>
          </a:p>
          <a:p>
            <a:r>
              <a:t>          that such additional attribution notices cannot be construed</a:t>
            </a:r>
          </a:p>
          <a:p>
            <a:r>
              <a:t>          as modifying the License.</a:t>
            </a:r>
          </a:p>
          <a:p/>
          <a:p>
            <a:r>
              <a:t>      You may add Your own copyright statement to Your modifications and</a:t>
            </a:r>
          </a:p>
          <a:p>
            <a:r>
              <a:t>      may provide additional or different license terms and conditions</a:t>
            </a:r>
          </a:p>
          <a:p>
            <a:r>
              <a:t>      for use, reproduction, or distribution of Your modifications, or</a:t>
            </a:r>
          </a:p>
          <a:p>
            <a:r>
              <a:t>      for any such Derivative Works as a whole, provided Your use,</a:t>
            </a:r>
          </a:p>
          <a:p>
            <a:r>
              <a:t>      reproduction, and distribution of the Work otherwise complies with</a:t>
            </a:r>
          </a:p>
          <a:p>
            <a:r>
              <a:t>      the conditions stated in this License.</a:t>
            </a:r>
          </a:p>
          <a:p/>
          <a:p>
            <a:r>
              <a:t>   5. Submission of Contributions. Unless You explicitly state otherwise,</a:t>
            </a:r>
          </a:p>
          <a:p>
            <a:r>
              <a:t>      any Contribution intentionally submitted for inclusion in the Work</a:t>
            </a:r>
          </a:p>
          <a:p>
            <a:r>
              <a:t>      by You to the Licensor shall be under the terms and conditions of</a:t>
            </a:r>
          </a:p>
          <a:p>
            <a:r>
              <a:t>      this License, without any additional terms or conditions.</a:t>
            </a:r>
          </a:p>
          <a:p>
            <a:r>
              <a:t>      Notwithstanding the above, nothing herein shall supersede or modify</a:t>
            </a:r>
          </a:p>
          <a:p>
            <a:r>
              <a:t>      the terms of any separate license agreement you may have executed</a:t>
            </a:r>
          </a:p>
          <a:p>
            <a:r>
              <a:t>      with Licensor regarding such Contributions.</a:t>
            </a:r>
          </a:p>
          <a:p/>
          <a:p>
            <a:r>
              <a:t>   6. Trademarks. This License does not grant permission to use the trade</a:t>
            </a:r>
          </a:p>
          <a:p>
            <a:r>
              <a:t>      names, trademarks, service marks, or product names of the Licensor,</a:t>
            </a:r>
          </a:p>
          <a:p>
            <a:r>
              <a:t>      except as required for reasonable and customary use in describing the</a:t>
            </a:r>
          </a:p>
          <a:p>
            <a:r>
              <a:t>      origin of the Work and reproducing the content of the NOTICE file.</a:t>
            </a:r>
          </a:p>
          <a:p/>
          <a:p>
            <a:r>
              <a:t>   7. Disclaimer of Warranty. Unless required by applicable law or</a:t>
            </a:r>
          </a:p>
          <a:p>
            <a:r>
              <a:t>      agreed to in writing, Licensor provides the Work (and each</a:t>
            </a:r>
          </a:p>
          <a:p>
            <a:r>
              <a:t>      Contributor provides its Contributions) on an "AS IS" BASIS,</a:t>
            </a:r>
          </a:p>
          <a:p>
            <a:r>
              <a:t>      WITHOUT WARRANTIES OR CONDITIONS OF ANY KIND, either express or</a:t>
            </a:r>
          </a:p>
          <a:p>
            <a:r>
              <a:t>      implied, including, without limitation, any warranties or conditions</a:t>
            </a:r>
          </a:p>
          <a:p>
            <a:r>
              <a:t>      of TITLE, NON-INFRINGEMENT, MERCHANTABILITY, or FITNESS FOR A</a:t>
            </a:r>
          </a:p>
          <a:p>
            <a:r>
              <a:t>      PARTICULAR PURPOSE. You are solely responsible for determining the</a:t>
            </a:r>
          </a:p>
          <a:p>
            <a:r>
              <a:t>      appropriateness of using or redistributing the Work and assume any</a:t>
            </a:r>
          </a:p>
          <a:p>
            <a:r>
              <a:t>      risks associated with Your exercise of permissions under this License.</a:t>
            </a:r>
          </a:p>
          <a:p/>
          <a:p>
            <a:r>
              <a:t>   8. Limitation of Liability. In no event and under no legal theory,</a:t>
            </a:r>
          </a:p>
          <a:p>
            <a:r>
              <a:t>      whether in tort (including negligence), contract, or otherwise,</a:t>
            </a:r>
          </a:p>
          <a:p>
            <a:r>
              <a:t>      unless required by applicable law (such as deliberate and grossly</a:t>
            </a:r>
          </a:p>
          <a:p>
            <a:r>
              <a:t>      negligent acts) or agreed to in writing, shall any Contributor be</a:t>
            </a:r>
          </a:p>
          <a:p>
            <a:r>
              <a:t>      liable to You for damages, including any direct, indirect, special,</a:t>
            </a:r>
          </a:p>
          <a:p>
            <a:r>
              <a:t>      incidental, or consequential damages of any character arising as a</a:t>
            </a:r>
          </a:p>
          <a:p>
            <a:r>
              <a:t>      result of this License or out of the use or inability to use the</a:t>
            </a:r>
          </a:p>
          <a:p>
            <a:r>
              <a:t>      Work (including but not limited to damages for loss of goodwill,</a:t>
            </a:r>
          </a:p>
          <a:p>
            <a:r>
              <a:t>      work stoppage, computer failure or malfunction, or any and all</a:t>
            </a:r>
          </a:p>
          <a:p>
            <a:r>
              <a:t>      other commercial damages or losses), even if such Contributor</a:t>
            </a:r>
          </a:p>
          <a:p>
            <a:r>
              <a:t>      has been advised of the possibility of such damages.</a:t>
            </a:r>
          </a:p>
          <a:p/>
          <a:p>
            <a:r>
              <a:t>   9. Accepting Warranty or Additional Liability. While redistributing</a:t>
            </a:r>
          </a:p>
          <a:p>
            <a:r>
              <a:t>      the Work or Derivative Works thereof, You may choose to offer,</a:t>
            </a:r>
          </a:p>
          <a:p>
            <a:r>
              <a:t>      and charge a fee for, acceptance of support, warranty, indemnity,</a:t>
            </a:r>
          </a:p>
          <a:p>
            <a:r>
              <a:t>      or other liability obligations and/or rights consistent with this</a:t>
            </a:r>
          </a:p>
          <a:p>
            <a:r>
              <a:t>      License. However, in accepting such obligations, You may act only</a:t>
            </a:r>
          </a:p>
          <a:p>
            <a:r>
              <a:t>      on Your own behalf and on Your sole responsibility, not on behalf</a:t>
            </a:r>
          </a:p>
          <a:p>
            <a:r>
              <a:t>      of any other Contributor, and only if You agree to indemnify,</a:t>
            </a:r>
          </a:p>
          <a:p>
            <a:r>
              <a:t>      defend, and hold each Contributor harmless for any liability</a:t>
            </a:r>
          </a:p>
          <a:p>
            <a:r>
              <a:t>      incurred by, or claims asserted against, such Contributor by reason</a:t>
            </a:r>
          </a:p>
          <a:p>
            <a:r>
              <a:t>      of your accepting any such warranty or additional liability.</a:t>
            </a:r>
          </a:p>
          <a:p/>
          <a:p>
            <a:r>
              <a:t>   END OF TERMS AND CONDITIONS</a:t>
            </a:r>
          </a:p>
          <a:p/>
          <a:p>
            <a:r>
              <a:t>   APPENDIX: How to apply the Apache License to your work.</a:t>
            </a:r>
          </a:p>
          <a:p/>
          <a:p>
            <a:r>
              <a:t>      To apply the Apache License to your work, attach the following</a:t>
            </a:r>
          </a:p>
          <a:p>
            <a:r>
              <a:t>      boilerplate notice, with the fields enclosed by brackets "[]"</a:t>
            </a:r>
          </a:p>
          <a:p>
            <a:r>
              <a:t>      replaced with your own identifying information. (Don't include</a:t>
            </a:r>
          </a:p>
          <a:p>
            <a:r>
              <a:t>      the brackets!)  The text should be enclosed in the appropriate</a:t>
            </a:r>
          </a:p>
          <a:p>
            <a:r>
              <a:t>      comment syntax for the file format. We also recommend that a</a:t>
            </a:r>
          </a:p>
          <a:p>
            <a:r>
              <a:t>      file or class name and description of purpose be included on the</a:t>
            </a:r>
          </a:p>
          <a:p>
            <a:r>
              <a:t>      same "printed page" as the copyright notice for easier</a:t>
            </a:r>
          </a:p>
          <a:p>
            <a:r>
              <a:t>      identification within third-party archives.</a:t>
            </a:r>
          </a:p>
          <a:p/>
          <a:p>
            <a:r>
              <a:t>   Copyright [yyyy] [name of copyright owner]</a:t>
            </a:r>
          </a:p>
          <a:p/>
          <a:p>
            <a:r>
              <a:t>   Licensed under the Apache License, Version 2.0 (the "License");</a:t>
            </a:r>
          </a:p>
          <a:p>
            <a:r>
              <a:t>   you may not use this file except in compliance with the License.</a:t>
            </a:r>
          </a:p>
          <a:p>
            <a:r>
              <a:t>   You may obtain a copy of the License at</a:t>
            </a:r>
          </a:p>
          <a:p/>
          <a:p>
            <a:r>
              <a:t>       http://www.apache.org/licenses/LICENSE-2.0</a:t>
            </a:r>
          </a:p>
          <a:p/>
          <a:p>
            <a:r>
              <a:t>   Unless required by applicable law or agreed to in writing, software</a:t>
            </a:r>
          </a:p>
          <a:p>
            <a:r>
              <a:t>   distributed under the License is distributed on an "AS IS" BASIS,</a:t>
            </a:r>
          </a:p>
          <a:p>
            <a:r>
              <a:t>   WITHOUT WARRANTIES OR CONDITIONS OF ANY KIND, either express or implied.</a:t>
            </a:r>
          </a:p>
          <a:p>
            <a:r>
              <a:t>   See the License for the specific language governing permissions and</a:t>
            </a:r>
          </a:p>
          <a:p>
            <a:r>
              <a:t>   limitations under the License.</a:t>
            </a:r>
          </a:p>
          <a:p/>
          <a:p/>
          <a:p>
            <a:r>
              <a:t>Attribution-NonCommercial 4.0 International</a:t>
            </a:r>
          </a:p>
          <a:p/>
          <a:p>
            <a:r>
              <a:t>=======================================================================</a:t>
            </a:r>
          </a:p>
          <a:p/>
          <a:p>
            <a:r>
              <a:t>Creative Commons Corporation ("Creative Commons") is not a law firm and</a:t>
            </a:r>
          </a:p>
          <a:p>
            <a:r>
              <a:t>does not provide legal services or legal advice. Distribution of</a:t>
            </a:r>
          </a:p>
          <a:p>
            <a:r>
              <a:t>Creative Commons public licenses does not create a lawyer-client or</a:t>
            </a:r>
          </a:p>
          <a:p>
            <a:r>
              <a:t>other relationship. Creative Commons makes its licenses and related</a:t>
            </a:r>
          </a:p>
          <a:p>
            <a:r>
              <a:t>information available on an "as-is" basis. Creative Commons gives no</a:t>
            </a:r>
          </a:p>
          <a:p>
            <a:r>
              <a:t>warranties regarding its licenses, any material licensed under their</a:t>
            </a:r>
          </a:p>
          <a:p>
            <a:r>
              <a:t>terms and conditions, or any related information. Creative Commons</a:t>
            </a:r>
          </a:p>
          <a:p>
            <a:r>
              <a:t>disclaims all liability for damages resulting from their use to the</a:t>
            </a:r>
          </a:p>
          <a:p>
            <a:r>
              <a:t>fullest extent possible.</a:t>
            </a:r>
          </a:p>
          <a:p/>
          <a:p>
            <a:r>
              <a:t>Using Creative Commons Public Licenses</a:t>
            </a:r>
          </a:p>
          <a:p/>
          <a:p>
            <a:r>
              <a:t>Creative Commons public licenses provide a standard set of terms and</a:t>
            </a:r>
          </a:p>
          <a:p>
            <a:r>
              <a:t>conditions that creators and other rights holders may use to share</a:t>
            </a:r>
          </a:p>
          <a:p>
            <a:r>
              <a:t>original works of authorship and other material subject to copyright</a:t>
            </a:r>
          </a:p>
          <a:p>
            <a:r>
              <a:t>and certain other rights specified in the public license below. The</a:t>
            </a:r>
          </a:p>
          <a:p>
            <a:r>
              <a:t>following considerations are for informational purposes only, are not</a:t>
            </a:r>
          </a:p>
          <a:p>
            <a:r>
              <a:t>exhaustive, and do not form part of our licenses.</a:t>
            </a:r>
          </a:p>
          <a:p/>
          <a:p>
            <a:r>
              <a:t>     Considerations for licensors: Our public licenses are</a:t>
            </a:r>
          </a:p>
          <a:p>
            <a:r>
              <a:t>     intended for use by those authorized to give the public</a:t>
            </a:r>
          </a:p>
          <a:p>
            <a:r>
              <a:t>     permission to use material in ways otherwise restricted by</a:t>
            </a:r>
          </a:p>
          <a:p>
            <a:r>
              <a:t>     copyright and certain other rights. Our licenses are</a:t>
            </a:r>
          </a:p>
          <a:p>
            <a:r>
              <a:t>     irrevocable. Licensors should read and understand the terms</a:t>
            </a:r>
          </a:p>
          <a:p>
            <a:r>
              <a:t>     and conditions of the license they choose before applying it.</a:t>
            </a:r>
          </a:p>
          <a:p>
            <a:r>
              <a:t>     Licensors should also secure all rights necessary before</a:t>
            </a:r>
          </a:p>
          <a:p>
            <a:r>
              <a:t>     applying our licenses so that the public can reuse the</a:t>
            </a:r>
          </a:p>
          <a:p>
            <a:r>
              <a:t>     material as expected. Licensors should clearly mark any</a:t>
            </a:r>
          </a:p>
          <a:p>
            <a:r>
              <a:t>     material not subject to the license. This includes other CC-</a:t>
            </a:r>
          </a:p>
          <a:p>
            <a:r>
              <a:t>     licensed material, or material used under an exception or</a:t>
            </a:r>
          </a:p>
          <a:p>
            <a:r>
              <a:t>     limitation to copyright. More considerations for licensors:</a:t>
            </a:r>
          </a:p>
          <a:p>
            <a:r>
              <a:t>    wiki.creativecommons.org/Considerations_for_licensors</a:t>
            </a:r>
          </a:p>
          <a:p/>
          <a:p>
            <a:r>
              <a:t>     Considerations for the public: By using one of our public</a:t>
            </a:r>
          </a:p>
          <a:p>
            <a:r>
              <a:t>     licenses, a licensor grants the public permission to use the</a:t>
            </a:r>
          </a:p>
          <a:p>
            <a:r>
              <a:t>     licensed material under specified terms and conditions. If</a:t>
            </a:r>
          </a:p>
          <a:p>
            <a:r>
              <a:t>     the licensor's permission is not necessary for any reason--for</a:t>
            </a:r>
          </a:p>
          <a:p>
            <a:r>
              <a:t>     example, because of any applicable exception or limitation to</a:t>
            </a:r>
          </a:p>
          <a:p>
            <a:r>
              <a:t>     copyright--then that use is not regulated by the license. Our</a:t>
            </a:r>
          </a:p>
          <a:p>
            <a:r>
              <a:t>     licenses grant only permissions under copyright and certain</a:t>
            </a:r>
          </a:p>
          <a:p>
            <a:r>
              <a:t>     other rights that a licensor has authority to grant. Use of</a:t>
            </a:r>
          </a:p>
          <a:p>
            <a:r>
              <a:t>     the licensed material may still be restricted for other</a:t>
            </a:r>
          </a:p>
          <a:p>
            <a:r>
              <a:t>     reasons, including because others have copyright or other</a:t>
            </a:r>
          </a:p>
          <a:p>
            <a:r>
              <a:t>     rights in the material. A licensor may make special requests,</a:t>
            </a:r>
          </a:p>
          <a:p>
            <a:r>
              <a:t>     such as asking that all changes be marked or described.</a:t>
            </a:r>
          </a:p>
          <a:p>
            <a:r>
              <a:t>     Although not required by our licenses, you are encouraged to</a:t>
            </a:r>
          </a:p>
          <a:p>
            <a:r>
              <a:t>     respect those requests where reasonable. More considerations</a:t>
            </a:r>
          </a:p>
          <a:p>
            <a:r>
              <a:t>     for the public:</a:t>
            </a:r>
          </a:p>
          <a:p>
            <a:r>
              <a:t>    wiki.creativecommons.org/Considerations_for_licensees</a:t>
            </a:r>
          </a:p>
          <a:p/>
          <a:p>
            <a:r>
              <a:t>=======================================================================</a:t>
            </a:r>
          </a:p>
          <a:p/>
          <a:p>
            <a:r>
              <a:t>Creative Commons Attribution-NonCommercial 4.0 International Public</a:t>
            </a:r>
          </a:p>
          <a:p>
            <a:r>
              <a:t>License</a:t>
            </a:r>
          </a:p>
          <a:p/>
          <a:p>
            <a:r>
              <a:t>By exercising the Licensed Rights (defined below), You accept and agree</a:t>
            </a:r>
          </a:p>
          <a:p>
            <a:r>
              <a:t>to be bound by the terms and conditions of this Creative Commons</a:t>
            </a:r>
          </a:p>
          <a:p>
            <a:r>
              <a:t>Attribution-NonCommercial 4.0 International Public License ("Public</a:t>
            </a:r>
          </a:p>
          <a:p>
            <a:r>
              <a:t>License"). To the extent this Public License may be interpreted as a</a:t>
            </a:r>
          </a:p>
          <a:p>
            <a:r>
              <a:t>contract, You are granted the Licensed Rights in consideration of Your</a:t>
            </a:r>
          </a:p>
          <a:p>
            <a:r>
              <a:t>acceptance of these terms and conditions, and the Licensor grants You</a:t>
            </a:r>
          </a:p>
          <a:p>
            <a:r>
              <a:t>such rights in consideration of benefits the Licensor receives from</a:t>
            </a:r>
          </a:p>
          <a:p>
            <a:r>
              <a:t>making the Licensed Material available under these terms and</a:t>
            </a:r>
          </a:p>
          <a:p>
            <a:r>
              <a:t>conditions.</a:t>
            </a:r>
          </a:p>
          <a:p/>
          <a:p/>
          <a:p>
            <a:r>
              <a:t>Section 1 -- Definitions.</a:t>
            </a:r>
          </a:p>
          <a:p/>
          <a:p>
            <a:r>
              <a:t>  a. Adapted Material means material subject to Copyright and Similar</a:t>
            </a:r>
          </a:p>
          <a:p>
            <a:r>
              <a:t>     Rights that is derived from or based upon the Licensed Material</a:t>
            </a:r>
          </a:p>
          <a:p>
            <a:r>
              <a:t>     and in which the Licensed Material is translated, altered,</a:t>
            </a:r>
          </a:p>
          <a:p>
            <a:r>
              <a:t>     arranged, transformed, or otherwise modified in a manner requiring</a:t>
            </a:r>
          </a:p>
          <a:p>
            <a:r>
              <a:t>     permission under the Copyright and Similar Rights held by the</a:t>
            </a:r>
          </a:p>
          <a:p>
            <a:r>
              <a:t>     Licensor. For purposes of this Public License, where the Licensed</a:t>
            </a:r>
          </a:p>
          <a:p>
            <a:r>
              <a:t>     Material is a musical work, performance, or sound recording,</a:t>
            </a:r>
          </a:p>
          <a:p>
            <a:r>
              <a:t>     Adapted Material is always produced where the Licensed Material is</a:t>
            </a:r>
          </a:p>
          <a:p>
            <a:r>
              <a:t>     synched in timed relation with a moving image.</a:t>
            </a:r>
          </a:p>
          <a:p/>
          <a:p>
            <a:r>
              <a:t>  b. Adapter's License means the license You apply to Your Copyright</a:t>
            </a:r>
          </a:p>
          <a:p>
            <a:r>
              <a:t>     and Similar Rights in Your contributions to Adapted Material in</a:t>
            </a:r>
          </a:p>
          <a:p>
            <a:r>
              <a:t>     accordance with the terms and conditions of this Public License.</a:t>
            </a:r>
          </a:p>
          <a:p/>
          <a:p>
            <a:r>
              <a:t>  c. Copyright and Similar Rights means copyright and/or similar rights</a:t>
            </a:r>
          </a:p>
          <a:p>
            <a:r>
              <a:t>     closely related to copyright including, without limitation,</a:t>
            </a:r>
          </a:p>
          <a:p>
            <a:r>
              <a:t>     performance, broadcast, sound recording, and Sui Generis Database</a:t>
            </a:r>
          </a:p>
          <a:p>
            <a:r>
              <a:t>     Rights, without regard to how the rights are labeled or</a:t>
            </a:r>
          </a:p>
          <a:p>
            <a:r>
              <a:t>     categorized. For purposes of this Public License, the rights</a:t>
            </a:r>
          </a:p>
          <a:p>
            <a:r>
              <a:t>     specified in Section 2(b)(1)-(2) are not Copyright and Similar</a:t>
            </a:r>
          </a:p>
          <a:p>
            <a:r>
              <a:t>     Rights.</a:t>
            </a:r>
          </a:p>
          <a:p>
            <a:r>
              <a:t>  d. Effective Technological Measures means those measures that, in the</a:t>
            </a:r>
          </a:p>
          <a:p>
            <a:r>
              <a:t>     absence of proper authority, may not be circumvented under laws</a:t>
            </a:r>
          </a:p>
          <a:p>
            <a:r>
              <a:t>     fulfilling obligations under Article 11 of the WIPO Copyright</a:t>
            </a:r>
          </a:p>
          <a:p>
            <a:r>
              <a:t>     Treaty adopted on December 20, 1996, and/or similar international</a:t>
            </a:r>
          </a:p>
          <a:p>
            <a:r>
              <a:t>     agreements.</a:t>
            </a:r>
          </a:p>
          <a:p/>
          <a:p>
            <a:r>
              <a:t>  e. Exceptions and Limitations means fair use, fair dealing, and/or</a:t>
            </a:r>
          </a:p>
          <a:p>
            <a:r>
              <a:t>     any other exception or limitation to Copyright and Similar Rights</a:t>
            </a:r>
          </a:p>
          <a:p>
            <a:r>
              <a:t>     that applies to Your use of the Licensed Material.</a:t>
            </a:r>
          </a:p>
          <a:p/>
          <a:p>
            <a:r>
              <a:t>  f. Licensed Material means the artistic or literary work, database,</a:t>
            </a:r>
          </a:p>
          <a:p>
            <a:r>
              <a:t>     or other material to which the Licensor applied this Public</a:t>
            </a:r>
          </a:p>
          <a:p>
            <a:r>
              <a:t>     License.</a:t>
            </a:r>
          </a:p>
          <a:p/>
          <a:p>
            <a:r>
              <a:t>  g. Licensed Rights means the rights granted to You subject to the</a:t>
            </a:r>
          </a:p>
          <a:p>
            <a:r>
              <a:t>     terms and conditions of this Public License, which are limited to</a:t>
            </a:r>
          </a:p>
          <a:p>
            <a:r>
              <a:t>     all Copyright and Similar Rights that apply to Your use of the</a:t>
            </a:r>
          </a:p>
          <a:p>
            <a:r>
              <a:t>     Licensed Material and that the Licensor has authority to license.</a:t>
            </a:r>
          </a:p>
          <a:p/>
          <a:p>
            <a:r>
              <a:t>  h. Licensor means the individual(s) or entity(ies) granting rights</a:t>
            </a:r>
          </a:p>
          <a:p>
            <a:r>
              <a:t>     under this Public License.</a:t>
            </a:r>
          </a:p>
          <a:p/>
          <a:p>
            <a:r>
              <a:t>  i. NonCommercial means not primarily intended for or directed towards</a:t>
            </a:r>
          </a:p>
          <a:p>
            <a:r>
              <a:t>     commercial advantage or monetary compensation. For purposes of</a:t>
            </a:r>
          </a:p>
          <a:p>
            <a:r>
              <a:t>     this Public License, the exchange of the Licensed Material for</a:t>
            </a:r>
          </a:p>
          <a:p>
            <a:r>
              <a:t>     other material subject to Copyright and Similar Rights by digital</a:t>
            </a:r>
          </a:p>
          <a:p>
            <a:r>
              <a:t>     file-sharing or similar means is NonCommercial provided there is</a:t>
            </a:r>
          </a:p>
          <a:p>
            <a:r>
              <a:t>     no payment of monetary compensation in connection with the</a:t>
            </a:r>
          </a:p>
          <a:p>
            <a:r>
              <a:t>     exchange.</a:t>
            </a:r>
          </a:p>
          <a:p/>
          <a:p>
            <a:r>
              <a:t>  j. Share means to provide material to the public by any means or</a:t>
            </a:r>
          </a:p>
          <a:p>
            <a:r>
              <a:t>     process that requires permission under the Licensed Rights, such</a:t>
            </a:r>
          </a:p>
          <a:p>
            <a:r>
              <a:t>     as reproduction, public display, public performance, distribution,</a:t>
            </a:r>
          </a:p>
          <a:p>
            <a:r>
              <a:t>     dissemination, communication, or importation, and to make material</a:t>
            </a:r>
          </a:p>
          <a:p>
            <a:r>
              <a:t>     available to the public including in ways that members of the</a:t>
            </a:r>
          </a:p>
          <a:p>
            <a:r>
              <a:t>     public may access the material from a place and at a time</a:t>
            </a:r>
          </a:p>
          <a:p>
            <a:r>
              <a:t>     individually chosen by them.</a:t>
            </a:r>
          </a:p>
          <a:p/>
          <a:p>
            <a:r>
              <a:t>  k. Sui Generis Database Rights means rights other than copyright</a:t>
            </a:r>
          </a:p>
          <a:p>
            <a:r>
              <a:t>     resulting from Directive 96/9/EC of the European Parliament and of</a:t>
            </a:r>
          </a:p>
          <a:p>
            <a:r>
              <a:t>     the Council of 11 March 1996 on the legal protection of databases,</a:t>
            </a:r>
          </a:p>
          <a:p>
            <a:r>
              <a:t>     as amended and/or succeeded, as well as other essentially</a:t>
            </a:r>
          </a:p>
          <a:p>
            <a:r>
              <a:t>     equivalent rights anywhere in the world.</a:t>
            </a:r>
          </a:p>
          <a:p/>
          <a:p>
            <a:r>
              <a:t>  l. You means the individual or entity exercising the Licensed Rights</a:t>
            </a:r>
          </a:p>
          <a:p>
            <a:r>
              <a:t>     under this Public License. Your has a corresponding meaning.</a:t>
            </a:r>
          </a:p>
          <a:p/>
          <a:p/>
          <a:p>
            <a:r>
              <a:t>Section 2 -- Scope.</a:t>
            </a:r>
          </a:p>
          <a:p/>
          <a:p>
            <a:r>
              <a:t>  a. License grant.</a:t>
            </a:r>
          </a:p>
          <a:p/>
          <a:p>
            <a:r>
              <a:t>       1. Subject to the terms and conditions of this Public License,</a:t>
            </a:r>
          </a:p>
          <a:p>
            <a:r>
              <a:t>          the Licensor hereby grants You a worldwide, royalty-free,</a:t>
            </a:r>
          </a:p>
          <a:p>
            <a:r>
              <a:t>          non-sublicensable, non-exclusive, irrevocable license to</a:t>
            </a:r>
          </a:p>
          <a:p>
            <a:r>
              <a:t>          exercise the Licensed Rights in the Licensed Material to:</a:t>
            </a:r>
          </a:p>
          <a:p/>
          <a:p>
            <a:r>
              <a:t>            a. reproduce and Share the Licensed Material, in whole or</a:t>
            </a:r>
          </a:p>
          <a:p>
            <a:r>
              <a:t>               in part, for NonCommercial purposes only; and</a:t>
            </a:r>
          </a:p>
          <a:p/>
          <a:p>
            <a:r>
              <a:t>            b. produce, reproduce, and Share Adapted Material for</a:t>
            </a:r>
          </a:p>
          <a:p>
            <a:r>
              <a:t>               NonCommercial purposes only.</a:t>
            </a:r>
          </a:p>
          <a:p/>
          <a:p>
            <a:r>
              <a:t>       2. Exceptions and Limitations. For the avoidance of doubt, where</a:t>
            </a:r>
          </a:p>
          <a:p>
            <a:r>
              <a:t>          Exceptions and Limitations apply to Your use, this Public</a:t>
            </a:r>
          </a:p>
          <a:p>
            <a:r>
              <a:t>          License does not apply, and You do not need to comply with</a:t>
            </a:r>
          </a:p>
          <a:p>
            <a:r>
              <a:t>          its terms and conditions.</a:t>
            </a:r>
          </a:p>
          <a:p/>
          <a:p>
            <a:r>
              <a:t>       3. Term. The term of this Public License is specified in Section</a:t>
            </a:r>
          </a:p>
          <a:p>
            <a:r>
              <a:t>          6(a).</a:t>
            </a:r>
          </a:p>
          <a:p/>
          <a:p>
            <a:r>
              <a:t>       4. Media and formats; technical modifications allowed. The</a:t>
            </a:r>
          </a:p>
          <a:p>
            <a:r>
              <a:t>          Licensor authorizes You to exercise the Licensed Rights in</a:t>
            </a:r>
          </a:p>
          <a:p>
            <a:r>
              <a:t>          all media and formats whether now known or hereafter created,</a:t>
            </a:r>
          </a:p>
          <a:p>
            <a:r>
              <a:t>          and to make technical modifications necessary to do so. The</a:t>
            </a:r>
          </a:p>
          <a:p>
            <a:r>
              <a:t>          Licensor waives and/or agrees not to assert any right or</a:t>
            </a:r>
          </a:p>
          <a:p>
            <a:r>
              <a:t>          authority to forbid You from making technical modifications</a:t>
            </a:r>
          </a:p>
          <a:p>
            <a:r>
              <a:t>          necessary to exercise the Licensed Rights, including</a:t>
            </a:r>
          </a:p>
          <a:p>
            <a:r>
              <a:t>          technical modifications necessary to circumvent Effective</a:t>
            </a:r>
          </a:p>
          <a:p>
            <a:r>
              <a:t>          Technological Measures. For purposes of this Public License,</a:t>
            </a:r>
          </a:p>
          <a:p>
            <a:r>
              <a:t>          simply making modifications authorized by this Section 2(a)</a:t>
            </a:r>
          </a:p>
          <a:p>
            <a:r>
              <a:t>          (4) never produces Adapted Material.</a:t>
            </a:r>
          </a:p>
          <a:p/>
          <a:p>
            <a:r>
              <a:t>       5. Downstream recipients.</a:t>
            </a:r>
          </a:p>
          <a:p/>
          <a:p>
            <a:r>
              <a:t>            a. Offer from the Licensor -- Licensed Material. Every</a:t>
            </a:r>
          </a:p>
          <a:p>
            <a:r>
              <a:t>               recipient of the Licensed Material automatically</a:t>
            </a:r>
          </a:p>
          <a:p>
            <a:r>
              <a:t>               receives an offer from the Licensor to exercise the</a:t>
            </a:r>
          </a:p>
          <a:p>
            <a:r>
              <a:t>               Licensed Rights under the terms and conditions of this</a:t>
            </a:r>
          </a:p>
          <a:p>
            <a:r>
              <a:t>               Public License.</a:t>
            </a:r>
          </a:p>
          <a:p/>
          <a:p>
            <a:r>
              <a:t>            b. No downstream restrictions. You may not offer or impose</a:t>
            </a:r>
          </a:p>
          <a:p>
            <a:r>
              <a:t>               any additional or different terms or conditions on, or</a:t>
            </a:r>
          </a:p>
          <a:p>
            <a:r>
              <a:t>               apply any Effective Technological Measures to, the</a:t>
            </a:r>
          </a:p>
          <a:p>
            <a:r>
              <a:t>               Licensed Material if doing so restricts exercise of the</a:t>
            </a:r>
          </a:p>
          <a:p>
            <a:r>
              <a:t>               Licensed Rights by any recipient of the Licensed</a:t>
            </a:r>
          </a:p>
          <a:p>
            <a:r>
              <a:t>               Material.</a:t>
            </a:r>
          </a:p>
          <a:p/>
          <a:p>
            <a:r>
              <a:t>       6. No endorsement. Nothing in this Public License constitutes or</a:t>
            </a:r>
          </a:p>
          <a:p>
            <a:r>
              <a:t>          may be construed as permission to assert or imply that You</a:t>
            </a:r>
          </a:p>
          <a:p>
            <a:r>
              <a:t>          are, or that Your use of the Licensed Material is, connected</a:t>
            </a:r>
          </a:p>
          <a:p>
            <a:r>
              <a:t>          with, or sponsored, endorsed, or granted official status by,</a:t>
            </a:r>
          </a:p>
          <a:p>
            <a:r>
              <a:t>          the Licensor or others designated to receive attribution as</a:t>
            </a:r>
          </a:p>
          <a:p>
            <a:r>
              <a:t>          provided in Section 3(a)(1)(A)(i).</a:t>
            </a:r>
          </a:p>
          <a:p/>
          <a:p>
            <a:r>
              <a:t>  b. Other rights.</a:t>
            </a:r>
          </a:p>
          <a:p/>
          <a:p>
            <a:r>
              <a:t>       1. Moral rights, such as the right of integrity, are not</a:t>
            </a:r>
          </a:p>
          <a:p>
            <a:r>
              <a:t>          licensed under this Public License, nor are publicity,</a:t>
            </a:r>
          </a:p>
          <a:p>
            <a:r>
              <a:t>          privacy, and/or other similar personality rights; however, to</a:t>
            </a:r>
          </a:p>
          <a:p>
            <a:r>
              <a:t>          the extent possible, the Licensor waives and/or agrees not to</a:t>
            </a:r>
          </a:p>
          <a:p>
            <a:r>
              <a:t>          assert any such rights held by the Licensor to the limited</a:t>
            </a:r>
          </a:p>
          <a:p>
            <a:r>
              <a:t>          extent necessary to allow You to exercise the Licensed</a:t>
            </a:r>
          </a:p>
          <a:p>
            <a:r>
              <a:t>          Rights, but not otherwise.</a:t>
            </a:r>
          </a:p>
          <a:p/>
          <a:p>
            <a:r>
              <a:t>       2. Patent and trademark rights are not licensed under this</a:t>
            </a:r>
          </a:p>
          <a:p>
            <a:r>
              <a:t>          Public License.</a:t>
            </a:r>
          </a:p>
          <a:p/>
          <a:p>
            <a:r>
              <a:t>       3. To the extent possible, the Licensor waives any right to</a:t>
            </a:r>
          </a:p>
          <a:p>
            <a:r>
              <a:t>          collect royalties from You for the exercise of the Licensed</a:t>
            </a:r>
          </a:p>
          <a:p>
            <a:r>
              <a:t>          Rights, whether directly or through a collecting society</a:t>
            </a:r>
          </a:p>
          <a:p>
            <a:r>
              <a:t>          under any voluntary or waivable statutory or compulsory</a:t>
            </a:r>
          </a:p>
          <a:p>
            <a:r>
              <a:t>          licensing scheme. In all other cases the Licensor expressly</a:t>
            </a:r>
          </a:p>
          <a:p>
            <a:r>
              <a:t>          reserves any right to collect such royalties, including when</a:t>
            </a:r>
          </a:p>
          <a:p>
            <a:r>
              <a:t>          the Licensed Material is used other than for NonCommercial</a:t>
            </a:r>
          </a:p>
          <a:p>
            <a:r>
              <a:t>          purposes.</a:t>
            </a:r>
          </a:p>
          <a:p/>
          <a:p/>
          <a:p>
            <a:r>
              <a:t>Section 3 -- License Conditions.</a:t>
            </a:r>
          </a:p>
          <a:p/>
          <a:p>
            <a:r>
              <a:t>Your exercise of the Licensed Rights is expressly made subject to the</a:t>
            </a:r>
          </a:p>
          <a:p>
            <a:r>
              <a:t>following conditions.</a:t>
            </a:r>
          </a:p>
          <a:p/>
          <a:p>
            <a:r>
              <a:t>  a. Attribution.</a:t>
            </a:r>
          </a:p>
          <a:p/>
          <a:p>
            <a:r>
              <a:t>       1. If You Share the Licensed Material (including in modified</a:t>
            </a:r>
          </a:p>
          <a:p>
            <a:r>
              <a:t>          form), You must:</a:t>
            </a:r>
          </a:p>
          <a:p/>
          <a:p>
            <a:r>
              <a:t>            a. retain the following if it is supplied by the Licensor</a:t>
            </a:r>
          </a:p>
          <a:p>
            <a:r>
              <a:t>               with the Licensed Material:</a:t>
            </a:r>
          </a:p>
          <a:p/>
          <a:p>
            <a:r>
              <a:t>                 i. identification of the creator(s) of the Licensed</a:t>
            </a:r>
          </a:p>
          <a:p>
            <a:r>
              <a:t>                    Material and any others designated to receive</a:t>
            </a:r>
          </a:p>
          <a:p>
            <a:r>
              <a:t>                    attribution, in any reasonable manner requested by</a:t>
            </a:r>
          </a:p>
          <a:p>
            <a:r>
              <a:t>                    the Licensor (including by pseudonym if</a:t>
            </a:r>
          </a:p>
          <a:p>
            <a:r>
              <a:t>                    designated);</a:t>
            </a:r>
          </a:p>
          <a:p/>
          <a:p>
            <a:r>
              <a:t>                ii. a copyright notice;</a:t>
            </a:r>
          </a:p>
          <a:p/>
          <a:p>
            <a:r>
              <a:t>               iii. a notice that refers to this Public License;</a:t>
            </a:r>
          </a:p>
          <a:p/>
          <a:p>
            <a:r>
              <a:t>                iv. a notice that refers to the disclaimer of</a:t>
            </a:r>
          </a:p>
          <a:p>
            <a:r>
              <a:t>                    warranties;</a:t>
            </a:r>
          </a:p>
          <a:p/>
          <a:p>
            <a:r>
              <a:t>                 v. a URI or hyperlink to the Licensed Material to the</a:t>
            </a:r>
          </a:p>
          <a:p>
            <a:r>
              <a:t>                    extent reasonably practicable;</a:t>
            </a:r>
          </a:p>
          <a:p/>
          <a:p>
            <a:r>
              <a:t>            b. indicate if You modified the Licensed Material and</a:t>
            </a:r>
          </a:p>
          <a:p>
            <a:r>
              <a:t>               retain an indication of any previous modifications; and</a:t>
            </a:r>
          </a:p>
          <a:p/>
          <a:p>
            <a:r>
              <a:t>            c. indicate the Licensed Material is licensed under this</a:t>
            </a:r>
          </a:p>
          <a:p>
            <a:r>
              <a:t>               Public License, and include the text of, or the URI or</a:t>
            </a:r>
          </a:p>
          <a:p>
            <a:r>
              <a:t>               hyperlink to, this Public License.</a:t>
            </a:r>
          </a:p>
          <a:p/>
          <a:p>
            <a:r>
              <a:t>       2. You may satisfy the conditions in Section 3(a)(1) in any</a:t>
            </a:r>
          </a:p>
          <a:p>
            <a:r>
              <a:t>          reasonable manner based on the medium, means, and context in</a:t>
            </a:r>
          </a:p>
          <a:p>
            <a:r>
              <a:t>          which You Share the Licensed Material. For example, it may be</a:t>
            </a:r>
          </a:p>
          <a:p>
            <a:r>
              <a:t>          reasonable to satisfy the conditions by providing a URI or</a:t>
            </a:r>
          </a:p>
          <a:p>
            <a:r>
              <a:t>          hyperlink to a resource that includes the required</a:t>
            </a:r>
          </a:p>
          <a:p>
            <a:r>
              <a:t>          information.</a:t>
            </a:r>
          </a:p>
          <a:p/>
          <a:p>
            <a:r>
              <a:t>       3. If requested by the Licensor, You must remove any of the</a:t>
            </a:r>
          </a:p>
          <a:p>
            <a:r>
              <a:t>          information required by Section 3(a)(1)(A) to the extent</a:t>
            </a:r>
          </a:p>
          <a:p>
            <a:r>
              <a:t>          reasonably practicable.</a:t>
            </a:r>
          </a:p>
          <a:p/>
          <a:p>
            <a:r>
              <a:t>       4. If You Share Adapted Material You produce, the Adapter's</a:t>
            </a:r>
          </a:p>
          <a:p>
            <a:r>
              <a:t>          License You apply must not prevent recipients of the Adapted</a:t>
            </a:r>
          </a:p>
          <a:p>
            <a:r>
              <a:t>          Material from complying with this Public License.</a:t>
            </a:r>
          </a:p>
          <a:p/>
          <a:p/>
          <a:p>
            <a:r>
              <a:t>Section 4 -- Sui Generis Database Rights.</a:t>
            </a:r>
          </a:p>
          <a:p/>
          <a:p>
            <a:r>
              <a:t>Where the Licensed Rights include Sui Generis Database Rights that</a:t>
            </a:r>
          </a:p>
          <a:p>
            <a:r>
              <a:t>apply to Your use of the Licensed Material:</a:t>
            </a:r>
          </a:p>
          <a:p/>
          <a:p>
            <a:r>
              <a:t>  a. for the avoidance of doubt, Section 2(a)(1) grants You the right</a:t>
            </a:r>
          </a:p>
          <a:p>
            <a:r>
              <a:t>     to extract, reuse, reproduce, and Share all or a substantial</a:t>
            </a:r>
          </a:p>
          <a:p>
            <a:r>
              <a:t>     portion of the contents of the database for NonCommercial purposes</a:t>
            </a:r>
          </a:p>
          <a:p>
            <a:r>
              <a:t>     only;</a:t>
            </a:r>
          </a:p>
          <a:p/>
          <a:p>
            <a:r>
              <a:t>  b. if You include all or a substantial portion of the database</a:t>
            </a:r>
          </a:p>
          <a:p>
            <a:r>
              <a:t>     contents in a database in which You have Sui Generis Database</a:t>
            </a:r>
          </a:p>
          <a:p>
            <a:r>
              <a:t>     Rights, then the database in which You have Sui Generis Database</a:t>
            </a:r>
          </a:p>
          <a:p>
            <a:r>
              <a:t>     Rights (but not its individual contents) is Adapted Material; and</a:t>
            </a:r>
          </a:p>
          <a:p/>
          <a:p>
            <a:r>
              <a:t>  c. You must comply with the conditions in Section 3(a) if You Share</a:t>
            </a:r>
          </a:p>
          <a:p>
            <a:r>
              <a:t>     all or a substantial portion of the contents of the database.</a:t>
            </a:r>
          </a:p>
          <a:p/>
          <a:p>
            <a:r>
              <a:t>For the avoidance of doubt, this Section 4 supplements and does not</a:t>
            </a:r>
          </a:p>
          <a:p>
            <a:r>
              <a:t>replace Your obligations under this Public License where the Licensed</a:t>
            </a:r>
          </a:p>
          <a:p>
            <a:r>
              <a:t>Rights include other Copyright and Similar Rights.</a:t>
            </a:r>
          </a:p>
          <a:p/>
          <a:p/>
          <a:p>
            <a:r>
              <a:t>Section 5 -- Disclaimer of Warranties and Limitation of Liability.</a:t>
            </a:r>
          </a:p>
          <a:p/>
          <a:p>
            <a:r>
              <a:t>  a. UNLESS OTHERWISE SEPARATELY UNDERTAKEN BY THE LICENSOR, TO THE</a:t>
            </a:r>
          </a:p>
          <a:p>
            <a:r>
              <a:t>     EXTENT POSSIBLE, THE LICENSOR OFFERS THE LICENSED MATERIAL AS-IS</a:t>
            </a:r>
          </a:p>
          <a:p>
            <a:r>
              <a:t>     AND AS-AVAILABLE, AND MAKES NO REPRESENTATIONS OR WARRANTIES OF</a:t>
            </a:r>
          </a:p>
          <a:p>
            <a:r>
              <a:t>     ANY KIND CONCERNING THE LICENSED MATERIAL, WHETHER EXPRESS,</a:t>
            </a:r>
          </a:p>
          <a:p>
            <a:r>
              <a:t>     IMPLIED, STATUTORY, OR OTHER. THIS INCLUDES, WITHOUT LIMITATION,</a:t>
            </a:r>
          </a:p>
          <a:p>
            <a:r>
              <a:t>     WARRANTIES OF TITLE, MERCHANTABILITY, FITNESS FOR A PARTICULAR</a:t>
            </a:r>
          </a:p>
          <a:p>
            <a:r>
              <a:t>     PURPOSE, NON-INFRINGEMENT, ABSENCE OF LATENT OR OTHER DEFECTS,</a:t>
            </a:r>
          </a:p>
          <a:p>
            <a:r>
              <a:t>     ACCURACY, OR THE PRESENCE OR ABSENCE OF ERRORS, WHETHER OR NOT</a:t>
            </a:r>
          </a:p>
          <a:p>
            <a:r>
              <a:t>     KNOWN OR DISCOVERABLE. WHERE DISCLAIMERS OF WARRANTIES ARE NOT</a:t>
            </a:r>
          </a:p>
          <a:p>
            <a:r>
              <a:t>     ALLOWED IN FULL OR IN PART, THIS DISCLAIMER MAY NOT APPLY TO YOU.</a:t>
            </a:r>
          </a:p>
          <a:p/>
          <a:p>
            <a:r>
              <a:t>  b. TO THE EXTENT POSSIBLE, IN NO EVENT WILL THE LICENSOR BE LIABLE</a:t>
            </a:r>
          </a:p>
          <a:p>
            <a:r>
              <a:t>     TO YOU ON ANY LEGAL THEORY (INCLUDING, WITHOUT LIMITATION,</a:t>
            </a:r>
          </a:p>
          <a:p>
            <a:r>
              <a:t>     NEGLIGENCE) OR OTHERWISE FOR ANY DIRECT, SPECIAL, INDIRECT,</a:t>
            </a:r>
          </a:p>
          <a:p>
            <a:r>
              <a:t>     INCIDENTAL, CONSEQUENTIAL, PUNITIVE, EXEMPLARY, OR OTHER LOSSES,</a:t>
            </a:r>
          </a:p>
          <a:p>
            <a:r>
              <a:t>     COSTS, EXPENSES, OR DAMAGES ARISING OUT OF THIS PUBLIC LICENSE OR</a:t>
            </a:r>
          </a:p>
          <a:p>
            <a:r>
              <a:t>     USE OF THE LICENSED MATERIAL, EVEN IF THE LICENSOR HAS BEEN</a:t>
            </a:r>
          </a:p>
          <a:p>
            <a:r>
              <a:t>     ADVISED OF THE POSSIBILITY OF SUCH LOSSES, COSTS, EXPENSES, OR</a:t>
            </a:r>
          </a:p>
          <a:p>
            <a:r>
              <a:t>     DAMAGES. WHERE A LIMITATION OF LIABILITY IS NOT ALLOWED IN FULL OR</a:t>
            </a:r>
          </a:p>
          <a:p>
            <a:r>
              <a:t>     IN PART, THIS LIMITATION MAY NOT APPLY TO YOU.</a:t>
            </a:r>
          </a:p>
          <a:p/>
          <a:p>
            <a:r>
              <a:t>  c. The disclaimer of warranties and limitation of liability provided</a:t>
            </a:r>
          </a:p>
          <a:p>
            <a:r>
              <a:t>     above shall be interpreted in a manner that, to the extent</a:t>
            </a:r>
          </a:p>
          <a:p>
            <a:r>
              <a:t>     possible, most closely approximates an absolute disclaimer and</a:t>
            </a:r>
          </a:p>
          <a:p>
            <a:r>
              <a:t>     waiver of all liability.</a:t>
            </a:r>
          </a:p>
          <a:p/>
          <a:p/>
          <a:p>
            <a:r>
              <a:t>Section 6 -- Term and Termination.</a:t>
            </a:r>
          </a:p>
          <a:p/>
          <a:p>
            <a:r>
              <a:t>  a. This Public License applies for the term of the Copyright and</a:t>
            </a:r>
          </a:p>
          <a:p>
            <a:r>
              <a:t>     Similar Rights licensed here. However, if You fail to comply with</a:t>
            </a:r>
          </a:p>
          <a:p>
            <a:r>
              <a:t>     this Public License, then Your rights under this Public License</a:t>
            </a:r>
          </a:p>
          <a:p>
            <a:r>
              <a:t>     terminate automatically.</a:t>
            </a:r>
          </a:p>
          <a:p/>
          <a:p>
            <a:r>
              <a:t>  b. Where Your right to use the Licensed Material has terminated under</a:t>
            </a:r>
          </a:p>
          <a:p>
            <a:r>
              <a:t>     Section 6(a), it reinstates:</a:t>
            </a:r>
          </a:p>
          <a:p/>
          <a:p>
            <a:r>
              <a:t>       1. automatically as of the date the violation is cured, provided</a:t>
            </a:r>
          </a:p>
          <a:p>
            <a:r>
              <a:t>          it is cured within 30 days of Your discovery of the</a:t>
            </a:r>
          </a:p>
          <a:p>
            <a:r>
              <a:t>          violation; or</a:t>
            </a:r>
          </a:p>
          <a:p/>
          <a:p>
            <a:r>
              <a:t>       2. upon express reinstatement by the Licensor.</a:t>
            </a:r>
          </a:p>
          <a:p/>
          <a:p>
            <a:r>
              <a:t>     For the avoidance of doubt, this Section 6(b) does not affect any</a:t>
            </a:r>
          </a:p>
          <a:p>
            <a:r>
              <a:t>     right the Licensor may have to seek remedies for Your violations</a:t>
            </a:r>
          </a:p>
          <a:p>
            <a:r>
              <a:t>     of this Public License.</a:t>
            </a:r>
          </a:p>
          <a:p/>
          <a:p>
            <a:r>
              <a:t>  c. For the avoidance of doubt, the Licensor may also offer the</a:t>
            </a:r>
          </a:p>
          <a:p>
            <a:r>
              <a:t>     Licensed Material under separate terms or conditions or stop</a:t>
            </a:r>
          </a:p>
          <a:p>
            <a:r>
              <a:t>     distributing the Licensed Material at any time; however, doing so</a:t>
            </a:r>
          </a:p>
          <a:p>
            <a:r>
              <a:t>     will not terminate this Public License.</a:t>
            </a:r>
          </a:p>
          <a:p/>
          <a:p>
            <a:r>
              <a:t>  d. Sections 1, 5, 6, 7, and 8 survive termination of this Public</a:t>
            </a:r>
          </a:p>
          <a:p>
            <a:r>
              <a:t>     License.</a:t>
            </a:r>
          </a:p>
          <a:p/>
          <a:p/>
          <a:p>
            <a:r>
              <a:t>Section 7 -- Other Terms and Conditions.</a:t>
            </a:r>
          </a:p>
          <a:p/>
          <a:p>
            <a:r>
              <a:t>  a. The Licensor shall not be bound by any additional or different</a:t>
            </a:r>
          </a:p>
          <a:p>
            <a:r>
              <a:t>     terms or conditions communicated by You unless expressly agreed.</a:t>
            </a:r>
          </a:p>
          <a:p/>
          <a:p>
            <a:r>
              <a:t>  b. Any arrangements, understandings, or agreements regarding the</a:t>
            </a:r>
          </a:p>
          <a:p>
            <a:r>
              <a:t>     Licensed Material not stated herein are separate from and</a:t>
            </a:r>
          </a:p>
          <a:p>
            <a:r>
              <a:t>     independent of the terms and conditions of this Public License.</a:t>
            </a:r>
          </a:p>
          <a:p/>
          <a:p/>
          <a:p>
            <a:r>
              <a:t>Section 8 -- Interpretation.</a:t>
            </a:r>
          </a:p>
          <a:p/>
          <a:p>
            <a:r>
              <a:t>  a. For the avoidance of doubt, this Public License does not, and</a:t>
            </a:r>
          </a:p>
          <a:p>
            <a:r>
              <a:t>     shall not be interpreted to, reduce, limit, restrict, or impose</a:t>
            </a:r>
          </a:p>
          <a:p>
            <a:r>
              <a:t>     conditions on any use of the Licensed Material that could lawfully</a:t>
            </a:r>
          </a:p>
          <a:p>
            <a:r>
              <a:t>     be made without permission under this Public License.</a:t>
            </a:r>
          </a:p>
          <a:p/>
          <a:p>
            <a:r>
              <a:t>  b. To the extent possible, if any provision of this Public License is</a:t>
            </a:r>
          </a:p>
          <a:p>
            <a:r>
              <a:t>     deemed unenforceable, it shall be automatically reformed to the</a:t>
            </a:r>
          </a:p>
          <a:p>
            <a:r>
              <a:t>     minimum extent necessary to make it enforceable. If the provision</a:t>
            </a:r>
          </a:p>
          <a:p>
            <a:r>
              <a:t>     cannot be reformed, it shall be severed from this Public License</a:t>
            </a:r>
          </a:p>
          <a:p>
            <a:r>
              <a:t>     without affecting the enforceability of the remaining terms and</a:t>
            </a:r>
          </a:p>
          <a:p>
            <a:r>
              <a:t>     conditions.</a:t>
            </a:r>
          </a:p>
          <a:p/>
          <a:p>
            <a:r>
              <a:t>  c. No term or condition of this Public License will be waived and no</a:t>
            </a:r>
          </a:p>
          <a:p>
            <a:r>
              <a:t>     failure to comply consented to unless expressly agreed to by the</a:t>
            </a:r>
          </a:p>
          <a:p>
            <a:r>
              <a:t>     Licensor.</a:t>
            </a:r>
          </a:p>
          <a:p/>
          <a:p>
            <a:r>
              <a:t>  d. Nothing in this Public License constitutes or may be interpreted</a:t>
            </a:r>
          </a:p>
          <a:p>
            <a:r>
              <a:t>     as a limitation upon, or waiver of, any privileges and immunities</a:t>
            </a:r>
          </a:p>
          <a:p>
            <a:r>
              <a:t>     that apply to the Licensor or You, including from the legal</a:t>
            </a:r>
          </a:p>
          <a:p>
            <a:r>
              <a:t>     processes of any jurisdiction or authority.</a:t>
            </a:r>
          </a:p>
          <a:p/>
          <a:p>
            <a:r>
              <a:t>=======================================================================</a:t>
            </a:r>
          </a:p>
          <a:p/>
          <a:p>
            <a:r>
              <a:t>Creative Commons is not a party to its public</a:t>
            </a:r>
          </a:p>
          <a:p>
            <a:r>
              <a:t>licenses. Notwithstanding, Creative Commons may elect to apply one of</a:t>
            </a:r>
          </a:p>
          <a:p>
            <a:r>
              <a:t>its public licenses to material it publishes and in those instances</a:t>
            </a:r>
          </a:p>
          <a:p>
            <a:r>
              <a:t>will be considered the â€œLicensor.â€ The text of the Creative Commons</a:t>
            </a:r>
          </a:p>
          <a:p>
            <a:r>
              <a:t>public licenses is dedicated to the public domain under the CC0 Public</a:t>
            </a:r>
          </a:p>
          <a:p>
            <a:r>
              <a:t>Domain Dedication. Except for the limited purpose of indicating that</a:t>
            </a:r>
          </a:p>
          <a:p>
            <a:r>
              <a:t>material is shared under a Creative Commons public license or as</a:t>
            </a:r>
          </a:p>
          <a:p>
            <a:r>
              <a:t>otherwise permitted by the Creative Commons policies published at</a:t>
            </a:r>
          </a:p>
          <a:p>
            <a:r>
              <a:t>creativecommons.org/policies, Creative Commons does not authorize the</a:t>
            </a:r>
          </a:p>
          <a:p>
            <a:r>
              <a:t>use of the trademark "Creative Commons" or any other trademark or logo</a:t>
            </a:r>
          </a:p>
          <a:p>
            <a:r>
              <a:t>of Creative Commons without its prior written consent including,</a:t>
            </a:r>
          </a:p>
          <a:p>
            <a:r>
              <a:t>without limitation, in connection with any unauthorized modifications</a:t>
            </a:r>
          </a:p>
          <a:p>
            <a:r>
              <a:t>to any of its public licenses or any other arrangements,</a:t>
            </a:r>
          </a:p>
          <a:p>
            <a:r>
              <a:t>understandings, or agreements concerning use of licensed material. For</a:t>
            </a:r>
          </a:p>
          <a:p>
            <a:r>
              <a:t>the avoidance of doubt, this paragraph does not form part of the</a:t>
            </a:r>
          </a:p>
          <a:p>
            <a:r>
              <a:t>public licenses.</a:t>
            </a:r>
          </a:p>
          <a:p/>
          <a:p>
            <a:r>
              <a:t>Creative Commons may be contacted at creativecommons.org.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 userDrawn="1"/>
        </p:nvGrpSpPr>
        <p:grpSpPr>
          <a:xfrm>
            <a:off x="-13594" y="0"/>
            <a:ext cx="12201063" cy="2655066"/>
            <a:chOff x="-9063" y="2259345"/>
            <a:chExt cx="12201063" cy="2655066"/>
          </a:xfrm>
        </p:grpSpPr>
        <p:pic>
          <p:nvPicPr>
            <p:cNvPr id="22" name="Picture 6" descr="http://thepaper-prod-oldimagefromnfs.oss-cn-shanghai.aliyuncs.com/image/36/444/102.jpg"/>
            <p:cNvPicPr>
              <a:picLocks noChangeAspect="1" noChangeArrowheads="1"/>
            </p:cNvPicPr>
            <p:nvPr userDrawn="1"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47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" t="-51" r="-5" b="67386"/>
            <a:stretch>
              <a:fillRect/>
            </a:stretch>
          </p:blipFill>
          <p:spPr bwMode="auto">
            <a:xfrm>
              <a:off x="0" y="2259345"/>
              <a:ext cx="12192000" cy="26550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3" name="矩形 22"/>
            <p:cNvSpPr/>
            <p:nvPr userDrawn="1"/>
          </p:nvSpPr>
          <p:spPr>
            <a:xfrm>
              <a:off x="-9063" y="2259345"/>
              <a:ext cx="12201062" cy="265506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8" name="组合 17"/>
          <p:cNvGrpSpPr/>
          <p:nvPr userDrawn="1"/>
        </p:nvGrpSpPr>
        <p:grpSpPr>
          <a:xfrm>
            <a:off x="0" y="2372478"/>
            <a:ext cx="12201062" cy="4485522"/>
            <a:chOff x="-9062" y="1894960"/>
            <a:chExt cx="12201062" cy="4485522"/>
          </a:xfrm>
        </p:grpSpPr>
        <p:pic>
          <p:nvPicPr>
            <p:cNvPr id="19" name="Picture 6" descr="http://thepaper-prod-oldimagefromnfs.oss-cn-shanghai.aliyuncs.com/image/36/444/102.jpg"/>
            <p:cNvPicPr>
              <a:picLocks noChangeAspect="1" noChangeArrowheads="1"/>
            </p:cNvPicPr>
            <p:nvPr userDrawn="1"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47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" t="10675" r="-5" b="34293"/>
            <a:stretch>
              <a:fillRect/>
            </a:stretch>
          </p:blipFill>
          <p:spPr bwMode="auto">
            <a:xfrm>
              <a:off x="-9062" y="1907463"/>
              <a:ext cx="12192000" cy="44730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" name="矩形 19"/>
            <p:cNvSpPr/>
            <p:nvPr userDrawn="1"/>
          </p:nvSpPr>
          <p:spPr>
            <a:xfrm>
              <a:off x="-9062" y="1894960"/>
              <a:ext cx="12201062" cy="4485522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3" name="矩形 12"/>
          <p:cNvSpPr/>
          <p:nvPr userDrawn="1"/>
        </p:nvSpPr>
        <p:spPr>
          <a:xfrm>
            <a:off x="0" y="1649743"/>
            <a:ext cx="12187468" cy="1999209"/>
          </a:xfrm>
          <a:prstGeom prst="rect">
            <a:avLst/>
          </a:prstGeom>
          <a:gradFill flip="none" rotWithShape="1">
            <a:gsLst>
              <a:gs pos="46000">
                <a:srgbClr val="1D7692"/>
              </a:gs>
              <a:gs pos="96000">
                <a:srgbClr val="003C8B">
                  <a:alpha val="85000"/>
                </a:srgbClr>
              </a:gs>
              <a:gs pos="0">
                <a:srgbClr val="39B099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39550" y="2015538"/>
            <a:ext cx="10294776" cy="1311965"/>
          </a:xfrm>
          <a:prstGeom prst="rect">
            <a:avLst/>
          </a:prstGeom>
        </p:spPr>
        <p:txBody>
          <a:bodyPr anchor="ctr"/>
          <a:lstStyle>
            <a:lvl1pPr algn="ctr">
              <a:defRPr sz="6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8531" y="4345244"/>
            <a:ext cx="9144000" cy="152737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50000"/>
              </a:lnSpc>
              <a:buNone/>
              <a:def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grpSp>
        <p:nvGrpSpPr>
          <p:cNvPr id="8" name="组合 7"/>
          <p:cNvGrpSpPr/>
          <p:nvPr userDrawn="1"/>
        </p:nvGrpSpPr>
        <p:grpSpPr>
          <a:xfrm>
            <a:off x="4917203" y="518762"/>
            <a:ext cx="2357594" cy="667477"/>
            <a:chOff x="9644502" y="109966"/>
            <a:chExt cx="2357594" cy="667477"/>
          </a:xfrm>
          <a:noFill/>
        </p:grpSpPr>
        <p:pic>
          <p:nvPicPr>
            <p:cNvPr id="9" name="图片 8"/>
            <p:cNvPicPr>
              <a:picLocks noChangeAspect="1"/>
            </p:cNvPicPr>
            <p:nvPr userDrawn="1"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45" r="53350"/>
            <a:stretch>
              <a:fillRect/>
            </a:stretch>
          </p:blipFill>
          <p:spPr>
            <a:xfrm>
              <a:off x="11299485" y="109966"/>
              <a:ext cx="702611" cy="667477"/>
            </a:xfrm>
            <a:prstGeom prst="rect">
              <a:avLst/>
            </a:prstGeom>
            <a:grpFill/>
          </p:spPr>
        </p:pic>
        <p:pic>
          <p:nvPicPr>
            <p:cNvPr id="10" name="Picture 2" descr="http://www.buaa.edu.cn/__local/B/CD/A6/968D8F6600C0B8195CD59008BF5_9249A080_12AB7.jpg?e=.jpg"/>
            <p:cNvPicPr>
              <a:picLocks noChangeAspect="1" noChangeArrowheads="1"/>
            </p:cNvPicPr>
            <p:nvPr userDrawn="1"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44502" y="145963"/>
              <a:ext cx="618977" cy="618977"/>
            </a:xfrm>
            <a:prstGeom prst="rect">
              <a:avLst/>
            </a:prstGeom>
            <a:grpFill/>
          </p:spPr>
        </p:pic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6" cstate="print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03" r="81714"/>
            <a:stretch>
              <a:fillRect/>
            </a:stretch>
          </p:blipFill>
          <p:spPr>
            <a:xfrm>
              <a:off x="10444440" y="216261"/>
              <a:ext cx="739594" cy="490019"/>
            </a:xfrm>
            <a:prstGeom prst="rect">
              <a:avLst/>
            </a:prstGeom>
            <a:grpFill/>
          </p:spPr>
        </p:pic>
      </p:grpSp>
      <p:cxnSp>
        <p:nvCxnSpPr>
          <p:cNvPr id="40" name="直接连接符 39"/>
          <p:cNvCxnSpPr/>
          <p:nvPr userDrawn="1"/>
        </p:nvCxnSpPr>
        <p:spPr>
          <a:xfrm>
            <a:off x="0" y="3794126"/>
            <a:ext cx="12201062" cy="0"/>
          </a:xfrm>
          <a:prstGeom prst="line">
            <a:avLst/>
          </a:prstGeom>
          <a:ln w="63500">
            <a:solidFill>
              <a:srgbClr val="2A91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/>
          <p:cNvSpPr txBox="1"/>
          <p:nvPr userDrawn="1"/>
        </p:nvSpPr>
        <p:spPr>
          <a:xfrm>
            <a:off x="3410009" y="6339238"/>
            <a:ext cx="53719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2">
                    <a:lumMod val="50000"/>
                  </a:schemeClr>
                </a:solidFill>
                <a:latin typeface="Trebuchet MS" panose="020B0603020202020204" pitchFamily="34" charset="0"/>
                <a:ea typeface="微软雅黑" panose="020B0503020204020204" pitchFamily="34" charset="-122"/>
              </a:rPr>
              <a:t>School of Computer Science and Engineering, Beihang University</a:t>
            </a:r>
            <a:endParaRPr lang="zh-CN" altLang="en-US" sz="1400" dirty="0">
              <a:solidFill>
                <a:schemeClr val="bg2">
                  <a:lumMod val="50000"/>
                </a:schemeClr>
              </a:solidFill>
              <a:latin typeface="Trebuchet MS" panose="020B0603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/>
        </p:nvSpPr>
        <p:spPr>
          <a:xfrm>
            <a:off x="0" y="-1570"/>
            <a:ext cx="12192000" cy="890547"/>
          </a:xfrm>
          <a:prstGeom prst="rect">
            <a:avLst/>
          </a:prstGeom>
          <a:gradFill flip="none" rotWithShape="1">
            <a:gsLst>
              <a:gs pos="58000">
                <a:srgbClr val="1D7692"/>
              </a:gs>
              <a:gs pos="0">
                <a:srgbClr val="39B099">
                  <a:alpha val="20000"/>
                </a:srgbClr>
              </a:gs>
              <a:gs pos="96000">
                <a:srgbClr val="003C8B">
                  <a:alpha val="85000"/>
                </a:srgbClr>
              </a:gs>
              <a:gs pos="21000">
                <a:srgbClr val="39B099">
                  <a:alpha val="5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9904" y="136525"/>
            <a:ext cx="9030296" cy="66747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485030" y="1872283"/>
            <a:ext cx="11235193" cy="4392054"/>
          </a:xfrm>
          <a:prstGeom prst="rect">
            <a:avLst/>
          </a:prstGeom>
        </p:spPr>
        <p:txBody>
          <a:bodyPr/>
          <a:lstStyle>
            <a:lvl1pPr marL="323850" indent="-3238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600">
                <a:latin typeface="+mn-lt"/>
                <a:ea typeface="微软雅黑" panose="020B0503020204020204" pitchFamily="34" charset="-122"/>
              </a:defRPr>
            </a:lvl1pPr>
            <a:lvl2pPr marL="720090" indent="-360045">
              <a:lnSpc>
                <a:spcPct val="100000"/>
              </a:lnSpc>
              <a:spcBef>
                <a:spcPts val="575"/>
              </a:spcBef>
              <a:spcAft>
                <a:spcPts val="600"/>
              </a:spcAft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  <a:defRPr sz="2400">
                <a:latin typeface="+mn-lt"/>
                <a:ea typeface="微软雅黑" panose="020B0503020204020204" pitchFamily="34" charset="-122"/>
              </a:defRPr>
            </a:lvl2pPr>
            <a:lvl3pPr marL="1115695" indent="-32385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309481"/>
              </a:buClr>
              <a:buSzPct val="90000"/>
              <a:buFont typeface="Wingdings" panose="05000000000000000000" pitchFamily="2" charset="2"/>
              <a:buChar char="l"/>
              <a:defRPr sz="2200">
                <a:latin typeface="+mn-lt"/>
                <a:ea typeface="微软雅黑" panose="020B0503020204020204" pitchFamily="34" charset="-122"/>
              </a:defRPr>
            </a:lvl3pPr>
            <a:lvl4pPr marL="147574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000">
                <a:latin typeface="+mn-lt"/>
                <a:ea typeface="微软雅黑" panose="020B0503020204020204" pitchFamily="34" charset="-122"/>
              </a:defRPr>
            </a:lvl4pPr>
            <a:lvl5pPr marL="187198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1800">
                <a:latin typeface="+mn-lt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754321" y="6536805"/>
            <a:ext cx="1247775" cy="295932"/>
          </a:xfrm>
          <a:prstGeom prst="rect">
            <a:avLst/>
          </a:prstGeom>
        </p:spPr>
        <p:txBody>
          <a:bodyPr anchor="ctr"/>
          <a:lstStyle>
            <a:lvl1pPr algn="r">
              <a:defRPr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9694AC3-6159-4530-81F2-715F87DA755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45" r="53350"/>
          <a:stretch>
            <a:fillRect/>
          </a:stretch>
        </p:blipFill>
        <p:spPr>
          <a:xfrm>
            <a:off x="11299485" y="109966"/>
            <a:ext cx="702611" cy="667477"/>
          </a:xfrm>
          <a:prstGeom prst="rect">
            <a:avLst/>
          </a:prstGeom>
          <a:noFill/>
        </p:spPr>
      </p:pic>
      <p:pic>
        <p:nvPicPr>
          <p:cNvPr id="17" name="图片 16"/>
          <p:cNvPicPr>
            <a:picLocks noChangeAspect="1"/>
          </p:cNvPicPr>
          <p:nvPr userDrawn="1"/>
        </p:nvPicPr>
        <p:blipFill rotWithShape="1">
          <a:blip r:embed="rId3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4" r="1093"/>
          <a:stretch>
            <a:fillRect/>
          </a:stretch>
        </p:blipFill>
        <p:spPr>
          <a:xfrm>
            <a:off x="90982" y="6546136"/>
            <a:ext cx="2334221" cy="258542"/>
          </a:xfrm>
          <a:prstGeom prst="rect">
            <a:avLst/>
          </a:prstGeom>
          <a:noFill/>
        </p:spPr>
      </p:pic>
      <p:cxnSp>
        <p:nvCxnSpPr>
          <p:cNvPr id="20" name="直接连接符 19"/>
          <p:cNvCxnSpPr/>
          <p:nvPr userDrawn="1"/>
        </p:nvCxnSpPr>
        <p:spPr>
          <a:xfrm>
            <a:off x="0" y="6478323"/>
            <a:ext cx="12192000" cy="0"/>
          </a:xfrm>
          <a:prstGeom prst="line">
            <a:avLst/>
          </a:prstGeom>
          <a:ln w="28575">
            <a:solidFill>
              <a:srgbClr val="26599C">
                <a:alpha val="8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 userDrawn="1"/>
        </p:nvCxnSpPr>
        <p:spPr>
          <a:xfrm>
            <a:off x="283209" y="1644336"/>
            <a:ext cx="1592243" cy="0"/>
          </a:xfrm>
          <a:prstGeom prst="line">
            <a:avLst/>
          </a:prstGeom>
          <a:ln w="38100">
            <a:solidFill>
              <a:srgbClr val="C52E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占位符 28"/>
          <p:cNvSpPr>
            <a:spLocks noGrp="1"/>
          </p:cNvSpPr>
          <p:nvPr>
            <p:ph type="body" sz="quarter" idx="13"/>
          </p:nvPr>
        </p:nvSpPr>
        <p:spPr>
          <a:xfrm>
            <a:off x="189904" y="1081386"/>
            <a:ext cx="3397250" cy="5984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8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/>
        </p:nvSpPr>
        <p:spPr>
          <a:xfrm>
            <a:off x="0" y="-1570"/>
            <a:ext cx="12192000" cy="890547"/>
          </a:xfrm>
          <a:prstGeom prst="rect">
            <a:avLst/>
          </a:prstGeom>
          <a:gradFill flip="none" rotWithShape="1">
            <a:gsLst>
              <a:gs pos="58000">
                <a:srgbClr val="1D7692"/>
              </a:gs>
              <a:gs pos="0">
                <a:srgbClr val="39B099">
                  <a:alpha val="20000"/>
                </a:srgbClr>
              </a:gs>
              <a:gs pos="96000">
                <a:srgbClr val="003C8B">
                  <a:alpha val="85000"/>
                </a:srgbClr>
              </a:gs>
              <a:gs pos="21000">
                <a:srgbClr val="39B099">
                  <a:alpha val="5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9904" y="136525"/>
            <a:ext cx="9030296" cy="66747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485030" y="1081386"/>
            <a:ext cx="11235193" cy="5182951"/>
          </a:xfrm>
          <a:prstGeom prst="rect">
            <a:avLst/>
          </a:prstGeom>
        </p:spPr>
        <p:txBody>
          <a:bodyPr/>
          <a:lstStyle>
            <a:lvl1pPr marL="323850" indent="-3238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600">
                <a:latin typeface="+mn-lt"/>
                <a:ea typeface="微软雅黑" panose="020B0503020204020204" pitchFamily="34" charset="-122"/>
              </a:defRPr>
            </a:lvl1pPr>
            <a:lvl2pPr marL="720090" indent="-360045">
              <a:lnSpc>
                <a:spcPct val="100000"/>
              </a:lnSpc>
              <a:spcBef>
                <a:spcPts val="575"/>
              </a:spcBef>
              <a:spcAft>
                <a:spcPts val="600"/>
              </a:spcAft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  <a:defRPr sz="2400">
                <a:latin typeface="+mn-lt"/>
                <a:ea typeface="微软雅黑" panose="020B0503020204020204" pitchFamily="34" charset="-122"/>
              </a:defRPr>
            </a:lvl2pPr>
            <a:lvl3pPr marL="1115695" indent="-32385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309481"/>
              </a:buClr>
              <a:buSzPct val="90000"/>
              <a:buFont typeface="Wingdings" panose="05000000000000000000" pitchFamily="2" charset="2"/>
              <a:buChar char="l"/>
              <a:defRPr sz="2200">
                <a:latin typeface="+mn-lt"/>
                <a:ea typeface="微软雅黑" panose="020B0503020204020204" pitchFamily="34" charset="-122"/>
              </a:defRPr>
            </a:lvl3pPr>
            <a:lvl4pPr marL="147574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000">
                <a:latin typeface="+mn-lt"/>
                <a:ea typeface="微软雅黑" panose="020B0503020204020204" pitchFamily="34" charset="-122"/>
              </a:defRPr>
            </a:lvl4pPr>
            <a:lvl5pPr marL="187198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1800">
                <a:latin typeface="+mn-lt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754321" y="6536805"/>
            <a:ext cx="1247775" cy="295932"/>
          </a:xfrm>
          <a:prstGeom prst="rect">
            <a:avLst/>
          </a:prstGeom>
        </p:spPr>
        <p:txBody>
          <a:bodyPr anchor="ctr"/>
          <a:lstStyle>
            <a:lvl1pPr algn="r">
              <a:defRPr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9694AC3-6159-4530-81F2-715F87DA755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45" r="53350"/>
          <a:stretch>
            <a:fillRect/>
          </a:stretch>
        </p:blipFill>
        <p:spPr>
          <a:xfrm>
            <a:off x="11299485" y="109966"/>
            <a:ext cx="702611" cy="667477"/>
          </a:xfrm>
          <a:prstGeom prst="rect">
            <a:avLst/>
          </a:prstGeom>
          <a:noFill/>
        </p:spPr>
      </p:pic>
      <p:pic>
        <p:nvPicPr>
          <p:cNvPr id="17" name="图片 16"/>
          <p:cNvPicPr>
            <a:picLocks noChangeAspect="1"/>
          </p:cNvPicPr>
          <p:nvPr userDrawn="1"/>
        </p:nvPicPr>
        <p:blipFill rotWithShape="1">
          <a:blip r:embed="rId3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4" r="1093"/>
          <a:stretch>
            <a:fillRect/>
          </a:stretch>
        </p:blipFill>
        <p:spPr>
          <a:xfrm>
            <a:off x="90982" y="6546136"/>
            <a:ext cx="2334221" cy="258542"/>
          </a:xfrm>
          <a:prstGeom prst="rect">
            <a:avLst/>
          </a:prstGeom>
          <a:noFill/>
        </p:spPr>
      </p:pic>
      <p:cxnSp>
        <p:nvCxnSpPr>
          <p:cNvPr id="20" name="直接连接符 19"/>
          <p:cNvCxnSpPr/>
          <p:nvPr userDrawn="1"/>
        </p:nvCxnSpPr>
        <p:spPr>
          <a:xfrm>
            <a:off x="0" y="6478323"/>
            <a:ext cx="12192000" cy="0"/>
          </a:xfrm>
          <a:prstGeom prst="line">
            <a:avLst/>
          </a:prstGeom>
          <a:ln w="28575">
            <a:solidFill>
              <a:srgbClr val="26599C">
                <a:alpha val="8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6" descr="http://thepaper-prod-oldimagefromnfs.oss-cn-shanghai.aliyuncs.com/image/36/444/102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" t="10675" r="-5" b="34293"/>
          <a:stretch>
            <a:fillRect/>
          </a:stretch>
        </p:blipFill>
        <p:spPr bwMode="auto">
          <a:xfrm>
            <a:off x="-9064" y="2384981"/>
            <a:ext cx="12192000" cy="4473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6" descr="http://thepaper-prod-oldimagefromnfs.oss-cn-shanghai.aliyuncs.com/image/36/444/102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" t="-51" r="-5" b="67386"/>
          <a:stretch>
            <a:fillRect/>
          </a:stretch>
        </p:blipFill>
        <p:spPr bwMode="auto">
          <a:xfrm>
            <a:off x="-9064" y="0"/>
            <a:ext cx="12192000" cy="2655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矩形 22"/>
          <p:cNvSpPr/>
          <p:nvPr userDrawn="1"/>
        </p:nvSpPr>
        <p:spPr>
          <a:xfrm>
            <a:off x="-18127" y="0"/>
            <a:ext cx="12201062" cy="6858000"/>
          </a:xfrm>
          <a:prstGeom prst="rect">
            <a:avLst/>
          </a:prstGeom>
          <a:gradFill flip="none" rotWithShape="1">
            <a:gsLst>
              <a:gs pos="62000">
                <a:srgbClr val="FFFFFF">
                  <a:alpha val="90000"/>
                </a:srgbClr>
              </a:gs>
              <a:gs pos="100000">
                <a:schemeClr val="bg1">
                  <a:alpha val="78000"/>
                </a:schemeClr>
              </a:gs>
              <a:gs pos="0">
                <a:schemeClr val="bg1">
                  <a:alpha val="78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 userDrawn="1"/>
        </p:nvSpPr>
        <p:spPr>
          <a:xfrm>
            <a:off x="3410009" y="6339238"/>
            <a:ext cx="53719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2">
                    <a:lumMod val="75000"/>
                  </a:schemeClr>
                </a:solidFill>
                <a:latin typeface="Trebuchet MS" panose="020B0603020202020204" pitchFamily="34" charset="0"/>
                <a:ea typeface="微软雅黑" panose="020B0503020204020204" pitchFamily="34" charset="-122"/>
              </a:rPr>
              <a:t>School of Computer Science and Engineering, Beihang University</a:t>
            </a:r>
            <a:endParaRPr lang="zh-CN" altLang="en-US" sz="1400" dirty="0">
              <a:solidFill>
                <a:schemeClr val="bg2">
                  <a:lumMod val="75000"/>
                </a:schemeClr>
              </a:solidFill>
              <a:latin typeface="Trebuchet MS" panose="020B0603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标题 1"/>
          <p:cNvSpPr>
            <a:spLocks noGrp="1"/>
          </p:cNvSpPr>
          <p:nvPr>
            <p:ph type="ctrTitle"/>
          </p:nvPr>
        </p:nvSpPr>
        <p:spPr>
          <a:xfrm>
            <a:off x="935016" y="2165350"/>
            <a:ext cx="10294776" cy="2527299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sz="60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3.xml"/><Relationship Id="rId2" Type="http://schemas.openxmlformats.org/officeDocument/2006/relationships/hyperlink" Target="https://github.com/chiphuyen/aie-book/blob/main/chapter-summaries.md" TargetMode="External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3.xml"/><Relationship Id="rId2" Type="http://schemas.openxmlformats.org/officeDocument/2006/relationships/hyperlink" Target="https://github.com/chiphuyen/aie-book/blob/main/chapter-summaries.md" TargetMode="External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hyperlink" Target="https://github.com/anthropics/courses/blob/f4dbb137d7b02dddaf3cc73e32e20a702d3b5e77/prompt_evaluations/04_code_graded_classification_evals/04_code_graded_classification_evals.ipynb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.xml"/><Relationship Id="rId1" Type="http://schemas.openxmlformats.org/officeDocument/2006/relationships/hyperlink" Target="https://github.com/anthropics/courses/blob/f4dbb137d7b02dddaf3cc73e32e20a702d3b5e77/prompt_evaluations/04_code_graded_classification_evals/04_code_graded_classification_evals.ipynb" TargetMode="Externa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3.xml"/><Relationship Id="rId2" Type="http://schemas.openxmlformats.org/officeDocument/2006/relationships/hyperlink" Target="https://www.anthropic.com/engineering/effective-context-engineering-for-ai-agents" TargetMode="External"/><Relationship Id="rId1" Type="http://schemas.openxmlformats.org/officeDocument/2006/relationships/hyperlink" Target="https://github.com/anthropics/courses/blob/f4dbb137d7b02dddaf3cc73e32e20a702d3b5e77/prompt_evaluations/04_code_graded_classification_evals/04_code_graded_classification_evals.ipynb" TargetMode="Externa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3.xml"/><Relationship Id="rId2" Type="http://schemas.openxmlformats.org/officeDocument/2006/relationships/hyperlink" Target="https://www.anthropic.com/engineering/effective-context-engineering-for-ai-agents" TargetMode="External"/><Relationship Id="rId1" Type="http://schemas.openxmlformats.org/officeDocument/2006/relationships/hyperlink" Target="https://github.com/anthropics/courses/blob/f4dbb137d7b02dddaf3cc73e32e20a702d3b5e77/prompt_evaluations/04_code_graded_classification_evals/04_code_graded_classification_evals.ipynb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3.xml"/><Relationship Id="rId1" Type="http://schemas.openxmlformats.org/officeDocument/2006/relationships/hyperlink" Target="https://github.com/anthropics/courses/blob/f4dbb137d7b02dddaf3cc73e32e20a702d3b5e77/real_world_prompting/05_customer_support_ai.ipynb" TargetMode="Externa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3.xml"/><Relationship Id="rId2" Type="http://schemas.openxmlformats.org/officeDocument/2006/relationships/hyperlink" Target="https://www.anthropic.com/engineering/building-effective-agents" TargetMode="Externa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3.xml"/><Relationship Id="rId2" Type="http://schemas.openxmlformats.org/officeDocument/2006/relationships/hyperlink" Target="https://arxiv.org/abs/2404.13208" TargetMode="External"/><Relationship Id="rId1" Type="http://schemas.openxmlformats.org/officeDocument/2006/relationships/hyperlink" Target="https://developers.openai.com/api/reference/resources/chat/subresources/completions/methods/create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3.xml"/><Relationship Id="rId1" Type="http://schemas.openxmlformats.org/officeDocument/2006/relationships/hyperlink" Target="https://huyenchip.com/2024/07/25/genai-platform.html" TargetMode="Externa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3.xml"/><Relationship Id="rId3" Type="http://schemas.openxmlformats.org/officeDocument/2006/relationships/hyperlink" Target="https://huyenchip.com/2024/07/25/genai-platform.html" TargetMode="External"/><Relationship Id="rId2" Type="http://schemas.openxmlformats.org/officeDocument/2006/relationships/hyperlink" Target="https://dspy.ai/tutorials/conversation_history/" TargetMode="External"/><Relationship Id="rId1" Type="http://schemas.openxmlformats.org/officeDocument/2006/relationships/hyperlink" Target="https://developers.openai.com/api/reference/resources/chat/subresources/completions/methods/create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3.xml"/><Relationship Id="rId1" Type="http://schemas.openxmlformats.org/officeDocument/2006/relationships/hyperlink" Target="https://github.com/huggingface/transformers/blob/f24b457be29ef5e3630380b91a0fc9a364ec65a1/docs/source/en/chat_templating.md" TargetMode="Externa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3.xml"/><Relationship Id="rId3" Type="http://schemas.openxmlformats.org/officeDocument/2006/relationships/hyperlink" Target="https://www.anthropic.com/engineering/effective-context-engineering-for-ai-agents" TargetMode="External"/><Relationship Id="rId2" Type="http://schemas.openxmlformats.org/officeDocument/2006/relationships/hyperlink" Target="https://aclanthology.org/2024.tacl-1.9/" TargetMode="External"/><Relationship Id="rId1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3.xml"/><Relationship Id="rId3" Type="http://schemas.openxmlformats.org/officeDocument/2006/relationships/hyperlink" Target="https://github.com/anthropics/courses/blob/f4dbb137d7b02dddaf3cc73e32e20a702d3b5e77/real_world_prompting/05_customer_support_ai.ipynb" TargetMode="External"/><Relationship Id="rId2" Type="http://schemas.openxmlformats.org/officeDocument/2006/relationships/hyperlink" Target="https://github.com/anthropics/courses/blob/f4dbb137d7b02dddaf3cc73e32e20a702d3b5e77/prompt_evaluations/04_code_graded_classification_evals/04_code_graded_classification_evals.ipynb" TargetMode="External"/><Relationship Id="rId1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3.xml"/><Relationship Id="rId3" Type="http://schemas.openxmlformats.org/officeDocument/2006/relationships/hyperlink" Target="https://developers.openai.com/api/reference/resources/chat/subresources/completions/methods/create" TargetMode="External"/><Relationship Id="rId2" Type="http://schemas.openxmlformats.org/officeDocument/2006/relationships/hyperlink" Target="https://github.com/huggingface/transformers/blob/f24b457be29ef5e3630380b91a0fc9a364ec65a1/docs/source/en/chat_templating.md" TargetMode="External"/><Relationship Id="rId1" Type="http://schemas.openxmlformats.org/officeDocument/2006/relationships/hyperlink" Target="https://github.com/anthropics/courses/blob/f4dbb137d7b02dddaf3cc73e32e20a702d3b5e77/prompt_evaluations/04_code_graded_classification_evals/04_code_graded_classification_evals.ipynb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3.xml"/><Relationship Id="rId1" Type="http://schemas.openxmlformats.org/officeDocument/2006/relationships/hyperlink" Target="https://github.com/openai/openai-python/tree/e12b81d3bbf644ec7045e152d69bc4b68d69cd48" TargetMode="Externa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3.xml"/><Relationship Id="rId2" Type="http://schemas.openxmlformats.org/officeDocument/2006/relationships/hyperlink" Target="https://developers.openai.com/api/reference/resources/chat/subresources/completions/methods/create" TargetMode="External"/><Relationship Id="rId1" Type="http://schemas.openxmlformats.org/officeDocument/2006/relationships/hyperlink" Target="https://github.com/openai/openai-python/tree/e12b81d3bbf644ec7045e152d69bc4b68d69cd48" TargetMode="Externa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3.xml"/><Relationship Id="rId2" Type="http://schemas.openxmlformats.org/officeDocument/2006/relationships/hyperlink" Target="https://www.python-httpx.org/advanced/timeouts/" TargetMode="External"/><Relationship Id="rId1" Type="http://schemas.openxmlformats.org/officeDocument/2006/relationships/hyperlink" Target="https://github.com/openai/openai-python/tree/e12b81d3bbf644ec7045e152d69bc4b68d69cd48" TargetMode="Externa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3.xml"/><Relationship Id="rId2" Type="http://schemas.openxmlformats.org/officeDocument/2006/relationships/hyperlink" Target="https://developers.openai.com/api/reference/resources/chat/subresources/completions/methods/create" TargetMode="External"/><Relationship Id="rId1" Type="http://schemas.openxmlformats.org/officeDocument/2006/relationships/hyperlink" Target="https://github.com/openai/openai-python/tree/e12b81d3bbf644ec7045e152d69bc4b68d69cd48" TargetMode="Externa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3.xml"/><Relationship Id="rId2" Type="http://schemas.openxmlformats.org/officeDocument/2006/relationships/hyperlink" Target="https://github.com/chiphuyen/aie-book/blob/main/chapter-summaries.md" TargetMode="External"/><Relationship Id="rId1" Type="http://schemas.openxmlformats.org/officeDocument/2006/relationships/hyperlink" Target="https://github.com/huggingface/transformers/blob/f24b457be29ef5e3630380b91a0fc9a364ec65a1/src/transformers/generation/logits_process.py" TargetMode="External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3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1.png"/><Relationship Id="rId2" Type="http://schemas.openxmlformats.org/officeDocument/2006/relationships/hyperlink" Target="https://docs.vllm.ai/en/latest/usage/reproducibility/" TargetMode="External"/><Relationship Id="rId1" Type="http://schemas.openxmlformats.org/officeDocument/2006/relationships/hyperlink" Target="https://github.com/huggingface/transformers/blob/f24b457be29ef5e3630380b91a0fc9a364ec65a1/src/transformers/generation/logits_process.py" TargetMode="Externa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3.xml"/><Relationship Id="rId2" Type="http://schemas.openxmlformats.org/officeDocument/2006/relationships/hyperlink" Target="https://github.com/huggingface/transformers/blob/f24b457be29ef5e3630380b91a0fc9a364ec65a1/src/transformers/generation/logits_process.py" TargetMode="External"/><Relationship Id="rId1" Type="http://schemas.openxmlformats.org/officeDocument/2006/relationships/hyperlink" Target="https://arxiv.org/abs/1904.09751" TargetMode="External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5.xml"/><Relationship Id="rId4" Type="http://schemas.openxmlformats.org/officeDocument/2006/relationships/slideLayout" Target="../slideLayouts/slideLayout3.xml"/><Relationship Id="rId3" Type="http://schemas.openxmlformats.org/officeDocument/2006/relationships/hyperlink" Target="https://github.com/anthropics/courses/blob/f4dbb137d7b02dddaf3cc73e32e20a702d3b5e77/prompt_evaluations/04_code_graded_classification_evals/04_code_graded_classification_evals.ipynb" TargetMode="External"/><Relationship Id="rId2" Type="http://schemas.openxmlformats.org/officeDocument/2006/relationships/hyperlink" Target="https://docs.vllm.ai/en/latest/usage/reproducibility/" TargetMode="External"/><Relationship Id="rId1" Type="http://schemas.openxmlformats.org/officeDocument/2006/relationships/hyperlink" Target="https://developers.openai.com/api/reference/resources/chat/subresources/completions/methods/create" TargetMode="Externa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3.xml"/><Relationship Id="rId2" Type="http://schemas.openxmlformats.org/officeDocument/2006/relationships/hyperlink" Target="https://github.com/huggingface/transformers/blob/f24b457be29ef5e3630380b91a0fc9a364ec65a1/docs/source/en/chat_templating.md" TargetMode="External"/><Relationship Id="rId1" Type="http://schemas.openxmlformats.org/officeDocument/2006/relationships/hyperlink" Target="https://developers.openai.com/api/reference/resources/chat/subresources/completions/methods/create" TargetMode="External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7.xml"/><Relationship Id="rId4" Type="http://schemas.openxmlformats.org/officeDocument/2006/relationships/slideLayout" Target="../slideLayouts/slideLayout3.xml"/><Relationship Id="rId3" Type="http://schemas.openxmlformats.org/officeDocument/2006/relationships/hyperlink" Target="https://github.com/anthropics/courses/blob/f4dbb137d7b02dddaf3cc73e32e20a702d3b5e77/prompt_evaluations/04_code_graded_classification_evals/04_code_graded_classification_evals.ipynb" TargetMode="External"/><Relationship Id="rId2" Type="http://schemas.openxmlformats.org/officeDocument/2006/relationships/hyperlink" Target="https://developers.openai.com/api/reference/resources/chat/subresources/completions/methods/create" TargetMode="External"/><Relationship Id="rId1" Type="http://schemas.openxmlformats.org/officeDocument/2006/relationships/hyperlink" Target="https://github.com/openai/openai-python/tree/e12b81d3bbf644ec7045e152d69bc4b68d69cd48" TargetMode="External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8.xml"/><Relationship Id="rId3" Type="http://schemas.openxmlformats.org/officeDocument/2006/relationships/slideLayout" Target="../slideLayouts/slideLayout3.xml"/><Relationship Id="rId2" Type="http://schemas.openxmlformats.org/officeDocument/2006/relationships/hyperlink" Target="https://developers.openai.com/api/reference/resources/chat/subresources/completions/methods/create" TargetMode="External"/><Relationship Id="rId1" Type="http://schemas.openxmlformats.org/officeDocument/2006/relationships/hyperlink" Target="https://github.com/openai/openai-python/tree/e12b81d3bbf644ec7045e152d69bc4b68d69cd48" TargetMode="External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3.xml"/><Relationship Id="rId2" Type="http://schemas.openxmlformats.org/officeDocument/2006/relationships/hyperlink" Target="https://developers.openai.com/api/reference/resources/chat/subresources/completions/methods/create" TargetMode="External"/><Relationship Id="rId1" Type="http://schemas.openxmlformats.org/officeDocument/2006/relationships/hyperlink" Target="https://www.rfc-editor.org/rfc/rfc9110.html" TargetMode="External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0.xml"/><Relationship Id="rId4" Type="http://schemas.openxmlformats.org/officeDocument/2006/relationships/slideLayout" Target="../slideLayouts/slideLayout3.xml"/><Relationship Id="rId3" Type="http://schemas.openxmlformats.org/officeDocument/2006/relationships/hyperlink" Target="https://www.rfc-editor.org/rfc/rfc8259.html" TargetMode="External"/><Relationship Id="rId2" Type="http://schemas.openxmlformats.org/officeDocument/2006/relationships/hyperlink" Target="https://roy.gbiv.com/pubs/dissertation/rest_arch_style.htm" TargetMode="External"/><Relationship Id="rId1" Type="http://schemas.openxmlformats.org/officeDocument/2006/relationships/hyperlink" Target="https://www.rfc-editor.org/rfc/rfc9110.html" TargetMode="External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1.xml"/><Relationship Id="rId3" Type="http://schemas.openxmlformats.org/officeDocument/2006/relationships/slideLayout" Target="../slideLayouts/slideLayout3.xml"/><Relationship Id="rId2" Type="http://schemas.openxmlformats.org/officeDocument/2006/relationships/hyperlink" Target="https://developers.openai.com/api/reference/resources/chat/subresources/completions/methods/create" TargetMode="External"/><Relationship Id="rId1" Type="http://schemas.openxmlformats.org/officeDocument/2006/relationships/hyperlink" Target="https://www.rfc-editor.org/rfc/rfc9110.html" TargetMode="External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2.xml"/><Relationship Id="rId4" Type="http://schemas.openxmlformats.org/officeDocument/2006/relationships/slideLayout" Target="../slideLayouts/slideLayout3.xml"/><Relationship Id="rId3" Type="http://schemas.openxmlformats.org/officeDocument/2006/relationships/hyperlink" Target="https://docs.vllm.ai/en/latest/features/automatic_prefix_caching/" TargetMode="External"/><Relationship Id="rId2" Type="http://schemas.openxmlformats.org/officeDocument/2006/relationships/hyperlink" Target="https://developers.openai.com/api/reference/resources/chat/subresources/completions/methods/create" TargetMode="External"/><Relationship Id="rId1" Type="http://schemas.openxmlformats.org/officeDocument/2006/relationships/hyperlink" Target="https://roy.gbiv.com/pubs/dissertation/rest_arch_style.htm" TargetMode="External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3.xml"/><Relationship Id="rId3" Type="http://schemas.openxmlformats.org/officeDocument/2006/relationships/slideLayout" Target="../slideLayouts/slideLayout3.xml"/><Relationship Id="rId2" Type="http://schemas.openxmlformats.org/officeDocument/2006/relationships/hyperlink" Target="https://www.usenix.org/system/files/osdi22-yu.pdf" TargetMode="External"/><Relationship Id="rId1" Type="http://schemas.openxmlformats.org/officeDocument/2006/relationships/image" Target="../media/image12.pn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4.xml"/><Relationship Id="rId3" Type="http://schemas.openxmlformats.org/officeDocument/2006/relationships/slideLayout" Target="../slideLayouts/slideLayout3.xml"/><Relationship Id="rId2" Type="http://schemas.openxmlformats.org/officeDocument/2006/relationships/hyperlink" Target="https://www.rfc-editor.org/rfc/rfc9110.html" TargetMode="External"/><Relationship Id="rId1" Type="http://schemas.openxmlformats.org/officeDocument/2006/relationships/hyperlink" Target="https://github.com/openai/openai-python/tree/e12b81d3bbf644ec7045e152d69bc4b68d69cd48" TargetMode="External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5.xml"/><Relationship Id="rId3" Type="http://schemas.openxmlformats.org/officeDocument/2006/relationships/slideLayout" Target="../slideLayouts/slideLayout3.xml"/><Relationship Id="rId2" Type="http://schemas.openxmlformats.org/officeDocument/2006/relationships/hyperlink" Target="https://github.com/huggingface/transformers/blob/f24b457be29ef5e3630380b91a0fc9a364ec65a1/docs/source/en/chat_templating.md" TargetMode="External"/><Relationship Id="rId1" Type="http://schemas.openxmlformats.org/officeDocument/2006/relationships/hyperlink" Target="https://docs.vllm.ai/en/latest/serving/online_serving/" TargetMode="External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6.xml"/><Relationship Id="rId3" Type="http://schemas.openxmlformats.org/officeDocument/2006/relationships/slideLayout" Target="../slideLayouts/slideLayout3.xml"/><Relationship Id="rId2" Type="http://schemas.openxmlformats.org/officeDocument/2006/relationships/hyperlink" Target="https://github.com/openai/openai-python/blob/main/src/openai/types/chat/chat_completion_chunk.py" TargetMode="External"/><Relationship Id="rId1" Type="http://schemas.openxmlformats.org/officeDocument/2006/relationships/hyperlink" Target="https://developers.openai.com/api/reference/resources/chat/subresources/completions/methods/create" TargetMode="External"/></Relationships>
</file>

<file path=ppt/slides/_rels/slide3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7.xml"/><Relationship Id="rId4" Type="http://schemas.openxmlformats.org/officeDocument/2006/relationships/slideLayout" Target="../slideLayouts/slideLayout3.xml"/><Relationship Id="rId3" Type="http://schemas.openxmlformats.org/officeDocument/2006/relationships/hyperlink" Target="https://docs.vllm.ai/en/latest/design/metrics/" TargetMode="External"/><Relationship Id="rId2" Type="http://schemas.openxmlformats.org/officeDocument/2006/relationships/hyperlink" Target="https://www.usenix.org/system/files/osdi22-yu.pdf" TargetMode="External"/><Relationship Id="rId1" Type="http://schemas.openxmlformats.org/officeDocument/2006/relationships/image" Target="../media/image13.png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8.xml"/><Relationship Id="rId3" Type="http://schemas.openxmlformats.org/officeDocument/2006/relationships/slideLayout" Target="../slideLayouts/slideLayout3.xml"/><Relationship Id="rId2" Type="http://schemas.openxmlformats.org/officeDocument/2006/relationships/hyperlink" Target="https://docs.vllm.ai/en/latest/design/metrics/" TargetMode="External"/><Relationship Id="rId1" Type="http://schemas.openxmlformats.org/officeDocument/2006/relationships/image" Target="../media/image1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3.xml"/><Relationship Id="rId1" Type="http://schemas.openxmlformats.org/officeDocument/2006/relationships/hyperlink" Target="https://docs.vllm.ai/en/latest/design/metrics/" TargetMode="External"/></Relationships>
</file>

<file path=ppt/slides/_rels/slide4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0.xml"/><Relationship Id="rId4" Type="http://schemas.openxmlformats.org/officeDocument/2006/relationships/slideLayout" Target="../slideLayouts/slideLayout3.xml"/><Relationship Id="rId3" Type="http://schemas.openxmlformats.org/officeDocument/2006/relationships/hyperlink" Target="https://developers.openai.com/api/reference/resources/chat/subresources/completions/methods/create" TargetMode="External"/><Relationship Id="rId2" Type="http://schemas.openxmlformats.org/officeDocument/2006/relationships/hyperlink" Target="https://github.com/openai/openai-python/blob/main/src/openai/types/chat/chat_completion_chunk.py" TargetMode="External"/><Relationship Id="rId1" Type="http://schemas.openxmlformats.org/officeDocument/2006/relationships/hyperlink" Target="https://html.spec.whatwg.org/multipage/server-sent-events.html" TargetMode="External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1.xml"/><Relationship Id="rId3" Type="http://schemas.openxmlformats.org/officeDocument/2006/relationships/slideLayout" Target="../slideLayouts/slideLayout3.xml"/><Relationship Id="rId2" Type="http://schemas.openxmlformats.org/officeDocument/2006/relationships/hyperlink" Target="https://github.com/openai/openai-python/blob/main/helpers.md" TargetMode="External"/><Relationship Id="rId1" Type="http://schemas.openxmlformats.org/officeDocument/2006/relationships/hyperlink" Target="https://github.com/openai/openai-python/blob/main/src/openai/types/chat/chat_completion_chunk.py" TargetMode="External"/></Relationships>
</file>

<file path=ppt/slides/_rels/slide4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2.xml"/><Relationship Id="rId4" Type="http://schemas.openxmlformats.org/officeDocument/2006/relationships/slideLayout" Target="../slideLayouts/slideLayout3.xml"/><Relationship Id="rId3" Type="http://schemas.openxmlformats.org/officeDocument/2006/relationships/hyperlink" Target="https://github.com/openai/openai-python/blob/main/helpers.md" TargetMode="External"/><Relationship Id="rId2" Type="http://schemas.openxmlformats.org/officeDocument/2006/relationships/hyperlink" Target="https://github.com/openai/openai-python/blob/main/src/openai/types/chat/chat_completion_chunk.py" TargetMode="External"/><Relationship Id="rId1" Type="http://schemas.openxmlformats.org/officeDocument/2006/relationships/hyperlink" Target="https://github.com/openai/openai-python/tree/e12b81d3bbf644ec7045e152d69bc4b68d69cd48" TargetMode="External"/></Relationships>
</file>

<file path=ppt/slides/_rels/slide4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3.xml"/><Relationship Id="rId4" Type="http://schemas.openxmlformats.org/officeDocument/2006/relationships/slideLayout" Target="../slideLayouts/slideLayout3.xml"/><Relationship Id="rId3" Type="http://schemas.openxmlformats.org/officeDocument/2006/relationships/hyperlink" Target="https://www.rfc-editor.org/rfc/rfc9110.html" TargetMode="External"/><Relationship Id="rId2" Type="http://schemas.openxmlformats.org/officeDocument/2006/relationships/hyperlink" Target="https://github.com/openai/openai-python/blob/main/helpers.md" TargetMode="External"/><Relationship Id="rId1" Type="http://schemas.openxmlformats.org/officeDocument/2006/relationships/hyperlink" Target="https://github.com/openai/openai-python/blob/main/src/openai/types/chat/chat_completion_chunk.py" TargetMode="External"/></Relationships>
</file>

<file path=ppt/slides/_rels/slide4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4.xml"/><Relationship Id="rId4" Type="http://schemas.openxmlformats.org/officeDocument/2006/relationships/slideLayout" Target="../slideLayouts/slideLayout3.xml"/><Relationship Id="rId3" Type="http://schemas.openxmlformats.org/officeDocument/2006/relationships/hyperlink" Target="https://docs.vllm.ai/en/latest/design/metrics/" TargetMode="External"/><Relationship Id="rId2" Type="http://schemas.openxmlformats.org/officeDocument/2006/relationships/hyperlink" Target="https://github.com/vllm-project/vllm/blob/main/vllm/v1/engine/async_llm.py" TargetMode="External"/><Relationship Id="rId1" Type="http://schemas.openxmlformats.org/officeDocument/2006/relationships/hyperlink" Target="https://nginx.org/en/docs/http/ngx_http_proxy_module.html#proxy_buffering" TargetMode="External"/></Relationships>
</file>

<file path=ppt/slides/_rels/slide4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5.xml"/><Relationship Id="rId4" Type="http://schemas.openxmlformats.org/officeDocument/2006/relationships/slideLayout" Target="../slideLayouts/slideLayout3.xml"/><Relationship Id="rId3" Type="http://schemas.openxmlformats.org/officeDocument/2006/relationships/hyperlink" Target="https://docs.vllm.ai/en/latest/design/metrics/" TargetMode="External"/><Relationship Id="rId2" Type="http://schemas.openxmlformats.org/officeDocument/2006/relationships/hyperlink" Target="https://github.com/openai/openai-python/tree/e12b81d3bbf644ec7045e152d69bc4b68d69cd48" TargetMode="External"/><Relationship Id="rId1" Type="http://schemas.openxmlformats.org/officeDocument/2006/relationships/hyperlink" Target="https://docs.python.org/3/library/asyncio-task.html" TargetMode="External"/></Relationships>
</file>

<file path=ppt/slides/_rels/slide4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6.xml"/><Relationship Id="rId4" Type="http://schemas.openxmlformats.org/officeDocument/2006/relationships/slideLayout" Target="../slideLayouts/slideLayout3.xml"/><Relationship Id="rId3" Type="http://schemas.openxmlformats.org/officeDocument/2006/relationships/hyperlink" Target="https://docs.vllm.ai/en/latest/design/metrics/" TargetMode="External"/><Relationship Id="rId2" Type="http://schemas.openxmlformats.org/officeDocument/2006/relationships/hyperlink" Target="https://www.usenix.org/system/files/osdi24-zhong-yinmin.pdf" TargetMode="External"/><Relationship Id="rId1" Type="http://schemas.openxmlformats.org/officeDocument/2006/relationships/image" Target="../media/image15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3.xml"/><Relationship Id="rId1" Type="http://schemas.openxmlformats.org/officeDocument/2006/relationships/hyperlink" Target="https://huyenchip.com/2024/07/25/genai-platform.html" TargetMode="Externa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9.xml"/><Relationship Id="rId5" Type="http://schemas.openxmlformats.org/officeDocument/2006/relationships/slideLayout" Target="../slideLayouts/slideLayout3.xml"/><Relationship Id="rId4" Type="http://schemas.openxmlformats.org/officeDocument/2006/relationships/hyperlink" Target="https://docs.vllm.ai/en/latest/design/metrics/" TargetMode="External"/><Relationship Id="rId3" Type="http://schemas.openxmlformats.org/officeDocument/2006/relationships/hyperlink" Target="https://github.com/openai/openai-python/tree/e12b81d3bbf644ec7045e152d69bc4b68d69cd48" TargetMode="External"/><Relationship Id="rId2" Type="http://schemas.openxmlformats.org/officeDocument/2006/relationships/hyperlink" Target="https://github.com/anthropics/courses/blob/f4dbb137d7b02dddaf3cc73e32e20a702d3b5e77/prompt_evaluations/04_code_graded_classification_evals/04_code_graded_classification_evals.ipynb" TargetMode="External"/><Relationship Id="rId1" Type="http://schemas.openxmlformats.org/officeDocument/2006/relationships/hyperlink" Target="https://github.com/chiphuyen/aie-book/blob/main/chapter-summaries.m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LLM Application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250"/>
            </a:pPr>
            <a:r>
              <a:rPr lang="en-US" altLang="zh-CN" dirty="0">
                <a:sym typeface="+mn-ea"/>
              </a:rPr>
              <a:t>Prompt、Python Client、REST/API、Streaming</a:t>
            </a:r>
            <a:endParaRPr lang="en-US" altLang="zh-CN" dirty="0"/>
          </a:p>
          <a:p>
            <a:pPr>
              <a:defRPr sz="2250"/>
            </a:pPr>
            <a:r>
              <a:rPr lang="en-US" altLang="zh-CN" dirty="0">
                <a:sym typeface="+mn-ea"/>
              </a:rPr>
              <a:t>2026 秋季</a:t>
            </a:r>
            <a:endParaRPr lang="zh-CN" altLang="en-US" dirty="0"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9061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目录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24625"/>
            <a:ext cx="476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02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43000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一次模型调用，贯穿四个部分</a:t>
            </a:r>
            <a:endParaRPr sz="24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105" name="表格 104"/>
          <p:cNvGraphicFramePr/>
          <p:nvPr/>
        </p:nvGraphicFramePr>
        <p:xfrm>
          <a:off x="609600" y="1952625"/>
          <a:ext cx="10972800" cy="3238500"/>
        </p:xfrm>
        <a:graphic>
          <a:graphicData uri="http://schemas.openxmlformats.org/drawingml/2006/table">
            <a:tbl>
              <a:tblPr/>
              <a:tblGrid>
                <a:gridCol w="3524250"/>
                <a:gridCol w="7448550"/>
              </a:tblGrid>
              <a:tr h="64770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2175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讲授内容</a:t>
                      </a:r>
                      <a:endParaRPr sz="2175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2175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这一部分需要理解的问题</a:t>
                      </a:r>
                      <a:endParaRPr sz="2175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21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  Prompt</a:t>
                      </a:r>
                      <a:endParaRPr sz="21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21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程序怎样组织任务、当前数据和对话历史</a:t>
                      </a:r>
                      <a:endParaRPr sz="21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21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  Python Client</a:t>
                      </a:r>
                      <a:endParaRPr sz="21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21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怎样发起调用、控制生成并读取返回值</a:t>
                      </a:r>
                      <a:endParaRPr sz="21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21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  REST/API</a:t>
                      </a:r>
                      <a:endParaRPr sz="21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21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请求与响应如何跨越应用和服务的边界</a:t>
                      </a:r>
                      <a:endParaRPr sz="21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21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  Streaming</a:t>
                      </a:r>
                      <a:endParaRPr sz="21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21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逐步生成的结果怎样传回、消费和衡量</a:t>
                      </a:r>
                      <a:endParaRPr sz="21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9061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一次模型调用的应用与服务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24625"/>
            <a:ext cx="476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03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43000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应用负责组织任务，推理服务负责运行模型</a:t>
            </a:r>
            <a:endParaRPr sz="24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05" name="图片 1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125" y="1823894"/>
            <a:ext cx="6762750" cy="3848388"/>
          </a:xfrm>
          <a:prstGeom prst="rect">
            <a:avLst/>
          </a:prstGeom>
        </p:spPr>
      </p:pic>
      <p:sp>
        <p:nvSpPr>
          <p:cNvPr id="106" name="body-1"/>
          <p:cNvSpPr>
            <a:spLocks noGrp="1"/>
          </p:cNvSpPr>
          <p:nvPr/>
        </p:nvSpPr>
        <p:spPr>
          <a:xfrm>
            <a:off x="7858125" y="1952625"/>
            <a:ext cx="3429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应用侧</a:t>
            </a:r>
            <a:endParaRPr sz="217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body-2"/>
          <p:cNvSpPr>
            <a:spLocks noGrp="1"/>
          </p:cNvSpPr>
          <p:nvPr/>
        </p:nvSpPr>
        <p:spPr>
          <a:xfrm>
            <a:off x="7858125" y="2476500"/>
            <a:ext cx="3429000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构造输入</a:t>
            </a:r>
            <a:endParaRPr sz="21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8000"/>
              </a:lnSpc>
              <a:buNone/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选择模型与生成设置</a:t>
            </a:r>
            <a:endParaRPr sz="21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8000"/>
              </a:lnSpc>
              <a:buNone/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解释返回值</a:t>
            </a:r>
            <a:endParaRPr sz="21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body-3"/>
          <p:cNvSpPr>
            <a:spLocks noGrp="1"/>
          </p:cNvSpPr>
          <p:nvPr/>
        </p:nvSpPr>
        <p:spPr>
          <a:xfrm>
            <a:off x="7858125" y="4029075"/>
            <a:ext cx="3429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服务侧</a:t>
            </a:r>
            <a:endParaRPr sz="217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9" name="body-4"/>
          <p:cNvSpPr>
            <a:spLocks noGrp="1"/>
          </p:cNvSpPr>
          <p:nvPr/>
        </p:nvSpPr>
        <p:spPr>
          <a:xfrm>
            <a:off x="7858125" y="4524375"/>
            <a:ext cx="34290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接收请求、调度计算</a:t>
            </a:r>
            <a:endParaRPr sz="21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8000"/>
              </a:lnSpc>
              <a:buNone/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运行模型、返回结果</a:t>
            </a:r>
            <a:endParaRPr sz="21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0" name="citation"/>
          <p:cNvSpPr>
            <a:spLocks noGrp="1"/>
          </p:cNvSpPr>
          <p:nvPr/>
        </p:nvSpPr>
        <p:spPr>
          <a:xfrm>
            <a:off x="609600" y="6200775"/>
            <a:ext cx="1095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参考：Huyen：AI Engineering，Fig9-1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9061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1.1 Prompt 的组成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24625"/>
            <a:ext cx="476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04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43000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任务说明、示例和当前输入承担不同作用</a:t>
            </a:r>
            <a:endParaRPr sz="24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05" name="图片 1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905186"/>
            <a:ext cx="10972800" cy="2866652"/>
          </a:xfrm>
          <a:prstGeom prst="rect">
            <a:avLst/>
          </a:prstGeom>
        </p:spPr>
      </p:pic>
      <p:sp>
        <p:nvSpPr>
          <p:cNvPr id="106" name="body-1"/>
          <p:cNvSpPr>
            <a:spLocks noGrp="1"/>
          </p:cNvSpPr>
          <p:nvPr/>
        </p:nvSpPr>
        <p:spPr>
          <a:xfrm>
            <a:off x="609600" y="5191125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00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任务说明定义输出要求；示例展示映射；变量位置填入本次数据。</a:t>
            </a:r>
            <a:endParaRPr sz="2100" b="0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citation"/>
          <p:cNvSpPr>
            <a:spLocks noGrp="1"/>
          </p:cNvSpPr>
          <p:nvPr/>
        </p:nvSpPr>
        <p:spPr>
          <a:xfrm>
            <a:off x="609600" y="6200775"/>
            <a:ext cx="1095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参考：Huyen：AI Engineering，Fig5-1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9061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1.2 应用任务与预期输出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24625"/>
            <a:ext cx="476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05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43000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lang="zh-CN"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举例，对于客户</a:t>
            </a:r>
            <a:r>
              <a: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投诉，应用需要</a:t>
            </a:r>
            <a:r>
              <a:rPr lang="en-US"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LLM </a:t>
            </a:r>
            <a:r>
              <a:rPr lang="zh-CN" altLang="en-US"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输出</a:t>
            </a:r>
            <a:r>
              <a: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可识别的分类标签</a:t>
            </a:r>
            <a:endParaRPr sz="24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5" name="body-0"/>
          <p:cNvSpPr>
            <a:spLocks noGrp="1"/>
          </p:cNvSpPr>
          <p:nvPr/>
        </p:nvSpPr>
        <p:spPr>
          <a:xfrm>
            <a:off x="609600" y="2609850"/>
            <a:ext cx="21907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客户输入</a:t>
            </a:r>
            <a:endParaRPr sz="217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6" name="body-1"/>
          <p:cNvSpPr>
            <a:spLocks noGrp="1"/>
          </p:cNvSpPr>
          <p:nvPr/>
        </p:nvSpPr>
        <p:spPr>
          <a:xfrm>
            <a:off x="2952750" y="2600325"/>
            <a:ext cx="847725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“The app is crashing and my phone is overheating”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8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应用崩溃，同时手机发热。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body-2"/>
          <p:cNvSpPr>
            <a:spLocks noGrp="1"/>
          </p:cNvSpPr>
          <p:nvPr/>
        </p:nvSpPr>
        <p:spPr>
          <a:xfrm>
            <a:off x="590550" y="3848100"/>
            <a:ext cx="21907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预期输出</a:t>
            </a:r>
            <a:endParaRPr sz="217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body-3"/>
          <p:cNvSpPr>
            <a:spLocks noGrp="1"/>
          </p:cNvSpPr>
          <p:nvPr/>
        </p:nvSpPr>
        <p:spPr>
          <a:xfrm>
            <a:off x="2952750" y="3838575"/>
            <a:ext cx="852487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325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325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Software Bug, Hardware Malfunction</a:t>
            </a:r>
            <a:endParaRPr sz="2325" b="1">
              <a:solidFill>
                <a:srgbClr val="2387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9" name="body-4"/>
          <p:cNvSpPr>
            <a:spLocks noGrp="1"/>
          </p:cNvSpPr>
          <p:nvPr/>
        </p:nvSpPr>
        <p:spPr>
          <a:xfrm>
            <a:off x="590550" y="4848225"/>
            <a:ext cx="21907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应用如何使用</a:t>
            </a:r>
            <a:endParaRPr sz="217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0" name="body-5"/>
          <p:cNvSpPr>
            <a:spLocks noGrp="1"/>
          </p:cNvSpPr>
          <p:nvPr/>
        </p:nvSpPr>
        <p:spPr>
          <a:xfrm>
            <a:off x="2952750" y="4838700"/>
            <a:ext cx="84296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  <a:buNone/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解析为两个标签，再由程序匹配相应处理规则。</a:t>
            </a:r>
            <a:endParaRPr sz="21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8000"/>
              </a:lnSpc>
              <a:buNone/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自由解释、拼写变化或遗漏标签都会影响后续处理。</a:t>
            </a:r>
            <a:endParaRPr sz="21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1" name="body-6"/>
          <p:cNvSpPr>
            <a:spLocks noGrp="1"/>
          </p:cNvSpPr>
          <p:nvPr/>
        </p:nvSpPr>
        <p:spPr>
          <a:xfrm>
            <a:off x="590550" y="1918335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50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50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分类范围：Software Bug、Hardware Malfunction、User Error、Feature Request、Service Outage</a:t>
            </a:r>
            <a:endParaRPr sz="150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2" name="citation"/>
          <p:cNvSpPr>
            <a:spLocks noGrp="1"/>
          </p:cNvSpPr>
          <p:nvPr/>
        </p:nvSpPr>
        <p:spPr>
          <a:xfrm>
            <a:off x="609600" y="6200775"/>
            <a:ext cx="1095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"/>
              </a:rPr>
              <a:t>参考：Anthropic：Classification Evals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1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9061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1.3 输出格式也是任务约定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24625"/>
            <a:ext cx="476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06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43000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两个标签都答对了，为什么程序仍判错？</a:t>
            </a:r>
            <a:endParaRPr sz="24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5" name="body-0"/>
          <p:cNvSpPr>
            <a:spLocks noGrp="1"/>
          </p:cNvSpPr>
          <p:nvPr/>
        </p:nvSpPr>
        <p:spPr>
          <a:xfrm>
            <a:off x="609600" y="1905000"/>
            <a:ext cx="509587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公开 Notebook 保存的输出</a:t>
            </a:r>
            <a:endParaRPr sz="21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6" name="code-1"/>
          <p:cNvSpPr>
            <a:spLocks noGrp="1"/>
          </p:cNvSpPr>
          <p:nvPr/>
        </p:nvSpPr>
        <p:spPr>
          <a:xfrm>
            <a:off x="609600" y="2600325"/>
            <a:ext cx="5095875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90"/>
              </a:spcAft>
              <a:defRPr sz="225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Hardware Malfunction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225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Software Bug</a:t>
            </a:r>
            <a:endParaRPr b="0">
              <a:solidFill>
                <a:srgbClr val="172B3A"/>
              </a:solidFill>
            </a:endParaRPr>
          </a:p>
        </p:txBody>
      </p:sp>
      <p:sp>
        <p:nvSpPr>
          <p:cNvPr id="107" name="body-2"/>
          <p:cNvSpPr>
            <a:spLocks noGrp="1"/>
          </p:cNvSpPr>
          <p:nvPr/>
        </p:nvSpPr>
        <p:spPr>
          <a:xfrm>
            <a:off x="6619875" y="1905000"/>
            <a:ext cx="481012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评估程序按逗号分隔</a:t>
            </a:r>
            <a:endParaRPr sz="21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code-3"/>
          <p:cNvSpPr>
            <a:spLocks noGrp="1"/>
          </p:cNvSpPr>
          <p:nvPr/>
        </p:nvSpPr>
        <p:spPr>
          <a:xfrm>
            <a:off x="6619875" y="2600325"/>
            <a:ext cx="481012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90"/>
              </a:spcAft>
              <a:defRPr sz="21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172B3A"/>
                </a:solidFill>
              </a:rPr>
              <a:t>response.split(</a:t>
            </a:r>
            <a:r>
              <a:rPr b="0">
                <a:solidFill>
                  <a:srgbClr val="238773"/>
                </a:solidFill>
              </a:rPr>
              <a:t>','</a:t>
            </a:r>
            <a:r>
              <a:rPr b="0">
                <a:solidFill>
                  <a:srgbClr val="172B3A"/>
                </a:solidFill>
              </a:rPr>
              <a:t>)</a:t>
            </a:r>
            <a:endParaRPr b="0">
              <a:solidFill>
                <a:srgbClr val="172B3A"/>
              </a:solidFill>
            </a:endParaRPr>
          </a:p>
        </p:txBody>
      </p:sp>
      <p:graphicFrame>
        <p:nvGraphicFramePr>
          <p:cNvPr id="109" name="表格 108"/>
          <p:cNvGraphicFramePr/>
          <p:nvPr/>
        </p:nvGraphicFramePr>
        <p:xfrm>
          <a:off x="609600" y="3981450"/>
          <a:ext cx="10972800" cy="1200150"/>
        </p:xfrm>
        <a:graphic>
          <a:graphicData uri="http://schemas.openxmlformats.org/drawingml/2006/table">
            <a:tbl>
              <a:tblPr/>
              <a:tblGrid>
                <a:gridCol w="3333750"/>
                <a:gridCol w="3905250"/>
                <a:gridCol w="3733800"/>
              </a:tblGrid>
              <a:tr h="600075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模型给出的内容</a:t>
                      </a:r>
                      <a:endParaRPr sz="1875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解析后的集合</a:t>
                      </a:r>
                      <a:endParaRPr sz="1875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与标准答案比较</a:t>
                      </a:r>
                      <a:endParaRPr sz="1875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换行分隔的两个标签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只有一个字符串元素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不相等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110" name="body-5"/>
          <p:cNvSpPr>
            <a:spLocks noGrp="1"/>
          </p:cNvSpPr>
          <p:nvPr/>
        </p:nvSpPr>
        <p:spPr>
          <a:xfrm>
            <a:off x="609600" y="5524500"/>
            <a:ext cx="109728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75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需要明确“标签之间用逗号分隔”，并验证程序实际得到的结果。</a:t>
            </a:r>
            <a:endParaRPr sz="2175" b="0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1" name="citation"/>
          <p:cNvSpPr>
            <a:spLocks noGrp="1"/>
          </p:cNvSpPr>
          <p:nvPr/>
        </p:nvSpPr>
        <p:spPr>
          <a:xfrm>
            <a:off x="609600" y="6200775"/>
            <a:ext cx="1095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"/>
              </a:rPr>
              <a:t>参考：Anthropic：Classification Evals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1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9061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1.4 可维护的 Prompt 模板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24625"/>
            <a:ext cx="476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07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43000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把业务规则写进模板，把本轮数据放进变量</a:t>
            </a:r>
            <a:endParaRPr sz="24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105" name="表格 104"/>
          <p:cNvGraphicFramePr/>
          <p:nvPr/>
        </p:nvGraphicFramePr>
        <p:xfrm>
          <a:off x="609600" y="1847850"/>
          <a:ext cx="10972800" cy="3533778"/>
        </p:xfrm>
        <a:graphic>
          <a:graphicData uri="http://schemas.openxmlformats.org/drawingml/2006/table">
            <a:tbl>
              <a:tblPr/>
              <a:tblGrid>
                <a:gridCol w="1952625"/>
                <a:gridCol w="5095875"/>
                <a:gridCol w="3924300"/>
              </a:tblGrid>
              <a:tr h="588963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组成</a:t>
                      </a:r>
                      <a:endParaRPr sz="1800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分类任务中的写法</a:t>
                      </a:r>
                      <a:endParaRPr sz="1800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为什么需要</a:t>
                      </a:r>
                      <a:endParaRPr sz="1800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</a:tr>
              <a:tr h="588963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任务与范围</a:t>
                      </a:r>
                      <a:endParaRPr sz="180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从给定五类中选择所有适用标签</a:t>
                      </a:r>
                      <a:endParaRPr sz="180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避免额外类别或开放式回答</a:t>
                      </a:r>
                      <a:endParaRPr sz="180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588963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类别定义</a:t>
                      </a:r>
                      <a:endParaRPr sz="180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说明软件故障、硬件故障等边界</a:t>
                      </a:r>
                      <a:endParaRPr sz="180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让规则对歧义输入也有意义</a:t>
                      </a:r>
                      <a:endParaRPr sz="180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8963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输出约定</a:t>
                      </a:r>
                      <a:endParaRPr sz="180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只输出标签，多个标签用逗号分隔</a:t>
                      </a:r>
                      <a:endParaRPr sz="180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与后续解析程序保持一致</a:t>
                      </a:r>
                      <a:endParaRPr sz="180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588963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示例</a:t>
                      </a:r>
                      <a:endParaRPr sz="180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展示单标签、多标签和易混淆情况</a:t>
                      </a:r>
                      <a:endParaRPr sz="180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说明仅靠定义难表达的判断</a:t>
                      </a:r>
                      <a:endParaRPr sz="180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8963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运行时变量</a:t>
                      </a:r>
                      <a:endParaRPr sz="180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&lt;complaint&gt;{complaint}&lt;/complaint&gt;</a:t>
                      </a:r>
                      <a:endParaRPr sz="180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区分待处理数据与固定说明</a:t>
                      </a:r>
                      <a:endParaRPr sz="180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106" name="body-1"/>
          <p:cNvSpPr>
            <a:spLocks noGrp="1"/>
          </p:cNvSpPr>
          <p:nvPr/>
        </p:nvSpPr>
        <p:spPr>
          <a:xfrm>
            <a:off x="609600" y="5619750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950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模板和解析规则一同版本管理；模型支持与实际效果通过评估确认。</a:t>
            </a:r>
            <a:endParaRPr sz="1950" b="0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citation"/>
          <p:cNvSpPr>
            <a:spLocks noGrp="1"/>
          </p:cNvSpPr>
          <p:nvPr/>
        </p:nvSpPr>
        <p:spPr>
          <a:xfrm>
            <a:off x="609600" y="6200775"/>
            <a:ext cx="1095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"/>
              </a:rPr>
              <a:t>参考：Anthropic：Classification Evals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；Anthropic：Context Engineering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9061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1.5 示例选择与上下文学习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24625"/>
            <a:ext cx="476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08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43000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示例用于说明边界，数量增加也会消耗上下文</a:t>
            </a:r>
            <a:endParaRPr sz="24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105" name="表格 104"/>
          <p:cNvGraphicFramePr/>
          <p:nvPr/>
        </p:nvGraphicFramePr>
        <p:xfrm>
          <a:off x="609600" y="1838325"/>
          <a:ext cx="10972800" cy="1809750"/>
        </p:xfrm>
        <a:graphic>
          <a:graphicData uri="http://schemas.openxmlformats.org/drawingml/2006/table">
            <a:tbl>
              <a:tblPr/>
              <a:tblGrid>
                <a:gridCol w="2095500"/>
                <a:gridCol w="4429125"/>
                <a:gridCol w="4448175"/>
              </a:tblGrid>
              <a:tr h="60325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方法</a:t>
                      </a:r>
                      <a:endParaRPr sz="1875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输入中增加什么</a:t>
                      </a:r>
                      <a:endParaRPr sz="1875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适用判断</a:t>
                      </a:r>
                      <a:endParaRPr sz="1875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Zero-shot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说明、定义、输出要求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先检查规则是否足够清楚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Few-shot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若干成对的输入与期望输出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补充歧义、格式和边界情况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6" name="表格 105"/>
          <p:cNvGraphicFramePr/>
          <p:nvPr/>
        </p:nvGraphicFramePr>
        <p:xfrm>
          <a:off x="609600" y="3914775"/>
          <a:ext cx="10972800" cy="1485900"/>
        </p:xfrm>
        <a:graphic>
          <a:graphicData uri="http://schemas.openxmlformats.org/drawingml/2006/table">
            <a:tbl>
              <a:tblPr/>
              <a:tblGrid>
                <a:gridCol w="2931160"/>
                <a:gridCol w="4598670"/>
                <a:gridCol w="3442970"/>
              </a:tblGrid>
              <a:tr h="49530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公开评估项</a:t>
                      </a:r>
                      <a:endParaRPr sz="1725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期望标签</a:t>
                      </a:r>
                      <a:endParaRPr sz="1725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它区分的边界</a:t>
                      </a:r>
                      <a:endParaRPr sz="1725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打开应用后手机变慢</a:t>
                      </a:r>
                      <a:endParaRPr sz="172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Software Bug</a:t>
                      </a:r>
                      <a:endParaRPr sz="172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设备变慢不自动等于硬件损坏</a:t>
                      </a:r>
                      <a:endParaRPr sz="172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应用崩溃且手机发热</a:t>
                      </a:r>
                      <a:endParaRPr sz="172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Software Bug + Hardware Malfunction</a:t>
                      </a:r>
                      <a:endParaRPr sz="172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单条输入可以同时涉及两类</a:t>
                      </a:r>
                      <a:endParaRPr sz="172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7" name="body-2"/>
          <p:cNvSpPr>
            <a:spLocks noGrp="1"/>
          </p:cNvSpPr>
          <p:nvPr/>
        </p:nvSpPr>
        <p:spPr>
          <a:xfrm>
            <a:off x="609600" y="5648325"/>
            <a:ext cx="109728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75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相似示例反复堆叠未必有用；新增示例应在独立输入上检验收益。</a:t>
            </a:r>
            <a:endParaRPr sz="1875" b="0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citation"/>
          <p:cNvSpPr>
            <a:spLocks noGrp="1"/>
          </p:cNvSpPr>
          <p:nvPr/>
        </p:nvSpPr>
        <p:spPr>
          <a:xfrm>
            <a:off x="609600" y="6200775"/>
            <a:ext cx="1095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"/>
              </a:rPr>
              <a:t>参考：Anthropic：Classification Evals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；Anthropic：Context Engineering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9061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1.6 上下文中的证据与缺失信息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24625"/>
            <a:ext cx="476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09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43000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资料没有电话号码时，模型仍可能补出一个号码</a:t>
            </a:r>
            <a:endParaRPr sz="24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5" name="body-0"/>
          <p:cNvSpPr>
            <a:spLocks noGrp="1"/>
          </p:cNvSpPr>
          <p:nvPr/>
        </p:nvSpPr>
        <p:spPr>
          <a:xfrm>
            <a:off x="609600" y="1895475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lang="zh-CN"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用户</a:t>
            </a:r>
            <a:r>
              <a: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提问：I want to speak to someone at Acme on the phone</a:t>
            </a:r>
            <a:endParaRPr sz="21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6" name="body-1"/>
          <p:cNvSpPr>
            <a:spLocks noGrp="1"/>
          </p:cNvSpPr>
          <p:nvPr/>
        </p:nvSpPr>
        <p:spPr>
          <a:xfrm>
            <a:off x="609600" y="2495550"/>
            <a:ext cx="109728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已提供 AcmeOS 产品资料，但其中没有客服电话。</a:t>
            </a:r>
            <a:endParaRPr sz="20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body-2"/>
          <p:cNvSpPr>
            <a:spLocks noGrp="1"/>
          </p:cNvSpPr>
          <p:nvPr/>
        </p:nvSpPr>
        <p:spPr>
          <a:xfrm>
            <a:off x="609600" y="3305175"/>
            <a:ext cx="509587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初版 Prompt 对应的回答</a:t>
            </a:r>
            <a:endParaRPr sz="217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body-3"/>
          <p:cNvSpPr>
            <a:spLocks noGrp="1"/>
          </p:cNvSpPr>
          <p:nvPr/>
        </p:nvSpPr>
        <p:spPr>
          <a:xfrm>
            <a:off x="609600" y="3905250"/>
            <a:ext cx="5210175" cy="1247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请拨打客服热线</a:t>
            </a:r>
            <a:endParaRPr sz="20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8000"/>
              </a:lnSpc>
              <a:buNone/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1-800-555-0123</a:t>
            </a:r>
            <a:endParaRPr sz="20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8000"/>
              </a:lnSpc>
              <a:buNone/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工作日 9:00–18:00（美国东部时间）</a:t>
            </a:r>
            <a:endParaRPr sz="20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9" name="body-4"/>
          <p:cNvSpPr>
            <a:spLocks noGrp="1"/>
          </p:cNvSpPr>
          <p:nvPr/>
        </p:nvSpPr>
        <p:spPr>
          <a:xfrm>
            <a:off x="6572250" y="3305175"/>
            <a:ext cx="49625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lang="zh-CN"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最终</a:t>
            </a:r>
            <a:r>
              <a: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版 Prompt 对应的回答</a:t>
            </a:r>
            <a:endParaRPr sz="217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0" name="body-5"/>
          <p:cNvSpPr>
            <a:spLocks noGrp="1"/>
          </p:cNvSpPr>
          <p:nvPr/>
        </p:nvSpPr>
        <p:spPr>
          <a:xfrm>
            <a:off x="6572250" y="3905250"/>
            <a:ext cx="4962525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资料中没有 Acme 电话支持信息。</a:t>
            </a:r>
            <a:endParaRPr sz="20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8000"/>
              </a:lnSpc>
              <a:buNone/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建议查阅官方网站或其他官方来源。</a:t>
            </a:r>
            <a:endParaRPr sz="20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1" name="body-6"/>
          <p:cNvSpPr>
            <a:spLocks noGrp="1"/>
          </p:cNvSpPr>
          <p:nvPr/>
        </p:nvSpPr>
        <p:spPr>
          <a:xfrm>
            <a:off x="609600" y="5553075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00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需要明确资料不足时的行为，并测试不同问法是否仍遵守约定。</a:t>
            </a:r>
            <a:endParaRPr sz="2100" b="0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2" name="citation"/>
          <p:cNvSpPr>
            <a:spLocks noGrp="1"/>
          </p:cNvSpPr>
          <p:nvPr/>
        </p:nvSpPr>
        <p:spPr>
          <a:xfrm>
            <a:off x="609600" y="6200775"/>
            <a:ext cx="1095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"/>
              </a:rPr>
              <a:t>参考：Anthropic：Customer Support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1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9061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1.7 任务分解与中间结果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24625"/>
            <a:ext cx="476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43000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步骤明确的复杂任务可以拆成多次模型调用</a:t>
            </a:r>
            <a:endParaRPr sz="24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05" name="图片 104"/>
          <p:cNvPicPr>
            <a:picLocks noChangeAspect="1"/>
          </p:cNvPicPr>
          <p:nvPr/>
        </p:nvPicPr>
        <p:blipFill>
          <a:blip r:embed="rId1"/>
          <a:srcRect t="25198" b="25198"/>
          <a:stretch>
            <a:fillRect/>
          </a:stretch>
        </p:blipFill>
        <p:spPr>
          <a:xfrm>
            <a:off x="609600" y="1948180"/>
            <a:ext cx="10972800" cy="2266950"/>
          </a:xfrm>
          <a:prstGeom prst="rect">
            <a:avLst/>
          </a:prstGeom>
        </p:spPr>
      </p:pic>
      <p:sp>
        <p:nvSpPr>
          <p:cNvPr id="106" name="body-1"/>
          <p:cNvSpPr>
            <a:spLocks noGrp="1"/>
          </p:cNvSpPr>
          <p:nvPr/>
        </p:nvSpPr>
        <p:spPr>
          <a:xfrm>
            <a:off x="609600" y="4476750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025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LLM Call：执行一个子任务；Gate：程序检查中间结果，未通过时结束。</a:t>
            </a:r>
            <a:endParaRPr sz="2025" b="0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body-2"/>
          <p:cNvSpPr>
            <a:spLocks noGrp="1"/>
          </p:cNvSpPr>
          <p:nvPr/>
        </p:nvSpPr>
        <p:spPr>
          <a:xfrm>
            <a:off x="609600" y="5144135"/>
            <a:ext cx="10972800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  <a:buNone/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适合可明确拆分的固定步骤。</a:t>
            </a:r>
            <a:endParaRPr sz="19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8000"/>
              </a:lnSpc>
              <a:buNone/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每次调用更聚焦、错误更易定位，但顺序调用会增加延迟和成本，需要通过评估判断是否值得。</a:t>
            </a:r>
            <a:endParaRPr sz="19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citation"/>
          <p:cNvSpPr>
            <a:spLocks noGrp="1"/>
          </p:cNvSpPr>
          <p:nvPr/>
        </p:nvSpPr>
        <p:spPr>
          <a:xfrm>
            <a:off x="609600" y="6200775"/>
            <a:ext cx="1095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参考：Anthropic：Building Effective Agents，Prompt chaining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9061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1.8 消息角色与指令边界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24625"/>
            <a:ext cx="476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11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43000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角色表达来源和职责，内容分隔帮助解释数据</a:t>
            </a:r>
            <a:endParaRPr sz="24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105" name="表格 104"/>
          <p:cNvGraphicFramePr/>
          <p:nvPr/>
        </p:nvGraphicFramePr>
        <p:xfrm>
          <a:off x="609600" y="1819275"/>
          <a:ext cx="10972800" cy="3209925"/>
        </p:xfrm>
        <a:graphic>
          <a:graphicData uri="http://schemas.openxmlformats.org/drawingml/2006/table">
            <a:tbl>
              <a:tblPr/>
              <a:tblGrid>
                <a:gridCol w="2524125"/>
                <a:gridCol w="3870325"/>
                <a:gridCol w="4578350"/>
              </a:tblGrid>
              <a:tr h="641985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消息或内容</a:t>
                      </a:r>
                      <a:endParaRPr sz="1800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通常放什么</a:t>
                      </a:r>
                      <a:endParaRPr sz="1800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应用需要注意</a:t>
                      </a:r>
                      <a:endParaRPr sz="1800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</a:tr>
              <a:tr h="641985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system / developer</a:t>
                      </a:r>
                      <a:endParaRPr sz="180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应用级行为规则、任务范围</a:t>
                      </a:r>
                      <a:endParaRPr sz="180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可用角色和优先级取决于模型与接口</a:t>
                      </a:r>
                      <a:endParaRPr sz="180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641985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user</a:t>
                      </a:r>
                      <a:endParaRPr sz="180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当前请求、待处理数据</a:t>
                      </a:r>
                      <a:endParaRPr sz="180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外部文本也可能包含伪装的指令</a:t>
                      </a:r>
                      <a:endParaRPr sz="180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1985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assistant</a:t>
                      </a:r>
                      <a:endParaRPr sz="180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此前模型输出</a:t>
                      </a:r>
                      <a:endParaRPr sz="180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历史回答也可能错误，不能当作事实保证</a:t>
                      </a:r>
                      <a:endParaRPr sz="180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641985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tool</a:t>
                      </a:r>
                      <a:endParaRPr sz="180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工具返回的结果</a:t>
                      </a:r>
                      <a:endParaRPr sz="180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保留调用关联，执行权限由程序控制</a:t>
                      </a:r>
                      <a:endParaRPr sz="180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6" name="body-1"/>
          <p:cNvSpPr>
            <a:spLocks noGrp="1"/>
          </p:cNvSpPr>
          <p:nvPr/>
        </p:nvSpPr>
        <p:spPr>
          <a:xfrm>
            <a:off x="609600" y="5381625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025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把“待分析的文本”标出来有助于理解；工具执行和权限检查仍由应用负责。</a:t>
            </a:r>
            <a:endParaRPr sz="2025" b="0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citation"/>
          <p:cNvSpPr>
            <a:spLocks noGrp="1"/>
          </p:cNvSpPr>
          <p:nvPr/>
        </p:nvSpPr>
        <p:spPr>
          <a:xfrm>
            <a:off x="609600" y="6200775"/>
            <a:ext cx="1095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"/>
              </a:rPr>
              <a:t>参考：OpenAI API：Chat Completions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；Wallace et al., 2024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9061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1.9 多轮对话中的指代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24625"/>
            <a:ext cx="476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12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590550" y="1143000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lang="zh-CN"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示例，</a:t>
            </a:r>
            <a:r>
              <a: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“How about Emily Doe?” 依赖前面的问题</a:t>
            </a:r>
            <a:endParaRPr sz="24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5" name="body-0"/>
          <p:cNvSpPr>
            <a:spLocks noGrp="1"/>
          </p:cNvSpPr>
          <p:nvPr/>
        </p:nvSpPr>
        <p:spPr>
          <a:xfrm>
            <a:off x="609600" y="1866900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75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Huyen 公开文章中的对话（节译）</a:t>
            </a:r>
            <a:endParaRPr sz="1875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106" name="表格 105"/>
          <p:cNvGraphicFramePr/>
          <p:nvPr/>
        </p:nvGraphicFramePr>
        <p:xfrm>
          <a:off x="609600" y="2428875"/>
          <a:ext cx="10972800" cy="2276476"/>
        </p:xfrm>
        <a:graphic>
          <a:graphicData uri="http://schemas.openxmlformats.org/drawingml/2006/table">
            <a:tbl>
              <a:tblPr/>
              <a:tblGrid>
                <a:gridCol w="2047875"/>
                <a:gridCol w="8924925"/>
              </a:tblGrid>
              <a:tr h="569119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消息顺序</a:t>
                      </a:r>
                      <a:endParaRPr sz="1950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内容</a:t>
                      </a:r>
                      <a:endParaRPr sz="1950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</a:tr>
              <a:tr h="569119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user</a:t>
                      </a:r>
                      <a:endParaRPr sz="195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John Doe 最近一次在我们这里买东西是什么时候？</a:t>
                      </a:r>
                      <a:endParaRPr sz="195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569119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assistant</a:t>
                      </a:r>
                      <a:endParaRPr sz="195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两周前，买了一顶 Fruity Fedora 帽子。</a:t>
                      </a:r>
                      <a:endParaRPr sz="195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9119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user</a:t>
                      </a:r>
                      <a:endParaRPr sz="195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How about Emily Doe?</a:t>
                      </a:r>
                      <a:endParaRPr sz="195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107" name="body-2"/>
          <p:cNvSpPr>
            <a:spLocks noGrp="1"/>
          </p:cNvSpPr>
          <p:nvPr/>
        </p:nvSpPr>
        <p:spPr>
          <a:xfrm>
            <a:off x="691515" y="4967605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75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独立理解最后一句时，缺少“最近一次购买时间”这一查询目标。</a:t>
            </a:r>
            <a:endParaRPr sz="2175" b="0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citation"/>
          <p:cNvSpPr>
            <a:spLocks noGrp="1"/>
          </p:cNvSpPr>
          <p:nvPr/>
        </p:nvSpPr>
        <p:spPr>
          <a:xfrm>
            <a:off x="609600" y="6200775"/>
            <a:ext cx="1095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"/>
              </a:rPr>
              <a:t>参考：Huyen：Building A Generative AI Platform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1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09600" y="5580380"/>
            <a:ext cx="99587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用户在多轮对话里经常省略已经说过的信息，应用需要让后续调用仍能理解完整的任务。</a:t>
            </a:r>
            <a:endParaRPr lang="zh-CN" altLang="en-US" sz="2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9061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1.10 多轮消息的构造与取舍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24625"/>
            <a:ext cx="476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13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43000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每次调用都要明确模型实际能看到哪些信息</a:t>
            </a:r>
            <a:endParaRPr sz="24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5" name="code-0"/>
          <p:cNvSpPr>
            <a:spLocks noGrp="1"/>
          </p:cNvSpPr>
          <p:nvPr/>
        </p:nvSpPr>
        <p:spPr>
          <a:xfrm>
            <a:off x="609600" y="1962150"/>
            <a:ext cx="6829425" cy="2219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90"/>
              </a:spcAft>
              <a:defRPr sz="180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messages = [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0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172B3A"/>
                </a:solidFill>
              </a:rPr>
              <a:t>  {</a:t>
            </a:r>
            <a:r>
              <a:rPr b="0">
                <a:solidFill>
                  <a:srgbClr val="238773"/>
                </a:solidFill>
              </a:rPr>
              <a:t>"role"</a:t>
            </a:r>
            <a:r>
              <a:rPr>
                <a:solidFill>
                  <a:srgbClr val="172B3A"/>
                </a:solidFill>
              </a:rPr>
              <a:t>: </a:t>
            </a:r>
            <a:r>
              <a:rPr b="0">
                <a:solidFill>
                  <a:srgbClr val="238773"/>
                </a:solidFill>
              </a:rPr>
              <a:t>"system"</a:t>
            </a:r>
            <a:r>
              <a:rPr>
                <a:solidFill>
                  <a:srgbClr val="172B3A"/>
                </a:solidFill>
              </a:rPr>
              <a:t>, </a:t>
            </a:r>
            <a:r>
              <a:rPr b="0">
                <a:solidFill>
                  <a:srgbClr val="238773"/>
                </a:solidFill>
              </a:rPr>
              <a:t>"content"</a:t>
            </a:r>
            <a:r>
              <a:rPr b="0">
                <a:solidFill>
                  <a:srgbClr val="172B3A"/>
                </a:solidFill>
              </a:rPr>
              <a:t>: RULES},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0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172B3A"/>
                </a:solidFill>
              </a:rPr>
              <a:t>  {</a:t>
            </a:r>
            <a:r>
              <a:rPr b="0">
                <a:solidFill>
                  <a:srgbClr val="238773"/>
                </a:solidFill>
              </a:rPr>
              <a:t>"role"</a:t>
            </a:r>
            <a:r>
              <a:rPr>
                <a:solidFill>
                  <a:srgbClr val="172B3A"/>
                </a:solidFill>
              </a:rPr>
              <a:t>: </a:t>
            </a:r>
            <a:r>
              <a:rPr b="0">
                <a:solidFill>
                  <a:srgbClr val="238773"/>
                </a:solidFill>
              </a:rPr>
              <a:t>"user"</a:t>
            </a:r>
            <a:r>
              <a:rPr>
                <a:solidFill>
                  <a:srgbClr val="172B3A"/>
                </a:solidFill>
              </a:rPr>
              <a:t>, </a:t>
            </a:r>
            <a:r>
              <a:rPr b="0">
                <a:solidFill>
                  <a:srgbClr val="238773"/>
                </a:solidFill>
              </a:rPr>
              <a:t>"content"</a:t>
            </a:r>
            <a:r>
              <a:rPr b="0">
                <a:solidFill>
                  <a:srgbClr val="172B3A"/>
                </a:solidFill>
              </a:rPr>
              <a:t>: question_1},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0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172B3A"/>
                </a:solidFill>
              </a:rPr>
              <a:t>  {</a:t>
            </a:r>
            <a:r>
              <a:rPr b="0">
                <a:solidFill>
                  <a:srgbClr val="238773"/>
                </a:solidFill>
              </a:rPr>
              <a:t>"role"</a:t>
            </a:r>
            <a:r>
              <a:rPr>
                <a:solidFill>
                  <a:srgbClr val="172B3A"/>
                </a:solidFill>
              </a:rPr>
              <a:t>: </a:t>
            </a:r>
            <a:r>
              <a:rPr b="0">
                <a:solidFill>
                  <a:srgbClr val="238773"/>
                </a:solidFill>
              </a:rPr>
              <a:t>"assistant"</a:t>
            </a:r>
            <a:r>
              <a:rPr>
                <a:solidFill>
                  <a:srgbClr val="172B3A"/>
                </a:solidFill>
              </a:rPr>
              <a:t>, </a:t>
            </a:r>
            <a:r>
              <a:rPr b="0">
                <a:solidFill>
                  <a:srgbClr val="238773"/>
                </a:solidFill>
              </a:rPr>
              <a:t>"content"</a:t>
            </a:r>
            <a:r>
              <a:rPr b="0">
                <a:solidFill>
                  <a:srgbClr val="172B3A"/>
                </a:solidFill>
              </a:rPr>
              <a:t>: answer_1},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0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172B3A"/>
                </a:solidFill>
              </a:rPr>
              <a:t>  {</a:t>
            </a:r>
            <a:r>
              <a:rPr b="0">
                <a:solidFill>
                  <a:srgbClr val="238773"/>
                </a:solidFill>
              </a:rPr>
              <a:t>"role"</a:t>
            </a:r>
            <a:r>
              <a:rPr>
                <a:solidFill>
                  <a:srgbClr val="172B3A"/>
                </a:solidFill>
              </a:rPr>
              <a:t>: </a:t>
            </a:r>
            <a:r>
              <a:rPr b="0">
                <a:solidFill>
                  <a:srgbClr val="238773"/>
                </a:solidFill>
              </a:rPr>
              <a:t>"user"</a:t>
            </a:r>
            <a:r>
              <a:rPr>
                <a:solidFill>
                  <a:srgbClr val="172B3A"/>
                </a:solidFill>
              </a:rPr>
              <a:t>, </a:t>
            </a:r>
            <a:r>
              <a:rPr b="0">
                <a:solidFill>
                  <a:srgbClr val="238773"/>
                </a:solidFill>
              </a:rPr>
              <a:t>"content"</a:t>
            </a:r>
            <a:r>
              <a:rPr b="0">
                <a:solidFill>
                  <a:srgbClr val="172B3A"/>
                </a:solidFill>
              </a:rPr>
              <a:t>: question_2},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0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 </a:t>
            </a:r>
            <a:r>
              <a:rPr lang="en-US" b="0">
                <a:solidFill>
                  <a:srgbClr val="172B3A"/>
                </a:solidFill>
              </a:rPr>
              <a:t> ...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0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]</a:t>
            </a:r>
            <a:endParaRPr b="0">
              <a:solidFill>
                <a:srgbClr val="172B3A"/>
              </a:solidFill>
            </a:endParaRPr>
          </a:p>
        </p:txBody>
      </p:sp>
      <p:sp>
        <p:nvSpPr>
          <p:cNvPr id="106" name="body-1"/>
          <p:cNvSpPr>
            <a:spLocks noGrp="1"/>
          </p:cNvSpPr>
          <p:nvPr/>
        </p:nvSpPr>
        <p:spPr>
          <a:xfrm>
            <a:off x="7962900" y="1924050"/>
            <a:ext cx="338137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本次输入包含</a:t>
            </a:r>
            <a:endParaRPr sz="217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body-2"/>
          <p:cNvSpPr>
            <a:spLocks noGrp="1"/>
          </p:cNvSpPr>
          <p:nvPr/>
        </p:nvSpPr>
        <p:spPr>
          <a:xfrm>
            <a:off x="7962900" y="2505075"/>
            <a:ext cx="3381375" cy="1295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稳定的规则</a:t>
            </a:r>
            <a:endParaRPr sz="21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8000"/>
              </a:lnSpc>
              <a:buNone/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必要的前文</a:t>
            </a:r>
            <a:endParaRPr sz="21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8000"/>
              </a:lnSpc>
              <a:buNone/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当前问题</a:t>
            </a:r>
            <a:endParaRPr sz="21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108" name="表格 107"/>
          <p:cNvGraphicFramePr/>
          <p:nvPr/>
        </p:nvGraphicFramePr>
        <p:xfrm>
          <a:off x="609600" y="4543425"/>
          <a:ext cx="10972800" cy="1314450"/>
        </p:xfrm>
        <a:graphic>
          <a:graphicData uri="http://schemas.openxmlformats.org/drawingml/2006/table">
            <a:tbl>
              <a:tblPr/>
              <a:tblGrid>
                <a:gridCol w="2714625"/>
                <a:gridCol w="4143375"/>
                <a:gridCol w="4114800"/>
              </a:tblGrid>
              <a:tr h="43815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历史策略</a:t>
                      </a:r>
                      <a:endParaRPr sz="1725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收益</a:t>
                      </a:r>
                      <a:endParaRPr sz="1725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代价</a:t>
                      </a:r>
                      <a:endParaRPr sz="1725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保留相关轮次</a:t>
                      </a:r>
                      <a:endParaRPr sz="172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保留指代、约束和纠正</a:t>
                      </a:r>
                      <a:endParaRPr sz="172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输入随对话增长</a:t>
                      </a:r>
                      <a:endParaRPr sz="172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摘要或问题改写</a:t>
                      </a:r>
                      <a:endParaRPr sz="172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压缩历史、形成独立问题</a:t>
                      </a:r>
                      <a:endParaRPr sz="172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可能丢失事实与约束</a:t>
                      </a:r>
                      <a:endParaRPr sz="172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9" name="citation"/>
          <p:cNvSpPr>
            <a:spLocks noGrp="1"/>
          </p:cNvSpPr>
          <p:nvPr/>
        </p:nvSpPr>
        <p:spPr>
          <a:xfrm>
            <a:off x="609600" y="6200775"/>
            <a:ext cx="1095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"/>
              </a:rPr>
              <a:t>参考：OpenAI API：Chat Completions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；DSPy：History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3"/>
              </a:rPr>
              <a:t>；Huyen：Building A Generative AI Platform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3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9061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1.11 消息最终如何变成模型输入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24625"/>
            <a:ext cx="476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14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43000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消息列表经过模型对应的聊天模板和分词器</a:t>
            </a:r>
            <a:endParaRPr sz="24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5" name="body-0"/>
          <p:cNvSpPr>
            <a:spLocks noGrp="1"/>
          </p:cNvSpPr>
          <p:nvPr/>
        </p:nvSpPr>
        <p:spPr>
          <a:xfrm>
            <a:off x="609600" y="1876425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同一段对话，不同模型使用不同控制标记</a:t>
            </a:r>
            <a:endParaRPr sz="217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106" name="表格 105"/>
          <p:cNvGraphicFramePr/>
          <p:nvPr/>
        </p:nvGraphicFramePr>
        <p:xfrm>
          <a:off x="609600" y="2619375"/>
          <a:ext cx="10972800" cy="1762125"/>
        </p:xfrm>
        <a:graphic>
          <a:graphicData uri="http://schemas.openxmlformats.org/drawingml/2006/table">
            <a:tbl>
              <a:tblPr/>
              <a:tblGrid>
                <a:gridCol w="3000375"/>
                <a:gridCol w="7972425"/>
              </a:tblGrid>
              <a:tr h="587375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2025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模型模板</a:t>
                      </a:r>
                      <a:endParaRPr sz="2025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2025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Hugging Face 文档中的序列化片段</a:t>
                      </a:r>
                      <a:endParaRPr sz="2025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202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Mistral instruct</a:t>
                      </a:r>
                      <a:endParaRPr sz="202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202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[INST] Hello, how are you? [/INST]</a:t>
                      </a:r>
                      <a:endParaRPr sz="202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202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Zephyr</a:t>
                      </a:r>
                      <a:endParaRPr sz="202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202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&lt;|user|&gt;\nHello, how are you?&lt;/s&gt;</a:t>
                      </a:r>
                      <a:endParaRPr sz="202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7" name="body-2"/>
          <p:cNvSpPr>
            <a:spLocks noGrp="1"/>
          </p:cNvSpPr>
          <p:nvPr/>
        </p:nvSpPr>
        <p:spPr>
          <a:xfrm>
            <a:off x="609600" y="4838700"/>
            <a:ext cx="109728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聊天模板标记角色与轮次；Tokenizer 将序列转换成 token ID。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8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输入长度应按实际模型的模板和分词结果计算。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citation"/>
          <p:cNvSpPr>
            <a:spLocks noGrp="1"/>
          </p:cNvSpPr>
          <p:nvPr/>
        </p:nvSpPr>
        <p:spPr>
          <a:xfrm>
            <a:off x="609600" y="6200775"/>
            <a:ext cx="1095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"/>
              </a:rPr>
              <a:t>参考：Transformers：Chat Templates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1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9061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1.12 上下文长度与信息位置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24625"/>
            <a:ext cx="476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15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43000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能放进窗口的内容，未必都能被同样有效地使用</a:t>
            </a:r>
            <a:endParaRPr sz="24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05" name="图片 1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7580" y="1965960"/>
            <a:ext cx="3527954" cy="3371850"/>
          </a:xfrm>
          <a:prstGeom prst="rect">
            <a:avLst/>
          </a:prstGeom>
        </p:spPr>
      </p:pic>
      <p:sp>
        <p:nvSpPr>
          <p:cNvPr id="106" name="body-1"/>
          <p:cNvSpPr>
            <a:spLocks noGrp="1"/>
          </p:cNvSpPr>
          <p:nvPr/>
        </p:nvSpPr>
        <p:spPr>
          <a:xfrm>
            <a:off x="6497955" y="1965960"/>
            <a:ext cx="34766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怎样读这张图</a:t>
            </a:r>
            <a:endParaRPr sz="217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body-2"/>
          <p:cNvSpPr>
            <a:spLocks noGrp="1"/>
          </p:cNvSpPr>
          <p:nvPr/>
        </p:nvSpPr>
        <p:spPr>
          <a:xfrm>
            <a:off x="6497955" y="2527935"/>
            <a:ext cx="3476625" cy="1476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横轴：相关文档位置</a:t>
            </a:r>
            <a:endParaRPr sz="18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8000"/>
              </a:lnSpc>
              <a:buNone/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纵轴：问答准确率</a:t>
            </a:r>
            <a:endParaRPr sz="18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8000"/>
              </a:lnSpc>
              <a:buNone/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任务：20篇文档中找证据</a:t>
            </a:r>
            <a:endParaRPr sz="18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body-3"/>
          <p:cNvSpPr>
            <a:spLocks noGrp="1"/>
          </p:cNvSpPr>
          <p:nvPr/>
        </p:nvSpPr>
        <p:spPr>
          <a:xfrm>
            <a:off x="6182995" y="3767455"/>
            <a:ext cx="5399405" cy="168084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342900" indent="-342900">
              <a:lnSpc>
                <a:spcPct val="138000"/>
              </a:lnSpc>
              <a:buFont typeface="Arial" panose="020B0604020202020204" pitchFamily="34" charset="0"/>
              <a:buChar char="•"/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lang="zh-CN" altLang="en-US">
                <a:sym typeface="+mn-ea"/>
              </a:rPr>
              <a:t>同样提供了正确证据，仅仅改变它的位置，模型利用证据的效果就明显不同。</a:t>
            </a:r>
            <a:endParaRPr lang="zh-CN" altLang="en-US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>
              <a:lnSpc>
                <a:spcPct val="138000"/>
              </a:lnSpc>
              <a:buFont typeface="Arial" panose="020B0604020202020204" pitchFamily="34" charset="0"/>
              <a:buChar char="•"/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lang="en-US" altLang="zh-CN"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Lost in the Middle: </a:t>
            </a:r>
            <a:r>
              <a: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历史研究中，相关信息位于中间时表现下降。</a:t>
            </a:r>
            <a:endParaRPr sz="19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>
              <a:lnSpc>
                <a:spcPct val="138000"/>
              </a:lnSpc>
              <a:buFont typeface="Arial" panose="020B0604020202020204" pitchFamily="34" charset="0"/>
              <a:buChar char="•"/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endParaRPr lang="zh-CN" altLang="en-US" sz="19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9" name="body-4"/>
          <p:cNvSpPr>
            <a:spLocks noGrp="1"/>
          </p:cNvSpPr>
          <p:nvPr/>
        </p:nvSpPr>
        <p:spPr>
          <a:xfrm>
            <a:off x="609600" y="5743575"/>
            <a:ext cx="109728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50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50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图示为论文所测模型与任务，不能直接当作当前所有模型的性能规律。</a:t>
            </a:r>
            <a:endParaRPr sz="150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0" name="citation"/>
          <p:cNvSpPr>
            <a:spLocks noGrp="1"/>
          </p:cNvSpPr>
          <p:nvPr/>
        </p:nvSpPr>
        <p:spPr>
          <a:xfrm>
            <a:off x="609600" y="6200775"/>
            <a:ext cx="1095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参考：Liu et al., TACL 2024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3"/>
              </a:rPr>
              <a:t>；Anthropic：Context Engineering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3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9061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1.13 Prompt 的评估与迭代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24625"/>
            <a:ext cx="476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16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43000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改进是否有效，要看固定任务上的错误变化</a:t>
            </a:r>
            <a:endParaRPr sz="24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05" name="图片 1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3298" y="1847850"/>
            <a:ext cx="3757228" cy="3705225"/>
          </a:xfrm>
          <a:prstGeom prst="rect">
            <a:avLst/>
          </a:prstGeom>
        </p:spPr>
      </p:pic>
      <p:sp>
        <p:nvSpPr>
          <p:cNvPr id="106" name="body-1"/>
          <p:cNvSpPr>
            <a:spLocks noGrp="1"/>
          </p:cNvSpPr>
          <p:nvPr/>
        </p:nvSpPr>
        <p:spPr>
          <a:xfrm>
            <a:off x="7620000" y="1971675"/>
            <a:ext cx="38671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分类 Notebook 的保存结果</a:t>
            </a:r>
            <a:endParaRPr sz="20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body-2"/>
          <p:cNvSpPr>
            <a:spLocks noGrp="1"/>
          </p:cNvSpPr>
          <p:nvPr/>
        </p:nvSpPr>
        <p:spPr>
          <a:xfrm>
            <a:off x="7620000" y="2847975"/>
            <a:ext cx="3810000" cy="1104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550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550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初始版本：17 / 20</a:t>
            </a:r>
            <a:endParaRPr sz="2550" b="1">
              <a:solidFill>
                <a:srgbClr val="2387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8000"/>
              </a:lnSpc>
              <a:buNone/>
              <a:defRPr sz="2550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550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改进版本：20 / 20</a:t>
            </a:r>
            <a:endParaRPr sz="2550" b="1">
              <a:solidFill>
                <a:srgbClr val="2387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body-3"/>
          <p:cNvSpPr>
            <a:spLocks noGrp="1"/>
          </p:cNvSpPr>
          <p:nvPr/>
        </p:nvSpPr>
        <p:spPr>
          <a:xfrm>
            <a:off x="7620000" y="4295775"/>
            <a:ext cx="3810000" cy="1209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修改同时涉及规则、示例和格式。</a:t>
            </a:r>
            <a:endParaRPr sz="19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8000"/>
              </a:lnSpc>
              <a:buNone/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endParaRPr sz="19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9" name="body-4"/>
          <p:cNvSpPr>
            <a:spLocks noGrp="1"/>
          </p:cNvSpPr>
          <p:nvPr/>
        </p:nvSpPr>
        <p:spPr>
          <a:xfrm>
            <a:off x="609600" y="570547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6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6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记录输入、模板版本、模型配置、原始响应和判分结果，才能定位改动效果。</a:t>
            </a:r>
            <a:endParaRPr sz="16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0" name="citation"/>
          <p:cNvSpPr>
            <a:spLocks noGrp="1"/>
          </p:cNvSpPr>
          <p:nvPr/>
        </p:nvSpPr>
        <p:spPr>
          <a:xfrm>
            <a:off x="609600" y="6200775"/>
            <a:ext cx="1095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参考：Anthropic：Classification Evals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3"/>
              </a:rPr>
              <a:t>；Anthropic：Customer Support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3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9061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1.14 组装本次调用的 messages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24625"/>
            <a:ext cx="476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17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43000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lang="zh-CN"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示例，</a:t>
            </a:r>
            <a:r>
              <a: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把分类规则和当前投诉放到各自的消息中</a:t>
            </a:r>
            <a:endParaRPr sz="24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5" name="body-0"/>
          <p:cNvSpPr>
            <a:spLocks noGrp="1"/>
          </p:cNvSpPr>
          <p:nvPr/>
        </p:nvSpPr>
        <p:spPr>
          <a:xfrm>
            <a:off x="609600" y="1962150"/>
            <a:ext cx="2771775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system：固定规则</a:t>
            </a:r>
            <a:endParaRPr sz="21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6" name="body-1"/>
          <p:cNvSpPr>
            <a:spLocks noGrp="1"/>
          </p:cNvSpPr>
          <p:nvPr/>
        </p:nvSpPr>
        <p:spPr>
          <a:xfrm>
            <a:off x="3381375" y="1952625"/>
            <a:ext cx="8105775" cy="1657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  <a:buNone/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将投诉归入以下一个或多个类别：</a:t>
            </a:r>
            <a:endParaRPr sz="19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8000"/>
              </a:lnSpc>
              <a:buNone/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Software Bug、Hardware Malfunction、User Error、</a:t>
            </a:r>
            <a:endParaRPr sz="19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8000"/>
              </a:lnSpc>
              <a:buNone/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Feature Request、Service Outage。</a:t>
            </a:r>
            <a:endParaRPr sz="19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8000"/>
              </a:lnSpc>
              <a:buNone/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只输出适用类别，多个类别用逗号分隔，不添加解释。</a:t>
            </a:r>
            <a:endParaRPr sz="19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body-2"/>
          <p:cNvSpPr>
            <a:spLocks noGrp="1"/>
          </p:cNvSpPr>
          <p:nvPr/>
        </p:nvSpPr>
        <p:spPr>
          <a:xfrm>
            <a:off x="609600" y="3962400"/>
            <a:ext cx="2771775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user：当前投诉</a:t>
            </a:r>
            <a:endParaRPr sz="21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body-3"/>
          <p:cNvSpPr>
            <a:spLocks noGrp="1"/>
          </p:cNvSpPr>
          <p:nvPr/>
        </p:nvSpPr>
        <p:spPr>
          <a:xfrm>
            <a:off x="3381375" y="3952875"/>
            <a:ext cx="8105775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The app is crashing and my phone is overheating</a:t>
            </a:r>
            <a:endParaRPr sz="21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9" name="body-4"/>
          <p:cNvSpPr>
            <a:spLocks noGrp="1"/>
          </p:cNvSpPr>
          <p:nvPr/>
        </p:nvSpPr>
        <p:spPr>
          <a:xfrm>
            <a:off x="609600" y="5314950"/>
            <a:ext cx="10972800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250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这两条消息组成 messages，作为下一节 Client 调用的输入。</a:t>
            </a:r>
            <a:endParaRPr sz="2250" b="0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0" name="citation"/>
          <p:cNvSpPr>
            <a:spLocks noGrp="1"/>
          </p:cNvSpPr>
          <p:nvPr/>
        </p:nvSpPr>
        <p:spPr>
          <a:xfrm>
            <a:off x="609600" y="6200775"/>
            <a:ext cx="1095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"/>
              </a:rPr>
              <a:t>参考：Anthropic：Classification Evals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；Transformers：Chat Templates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3"/>
              </a:rPr>
              <a:t>；OpenAI API：Chat Completions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3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9061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2.1 Python Client 的职责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24625"/>
            <a:ext cx="476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18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43000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应用需要把一次生成接入自己的程序流程</a:t>
            </a:r>
            <a:endParaRPr sz="24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105" name="表格 104"/>
          <p:cNvGraphicFramePr/>
          <p:nvPr/>
        </p:nvGraphicFramePr>
        <p:xfrm>
          <a:off x="609600" y="1943100"/>
          <a:ext cx="10972800" cy="3067050"/>
        </p:xfrm>
        <a:graphic>
          <a:graphicData uri="http://schemas.openxmlformats.org/drawingml/2006/table">
            <a:tbl>
              <a:tblPr/>
              <a:tblGrid>
                <a:gridCol w="1809750"/>
                <a:gridCol w="4581525"/>
                <a:gridCol w="4581525"/>
              </a:tblGrid>
              <a:tr h="61341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工作</a:t>
                      </a:r>
                      <a:endParaRPr sz="1875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应用自己负责</a:t>
                      </a:r>
                      <a:endParaRPr sz="1875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Client 通常提供</a:t>
                      </a:r>
                      <a:endParaRPr sz="1875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</a:tr>
              <a:tr h="61341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输入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构造 messages，选择模型与参数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参数接口与请求序列化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61341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通信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确定服务地址、凭据与等待策略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发出 HTTP 请求，管理连接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341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返回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判断结果是否满足任务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解析响应为 Python 对象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61341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异常与资源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决定恢复、重试或结束任务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异常类型、超时设置、关闭接口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6" name="body-1"/>
          <p:cNvSpPr>
            <a:spLocks noGrp="1"/>
          </p:cNvSpPr>
          <p:nvPr/>
        </p:nvSpPr>
        <p:spPr>
          <a:xfrm>
            <a:off x="609600" y="5429250"/>
            <a:ext cx="10972800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75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Client 是服务接口的程序封装；模型计算仍发生在推理服务中。</a:t>
            </a:r>
            <a:endParaRPr sz="2175" b="0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citation"/>
          <p:cNvSpPr>
            <a:spLocks noGrp="1"/>
          </p:cNvSpPr>
          <p:nvPr/>
        </p:nvSpPr>
        <p:spPr>
          <a:xfrm>
            <a:off x="609600" y="6200775"/>
            <a:ext cx="1095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"/>
              </a:rPr>
              <a:t>参考：OpenAI Python SDK：Usage / Clients / Errors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1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9061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2.2 一次生成调用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24625"/>
            <a:ext cx="476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19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43000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messages 沿用上一节已经准备好的输入</a:t>
            </a:r>
            <a:endParaRPr sz="24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5" name="code-0"/>
          <p:cNvSpPr>
            <a:spLocks noGrp="1"/>
          </p:cNvSpPr>
          <p:nvPr/>
        </p:nvSpPr>
        <p:spPr>
          <a:xfrm>
            <a:off x="609600" y="2047875"/>
            <a:ext cx="7219950" cy="3057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90"/>
              </a:spcAft>
              <a:defRPr sz="180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003C8B"/>
                </a:solidFill>
              </a:rPr>
              <a:t>from</a:t>
            </a:r>
            <a:r>
              <a:rPr>
                <a:solidFill>
                  <a:srgbClr val="172B3A"/>
                </a:solidFill>
              </a:rPr>
              <a:t> openai </a:t>
            </a:r>
            <a:r>
              <a:rPr b="0">
                <a:solidFill>
                  <a:srgbClr val="003C8B"/>
                </a:solidFill>
              </a:rPr>
              <a:t>import</a:t>
            </a:r>
            <a:r>
              <a:rPr b="0">
                <a:solidFill>
                  <a:srgbClr val="172B3A"/>
                </a:solidFill>
              </a:rPr>
              <a:t> OpenAI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0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t> </a:t>
            </a:r>
          </a:p>
          <a:p>
            <a:pPr>
              <a:spcBef>
                <a:spcPts val="0"/>
              </a:spcBef>
              <a:spcAft>
                <a:spcPts val="90"/>
              </a:spcAft>
              <a:defRPr sz="180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client = OpenAI(base_url=BASE_URL)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0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result = client.chat.completions.create(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0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1">
                <a:solidFill>
                  <a:srgbClr val="003C8B"/>
                </a:solidFill>
              </a:rPr>
              <a:t>    model=MODEL_ID,</a:t>
            </a:r>
            <a:endParaRPr b="1">
              <a:solidFill>
                <a:srgbClr val="003C8B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0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1">
                <a:solidFill>
                  <a:srgbClr val="003C8B"/>
                </a:solidFill>
              </a:rPr>
              <a:t>    messages=messages,</a:t>
            </a:r>
            <a:endParaRPr b="1">
              <a:solidFill>
                <a:srgbClr val="003C8B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0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1">
                <a:solidFill>
                  <a:srgbClr val="003C8B"/>
                </a:solidFill>
              </a:rPr>
              <a:t>    temperature=0.2,</a:t>
            </a:r>
            <a:endParaRPr b="1">
              <a:solidFill>
                <a:srgbClr val="003C8B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0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1">
                <a:solidFill>
                  <a:srgbClr val="003C8B"/>
                </a:solidFill>
              </a:rPr>
              <a:t>    max_completion_tokens=128,</a:t>
            </a:r>
            <a:endParaRPr b="1">
              <a:solidFill>
                <a:srgbClr val="003C8B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0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)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0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1">
                <a:solidFill>
                  <a:srgbClr val="003C8B"/>
                </a:solidFill>
              </a:rPr>
              <a:t>choice = result.choices[0]</a:t>
            </a:r>
            <a:endParaRPr b="1">
              <a:solidFill>
                <a:srgbClr val="003C8B"/>
              </a:solidFill>
            </a:endParaRPr>
          </a:p>
        </p:txBody>
      </p:sp>
      <p:sp>
        <p:nvSpPr>
          <p:cNvPr id="106" name="body-1"/>
          <p:cNvSpPr>
            <a:spLocks noGrp="1"/>
          </p:cNvSpPr>
          <p:nvPr/>
        </p:nvSpPr>
        <p:spPr>
          <a:xfrm>
            <a:off x="8353425" y="2000250"/>
            <a:ext cx="309562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连接设置</a:t>
            </a:r>
            <a:endParaRPr sz="21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body-2"/>
          <p:cNvSpPr>
            <a:spLocks noGrp="1"/>
          </p:cNvSpPr>
          <p:nvPr/>
        </p:nvSpPr>
        <p:spPr>
          <a:xfrm>
            <a:off x="8353425" y="2476500"/>
            <a:ext cx="3095625" cy="847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BASE_URL 指向服务</a:t>
            </a:r>
            <a:endParaRPr sz="18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8000"/>
              </a:lnSpc>
              <a:buNone/>
              <a:defRPr sz="18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凭据从环境变量读取</a:t>
            </a:r>
            <a:endParaRPr sz="18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body-3"/>
          <p:cNvSpPr>
            <a:spLocks noGrp="1"/>
          </p:cNvSpPr>
          <p:nvPr/>
        </p:nvSpPr>
        <p:spPr>
          <a:xfrm>
            <a:off x="8353425" y="3571875"/>
            <a:ext cx="309562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本次生成</a:t>
            </a:r>
            <a:endParaRPr sz="21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9" name="body-4"/>
          <p:cNvSpPr>
            <a:spLocks noGrp="1"/>
          </p:cNvSpPr>
          <p:nvPr/>
        </p:nvSpPr>
        <p:spPr>
          <a:xfrm>
            <a:off x="8353425" y="4048125"/>
            <a:ext cx="3095625" cy="1133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模型、消息与生成设置</a:t>
            </a:r>
            <a:endParaRPr sz="18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8000"/>
              </a:lnSpc>
              <a:buNone/>
              <a:defRPr sz="18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返回对象包含内容和状态</a:t>
            </a:r>
            <a:endParaRPr sz="18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0" name="body-5"/>
          <p:cNvSpPr>
            <a:spLocks noGrp="1"/>
          </p:cNvSpPr>
          <p:nvPr/>
        </p:nvSpPr>
        <p:spPr>
          <a:xfrm>
            <a:off x="609600" y="5705475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575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575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示例为 Chat Completions 接口结构；参数支持须与具体模型和服务核对。</a:t>
            </a:r>
            <a:endParaRPr sz="1575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1" name="citation"/>
          <p:cNvSpPr>
            <a:spLocks noGrp="1"/>
          </p:cNvSpPr>
          <p:nvPr/>
        </p:nvSpPr>
        <p:spPr>
          <a:xfrm>
            <a:off x="609600" y="6200775"/>
            <a:ext cx="1095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"/>
              </a:rPr>
              <a:t>参考：OpenAI Python SDK：Usage / Clients / Errors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；OpenAI API：Chat Completions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9061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2.3 Client 的生命周期与等待策略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24625"/>
            <a:ext cx="476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43000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多次调用可以复用客户端，等待时间需要显式管理</a:t>
            </a:r>
            <a:endParaRPr sz="24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105" name="表格 104"/>
          <p:cNvGraphicFramePr/>
          <p:nvPr/>
        </p:nvGraphicFramePr>
        <p:xfrm>
          <a:off x="609600" y="1952625"/>
          <a:ext cx="10972800" cy="3067050"/>
        </p:xfrm>
        <a:graphic>
          <a:graphicData uri="http://schemas.openxmlformats.org/drawingml/2006/table">
            <a:tbl>
              <a:tblPr/>
              <a:tblGrid>
                <a:gridCol w="2571750"/>
                <a:gridCol w="4000500"/>
                <a:gridCol w="4400550"/>
              </a:tblGrid>
              <a:tr h="61341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设计选择</a:t>
                      </a:r>
                      <a:endParaRPr sz="1875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这样做的理由</a:t>
                      </a:r>
                      <a:endParaRPr sz="1875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需要检查的边界</a:t>
                      </a:r>
                      <a:endParaRPr sz="1875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</a:tr>
              <a:tr h="61341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复用 Client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让底层连接池复用已有连接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不在每个请求内反复创建和丢弃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61341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设置超时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避免一次网络等待无限拖住任务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单次读取超时与任务总期限不同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341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默认重试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部分瞬时错误可以自动恢复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可能增加总等待和重复请求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61341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结束时关闭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释放连接等资源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复用期间不要提前关闭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6" name="body-1"/>
          <p:cNvSpPr>
            <a:spLocks noGrp="1"/>
          </p:cNvSpPr>
          <p:nvPr/>
        </p:nvSpPr>
        <p:spPr>
          <a:xfrm>
            <a:off x="609600" y="5467350"/>
            <a:ext cx="109728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00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复用连接可以减少通信开销；模型本身的推理时间不会因此消失。</a:t>
            </a:r>
            <a:endParaRPr sz="2100" b="0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citation"/>
          <p:cNvSpPr>
            <a:spLocks noGrp="1"/>
          </p:cNvSpPr>
          <p:nvPr/>
        </p:nvSpPr>
        <p:spPr>
          <a:xfrm>
            <a:off x="609600" y="6200775"/>
            <a:ext cx="1095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"/>
              </a:rPr>
              <a:t>参考：OpenAI Python SDK：Usage / Clients / Errors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；HTTPX Clients &amp; Timeouts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9061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2.4 返回对象中的内容、状态与用量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24625"/>
            <a:ext cx="476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21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43000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程序应同时读取“生成了什么”和“怎样结束”</a:t>
            </a:r>
            <a:endParaRPr sz="24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5" name="code-0"/>
          <p:cNvSpPr>
            <a:spLocks noGrp="1"/>
          </p:cNvSpPr>
          <p:nvPr/>
        </p:nvSpPr>
        <p:spPr>
          <a:xfrm>
            <a:off x="609600" y="1962150"/>
            <a:ext cx="7239000" cy="3381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90"/>
              </a:spcAft>
              <a:defRPr sz="18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result.choices[0].message.content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60717E"/>
                </a:solidFill>
              </a:rPr>
              <a:t># Software Bug, Hardware Malfunction</a:t>
            </a:r>
            <a:endParaRPr b="0">
              <a:solidFill>
                <a:srgbClr val="60717E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t> </a:t>
            </a:r>
          </a:p>
          <a:p>
            <a:pPr>
              <a:spcBef>
                <a:spcPts val="0"/>
              </a:spcBef>
              <a:spcAft>
                <a:spcPts val="90"/>
              </a:spcAft>
              <a:defRPr sz="18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result.choices[0].finish_reason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60717E"/>
                </a:solidFill>
              </a:rPr>
              <a:t># stop</a:t>
            </a:r>
            <a:endParaRPr b="0">
              <a:solidFill>
                <a:srgbClr val="60717E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t> </a:t>
            </a:r>
          </a:p>
          <a:p>
            <a:pPr>
              <a:spcBef>
                <a:spcPts val="0"/>
              </a:spcBef>
              <a:spcAft>
                <a:spcPts val="90"/>
              </a:spcAft>
              <a:defRPr sz="18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result.usage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60717E"/>
                </a:solidFill>
              </a:rPr>
              <a:t># 输入、输出及总 token 用量</a:t>
            </a:r>
            <a:endParaRPr b="0">
              <a:solidFill>
                <a:srgbClr val="60717E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t> </a:t>
            </a:r>
          </a:p>
          <a:p>
            <a:pPr>
              <a:spcBef>
                <a:spcPts val="0"/>
              </a:spcBef>
              <a:spcAft>
                <a:spcPts val="90"/>
              </a:spcAft>
              <a:defRPr sz="18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result._request_id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60717E"/>
                </a:solidFill>
              </a:rPr>
              <a:t># 定位服务请求</a:t>
            </a:r>
            <a:endParaRPr b="0">
              <a:solidFill>
                <a:srgbClr val="60717E"/>
              </a:solidFill>
            </a:endParaRPr>
          </a:p>
        </p:txBody>
      </p:sp>
      <p:sp>
        <p:nvSpPr>
          <p:cNvPr id="106" name="body-1"/>
          <p:cNvSpPr>
            <a:spLocks noGrp="1"/>
          </p:cNvSpPr>
          <p:nvPr/>
        </p:nvSpPr>
        <p:spPr>
          <a:xfrm>
            <a:off x="8239125" y="1952625"/>
            <a:ext cx="31813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内容</a:t>
            </a:r>
            <a:endParaRPr sz="217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body-2"/>
          <p:cNvSpPr>
            <a:spLocks noGrp="1"/>
          </p:cNvSpPr>
          <p:nvPr/>
        </p:nvSpPr>
        <p:spPr>
          <a:xfrm>
            <a:off x="8239125" y="2409825"/>
            <a:ext cx="31813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交给业务解析和校验</a:t>
            </a:r>
            <a:endParaRPr sz="18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body-3"/>
          <p:cNvSpPr>
            <a:spLocks noGrp="1"/>
          </p:cNvSpPr>
          <p:nvPr/>
        </p:nvSpPr>
        <p:spPr>
          <a:xfrm>
            <a:off x="8239125" y="3295650"/>
            <a:ext cx="31813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结束原因</a:t>
            </a:r>
            <a:endParaRPr sz="217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9" name="body-4"/>
          <p:cNvSpPr>
            <a:spLocks noGrp="1"/>
          </p:cNvSpPr>
          <p:nvPr/>
        </p:nvSpPr>
        <p:spPr>
          <a:xfrm>
            <a:off x="8239125" y="3752850"/>
            <a:ext cx="3181350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区分正常结束和长度截断</a:t>
            </a:r>
            <a:endParaRPr sz="18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0" name="body-5"/>
          <p:cNvSpPr>
            <a:spLocks noGrp="1"/>
          </p:cNvSpPr>
          <p:nvPr/>
        </p:nvSpPr>
        <p:spPr>
          <a:xfrm>
            <a:off x="8239125" y="4772025"/>
            <a:ext cx="31813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用量与请求标识</a:t>
            </a:r>
            <a:endParaRPr sz="217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1" name="body-6"/>
          <p:cNvSpPr>
            <a:spLocks noGrp="1"/>
          </p:cNvSpPr>
          <p:nvPr/>
        </p:nvSpPr>
        <p:spPr>
          <a:xfrm>
            <a:off x="8239125" y="5210175"/>
            <a:ext cx="3181350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支持成本分析和故障追踪</a:t>
            </a:r>
            <a:endParaRPr sz="18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2" name="citation"/>
          <p:cNvSpPr>
            <a:spLocks noGrp="1"/>
          </p:cNvSpPr>
          <p:nvPr/>
        </p:nvSpPr>
        <p:spPr>
          <a:xfrm>
            <a:off x="609600" y="6200775"/>
            <a:ext cx="1095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"/>
              </a:rPr>
              <a:t>参考：OpenAI Python SDK：Usage / Clients / Errors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；OpenAI API：Chat Completions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9061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2.5 生成参数在控制什么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24625"/>
            <a:ext cx="476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22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43000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输入决定条件，采样参数影响下一 token 的选择</a:t>
            </a:r>
            <a:endParaRPr sz="24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105" name="表格 104"/>
          <p:cNvGraphicFramePr/>
          <p:nvPr/>
        </p:nvGraphicFramePr>
        <p:xfrm>
          <a:off x="609600" y="2160270"/>
          <a:ext cx="10972800" cy="3057525"/>
        </p:xfrm>
        <a:graphic>
          <a:graphicData uri="http://schemas.openxmlformats.org/drawingml/2006/table">
            <a:tbl>
              <a:tblPr/>
              <a:tblGrid>
                <a:gridCol w="2667000"/>
                <a:gridCol w="4257675"/>
                <a:gridCol w="4048125"/>
              </a:tblGrid>
              <a:tr h="611505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生成阶段</a:t>
                      </a:r>
                      <a:endParaRPr sz="1875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主要输入或控制项</a:t>
                      </a:r>
                      <a:endParaRPr sz="1875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对应用的影响</a:t>
                      </a:r>
                      <a:endParaRPr sz="1875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读取上下文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messages、模型与模板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决定可用信息和任务条件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计算下一 token 分数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当前上下文、已生成 token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得到词表上各候选的 logits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选择下一 token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temperature、top_p 等采样设置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改变输出的随机性与候选范围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继续或终止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结束标记、长度上限、停止规则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决定输出是否继续增长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7" name="citation"/>
          <p:cNvSpPr>
            <a:spLocks noGrp="1"/>
          </p:cNvSpPr>
          <p:nvPr/>
        </p:nvSpPr>
        <p:spPr>
          <a:xfrm>
            <a:off x="609600" y="6200775"/>
            <a:ext cx="1095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"/>
              </a:rPr>
              <a:t>参考：Transformers：Sampler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；Huyen：AI Engineering，Ch2 Sampling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9061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2.6 Temperature 与概率分布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24625"/>
            <a:ext cx="476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23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43000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温度缩放分数差异，改变分布的集中程度</a:t>
            </a:r>
            <a:endParaRPr sz="24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6" name="body-1"/>
          <p:cNvSpPr>
            <a:spLocks noGrp="1"/>
          </p:cNvSpPr>
          <p:nvPr/>
        </p:nvSpPr>
        <p:spPr>
          <a:xfrm>
            <a:off x="609600" y="2767965"/>
            <a:ext cx="109728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pᵢ：候选概率；zᵢ：候选分数；T：温度；Σⱼ：遍历词表求和。</a:t>
            </a:r>
            <a:endParaRPr sz="18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107" name="表格 106"/>
          <p:cNvGraphicFramePr/>
          <p:nvPr/>
        </p:nvGraphicFramePr>
        <p:xfrm>
          <a:off x="609600" y="3314700"/>
          <a:ext cx="10972800" cy="219075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43815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候选分数 z</a:t>
                      </a:r>
                      <a:endParaRPr sz="1875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 = 0.5</a:t>
                      </a:r>
                      <a:endParaRPr sz="1875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 = 1</a:t>
                      </a:r>
                      <a:endParaRPr sz="1875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 = 2</a:t>
                      </a:r>
                      <a:endParaRPr sz="1875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86.50%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64.39%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45.51%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11.71%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23.69%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27.60%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1.58%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8.71%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16.74%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−1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0.21%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3.21%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10.15%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8" name="body-3"/>
          <p:cNvSpPr>
            <a:spLocks noGrp="1"/>
          </p:cNvSpPr>
          <p:nvPr/>
        </p:nvSpPr>
        <p:spPr>
          <a:xfrm>
            <a:off x="609600" y="5743575"/>
            <a:ext cx="109728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50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50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四候选计算示意：低温更集中，高温更平缓；T = 0 通常由实现切换为贪心选择。</a:t>
            </a:r>
            <a:endParaRPr sz="150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9" name="citation"/>
          <p:cNvSpPr>
            <a:spLocks noGrp="1"/>
          </p:cNvSpPr>
          <p:nvPr/>
        </p:nvSpPr>
        <p:spPr>
          <a:xfrm>
            <a:off x="609600" y="6200775"/>
            <a:ext cx="1095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"/>
              </a:rPr>
              <a:t>参考：Transformers：Sampler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；vLLM：Sampling &amp; Reproducibility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8975" y="1685925"/>
            <a:ext cx="3542030" cy="93345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9061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2.7 Top-p 与候选集合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24625"/>
            <a:ext cx="476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24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43000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保留累计概率达到阈值的最小候选集合</a:t>
            </a:r>
            <a:endParaRPr sz="24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105" name="表格 104"/>
          <p:cNvGraphicFramePr/>
          <p:nvPr/>
        </p:nvGraphicFramePr>
        <p:xfrm>
          <a:off x="609600" y="2000250"/>
          <a:ext cx="10972800" cy="2514600"/>
        </p:xfrm>
        <a:graphic>
          <a:graphicData uri="http://schemas.openxmlformats.org/drawingml/2006/table">
            <a:tbl>
              <a:tblPr/>
              <a:tblGrid>
                <a:gridCol w="2846705"/>
                <a:gridCol w="2670175"/>
                <a:gridCol w="2865120"/>
                <a:gridCol w="2590800"/>
              </a:tblGrid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按概率降序排列</a:t>
                      </a:r>
                      <a:endParaRPr sz="1950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原概率（T = 1）</a:t>
                      </a:r>
                      <a:endParaRPr sz="1950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累计概率</a:t>
                      </a:r>
                      <a:endParaRPr sz="1950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top_p = 0.8</a:t>
                      </a:r>
                      <a:endParaRPr sz="1950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候选 A</a:t>
                      </a:r>
                      <a:endParaRPr sz="195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64.39%</a:t>
                      </a:r>
                      <a:endParaRPr sz="195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64.39%</a:t>
                      </a:r>
                      <a:endParaRPr sz="195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保留</a:t>
                      </a:r>
                      <a:endParaRPr sz="195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候选 B</a:t>
                      </a:r>
                      <a:endParaRPr sz="195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23.69%</a:t>
                      </a:r>
                      <a:endParaRPr sz="195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88.08%</a:t>
                      </a:r>
                      <a:endParaRPr sz="195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保留</a:t>
                      </a:r>
                      <a:endParaRPr sz="195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候选 C</a:t>
                      </a:r>
                      <a:endParaRPr sz="195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8.71%</a:t>
                      </a:r>
                      <a:endParaRPr sz="195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96.79%</a:t>
                      </a:r>
                      <a:endParaRPr sz="195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移除</a:t>
                      </a:r>
                      <a:endParaRPr sz="195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候选 D</a:t>
                      </a:r>
                      <a:endParaRPr sz="195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3.21%</a:t>
                      </a:r>
                      <a:endParaRPr sz="195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100%</a:t>
                      </a:r>
                      <a:endParaRPr sz="195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移除</a:t>
                      </a:r>
                      <a:endParaRPr sz="195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6" name="body-1"/>
          <p:cNvSpPr>
            <a:spLocks noGrp="1"/>
          </p:cNvSpPr>
          <p:nvPr/>
        </p:nvSpPr>
        <p:spPr>
          <a:xfrm>
            <a:off x="609600" y="4829175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3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3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保留 A、B 后重新归一化：73.11%、26.89%。</a:t>
            </a:r>
            <a:endParaRPr sz="23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body-2"/>
          <p:cNvSpPr>
            <a:spLocks noGrp="1"/>
          </p:cNvSpPr>
          <p:nvPr/>
        </p:nvSpPr>
        <p:spPr>
          <a:xfrm>
            <a:off x="609600" y="5562600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阈值控制累计概率质量，保留数量会随分布变化；不是固定保留80%的词。</a:t>
            </a:r>
            <a:endParaRPr sz="19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citation"/>
          <p:cNvSpPr>
            <a:spLocks noGrp="1"/>
          </p:cNvSpPr>
          <p:nvPr/>
        </p:nvSpPr>
        <p:spPr>
          <a:xfrm>
            <a:off x="609600" y="6200775"/>
            <a:ext cx="1095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"/>
              </a:rPr>
              <a:t>参考：Holtzman et al.：ICLR 2020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；Transformers：Sampler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9061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2.8 生成设置与任务要求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24625"/>
            <a:ext cx="476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25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43000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参数的选择需要对应可观察的收益和代价</a:t>
            </a:r>
            <a:endParaRPr sz="24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105" name="表格 104"/>
          <p:cNvGraphicFramePr/>
          <p:nvPr/>
        </p:nvGraphicFramePr>
        <p:xfrm>
          <a:off x="609600" y="1952625"/>
          <a:ext cx="10972800" cy="3076575"/>
        </p:xfrm>
        <a:graphic>
          <a:graphicData uri="http://schemas.openxmlformats.org/drawingml/2006/table">
            <a:tbl>
              <a:tblPr/>
              <a:tblGrid>
                <a:gridCol w="2667000"/>
                <a:gridCol w="4095750"/>
                <a:gridCol w="4210050"/>
              </a:tblGrid>
              <a:tr h="615315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任务需求</a:t>
                      </a:r>
                      <a:endParaRPr sz="1800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可以调整什么</a:t>
                      </a:r>
                      <a:endParaRPr sz="1800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需要验证什么</a:t>
                      </a:r>
                      <a:endParaRPr sz="1800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</a:tr>
              <a:tr h="615315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标签输出保持一致</a:t>
                      </a:r>
                      <a:endParaRPr sz="180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较低随机性、明确格式与长度</a:t>
                      </a:r>
                      <a:endParaRPr sz="180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标签正确率、可解析率、重复运行波动</a:t>
                      </a:r>
                      <a:endParaRPr sz="180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615315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生成多个候选答案</a:t>
                      </a:r>
                      <a:endParaRPr sz="180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提高随机性或多次独立调用</a:t>
                      </a:r>
                      <a:endParaRPr sz="180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有效候选比例、重复度、额外开销</a:t>
                      </a:r>
                      <a:endParaRPr sz="180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5315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减少长输出等待</a:t>
                      </a:r>
                      <a:endParaRPr sz="180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约束回答范围、设置输出上限</a:t>
                      </a:r>
                      <a:endParaRPr sz="180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是否截断必要内容，质量是否下降</a:t>
                      </a:r>
                      <a:endParaRPr sz="180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615315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比较两版 Prompt</a:t>
                      </a:r>
                      <a:endParaRPr sz="180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固定模型和支持的生成配置</a:t>
                      </a:r>
                      <a:endParaRPr sz="180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输入分布一致，记录每次原始响应</a:t>
                      </a:r>
                      <a:endParaRPr sz="180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6" name="body-1"/>
          <p:cNvSpPr>
            <a:spLocks noGrp="1"/>
          </p:cNvSpPr>
          <p:nvPr/>
        </p:nvSpPr>
        <p:spPr>
          <a:xfrm>
            <a:off x="609600" y="5476875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025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低温不能修复错误知识；长度上限也不等于“答案会在这里完整结束”。</a:t>
            </a:r>
            <a:endParaRPr sz="2025" b="0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citation"/>
          <p:cNvSpPr>
            <a:spLocks noGrp="1"/>
          </p:cNvSpPr>
          <p:nvPr/>
        </p:nvSpPr>
        <p:spPr>
          <a:xfrm>
            <a:off x="609600" y="6200775"/>
            <a:ext cx="1095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"/>
              </a:rPr>
              <a:t>参考：OpenAI API：Chat Completions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；vLLM：Sampling &amp; Reproducibility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3"/>
              </a:rPr>
              <a:t>；Anthropic：Classification Evals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3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9061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2.9 Token 预算与停止条件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24625"/>
            <a:ext cx="476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26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43000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输入占用上下文，输出上限约束生成预算</a:t>
            </a:r>
            <a:endParaRPr sz="24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5" name="body-0"/>
          <p:cNvSpPr>
            <a:spLocks noGrp="1"/>
          </p:cNvSpPr>
          <p:nvPr/>
        </p:nvSpPr>
        <p:spPr>
          <a:xfrm>
            <a:off x="609600" y="1857375"/>
            <a:ext cx="109728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输入 token + 为输出预留的 token ≤ 模型上下文上限</a:t>
            </a:r>
            <a:endParaRPr sz="24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6" name="body-1"/>
          <p:cNvSpPr>
            <a:spLocks noGrp="1"/>
          </p:cNvSpPr>
          <p:nvPr/>
        </p:nvSpPr>
        <p:spPr>
          <a:xfrm>
            <a:off x="609600" y="2638425"/>
            <a:ext cx="10972800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示意：8192 的窗口中，输入占6144，最多剩2048可用于输出预算。</a:t>
            </a:r>
            <a:endParaRPr sz="19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107" name="表格 106"/>
          <p:cNvGraphicFramePr/>
          <p:nvPr/>
        </p:nvGraphicFramePr>
        <p:xfrm>
          <a:off x="609600" y="3347720"/>
          <a:ext cx="10972800" cy="2028825"/>
        </p:xfrm>
        <a:graphic>
          <a:graphicData uri="http://schemas.openxmlformats.org/drawingml/2006/table">
            <a:tbl>
              <a:tblPr/>
              <a:tblGrid>
                <a:gridCol w="2333625"/>
                <a:gridCol w="4381500"/>
                <a:gridCol w="4257675"/>
              </a:tblGrid>
              <a:tr h="507206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结束方式</a:t>
                      </a:r>
                      <a:endParaRPr sz="1800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含义</a:t>
                      </a:r>
                      <a:endParaRPr sz="1800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应用接下来做什么</a:t>
                      </a:r>
                      <a:endParaRPr sz="1800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</a:tr>
              <a:tr h="507206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stop</a:t>
                      </a:r>
                      <a:endParaRPr sz="180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遇到正常结束或适用的停止规则</a:t>
                      </a:r>
                      <a:endParaRPr sz="180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继续检查内容和任务约定</a:t>
                      </a:r>
                      <a:endParaRPr sz="180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507206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length</a:t>
                      </a:r>
                      <a:endParaRPr sz="180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达到生成长度限制</a:t>
                      </a:r>
                      <a:endParaRPr sz="180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将结果标为可能不完整</a:t>
                      </a:r>
                      <a:endParaRPr sz="180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7206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tool_calls</a:t>
                      </a:r>
                      <a:endParaRPr sz="180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模型生成了工具调用请求</a:t>
                      </a:r>
                      <a:endParaRPr sz="180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交由后续工具处理流程校验</a:t>
                      </a:r>
                      <a:endParaRPr sz="180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108" name="body-3"/>
          <p:cNvSpPr>
            <a:spLocks noGrp="1"/>
          </p:cNvSpPr>
          <p:nvPr/>
        </p:nvSpPr>
        <p:spPr>
          <a:xfrm>
            <a:off x="609600" y="5743575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50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50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不同模型还有独立输出限制；部分推理模型的输出预算包含不可见的推理 token。</a:t>
            </a:r>
            <a:endParaRPr sz="150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9" name="citation"/>
          <p:cNvSpPr>
            <a:spLocks noGrp="1"/>
          </p:cNvSpPr>
          <p:nvPr/>
        </p:nvSpPr>
        <p:spPr>
          <a:xfrm>
            <a:off x="609600" y="6200775"/>
            <a:ext cx="1095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"/>
              </a:rPr>
              <a:t>参考：OpenAI API：Chat Completions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；Transformers：Chat Templates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9061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2.10 调用结果的三个判断层次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24625"/>
            <a:ext cx="476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27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43000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HTTP 成功、生成结束和任务完成需要分别判断</a:t>
            </a:r>
            <a:endParaRPr sz="24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105" name="表格 104"/>
          <p:cNvGraphicFramePr/>
          <p:nvPr/>
        </p:nvGraphicFramePr>
        <p:xfrm>
          <a:off x="609600" y="2095500"/>
          <a:ext cx="10972800" cy="2638425"/>
        </p:xfrm>
        <a:graphic>
          <a:graphicData uri="http://schemas.openxmlformats.org/drawingml/2006/table">
            <a:tbl>
              <a:tblPr/>
              <a:tblGrid>
                <a:gridCol w="1688465"/>
                <a:gridCol w="4769485"/>
                <a:gridCol w="4514850"/>
              </a:tblGrid>
              <a:tr h="659606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判断层次</a:t>
                      </a:r>
                      <a:endParaRPr sz="1950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观察什么</a:t>
                      </a:r>
                      <a:endParaRPr sz="1950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分类任务的例子</a:t>
                      </a:r>
                      <a:endParaRPr sz="1950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</a:tr>
              <a:tr h="659606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通信与服务</a:t>
                      </a:r>
                      <a:endParaRPr sz="195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HTTP状态、连接异常、请求标识</a:t>
                      </a:r>
                      <a:endParaRPr sz="195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服务器返回了有效响应</a:t>
                      </a:r>
                      <a:endParaRPr sz="195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659606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生成过程</a:t>
                      </a:r>
                      <a:endParaRPr sz="195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finish_reason、是否中断、输出预算</a:t>
                      </a:r>
                      <a:endParaRPr sz="195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标签文本没有因长度被截断</a:t>
                      </a:r>
                      <a:endParaRPr sz="195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9606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应用任务</a:t>
                      </a:r>
                      <a:endParaRPr sz="195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解析成功、标签合法、内容正确</a:t>
                      </a:r>
                      <a:endParaRPr sz="195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得到两个适用标签，且没有额外类别</a:t>
                      </a:r>
                      <a:endParaRPr sz="195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106" name="body-1"/>
          <p:cNvSpPr>
            <a:spLocks noGrp="1"/>
          </p:cNvSpPr>
          <p:nvPr/>
        </p:nvSpPr>
        <p:spPr>
          <a:xfrm>
            <a:off x="609600" y="5286375"/>
            <a:ext cx="109728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325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325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Client 帮助读取响应，业务正确性需要应用自己验证。</a:t>
            </a:r>
            <a:endParaRPr sz="2325" b="0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citation"/>
          <p:cNvSpPr>
            <a:spLocks noGrp="1"/>
          </p:cNvSpPr>
          <p:nvPr/>
        </p:nvSpPr>
        <p:spPr>
          <a:xfrm>
            <a:off x="609600" y="6200775"/>
            <a:ext cx="1095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"/>
              </a:rPr>
              <a:t>参考：OpenAI Python SDK：Usage / Clients / Errors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；OpenAI API：Chat Completions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3"/>
              </a:rPr>
              <a:t>；Anthropic：Classification Evals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3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9061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3.1 Python 调用与 HTTP 请求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24625"/>
            <a:ext cx="476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28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43000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Client 将 Python 参数编码为接口约定的请求</a:t>
            </a:r>
            <a:endParaRPr sz="24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105" name="表格 104"/>
          <p:cNvGraphicFramePr/>
          <p:nvPr/>
        </p:nvGraphicFramePr>
        <p:xfrm>
          <a:off x="609600" y="2009775"/>
          <a:ext cx="10972800" cy="3038475"/>
        </p:xfrm>
        <a:graphic>
          <a:graphicData uri="http://schemas.openxmlformats.org/drawingml/2006/table">
            <a:tbl>
              <a:tblPr/>
              <a:tblGrid>
                <a:gridCol w="3933825"/>
                <a:gridCol w="3981450"/>
                <a:gridCol w="3057525"/>
              </a:tblGrid>
              <a:tr h="607695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Python 中的设置</a:t>
                      </a:r>
                      <a:endParaRPr sz="1800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HTTP 请求中的位置</a:t>
                      </a:r>
                      <a:endParaRPr sz="1800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含义</a:t>
                      </a:r>
                      <a:endParaRPr sz="1800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</a:tr>
              <a:tr h="607695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base_url=BASE_URL</a:t>
                      </a:r>
                      <a:endParaRPr sz="180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目标地址与路径前缀</a:t>
                      </a:r>
                      <a:endParaRPr sz="180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向哪个服务发送请求</a:t>
                      </a:r>
                      <a:endParaRPr sz="180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607695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凭据配置</a:t>
                      </a:r>
                      <a:endParaRPr sz="180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Authorization 请求头</a:t>
                      </a:r>
                      <a:endParaRPr sz="180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服务如何识别调用者</a:t>
                      </a:r>
                      <a:endParaRPr sz="180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7695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chat.completions.create(...)</a:t>
                      </a:r>
                      <a:endParaRPr sz="180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POST /v1/chat/completions</a:t>
                      </a:r>
                      <a:endParaRPr sz="180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请求一次聊天生成</a:t>
                      </a:r>
                      <a:endParaRPr sz="180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607695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model / messages / temperature</a:t>
                      </a:r>
                      <a:endParaRPr sz="180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JSON 请求体中的字段</a:t>
                      </a:r>
                      <a:endParaRPr sz="180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模型输入与生成设置</a:t>
                      </a:r>
                      <a:endParaRPr sz="180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6" name="body-1"/>
          <p:cNvSpPr>
            <a:spLocks noGrp="1"/>
          </p:cNvSpPr>
          <p:nvPr/>
        </p:nvSpPr>
        <p:spPr>
          <a:xfrm>
            <a:off x="609600" y="5467350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00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下一页展开这份请求；应用任务和 messages 都保持不变。</a:t>
            </a:r>
            <a:endParaRPr sz="2100" b="0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citation"/>
          <p:cNvSpPr>
            <a:spLocks noGrp="1"/>
          </p:cNvSpPr>
          <p:nvPr/>
        </p:nvSpPr>
        <p:spPr>
          <a:xfrm>
            <a:off x="609600" y="6200775"/>
            <a:ext cx="1095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"/>
              </a:rPr>
              <a:t>参考：OpenAI Python SDK：Usage / Clients / Errors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；OpenAI API：Chat Completions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9061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3.2 一次请求的报文结构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24625"/>
            <a:ext cx="476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29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43000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请求头描述通信属性，请求体承载生成参数</a:t>
            </a:r>
            <a:endParaRPr sz="24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5" name="code-0"/>
          <p:cNvSpPr>
            <a:spLocks noGrp="1"/>
          </p:cNvSpPr>
          <p:nvPr/>
        </p:nvSpPr>
        <p:spPr>
          <a:xfrm>
            <a:off x="609600" y="1847850"/>
            <a:ext cx="7734300" cy="3762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90"/>
              </a:spcAft>
              <a:defRPr sz="172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POST /v1/chat/completions HTTP/1.1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72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Host: model.example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72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Authorization: Bearer &lt;API_KEY&gt;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72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Content-Type: application/json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72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t> </a:t>
            </a:r>
          </a:p>
          <a:p>
            <a:pPr>
              <a:spcBef>
                <a:spcPts val="0"/>
              </a:spcBef>
              <a:spcAft>
                <a:spcPts val="90"/>
              </a:spcAft>
              <a:defRPr sz="172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{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72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172B3A"/>
                </a:solidFill>
              </a:rPr>
              <a:t>  </a:t>
            </a:r>
            <a:r>
              <a:rPr b="0">
                <a:solidFill>
                  <a:srgbClr val="238773"/>
                </a:solidFill>
              </a:rPr>
              <a:t>"model"</a:t>
            </a:r>
            <a:r>
              <a:rPr>
                <a:solidFill>
                  <a:srgbClr val="172B3A"/>
                </a:solidFill>
              </a:rPr>
              <a:t>: </a:t>
            </a:r>
            <a:r>
              <a:rPr b="0">
                <a:solidFill>
                  <a:srgbClr val="238773"/>
                </a:solidFill>
              </a:rPr>
              <a:t>"&lt;MODEL_ID&gt;"</a:t>
            </a:r>
            <a:r>
              <a:rPr b="0">
                <a:solidFill>
                  <a:srgbClr val="172B3A"/>
                </a:solidFill>
              </a:rPr>
              <a:t>,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72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172B3A"/>
                </a:solidFill>
              </a:rPr>
              <a:t>  </a:t>
            </a:r>
            <a:r>
              <a:rPr b="0">
                <a:solidFill>
                  <a:srgbClr val="238773"/>
                </a:solidFill>
              </a:rPr>
              <a:t>"messages"</a:t>
            </a:r>
            <a:r>
              <a:rPr b="0">
                <a:solidFill>
                  <a:srgbClr val="172B3A"/>
                </a:solidFill>
              </a:rPr>
              <a:t>: [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72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172B3A"/>
                </a:solidFill>
              </a:rPr>
              <a:t>    {</a:t>
            </a:r>
            <a:r>
              <a:rPr b="0">
                <a:solidFill>
                  <a:srgbClr val="238773"/>
                </a:solidFill>
              </a:rPr>
              <a:t>"role"</a:t>
            </a:r>
            <a:r>
              <a:rPr>
                <a:solidFill>
                  <a:srgbClr val="172B3A"/>
                </a:solidFill>
              </a:rPr>
              <a:t>: </a:t>
            </a:r>
            <a:r>
              <a:rPr b="0">
                <a:solidFill>
                  <a:srgbClr val="238773"/>
                </a:solidFill>
              </a:rPr>
              <a:t>"system"</a:t>
            </a:r>
            <a:r>
              <a:rPr>
                <a:solidFill>
                  <a:srgbClr val="172B3A"/>
                </a:solidFill>
              </a:rPr>
              <a:t>, </a:t>
            </a:r>
            <a:r>
              <a:rPr b="0">
                <a:solidFill>
                  <a:srgbClr val="238773"/>
                </a:solidFill>
              </a:rPr>
              <a:t>"content"</a:t>
            </a:r>
            <a:r>
              <a:rPr>
                <a:solidFill>
                  <a:srgbClr val="172B3A"/>
                </a:solidFill>
              </a:rPr>
              <a:t>: </a:t>
            </a:r>
            <a:r>
              <a:rPr b="0">
                <a:solidFill>
                  <a:srgbClr val="238773"/>
                </a:solidFill>
              </a:rPr>
              <a:t>"&lt;分类规则&gt;"</a:t>
            </a:r>
            <a:r>
              <a:rPr b="0">
                <a:solidFill>
                  <a:srgbClr val="172B3A"/>
                </a:solidFill>
              </a:rPr>
              <a:t>},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72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172B3A"/>
                </a:solidFill>
              </a:rPr>
              <a:t>    {</a:t>
            </a:r>
            <a:r>
              <a:rPr b="0">
                <a:solidFill>
                  <a:srgbClr val="238773"/>
                </a:solidFill>
              </a:rPr>
              <a:t>"role"</a:t>
            </a:r>
            <a:r>
              <a:rPr>
                <a:solidFill>
                  <a:srgbClr val="172B3A"/>
                </a:solidFill>
              </a:rPr>
              <a:t>: </a:t>
            </a:r>
            <a:r>
              <a:rPr b="0">
                <a:solidFill>
                  <a:srgbClr val="238773"/>
                </a:solidFill>
              </a:rPr>
              <a:t>"user"</a:t>
            </a:r>
            <a:r>
              <a:rPr>
                <a:solidFill>
                  <a:srgbClr val="172B3A"/>
                </a:solidFill>
              </a:rPr>
              <a:t>, </a:t>
            </a:r>
            <a:r>
              <a:rPr b="0">
                <a:solidFill>
                  <a:srgbClr val="238773"/>
                </a:solidFill>
              </a:rPr>
              <a:t>"content"</a:t>
            </a:r>
            <a:r>
              <a:rPr>
                <a:solidFill>
                  <a:srgbClr val="172B3A"/>
                </a:solidFill>
              </a:rPr>
              <a:t>: </a:t>
            </a:r>
            <a:r>
              <a:rPr b="0">
                <a:solidFill>
                  <a:srgbClr val="238773"/>
                </a:solidFill>
              </a:rPr>
              <a:t>"&lt;同一条投诉&gt;"</a:t>
            </a:r>
            <a:r>
              <a:rPr b="0">
                <a:solidFill>
                  <a:srgbClr val="172B3A"/>
                </a:solidFill>
              </a:rPr>
              <a:t>}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72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  ],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72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172B3A"/>
                </a:solidFill>
              </a:rPr>
              <a:t>  </a:t>
            </a:r>
            <a:r>
              <a:rPr b="0">
                <a:solidFill>
                  <a:srgbClr val="238773"/>
                </a:solidFill>
              </a:rPr>
              <a:t>"temperature"</a:t>
            </a:r>
            <a:r>
              <a:rPr b="0">
                <a:solidFill>
                  <a:srgbClr val="172B3A"/>
                </a:solidFill>
              </a:rPr>
              <a:t>: 0.2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72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}</a:t>
            </a:r>
            <a:endParaRPr b="0">
              <a:solidFill>
                <a:srgbClr val="172B3A"/>
              </a:solidFill>
            </a:endParaRPr>
          </a:p>
        </p:txBody>
      </p:sp>
      <p:sp>
        <p:nvSpPr>
          <p:cNvPr id="106" name="body-1"/>
          <p:cNvSpPr>
            <a:spLocks noGrp="1"/>
          </p:cNvSpPr>
          <p:nvPr/>
        </p:nvSpPr>
        <p:spPr>
          <a:xfrm>
            <a:off x="8753475" y="1819275"/>
            <a:ext cx="27241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请求行</a:t>
            </a:r>
            <a:endParaRPr sz="21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body-2"/>
          <p:cNvSpPr>
            <a:spLocks noGrp="1"/>
          </p:cNvSpPr>
          <p:nvPr/>
        </p:nvSpPr>
        <p:spPr>
          <a:xfrm>
            <a:off x="8753475" y="2295525"/>
            <a:ext cx="27241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方法与目标资源</a:t>
            </a:r>
            <a:endParaRPr sz="17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body-3"/>
          <p:cNvSpPr>
            <a:spLocks noGrp="1"/>
          </p:cNvSpPr>
          <p:nvPr/>
        </p:nvSpPr>
        <p:spPr>
          <a:xfrm>
            <a:off x="8753475" y="3114675"/>
            <a:ext cx="27241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请求头</a:t>
            </a:r>
            <a:endParaRPr sz="21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9" name="body-4"/>
          <p:cNvSpPr>
            <a:spLocks noGrp="1"/>
          </p:cNvSpPr>
          <p:nvPr/>
        </p:nvSpPr>
        <p:spPr>
          <a:xfrm>
            <a:off x="8753475" y="3590925"/>
            <a:ext cx="27241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认证信息、内容类型</a:t>
            </a:r>
            <a:endParaRPr sz="17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0" name="body-5"/>
          <p:cNvSpPr>
            <a:spLocks noGrp="1"/>
          </p:cNvSpPr>
          <p:nvPr/>
        </p:nvSpPr>
        <p:spPr>
          <a:xfrm>
            <a:off x="8753475" y="4581525"/>
            <a:ext cx="27241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请求体</a:t>
            </a:r>
            <a:endParaRPr sz="21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1" name="body-6"/>
          <p:cNvSpPr>
            <a:spLocks noGrp="1"/>
          </p:cNvSpPr>
          <p:nvPr/>
        </p:nvSpPr>
        <p:spPr>
          <a:xfrm>
            <a:off x="8753475" y="5057775"/>
            <a:ext cx="2724150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已构造的消息和参数</a:t>
            </a:r>
            <a:endParaRPr sz="17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2" name="citation"/>
          <p:cNvSpPr>
            <a:spLocks noGrp="1"/>
          </p:cNvSpPr>
          <p:nvPr/>
        </p:nvSpPr>
        <p:spPr>
          <a:xfrm>
            <a:off x="609600" y="6200775"/>
            <a:ext cx="1095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"/>
              </a:rPr>
              <a:t>参考：RFC 9110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；OpenAI API：Chat Completions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9061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3.3 API、REST、HTTP 与 JSON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24625"/>
            <a:ext cx="476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30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43000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四个术语描述不同层面的约定</a:t>
            </a:r>
            <a:endParaRPr sz="24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105" name="表格 104"/>
          <p:cNvGraphicFramePr/>
          <p:nvPr/>
        </p:nvGraphicFramePr>
        <p:xfrm>
          <a:off x="609600" y="2000250"/>
          <a:ext cx="10972800" cy="3076575"/>
        </p:xfrm>
        <a:graphic>
          <a:graphicData uri="http://schemas.openxmlformats.org/drawingml/2006/table">
            <a:tbl>
              <a:tblPr/>
              <a:tblGrid>
                <a:gridCol w="1489075"/>
                <a:gridCol w="5381625"/>
                <a:gridCol w="4102100"/>
              </a:tblGrid>
              <a:tr h="615315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术语</a:t>
                      </a:r>
                      <a:endParaRPr sz="1875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它规定什么</a:t>
                      </a:r>
                      <a:endParaRPr sz="1875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与这次调用的关系</a:t>
                      </a:r>
                      <a:endParaRPr sz="1875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</a:tr>
              <a:tr h="615315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API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程序可调用的操作、输入输出和错误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Chat Completions 的接口契约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615315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REST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客户端/服务端、无状态、统一接口等架构约束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解释资源接口与无状态设计取舍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5315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HTTP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方法、状态码、头部和表示传输语义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POST 请求与对应响应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615315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JSON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对象、数组、字符串等数据编码格式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编码 messages 和返回字段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6" name="body-1"/>
          <p:cNvSpPr>
            <a:spLocks noGrp="1"/>
          </p:cNvSpPr>
          <p:nvPr/>
        </p:nvSpPr>
        <p:spPr>
          <a:xfrm>
            <a:off x="609600" y="5486400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75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采用 HTTP 和 JSON 的接口，不会自动满足 REST 的全部约束。</a:t>
            </a:r>
            <a:endParaRPr sz="2175" b="0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citation"/>
          <p:cNvSpPr>
            <a:spLocks noGrp="1"/>
          </p:cNvSpPr>
          <p:nvPr/>
        </p:nvSpPr>
        <p:spPr>
          <a:xfrm>
            <a:off x="609600" y="6200775"/>
            <a:ext cx="1095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"/>
              </a:rPr>
              <a:t>参考：RFC 9110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；Fielding：REST Architecture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3"/>
              </a:rPr>
              <a:t>；RFC 8259：JSON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3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9061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3.4 HTTP 响应与模型结果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24625"/>
            <a:ext cx="476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31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43000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状态码在外层，生成内容与结束原因在响应体</a:t>
            </a:r>
            <a:endParaRPr sz="24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5" name="code-0"/>
          <p:cNvSpPr>
            <a:spLocks noGrp="1"/>
          </p:cNvSpPr>
          <p:nvPr/>
        </p:nvSpPr>
        <p:spPr>
          <a:xfrm>
            <a:off x="609600" y="1866900"/>
            <a:ext cx="7905750" cy="3724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90"/>
              </a:spcAft>
              <a:defRPr sz="172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HTTP/1.1 200 OK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72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Content-Type: application/json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72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x-request-id: &lt;REQUEST_ID&gt;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72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t> </a:t>
            </a:r>
          </a:p>
          <a:p>
            <a:pPr>
              <a:spcBef>
                <a:spcPts val="0"/>
              </a:spcBef>
              <a:spcAft>
                <a:spcPts val="90"/>
              </a:spcAft>
              <a:defRPr sz="172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{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72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172B3A"/>
                </a:solidFill>
              </a:rPr>
              <a:t>  </a:t>
            </a:r>
            <a:r>
              <a:rPr b="0">
                <a:solidFill>
                  <a:srgbClr val="238773"/>
                </a:solidFill>
              </a:rPr>
              <a:t>"choices"</a:t>
            </a:r>
            <a:r>
              <a:rPr b="0">
                <a:solidFill>
                  <a:srgbClr val="172B3A"/>
                </a:solidFill>
              </a:rPr>
              <a:t>: [{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72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172B3A"/>
                </a:solidFill>
              </a:rPr>
              <a:t>    </a:t>
            </a:r>
            <a:r>
              <a:rPr b="0">
                <a:solidFill>
                  <a:srgbClr val="238773"/>
                </a:solidFill>
              </a:rPr>
              <a:t>"message"</a:t>
            </a:r>
            <a:r>
              <a:rPr b="0">
                <a:solidFill>
                  <a:srgbClr val="172B3A"/>
                </a:solidFill>
              </a:rPr>
              <a:t>: {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72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172B3A"/>
                </a:solidFill>
              </a:rPr>
              <a:t>      </a:t>
            </a:r>
            <a:r>
              <a:rPr b="0">
                <a:solidFill>
                  <a:srgbClr val="238773"/>
                </a:solidFill>
              </a:rPr>
              <a:t>"role"</a:t>
            </a:r>
            <a:r>
              <a:rPr>
                <a:solidFill>
                  <a:srgbClr val="172B3A"/>
                </a:solidFill>
              </a:rPr>
              <a:t>: </a:t>
            </a:r>
            <a:r>
              <a:rPr b="0">
                <a:solidFill>
                  <a:srgbClr val="238773"/>
                </a:solidFill>
              </a:rPr>
              <a:t>"assistant"</a:t>
            </a:r>
            <a:r>
              <a:rPr b="0">
                <a:solidFill>
                  <a:srgbClr val="172B3A"/>
                </a:solidFill>
              </a:rPr>
              <a:t>,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72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172B3A"/>
                </a:solidFill>
              </a:rPr>
              <a:t>      </a:t>
            </a:r>
            <a:r>
              <a:rPr b="0">
                <a:solidFill>
                  <a:srgbClr val="238773"/>
                </a:solidFill>
              </a:rPr>
              <a:t>"content"</a:t>
            </a:r>
            <a:r>
              <a:rPr>
                <a:solidFill>
                  <a:srgbClr val="172B3A"/>
                </a:solidFill>
              </a:rPr>
              <a:t>: </a:t>
            </a:r>
            <a:r>
              <a:rPr b="0">
                <a:solidFill>
                  <a:srgbClr val="238773"/>
                </a:solidFill>
              </a:rPr>
              <a:t>"Software Bug, Hardware Malfunction"</a:t>
            </a:r>
            <a:endParaRPr b="0">
              <a:solidFill>
                <a:srgbClr val="238773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72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    },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72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172B3A"/>
                </a:solidFill>
              </a:rPr>
              <a:t>    </a:t>
            </a:r>
            <a:r>
              <a:rPr b="0">
                <a:solidFill>
                  <a:srgbClr val="238773"/>
                </a:solidFill>
              </a:rPr>
              <a:t>"finish_reason"</a:t>
            </a:r>
            <a:r>
              <a:rPr>
                <a:solidFill>
                  <a:srgbClr val="172B3A"/>
                </a:solidFill>
              </a:rPr>
              <a:t>: </a:t>
            </a:r>
            <a:r>
              <a:rPr b="0">
                <a:solidFill>
                  <a:srgbClr val="238773"/>
                </a:solidFill>
              </a:rPr>
              <a:t>"stop"</a:t>
            </a:r>
            <a:endParaRPr b="0">
              <a:solidFill>
                <a:srgbClr val="238773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72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  }]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72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}</a:t>
            </a:r>
            <a:endParaRPr b="0">
              <a:solidFill>
                <a:srgbClr val="172B3A"/>
              </a:solidFill>
            </a:endParaRPr>
          </a:p>
        </p:txBody>
      </p:sp>
      <p:sp>
        <p:nvSpPr>
          <p:cNvPr id="106" name="body-1"/>
          <p:cNvSpPr>
            <a:spLocks noGrp="1"/>
          </p:cNvSpPr>
          <p:nvPr/>
        </p:nvSpPr>
        <p:spPr>
          <a:xfrm>
            <a:off x="8905875" y="1857375"/>
            <a:ext cx="2571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200 OK</a:t>
            </a:r>
            <a:endParaRPr sz="217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body-2"/>
          <p:cNvSpPr>
            <a:spLocks noGrp="1"/>
          </p:cNvSpPr>
          <p:nvPr/>
        </p:nvSpPr>
        <p:spPr>
          <a:xfrm>
            <a:off x="8905875" y="2352675"/>
            <a:ext cx="25717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这次请求成功返回</a:t>
            </a:r>
            <a:endParaRPr sz="17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body-3"/>
          <p:cNvSpPr>
            <a:spLocks noGrp="1"/>
          </p:cNvSpPr>
          <p:nvPr/>
        </p:nvSpPr>
        <p:spPr>
          <a:xfrm>
            <a:off x="8905875" y="3657600"/>
            <a:ext cx="25717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content</a:t>
            </a:r>
            <a:endParaRPr sz="217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9" name="body-4"/>
          <p:cNvSpPr>
            <a:spLocks noGrp="1"/>
          </p:cNvSpPr>
          <p:nvPr/>
        </p:nvSpPr>
        <p:spPr>
          <a:xfrm>
            <a:off x="8905875" y="4133850"/>
            <a:ext cx="25717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需要解析和校验的文本</a:t>
            </a:r>
            <a:endParaRPr sz="17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0" name="body-5"/>
          <p:cNvSpPr>
            <a:spLocks noGrp="1"/>
          </p:cNvSpPr>
          <p:nvPr/>
        </p:nvSpPr>
        <p:spPr>
          <a:xfrm>
            <a:off x="8905875" y="5057775"/>
            <a:ext cx="25717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finish_reason</a:t>
            </a:r>
            <a:endParaRPr sz="195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1" name="body-6"/>
          <p:cNvSpPr>
            <a:spLocks noGrp="1"/>
          </p:cNvSpPr>
          <p:nvPr/>
        </p:nvSpPr>
        <p:spPr>
          <a:xfrm>
            <a:off x="8905875" y="5524500"/>
            <a:ext cx="2571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生成的终止原因</a:t>
            </a:r>
            <a:endParaRPr sz="17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2" name="citation"/>
          <p:cNvSpPr>
            <a:spLocks noGrp="1"/>
          </p:cNvSpPr>
          <p:nvPr/>
        </p:nvSpPr>
        <p:spPr>
          <a:xfrm>
            <a:off x="609600" y="6200775"/>
            <a:ext cx="1095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"/>
              </a:rPr>
              <a:t>参考：RFC 9110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；OpenAI API：Chat Completions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9061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3.5 无状态请求与有状态应用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24625"/>
            <a:ext cx="476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32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43000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无状态接口要求请求提供处理它所需的信息</a:t>
            </a:r>
            <a:endParaRPr sz="24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105" name="表格 104"/>
          <p:cNvGraphicFramePr/>
          <p:nvPr/>
        </p:nvGraphicFramePr>
        <p:xfrm>
          <a:off x="609600" y="1990725"/>
          <a:ext cx="10273030" cy="3076575"/>
        </p:xfrm>
        <a:graphic>
          <a:graphicData uri="http://schemas.openxmlformats.org/drawingml/2006/table">
            <a:tbl>
              <a:tblPr/>
              <a:tblGrid>
                <a:gridCol w="3562985"/>
                <a:gridCol w="6710045"/>
              </a:tblGrid>
              <a:tr h="615315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状态所在位置</a:t>
                      </a:r>
                      <a:endParaRPr sz="1875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保存什么</a:t>
                      </a:r>
                      <a:endParaRPr sz="1875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</a:tr>
              <a:tr h="615315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应用的会话存储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历史消息、用户约束、工具记录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615315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本次 API 请求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选择后的 messages 或受支持的会话引用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5315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HTTP 连接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复用通信通道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615315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推理服务缓存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可复用的模型计算中间结果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6" name="body-1"/>
          <p:cNvSpPr>
            <a:spLocks noGrp="1"/>
          </p:cNvSpPr>
          <p:nvPr/>
        </p:nvSpPr>
        <p:spPr>
          <a:xfrm>
            <a:off x="609600" y="545782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025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显式携带上下文便于分发和重放请求，代价是重复传输与上下文管理。</a:t>
            </a:r>
            <a:endParaRPr sz="2025" b="0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citation"/>
          <p:cNvSpPr>
            <a:spLocks noGrp="1"/>
          </p:cNvSpPr>
          <p:nvPr/>
        </p:nvSpPr>
        <p:spPr>
          <a:xfrm>
            <a:off x="609600" y="6200775"/>
            <a:ext cx="1095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"/>
              </a:rPr>
              <a:t>参考：Fielding：REST Architecture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；OpenAI API：Chat Completions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3"/>
              </a:rPr>
              <a:t>；vLLM：Automatic Prefix Caching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3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9061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3.6 服务端怎样处理这次请求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24625"/>
            <a:ext cx="476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33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43000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接口层、调度器和执行引擎承担不同工作</a:t>
            </a:r>
            <a:endParaRPr sz="24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05" name="图片 1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355882"/>
            <a:ext cx="7038975" cy="2355786"/>
          </a:xfrm>
          <a:prstGeom prst="rect">
            <a:avLst/>
          </a:prstGeom>
        </p:spPr>
      </p:pic>
      <p:sp>
        <p:nvSpPr>
          <p:cNvPr id="106" name="body-1"/>
          <p:cNvSpPr>
            <a:spLocks noGrp="1"/>
          </p:cNvSpPr>
          <p:nvPr/>
        </p:nvSpPr>
        <p:spPr>
          <a:xfrm>
            <a:off x="8096250" y="1895475"/>
            <a:ext cx="33813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接口层</a:t>
            </a:r>
            <a:endParaRPr sz="20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body-2"/>
          <p:cNvSpPr>
            <a:spLocks noGrp="1"/>
          </p:cNvSpPr>
          <p:nvPr/>
        </p:nvSpPr>
        <p:spPr>
          <a:xfrm>
            <a:off x="8096250" y="2314575"/>
            <a:ext cx="338137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解析请求、检查参数</a:t>
            </a:r>
            <a:endParaRPr sz="18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body-3"/>
          <p:cNvSpPr>
            <a:spLocks noGrp="1"/>
          </p:cNvSpPr>
          <p:nvPr/>
        </p:nvSpPr>
        <p:spPr>
          <a:xfrm>
            <a:off x="8096250" y="3143250"/>
            <a:ext cx="33813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调度器</a:t>
            </a:r>
            <a:endParaRPr sz="20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9" name="body-4"/>
          <p:cNvSpPr>
            <a:spLocks noGrp="1"/>
          </p:cNvSpPr>
          <p:nvPr/>
        </p:nvSpPr>
        <p:spPr>
          <a:xfrm>
            <a:off x="8096250" y="3562350"/>
            <a:ext cx="3381375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排队，决定何时进入计算</a:t>
            </a:r>
            <a:endParaRPr sz="18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0" name="body-5"/>
          <p:cNvSpPr>
            <a:spLocks noGrp="1"/>
          </p:cNvSpPr>
          <p:nvPr/>
        </p:nvSpPr>
        <p:spPr>
          <a:xfrm>
            <a:off x="8096250" y="4476750"/>
            <a:ext cx="33813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执行引擎</a:t>
            </a:r>
            <a:endParaRPr sz="20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1" name="body-6"/>
          <p:cNvSpPr>
            <a:spLocks noGrp="1"/>
          </p:cNvSpPr>
          <p:nvPr/>
        </p:nvSpPr>
        <p:spPr>
          <a:xfrm>
            <a:off x="8096250" y="4895850"/>
            <a:ext cx="3381375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运行模型，生成并返回结果</a:t>
            </a:r>
            <a:endParaRPr sz="18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2" name="body-7"/>
          <p:cNvSpPr>
            <a:spLocks noGrp="1"/>
          </p:cNvSpPr>
          <p:nvPr/>
        </p:nvSpPr>
        <p:spPr>
          <a:xfrm>
            <a:off x="609600" y="5772150"/>
            <a:ext cx="109728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50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50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应用看到的等待包含排队与执行；优化 </a:t>
            </a:r>
            <a:r>
              <a:rPr lang="en-US" sz="150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application </a:t>
            </a:r>
            <a:r>
              <a:rPr sz="150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 代码未必能解决服务端等待。</a:t>
            </a:r>
            <a:endParaRPr sz="150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3" name="citation"/>
          <p:cNvSpPr>
            <a:spLocks noGrp="1"/>
          </p:cNvSpPr>
          <p:nvPr/>
        </p:nvSpPr>
        <p:spPr>
          <a:xfrm>
            <a:off x="609600" y="6200775"/>
            <a:ext cx="1095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参考：Orca：OSDI 2022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9061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3.7 超时与重试的语义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24625"/>
            <a:ext cx="476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34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43000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客户端没有收到响应，不一定代表服务端没有执行</a:t>
            </a:r>
            <a:endParaRPr sz="24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105" name="表格 104"/>
          <p:cNvGraphicFramePr/>
          <p:nvPr/>
        </p:nvGraphicFramePr>
        <p:xfrm>
          <a:off x="609600" y="1981200"/>
          <a:ext cx="10972800" cy="2409825"/>
        </p:xfrm>
        <a:graphic>
          <a:graphicData uri="http://schemas.openxmlformats.org/drawingml/2006/table">
            <a:tbl>
              <a:tblPr/>
              <a:tblGrid>
                <a:gridCol w="2333625"/>
                <a:gridCol w="4000500"/>
                <a:gridCol w="4638675"/>
              </a:tblGrid>
              <a:tr h="602456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过程</a:t>
                      </a:r>
                      <a:endParaRPr sz="1950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客户端看到什么</a:t>
                      </a:r>
                      <a:endParaRPr sz="1950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服务端可能发生什么</a:t>
                      </a:r>
                      <a:endParaRPr sz="1950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</a:tr>
              <a:tr h="602456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提交请求</a:t>
                      </a:r>
                      <a:endParaRPr sz="195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请求已发出</a:t>
                      </a:r>
                      <a:endParaRPr sz="195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开始排队或生成</a:t>
                      </a:r>
                      <a:endParaRPr sz="195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602456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响应未及时到达</a:t>
                      </a:r>
                      <a:endParaRPr sz="195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等待超时</a:t>
                      </a:r>
                      <a:endParaRPr sz="195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仍在运行，或已完成但响应丢失</a:t>
                      </a:r>
                      <a:endParaRPr sz="195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2456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重新提交</a:t>
                      </a:r>
                      <a:endParaRPr sz="195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发出另一个 POST</a:t>
                      </a:r>
                      <a:endParaRPr sz="195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再次执行，产生额外工作</a:t>
                      </a:r>
                      <a:endParaRPr sz="195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106" name="body-1"/>
          <p:cNvSpPr>
            <a:spLocks noGrp="1"/>
          </p:cNvSpPr>
          <p:nvPr/>
        </p:nvSpPr>
        <p:spPr>
          <a:xfrm>
            <a:off x="609600" y="4848225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00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应用总期限要覆盖重试与等待；重试策略需要考虑任务是否允许重复。</a:t>
            </a:r>
            <a:endParaRPr sz="2100" b="0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body-2"/>
          <p:cNvSpPr>
            <a:spLocks noGrp="1"/>
          </p:cNvSpPr>
          <p:nvPr/>
        </p:nvSpPr>
        <p:spPr>
          <a:xfrm>
            <a:off x="609600" y="5676900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6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6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POST 不保证幂等；是否支持请求去重，应查具体服务契约。</a:t>
            </a:r>
            <a:endParaRPr sz="16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citation"/>
          <p:cNvSpPr>
            <a:spLocks noGrp="1"/>
          </p:cNvSpPr>
          <p:nvPr/>
        </p:nvSpPr>
        <p:spPr>
          <a:xfrm>
            <a:off x="609600" y="6200775"/>
            <a:ext cx="1095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"/>
              </a:rPr>
              <a:t>参考：OpenAI Python SDK：Usage / Clients / Errors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；RFC 9110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9061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3.8 接口兼容与模型能力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24625"/>
            <a:ext cx="476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35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43000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相同的调用方式，仍需核对服务和模型的约定</a:t>
            </a:r>
            <a:endParaRPr sz="24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105" name="表格 104"/>
          <p:cNvGraphicFramePr/>
          <p:nvPr/>
        </p:nvGraphicFramePr>
        <p:xfrm>
          <a:off x="609600" y="2066925"/>
          <a:ext cx="10972800" cy="2781300"/>
        </p:xfrm>
        <a:graphic>
          <a:graphicData uri="http://schemas.openxmlformats.org/drawingml/2006/table">
            <a:tbl>
              <a:tblPr/>
              <a:tblGrid>
                <a:gridCol w="3238500"/>
                <a:gridCol w="7734300"/>
              </a:tblGrid>
              <a:tr h="55626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检查项</a:t>
                      </a:r>
                      <a:endParaRPr sz="1950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更换服务时可能变化什么</a:t>
                      </a:r>
                      <a:endParaRPr sz="1950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地址与认证</a:t>
                      </a:r>
                      <a:endParaRPr sz="195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base_url、路径前缀、凭据方式</a:t>
                      </a:r>
                      <a:endParaRPr sz="195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模型输入</a:t>
                      </a:r>
                      <a:endParaRPr sz="195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支持的角色、聊天模板、多模态输入格式</a:t>
                      </a:r>
                      <a:endParaRPr sz="195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生成控制</a:t>
                      </a:r>
                      <a:endParaRPr sz="195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temperature、stop、输出长度字段的支持</a:t>
                      </a:r>
                      <a:endParaRPr sz="195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返回行为</a:t>
                      </a:r>
                      <a:endParaRPr sz="195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工具调用、流式事件、usage和错误结构</a:t>
                      </a:r>
                      <a:endParaRPr sz="195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6" name="body-1"/>
          <p:cNvSpPr>
            <a:spLocks noGrp="1"/>
          </p:cNvSpPr>
          <p:nvPr/>
        </p:nvSpPr>
        <p:spPr>
          <a:xfrm>
            <a:off x="609600" y="5324475"/>
            <a:ext cx="109728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025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OpenAI-compatible 通常指一组兼容接口；不代表所有端点、参数和语义完全相同。</a:t>
            </a:r>
            <a:endParaRPr sz="2025" b="0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citation"/>
          <p:cNvSpPr>
            <a:spLocks noGrp="1"/>
          </p:cNvSpPr>
          <p:nvPr/>
        </p:nvSpPr>
        <p:spPr>
          <a:xfrm>
            <a:off x="609600" y="6200775"/>
            <a:ext cx="1095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"/>
              </a:rPr>
              <a:t>参考：vLLM：OpenAI-compatible Serving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；Transformers：Chat Templates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2"/>
            </a:endParaRPr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9061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4.1 完整返回与流式返回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24625"/>
            <a:ext cx="476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36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43000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stream=True 让应用在完整答案之前接收增量事件</a:t>
            </a:r>
            <a:endParaRPr sz="24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105" name="表格 104"/>
          <p:cNvGraphicFramePr/>
          <p:nvPr/>
        </p:nvGraphicFramePr>
        <p:xfrm>
          <a:off x="609600" y="1952625"/>
          <a:ext cx="10972800" cy="1952625"/>
        </p:xfrm>
        <a:graphic>
          <a:graphicData uri="http://schemas.openxmlformats.org/drawingml/2006/table">
            <a:tbl>
              <a:tblPr/>
              <a:tblGrid>
                <a:gridCol w="1788160"/>
                <a:gridCol w="4259580"/>
                <a:gridCol w="4925060"/>
              </a:tblGrid>
              <a:tr h="650875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方式</a:t>
                      </a:r>
                      <a:endParaRPr sz="1950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响应到达时的形态</a:t>
                      </a:r>
                      <a:endParaRPr sz="1950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950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应用怎样消费</a:t>
                      </a:r>
                      <a:endParaRPr sz="1950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完整返回</a:t>
                      </a:r>
                      <a:endParaRPr sz="195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生成结束后得到一个完整结果对象</a:t>
                      </a:r>
                      <a:endParaRPr sz="195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一次读取content，再解析</a:t>
                      </a:r>
                      <a:endParaRPr sz="195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流式返回</a:t>
                      </a:r>
                      <a:endParaRPr sz="195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生成过程中持续收到增量事件</a:t>
                      </a:r>
                      <a:endParaRPr sz="195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95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接收、累积并更新显示，最后确认结束</a:t>
                      </a:r>
                      <a:endParaRPr sz="195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6" name="body-1"/>
          <p:cNvSpPr>
            <a:spLocks noGrp="1"/>
          </p:cNvSpPr>
          <p:nvPr/>
        </p:nvSpPr>
        <p:spPr>
          <a:xfrm>
            <a:off x="609600" y="4324350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9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同一条分类结果的示意</a:t>
            </a:r>
            <a:endParaRPr sz="19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body-2"/>
          <p:cNvSpPr>
            <a:spLocks noGrp="1"/>
          </p:cNvSpPr>
          <p:nvPr/>
        </p:nvSpPr>
        <p:spPr>
          <a:xfrm>
            <a:off x="609600" y="4857750"/>
            <a:ext cx="1097280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00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完整文本：Software Bug, Hardware Malfunction</a:t>
            </a:r>
            <a:endParaRPr sz="2100" b="0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8000"/>
              </a:lnSpc>
              <a:buNone/>
              <a:defRPr sz="2100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增量片段：“Software”　“ Bug,”　“ Hardware”　“ Malfunction”</a:t>
            </a:r>
            <a:endParaRPr sz="2100" b="0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citation"/>
          <p:cNvSpPr>
            <a:spLocks noGrp="1"/>
          </p:cNvSpPr>
          <p:nvPr/>
        </p:nvSpPr>
        <p:spPr>
          <a:xfrm>
            <a:off x="609600" y="6200775"/>
            <a:ext cx="1095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"/>
              </a:rPr>
              <a:t>参考：OpenAI API：Chat Completions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；OpenAI SDK：ChatCompletionChunk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9061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4.2 Prefill、Decode 与逐步输出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24625"/>
            <a:ext cx="476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37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43000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自回归生成天然存在“先读输入，再逐步生成”的过程</a:t>
            </a:r>
            <a:endParaRPr sz="24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05" name="图片 1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51356" y="1952625"/>
            <a:ext cx="3079287" cy="3228975"/>
          </a:xfrm>
          <a:prstGeom prst="rect">
            <a:avLst/>
          </a:prstGeom>
        </p:spPr>
      </p:pic>
      <p:sp>
        <p:nvSpPr>
          <p:cNvPr id="106" name="body-1"/>
          <p:cNvSpPr>
            <a:spLocks noGrp="1"/>
          </p:cNvSpPr>
          <p:nvPr/>
        </p:nvSpPr>
        <p:spPr>
          <a:xfrm>
            <a:off x="7200265" y="2236470"/>
            <a:ext cx="31908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Prefill</a:t>
            </a:r>
            <a:endParaRPr sz="225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body-2"/>
          <p:cNvSpPr>
            <a:spLocks noGrp="1"/>
          </p:cNvSpPr>
          <p:nvPr/>
        </p:nvSpPr>
        <p:spPr>
          <a:xfrm>
            <a:off x="7200265" y="2741295"/>
            <a:ext cx="3190875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处理已有输入上下文</a:t>
            </a:r>
            <a:endParaRPr sz="18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8000"/>
              </a:lnSpc>
              <a:buNone/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准备后续生成所需状态</a:t>
            </a:r>
            <a:endParaRPr sz="18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body-3"/>
          <p:cNvSpPr>
            <a:spLocks noGrp="1"/>
          </p:cNvSpPr>
          <p:nvPr/>
        </p:nvSpPr>
        <p:spPr>
          <a:xfrm>
            <a:off x="7200265" y="3962400"/>
            <a:ext cx="31908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Decode</a:t>
            </a:r>
            <a:endParaRPr sz="225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9" name="body-4"/>
          <p:cNvSpPr>
            <a:spLocks noGrp="1"/>
          </p:cNvSpPr>
          <p:nvPr/>
        </p:nvSpPr>
        <p:spPr>
          <a:xfrm>
            <a:off x="7200265" y="4476750"/>
            <a:ext cx="3190875" cy="1085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根据前文逐步生成token</a:t>
            </a:r>
            <a:endParaRPr sz="18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8000"/>
              </a:lnSpc>
              <a:buNone/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结果可以分批交付给客户端</a:t>
            </a:r>
            <a:endParaRPr sz="18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0" name="body-5"/>
          <p:cNvSpPr>
            <a:spLocks noGrp="1"/>
          </p:cNvSpPr>
          <p:nvPr/>
        </p:nvSpPr>
        <p:spPr>
          <a:xfrm>
            <a:off x="609600" y="5762625"/>
            <a:ext cx="109728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725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iter 1 读入 “I think this”；后续轮次继续使用新生成的 “is”“great”。</a:t>
            </a:r>
            <a:endParaRPr sz="1725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1" name="citation"/>
          <p:cNvSpPr>
            <a:spLocks noGrp="1"/>
          </p:cNvSpPr>
          <p:nvPr/>
        </p:nvSpPr>
        <p:spPr>
          <a:xfrm>
            <a:off x="609600" y="6200775"/>
            <a:ext cx="1095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参考：Orca：OSDI 2022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3"/>
              </a:rPr>
              <a:t>；vLLM：Metrics，Intervals 图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3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9061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4.3 一次请求的时间分解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24625"/>
            <a:ext cx="476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38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43000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首个输出之前的等待，与后续生成间隔不同</a:t>
            </a:r>
            <a:endParaRPr sz="24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05" name="图片 1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6219" y="1685925"/>
            <a:ext cx="3716642" cy="4105275"/>
          </a:xfrm>
          <a:prstGeom prst="rect">
            <a:avLst/>
          </a:prstGeom>
        </p:spPr>
      </p:pic>
      <p:sp>
        <p:nvSpPr>
          <p:cNvPr id="106" name="body-1"/>
          <p:cNvSpPr>
            <a:spLocks noGrp="1"/>
          </p:cNvSpPr>
          <p:nvPr/>
        </p:nvSpPr>
        <p:spPr>
          <a:xfrm>
            <a:off x="6734175" y="2019300"/>
            <a:ext cx="4657725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首个 token 之前</a:t>
            </a:r>
            <a:endParaRPr sz="217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body-2"/>
          <p:cNvSpPr>
            <a:spLocks noGrp="1"/>
          </p:cNvSpPr>
          <p:nvPr/>
        </p:nvSpPr>
        <p:spPr>
          <a:xfrm>
            <a:off x="6734175" y="2638425"/>
            <a:ext cx="4657725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请求到达、排队、Prefill</a:t>
            </a:r>
            <a:endParaRPr sz="19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8000"/>
              </a:lnSpc>
              <a:buNone/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共同影响首个输出前的等待</a:t>
            </a:r>
            <a:endParaRPr sz="19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body-3"/>
          <p:cNvSpPr>
            <a:spLocks noGrp="1"/>
          </p:cNvSpPr>
          <p:nvPr/>
        </p:nvSpPr>
        <p:spPr>
          <a:xfrm>
            <a:off x="6734175" y="4048125"/>
            <a:ext cx="4657725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首个 token 之后</a:t>
            </a:r>
            <a:endParaRPr sz="217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9" name="body-4"/>
          <p:cNvSpPr>
            <a:spLocks noGrp="1"/>
          </p:cNvSpPr>
          <p:nvPr/>
        </p:nvSpPr>
        <p:spPr>
          <a:xfrm>
            <a:off x="6734175" y="4667250"/>
            <a:ext cx="46577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Decode与调度影响输出间隔</a:t>
            </a:r>
            <a:endParaRPr sz="19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8000"/>
              </a:lnSpc>
              <a:buNone/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网络和界面还会增加交付延迟</a:t>
            </a:r>
            <a:endParaRPr sz="19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0" name="body-5"/>
          <p:cNvSpPr>
            <a:spLocks noGrp="1"/>
          </p:cNvSpPr>
          <p:nvPr/>
        </p:nvSpPr>
        <p:spPr>
          <a:xfrm>
            <a:off x="609600" y="5934075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275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75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原图起点在服务端；客户端计时还包含请求传输等开销。</a:t>
            </a:r>
            <a:endParaRPr sz="1275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1" name="citation"/>
          <p:cNvSpPr>
            <a:spLocks noGrp="1"/>
          </p:cNvSpPr>
          <p:nvPr/>
        </p:nvSpPr>
        <p:spPr>
          <a:xfrm>
            <a:off x="609600" y="6200775"/>
            <a:ext cx="1095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参考：vLLM：Metrics，Intervals 图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9061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4.4 TTFT、TPOT 与总等待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24625"/>
            <a:ext cx="476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39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43000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先明确计时边界，再计算和比较指标</a:t>
            </a:r>
            <a:endParaRPr sz="24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105" name="表格 104"/>
          <p:cNvGraphicFramePr/>
          <p:nvPr/>
        </p:nvGraphicFramePr>
        <p:xfrm>
          <a:off x="609600" y="1885950"/>
          <a:ext cx="10972800" cy="1952625"/>
        </p:xfrm>
        <a:graphic>
          <a:graphicData uri="http://schemas.openxmlformats.org/drawingml/2006/table">
            <a:tbl>
              <a:tblPr/>
              <a:tblGrid>
                <a:gridCol w="3394075"/>
                <a:gridCol w="4523740"/>
                <a:gridCol w="3054985"/>
              </a:tblGrid>
              <a:tr h="650875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指标</a:t>
                      </a:r>
                      <a:endParaRPr sz="1800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本页的定义</a:t>
                      </a:r>
                      <a:endParaRPr sz="1800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反映什么</a:t>
                      </a:r>
                      <a:endParaRPr sz="1800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TTFT 首token延迟</a:t>
                      </a:r>
                      <a:endParaRPr sz="180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从提交请求到收到第一个输出token</a:t>
                      </a:r>
                      <a:endParaRPr sz="180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开始看到输出前等多久</a:t>
                      </a:r>
                      <a:endParaRPr sz="180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TPOT 平均每输出token时间</a:t>
                      </a:r>
                      <a:endParaRPr sz="180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首个到最后一个token的时长 / (N − 1)</a:t>
                      </a:r>
                      <a:endParaRPr sz="180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后续输出平均有多快</a:t>
                      </a:r>
                      <a:endParaRPr sz="180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6" name="body-1"/>
          <p:cNvSpPr>
            <a:spLocks noGrp="1"/>
          </p:cNvSpPr>
          <p:nvPr/>
        </p:nvSpPr>
        <p:spPr>
          <a:xfrm>
            <a:off x="609600" y="4267200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到最后一个输出 token 的时长 = TTFT + (N − 1) × TPOT</a:t>
            </a:r>
            <a:endParaRPr sz="225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body-2"/>
          <p:cNvSpPr>
            <a:spLocks noGrp="1"/>
          </p:cNvSpPr>
          <p:nvPr/>
        </p:nvSpPr>
        <p:spPr>
          <a:xfrm>
            <a:off x="609600" y="4914900"/>
            <a:ext cx="10972800" cy="111633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计算示意：</a:t>
            </a:r>
            <a:endParaRPr sz="20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8000"/>
              </a:lnSpc>
              <a:buNone/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输出 token 数 N = 51，TTFT = 0.8 s，TPOT = 0.04 s</a:t>
            </a:r>
            <a:endParaRPr sz="20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8000"/>
              </a:lnSpc>
              <a:buNone/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到最后一个输出 token：0.8 + 50 × 0.04 = 2.8 s</a:t>
            </a:r>
            <a:endParaRPr sz="20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citation"/>
          <p:cNvSpPr>
            <a:spLocks noGrp="1"/>
          </p:cNvSpPr>
          <p:nvPr/>
        </p:nvSpPr>
        <p:spPr>
          <a:xfrm>
            <a:off x="609600" y="6200775"/>
            <a:ext cx="1095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"/>
              </a:rPr>
              <a:t>参考：vLLM：Metrics，Intervals 图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1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9061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4.5 SSE 的事件边界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24625"/>
            <a:ext cx="476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40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43000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一个 HTTP 响应体可以连续承载多个事件</a:t>
            </a:r>
            <a:endParaRPr sz="24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5" name="code-0"/>
          <p:cNvSpPr>
            <a:spLocks noGrp="1"/>
          </p:cNvSpPr>
          <p:nvPr/>
        </p:nvSpPr>
        <p:spPr>
          <a:xfrm>
            <a:off x="609600" y="1838325"/>
            <a:ext cx="8315325" cy="3876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90"/>
              </a:spcAft>
              <a:defRPr sz="15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HTTP/1.1 200 OK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5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Content-Type: text/event-stream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5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t> </a:t>
            </a:r>
          </a:p>
          <a:p>
            <a:pPr>
              <a:spcBef>
                <a:spcPts val="0"/>
              </a:spcBef>
              <a:spcAft>
                <a:spcPts val="90"/>
              </a:spcAft>
              <a:defRPr sz="15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172B3A"/>
                </a:solidFill>
              </a:rPr>
              <a:t>data: {</a:t>
            </a:r>
            <a:r>
              <a:rPr b="0">
                <a:solidFill>
                  <a:srgbClr val="238773"/>
                </a:solidFill>
              </a:rPr>
              <a:t>"choices"</a:t>
            </a:r>
            <a:r>
              <a:rPr>
                <a:solidFill>
                  <a:srgbClr val="172B3A"/>
                </a:solidFill>
              </a:rPr>
              <a:t>:[{</a:t>
            </a:r>
            <a:r>
              <a:rPr b="0">
                <a:solidFill>
                  <a:srgbClr val="238773"/>
                </a:solidFill>
              </a:rPr>
              <a:t>"delta"</a:t>
            </a:r>
            <a:r>
              <a:rPr>
                <a:solidFill>
                  <a:srgbClr val="172B3A"/>
                </a:solidFill>
              </a:rPr>
              <a:t>:{</a:t>
            </a:r>
            <a:r>
              <a:rPr b="0">
                <a:solidFill>
                  <a:srgbClr val="238773"/>
                </a:solidFill>
              </a:rPr>
              <a:t>"content"</a:t>
            </a:r>
            <a:r>
              <a:rPr>
                <a:solidFill>
                  <a:srgbClr val="172B3A"/>
                </a:solidFill>
              </a:rPr>
              <a:t>:</a:t>
            </a:r>
            <a:r>
              <a:rPr b="0">
                <a:solidFill>
                  <a:srgbClr val="238773"/>
                </a:solidFill>
              </a:rPr>
              <a:t>"Software"</a:t>
            </a:r>
            <a:r>
              <a:rPr b="0">
                <a:solidFill>
                  <a:srgbClr val="172B3A"/>
                </a:solidFill>
              </a:rPr>
              <a:t>}}]}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5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t> </a:t>
            </a:r>
          </a:p>
          <a:p>
            <a:pPr>
              <a:spcBef>
                <a:spcPts val="0"/>
              </a:spcBef>
              <a:spcAft>
                <a:spcPts val="90"/>
              </a:spcAft>
              <a:defRPr sz="15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172B3A"/>
                </a:solidFill>
              </a:rPr>
              <a:t>data: {</a:t>
            </a:r>
            <a:r>
              <a:rPr b="0">
                <a:solidFill>
                  <a:srgbClr val="238773"/>
                </a:solidFill>
              </a:rPr>
              <a:t>"choices"</a:t>
            </a:r>
            <a:r>
              <a:rPr>
                <a:solidFill>
                  <a:srgbClr val="172B3A"/>
                </a:solidFill>
              </a:rPr>
              <a:t>:[{</a:t>
            </a:r>
            <a:r>
              <a:rPr b="0">
                <a:solidFill>
                  <a:srgbClr val="238773"/>
                </a:solidFill>
              </a:rPr>
              <a:t>"delta"</a:t>
            </a:r>
            <a:r>
              <a:rPr>
                <a:solidFill>
                  <a:srgbClr val="172B3A"/>
                </a:solidFill>
              </a:rPr>
              <a:t>:{</a:t>
            </a:r>
            <a:r>
              <a:rPr b="0">
                <a:solidFill>
                  <a:srgbClr val="238773"/>
                </a:solidFill>
              </a:rPr>
              <a:t>"content"</a:t>
            </a:r>
            <a:r>
              <a:rPr>
                <a:solidFill>
                  <a:srgbClr val="172B3A"/>
                </a:solidFill>
              </a:rPr>
              <a:t>:</a:t>
            </a:r>
            <a:r>
              <a:rPr b="0">
                <a:solidFill>
                  <a:srgbClr val="238773"/>
                </a:solidFill>
              </a:rPr>
              <a:t>" Bug,"</a:t>
            </a:r>
            <a:r>
              <a:rPr b="0">
                <a:solidFill>
                  <a:srgbClr val="172B3A"/>
                </a:solidFill>
              </a:rPr>
              <a:t>}}]}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5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t> </a:t>
            </a:r>
          </a:p>
          <a:p>
            <a:pPr>
              <a:spcBef>
                <a:spcPts val="0"/>
              </a:spcBef>
              <a:spcAft>
                <a:spcPts val="90"/>
              </a:spcAft>
              <a:defRPr sz="15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172B3A"/>
                </a:solidFill>
              </a:rPr>
              <a:t>data: {</a:t>
            </a:r>
            <a:r>
              <a:rPr b="0">
                <a:solidFill>
                  <a:srgbClr val="238773"/>
                </a:solidFill>
              </a:rPr>
              <a:t>"choices"</a:t>
            </a:r>
            <a:r>
              <a:rPr>
                <a:solidFill>
                  <a:srgbClr val="172B3A"/>
                </a:solidFill>
              </a:rPr>
              <a:t>:[{</a:t>
            </a:r>
            <a:r>
              <a:rPr b="0">
                <a:solidFill>
                  <a:srgbClr val="238773"/>
                </a:solidFill>
              </a:rPr>
              <a:t>"delta"</a:t>
            </a:r>
            <a:r>
              <a:rPr>
                <a:solidFill>
                  <a:srgbClr val="172B3A"/>
                </a:solidFill>
              </a:rPr>
              <a:t>:{</a:t>
            </a:r>
            <a:r>
              <a:rPr b="0">
                <a:solidFill>
                  <a:srgbClr val="238773"/>
                </a:solidFill>
              </a:rPr>
              <a:t>"content"</a:t>
            </a:r>
            <a:r>
              <a:rPr>
                <a:solidFill>
                  <a:srgbClr val="172B3A"/>
                </a:solidFill>
              </a:rPr>
              <a:t>:</a:t>
            </a:r>
            <a:r>
              <a:rPr b="0">
                <a:solidFill>
                  <a:srgbClr val="238773"/>
                </a:solidFill>
              </a:rPr>
              <a:t>" Hardware"</a:t>
            </a:r>
            <a:r>
              <a:rPr b="0">
                <a:solidFill>
                  <a:srgbClr val="172B3A"/>
                </a:solidFill>
              </a:rPr>
              <a:t>}}]}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5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t> </a:t>
            </a:r>
          </a:p>
          <a:p>
            <a:pPr>
              <a:spcBef>
                <a:spcPts val="0"/>
              </a:spcBef>
              <a:spcAft>
                <a:spcPts val="90"/>
              </a:spcAft>
              <a:defRPr sz="15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172B3A"/>
                </a:solidFill>
              </a:rPr>
              <a:t>data: {</a:t>
            </a:r>
            <a:r>
              <a:rPr b="0">
                <a:solidFill>
                  <a:srgbClr val="238773"/>
                </a:solidFill>
              </a:rPr>
              <a:t>"choices"</a:t>
            </a:r>
            <a:r>
              <a:rPr>
                <a:solidFill>
                  <a:srgbClr val="172B3A"/>
                </a:solidFill>
              </a:rPr>
              <a:t>:[{</a:t>
            </a:r>
            <a:r>
              <a:rPr b="0">
                <a:solidFill>
                  <a:srgbClr val="238773"/>
                </a:solidFill>
              </a:rPr>
              <a:t>"delta"</a:t>
            </a:r>
            <a:r>
              <a:rPr>
                <a:solidFill>
                  <a:srgbClr val="172B3A"/>
                </a:solidFill>
              </a:rPr>
              <a:t>:{</a:t>
            </a:r>
            <a:r>
              <a:rPr b="0">
                <a:solidFill>
                  <a:srgbClr val="238773"/>
                </a:solidFill>
              </a:rPr>
              <a:t>"content"</a:t>
            </a:r>
            <a:r>
              <a:rPr>
                <a:solidFill>
                  <a:srgbClr val="172B3A"/>
                </a:solidFill>
              </a:rPr>
              <a:t>:</a:t>
            </a:r>
            <a:r>
              <a:rPr b="0">
                <a:solidFill>
                  <a:srgbClr val="238773"/>
                </a:solidFill>
              </a:rPr>
              <a:t>" Malfunction"</a:t>
            </a:r>
            <a:r>
              <a:rPr b="0">
                <a:solidFill>
                  <a:srgbClr val="172B3A"/>
                </a:solidFill>
              </a:rPr>
              <a:t>}}]}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5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t> </a:t>
            </a:r>
          </a:p>
          <a:p>
            <a:pPr>
              <a:spcBef>
                <a:spcPts val="0"/>
              </a:spcBef>
              <a:spcAft>
                <a:spcPts val="90"/>
              </a:spcAft>
              <a:defRPr sz="15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172B3A"/>
                </a:solidFill>
              </a:rPr>
              <a:t>data: {</a:t>
            </a:r>
            <a:r>
              <a:rPr b="0">
                <a:solidFill>
                  <a:srgbClr val="238773"/>
                </a:solidFill>
              </a:rPr>
              <a:t>"choices"</a:t>
            </a:r>
            <a:r>
              <a:rPr>
                <a:solidFill>
                  <a:srgbClr val="172B3A"/>
                </a:solidFill>
              </a:rPr>
              <a:t>:[{</a:t>
            </a:r>
            <a:r>
              <a:rPr b="0">
                <a:solidFill>
                  <a:srgbClr val="238773"/>
                </a:solidFill>
              </a:rPr>
              <a:t>"delta"</a:t>
            </a:r>
            <a:r>
              <a:rPr>
                <a:solidFill>
                  <a:srgbClr val="172B3A"/>
                </a:solidFill>
              </a:rPr>
              <a:t>:{},</a:t>
            </a:r>
            <a:r>
              <a:rPr b="0">
                <a:solidFill>
                  <a:srgbClr val="238773"/>
                </a:solidFill>
              </a:rPr>
              <a:t>"finish_reason"</a:t>
            </a:r>
            <a:r>
              <a:rPr>
                <a:solidFill>
                  <a:srgbClr val="172B3A"/>
                </a:solidFill>
              </a:rPr>
              <a:t>:</a:t>
            </a:r>
            <a:r>
              <a:rPr b="0">
                <a:solidFill>
                  <a:srgbClr val="238773"/>
                </a:solidFill>
              </a:rPr>
              <a:t>"stop"</a:t>
            </a:r>
            <a:r>
              <a:rPr b="0">
                <a:solidFill>
                  <a:srgbClr val="172B3A"/>
                </a:solidFill>
              </a:rPr>
              <a:t>}]}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5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t> </a:t>
            </a:r>
          </a:p>
          <a:p>
            <a:pPr>
              <a:spcBef>
                <a:spcPts val="0"/>
              </a:spcBef>
              <a:spcAft>
                <a:spcPts val="90"/>
              </a:spcAft>
              <a:defRPr sz="15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data: [DONE]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575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t> </a:t>
            </a:r>
          </a:p>
        </p:txBody>
      </p:sp>
      <p:sp>
        <p:nvSpPr>
          <p:cNvPr id="106" name="body-1"/>
          <p:cNvSpPr>
            <a:spLocks noGrp="1"/>
          </p:cNvSpPr>
          <p:nvPr/>
        </p:nvSpPr>
        <p:spPr>
          <a:xfrm>
            <a:off x="9267825" y="1847850"/>
            <a:ext cx="2219325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响应头只发送一次</a:t>
            </a:r>
            <a:endParaRPr sz="187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body-2"/>
          <p:cNvSpPr>
            <a:spLocks noGrp="1"/>
          </p:cNvSpPr>
          <p:nvPr/>
        </p:nvSpPr>
        <p:spPr>
          <a:xfrm>
            <a:off x="9267825" y="3009900"/>
            <a:ext cx="2219325" cy="1104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data: 后是事件数据</a:t>
            </a:r>
            <a:endParaRPr sz="18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8000"/>
              </a:lnSpc>
              <a:buNone/>
              <a:defRPr sz="18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空行结束一个事件</a:t>
            </a:r>
            <a:endParaRPr sz="18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body-3"/>
          <p:cNvSpPr>
            <a:spLocks noGrp="1"/>
          </p:cNvSpPr>
          <p:nvPr/>
        </p:nvSpPr>
        <p:spPr>
          <a:xfrm>
            <a:off x="9267825" y="4543425"/>
            <a:ext cx="2219325" cy="1009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[DONE] 是此API约定</a:t>
            </a:r>
            <a:endParaRPr sz="17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8000"/>
              </a:lnSpc>
              <a:buNone/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不属于通用SSE标准</a:t>
            </a:r>
            <a:endParaRPr sz="17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9" name="body-4"/>
          <p:cNvSpPr>
            <a:spLocks noGrp="1"/>
          </p:cNvSpPr>
          <p:nvPr/>
        </p:nvSpPr>
        <p:spPr>
          <a:xfrm>
            <a:off x="609600" y="5743575"/>
            <a:ext cx="109728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50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50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协议示意，省略公共字段；网络读取块可以拆开或合并事件，需先恢复事件边界。</a:t>
            </a:r>
            <a:endParaRPr sz="150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0" name="citation"/>
          <p:cNvSpPr>
            <a:spLocks noGrp="1"/>
          </p:cNvSpPr>
          <p:nvPr/>
        </p:nvSpPr>
        <p:spPr>
          <a:xfrm>
            <a:off x="609600" y="6200775"/>
            <a:ext cx="1095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"/>
              </a:rPr>
              <a:t>参考：WHATWG：Server-sent events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；OpenAI SDK：ChatCompletionChunk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3"/>
              </a:rPr>
              <a:t>；OpenAI API：Chat Completions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3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9061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4.6 delta 与结果累积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24625"/>
            <a:ext cx="476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41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43000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delta 只描述本次事件新增的部分</a:t>
            </a:r>
            <a:endParaRPr sz="24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105" name="表格 104"/>
          <p:cNvGraphicFramePr/>
          <p:nvPr/>
        </p:nvGraphicFramePr>
        <p:xfrm>
          <a:off x="609600" y="1905000"/>
          <a:ext cx="10972800" cy="3143250"/>
        </p:xfrm>
        <a:graphic>
          <a:graphicData uri="http://schemas.openxmlformats.org/drawingml/2006/table">
            <a:tbl>
              <a:tblPr/>
              <a:tblGrid>
                <a:gridCol w="1305560"/>
                <a:gridCol w="4504055"/>
                <a:gridCol w="5163185"/>
              </a:tblGrid>
              <a:tr h="523875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事件</a:t>
                      </a:r>
                      <a:endParaRPr sz="1875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delta.content</a:t>
                      </a:r>
                      <a:endParaRPr sz="1875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累计得到的文本</a:t>
                      </a:r>
                      <a:endParaRPr sz="1875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Software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Software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Bug,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Software Bug,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Hardware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Software Bug, Hardware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Malfunction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Software Bug, Hardware Malfunction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结束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无新增内容</a:t>
                      </a:r>
                      <a:r>
                        <a:rPr lang="zh-CN"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</a:t>
                      </a: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finish_reason=stop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保留累计文本，记录结束原因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106" name="body-1"/>
          <p:cNvSpPr>
            <a:spLocks noGrp="1"/>
          </p:cNvSpPr>
          <p:nvPr/>
        </p:nvSpPr>
        <p:spPr>
          <a:xfrm>
            <a:off x="609600" y="5467350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75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token、SSE事件、网络读取块和屏幕刷新不必一一对应。</a:t>
            </a:r>
            <a:endParaRPr sz="2175" b="0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citation"/>
          <p:cNvSpPr>
            <a:spLocks noGrp="1"/>
          </p:cNvSpPr>
          <p:nvPr/>
        </p:nvSpPr>
        <p:spPr>
          <a:xfrm>
            <a:off x="609600" y="6200775"/>
            <a:ext cx="1095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"/>
              </a:rPr>
              <a:t>参考：OpenAI SDK：ChatCompletionChunk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；OpenAI SDK：Streaming helpers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2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9061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4.7 流式消费者的工作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24625"/>
            <a:ext cx="476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42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43000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累积文本、更新显示、保存终止状态</a:t>
            </a:r>
            <a:endParaRPr sz="24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5" name="code-0"/>
          <p:cNvSpPr>
            <a:spLocks noGrp="1"/>
          </p:cNvSpPr>
          <p:nvPr/>
        </p:nvSpPr>
        <p:spPr>
          <a:xfrm>
            <a:off x="609600" y="1952625"/>
            <a:ext cx="7038975" cy="3257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90"/>
              </a:spcAft>
              <a:defRPr sz="180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172B3A"/>
                </a:solidFill>
              </a:rPr>
              <a:t>text = </a:t>
            </a:r>
            <a:r>
              <a:rPr b="0">
                <a:solidFill>
                  <a:srgbClr val="238773"/>
                </a:solidFill>
              </a:rPr>
              <a:t>""</a:t>
            </a:r>
            <a:endParaRPr b="0">
              <a:solidFill>
                <a:srgbClr val="238773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0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172B3A"/>
                </a:solidFill>
              </a:rPr>
              <a:t>reason = </a:t>
            </a:r>
            <a:r>
              <a:rPr b="0">
                <a:solidFill>
                  <a:srgbClr val="003C8B"/>
                </a:solidFill>
              </a:rPr>
              <a:t>None</a:t>
            </a:r>
            <a:endParaRPr b="0">
              <a:solidFill>
                <a:srgbClr val="003C8B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0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003C8B"/>
                </a:solidFill>
              </a:rPr>
              <a:t>for</a:t>
            </a:r>
            <a:r>
              <a:rPr>
                <a:solidFill>
                  <a:srgbClr val="172B3A"/>
                </a:solidFill>
              </a:rPr>
              <a:t> event </a:t>
            </a:r>
            <a:r>
              <a:rPr b="0">
                <a:solidFill>
                  <a:srgbClr val="003C8B"/>
                </a:solidFill>
              </a:rPr>
              <a:t>in</a:t>
            </a:r>
            <a:r>
              <a:rPr b="0">
                <a:solidFill>
                  <a:srgbClr val="172B3A"/>
                </a:solidFill>
              </a:rPr>
              <a:t> stream: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0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172B3A"/>
                </a:solidFill>
              </a:rPr>
              <a:t>    </a:t>
            </a:r>
            <a:r>
              <a:rPr b="0">
                <a:solidFill>
                  <a:srgbClr val="003C8B"/>
                </a:solidFill>
              </a:rPr>
              <a:t>if</a:t>
            </a:r>
            <a:r>
              <a:rPr>
                <a:solidFill>
                  <a:srgbClr val="172B3A"/>
                </a:solidFill>
              </a:rPr>
              <a:t> </a:t>
            </a:r>
            <a:r>
              <a:rPr b="0">
                <a:solidFill>
                  <a:srgbClr val="003C8B"/>
                </a:solidFill>
              </a:rPr>
              <a:t>not</a:t>
            </a:r>
            <a:r>
              <a:rPr b="0">
                <a:solidFill>
                  <a:srgbClr val="172B3A"/>
                </a:solidFill>
              </a:rPr>
              <a:t> event.choices: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0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172B3A"/>
                </a:solidFill>
              </a:rPr>
              <a:t>        </a:t>
            </a:r>
            <a:r>
              <a:rPr b="0">
                <a:solidFill>
                  <a:srgbClr val="003C8B"/>
                </a:solidFill>
              </a:rPr>
              <a:t>continue</a:t>
            </a:r>
            <a:endParaRPr b="0">
              <a:solidFill>
                <a:srgbClr val="003C8B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0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0">
                <a:solidFill>
                  <a:srgbClr val="172B3A"/>
                </a:solidFill>
              </a:rPr>
              <a:t>    choice = event.choices[0]</a:t>
            </a:r>
            <a:endParaRPr b="0">
              <a:solidFill>
                <a:srgbClr val="172B3A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0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003C8B"/>
                </a:solidFill>
              </a:rPr>
              <a:t>    text += choice.delta.content </a:t>
            </a:r>
            <a:r>
              <a:rPr b="1">
                <a:solidFill>
                  <a:srgbClr val="003C8B"/>
                </a:solidFill>
              </a:rPr>
              <a:t>or</a:t>
            </a:r>
            <a:r>
              <a:rPr>
                <a:solidFill>
                  <a:srgbClr val="003C8B"/>
                </a:solidFill>
              </a:rPr>
              <a:t> </a:t>
            </a:r>
            <a:r>
              <a:rPr b="1">
                <a:solidFill>
                  <a:srgbClr val="238773"/>
                </a:solidFill>
              </a:rPr>
              <a:t>""</a:t>
            </a:r>
            <a:endParaRPr b="1">
              <a:solidFill>
                <a:srgbClr val="238773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0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1">
                <a:solidFill>
                  <a:srgbClr val="003C8B"/>
                </a:solidFill>
              </a:rPr>
              <a:t>    render(text)</a:t>
            </a:r>
            <a:endParaRPr b="1">
              <a:solidFill>
                <a:srgbClr val="003C8B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0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>
                <a:solidFill>
                  <a:srgbClr val="003C8B"/>
                </a:solidFill>
              </a:rPr>
              <a:t>    </a:t>
            </a:r>
            <a:r>
              <a:rPr b="1">
                <a:solidFill>
                  <a:srgbClr val="003C8B"/>
                </a:solidFill>
              </a:rPr>
              <a:t>if</a:t>
            </a:r>
            <a:r>
              <a:rPr>
                <a:solidFill>
                  <a:srgbClr val="003C8B"/>
                </a:solidFill>
              </a:rPr>
              <a:t> choice.finish_reason is </a:t>
            </a:r>
            <a:r>
              <a:rPr b="1">
                <a:solidFill>
                  <a:srgbClr val="003C8B"/>
                </a:solidFill>
              </a:rPr>
              <a:t>not</a:t>
            </a:r>
            <a:r>
              <a:rPr>
                <a:solidFill>
                  <a:srgbClr val="003C8B"/>
                </a:solidFill>
              </a:rPr>
              <a:t> </a:t>
            </a:r>
            <a:r>
              <a:rPr b="1">
                <a:solidFill>
                  <a:srgbClr val="003C8B"/>
                </a:solidFill>
              </a:rPr>
              <a:t>None</a:t>
            </a:r>
            <a:r>
              <a:rPr b="1">
                <a:solidFill>
                  <a:srgbClr val="003C8B"/>
                </a:solidFill>
              </a:rPr>
              <a:t>:</a:t>
            </a:r>
            <a:endParaRPr b="1">
              <a:solidFill>
                <a:srgbClr val="003C8B"/>
              </a:solidFill>
            </a:endParaRPr>
          </a:p>
          <a:p>
            <a:pPr>
              <a:spcBef>
                <a:spcPts val="0"/>
              </a:spcBef>
              <a:spcAft>
                <a:spcPts val="90"/>
              </a:spcAft>
              <a:defRPr sz="1800" b="0">
                <a:solidFill>
                  <a:srgbClr val="172B3A"/>
                </a:solidFill>
                <a:latin typeface="Consolas" panose="020B0609020204030204"/>
                <a:ea typeface="微软雅黑" panose="020B0503020204020204" pitchFamily="34" charset="-122"/>
                <a:cs typeface="Consolas" panose="020B0609020204030204"/>
              </a:defRPr>
            </a:pPr>
            <a:r>
              <a:rPr b="1">
                <a:solidFill>
                  <a:srgbClr val="003C8B"/>
                </a:solidFill>
              </a:rPr>
              <a:t>        reason = choice.finish_reason</a:t>
            </a:r>
            <a:endParaRPr b="1">
              <a:solidFill>
                <a:srgbClr val="003C8B"/>
              </a:solidFill>
            </a:endParaRPr>
          </a:p>
        </p:txBody>
      </p:sp>
      <p:sp>
        <p:nvSpPr>
          <p:cNvPr id="106" name="body-1"/>
          <p:cNvSpPr>
            <a:spLocks noGrp="1"/>
          </p:cNvSpPr>
          <p:nvPr/>
        </p:nvSpPr>
        <p:spPr>
          <a:xfrm>
            <a:off x="8143875" y="1895475"/>
            <a:ext cx="327660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累积</a:t>
            </a:r>
            <a:endParaRPr sz="21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body-2"/>
          <p:cNvSpPr>
            <a:spLocks noGrp="1"/>
          </p:cNvSpPr>
          <p:nvPr/>
        </p:nvSpPr>
        <p:spPr>
          <a:xfrm>
            <a:off x="8143875" y="2381250"/>
            <a:ext cx="3276600" cy="866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只追加新增内容</a:t>
            </a:r>
            <a:endParaRPr sz="18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8000"/>
              </a:lnSpc>
              <a:buNone/>
              <a:defRPr sz="18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保留片段中的空格</a:t>
            </a:r>
            <a:endParaRPr sz="18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body-3"/>
          <p:cNvSpPr>
            <a:spLocks noGrp="1"/>
          </p:cNvSpPr>
          <p:nvPr/>
        </p:nvSpPr>
        <p:spPr>
          <a:xfrm>
            <a:off x="8143875" y="3408045"/>
            <a:ext cx="327660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显示</a:t>
            </a:r>
            <a:endParaRPr sz="21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9" name="body-4"/>
          <p:cNvSpPr>
            <a:spLocks noGrp="1"/>
          </p:cNvSpPr>
          <p:nvPr/>
        </p:nvSpPr>
        <p:spPr>
          <a:xfrm>
            <a:off x="8143875" y="3893820"/>
            <a:ext cx="32766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刷新频率可独立于事件到达</a:t>
            </a:r>
            <a:endParaRPr sz="18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0" name="body-5"/>
          <p:cNvSpPr>
            <a:spLocks noGrp="1"/>
          </p:cNvSpPr>
          <p:nvPr/>
        </p:nvSpPr>
        <p:spPr>
          <a:xfrm>
            <a:off x="8143875" y="4735830"/>
            <a:ext cx="327660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完成判断</a:t>
            </a:r>
            <a:endParaRPr sz="21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1" name="body-6"/>
          <p:cNvSpPr>
            <a:spLocks noGrp="1"/>
          </p:cNvSpPr>
          <p:nvPr/>
        </p:nvSpPr>
        <p:spPr>
          <a:xfrm>
            <a:off x="8143875" y="5154930"/>
            <a:ext cx="32766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循环结束后检查 reason</a:t>
            </a:r>
            <a:endParaRPr sz="18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2" name="citation"/>
          <p:cNvSpPr>
            <a:spLocks noGrp="1"/>
          </p:cNvSpPr>
          <p:nvPr/>
        </p:nvSpPr>
        <p:spPr>
          <a:xfrm>
            <a:off x="609600" y="6200775"/>
            <a:ext cx="1095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"/>
              </a:rPr>
              <a:t>参考：OpenAI Python SDK：Usage / Clients / Errors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；OpenAI SDK：ChatCompletionChunk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3"/>
              </a:rPr>
              <a:t>；OpenAI SDK：Streaming helpers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3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9061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4.8 部分结果、完成与可执行结果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24625"/>
            <a:ext cx="476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43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43000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收到一些文字，不足以证明一次任务已经完成</a:t>
            </a:r>
            <a:endParaRPr sz="24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105" name="表格 104"/>
          <p:cNvGraphicFramePr/>
          <p:nvPr/>
        </p:nvGraphicFramePr>
        <p:xfrm>
          <a:off x="609600" y="1981200"/>
          <a:ext cx="10972800" cy="3048000"/>
        </p:xfrm>
        <a:graphic>
          <a:graphicData uri="http://schemas.openxmlformats.org/drawingml/2006/table">
            <a:tbl>
              <a:tblPr/>
              <a:tblGrid>
                <a:gridCol w="2524125"/>
                <a:gridCol w="3829050"/>
                <a:gridCol w="4619625"/>
              </a:tblGrid>
              <a:tr h="60960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当前状态</a:t>
                      </a:r>
                      <a:endParaRPr sz="1800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可以显示什么</a:t>
                      </a:r>
                      <a:endParaRPr sz="1800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是否交给后续程序执行</a:t>
                      </a:r>
                      <a:endParaRPr sz="1800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持续收到片段</a:t>
                      </a:r>
                      <a:endParaRPr sz="180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标识为生成中的内容</a:t>
                      </a:r>
                      <a:endParaRPr sz="180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暂不执行尚未完成的结构化结果</a:t>
                      </a:r>
                      <a:endParaRPr sz="180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正常结束</a:t>
                      </a:r>
                      <a:endParaRPr sz="180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累计结果与结束状态</a:t>
                      </a:r>
                      <a:endParaRPr sz="180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解析和校验通过后再使用</a:t>
                      </a:r>
                      <a:endParaRPr sz="180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达到长度限制</a:t>
                      </a:r>
                      <a:endParaRPr sz="180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明确可能不完整</a:t>
                      </a:r>
                      <a:endParaRPr sz="180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按失败或补救策略处理</a:t>
                      </a:r>
                      <a:endParaRPr sz="180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网络异常中断</a:t>
                      </a:r>
                      <a:endParaRPr sz="180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可保留部分结果供查看</a:t>
                      </a:r>
                      <a:endParaRPr sz="180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不能把断流当作正常完成</a:t>
                      </a:r>
                      <a:endParaRPr sz="180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6" name="body-1"/>
          <p:cNvSpPr>
            <a:spLocks noGrp="1"/>
          </p:cNvSpPr>
          <p:nvPr/>
        </p:nvSpPr>
        <p:spPr>
          <a:xfrm>
            <a:off x="609600" y="5467350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00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HTTP 200 之后仍可能发生中断；终止事件与业务校验必须保留。</a:t>
            </a:r>
            <a:endParaRPr sz="2100" b="0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citation"/>
          <p:cNvSpPr>
            <a:spLocks noGrp="1"/>
          </p:cNvSpPr>
          <p:nvPr/>
        </p:nvSpPr>
        <p:spPr>
          <a:xfrm>
            <a:off x="609600" y="6200775"/>
            <a:ext cx="1095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"/>
              </a:rPr>
              <a:t>参考：OpenAI SDK：ChatCompletionChunk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；OpenAI SDK：Streaming helpers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3"/>
              </a:rPr>
              <a:t>；RFC 9110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3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9061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4.9 缓冲与取消的传播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24625"/>
            <a:ext cx="476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44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43000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服务已生成、客户端已接收、用户已看见是三个时刻</a:t>
            </a:r>
            <a:endParaRPr sz="24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105" name="表格 104"/>
          <p:cNvGraphicFramePr/>
          <p:nvPr/>
        </p:nvGraphicFramePr>
        <p:xfrm>
          <a:off x="609600" y="1952625"/>
          <a:ext cx="10972800" cy="3067050"/>
        </p:xfrm>
        <a:graphic>
          <a:graphicData uri="http://schemas.openxmlformats.org/drawingml/2006/table">
            <a:tbl>
              <a:tblPr/>
              <a:tblGrid>
                <a:gridCol w="2524125"/>
                <a:gridCol w="4000500"/>
                <a:gridCol w="4448175"/>
              </a:tblGrid>
              <a:tr h="61341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位置</a:t>
                      </a:r>
                      <a:endParaRPr sz="1800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可能出现什么</a:t>
                      </a:r>
                      <a:endParaRPr sz="1800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应用如何定位</a:t>
                      </a:r>
                      <a:endParaRPr sz="1800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</a:tr>
              <a:tr h="61341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推理服务</a:t>
                      </a:r>
                      <a:endParaRPr sz="180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逐步生成，但被调度影响</a:t>
                      </a:r>
                      <a:endParaRPr sz="180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查看服务阶段与输出指标</a:t>
                      </a:r>
                      <a:endParaRPr sz="180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61341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代理或传输层</a:t>
                      </a:r>
                      <a:endParaRPr sz="180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缓存片段后集中转发</a:t>
                      </a:r>
                      <a:endParaRPr sz="180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检查流式代理配置与到达时间</a:t>
                      </a:r>
                      <a:endParaRPr sz="180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341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SDK 与界面</a:t>
                      </a:r>
                      <a:endParaRPr sz="180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解析、合并或降低刷新频率</a:t>
                      </a:r>
                      <a:endParaRPr sz="180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分别记录接收与显示时间</a:t>
                      </a:r>
                      <a:endParaRPr sz="180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61341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用户取消后</a:t>
                      </a:r>
                      <a:endParaRPr sz="180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本地停止显示，但上游仍可能运行</a:t>
                      </a:r>
                      <a:endParaRPr sz="180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关闭流，并检查取消是否传到服务</a:t>
                      </a:r>
                      <a:endParaRPr sz="180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6" name="body-1"/>
          <p:cNvSpPr>
            <a:spLocks noGrp="1"/>
          </p:cNvSpPr>
          <p:nvPr/>
        </p:nvSpPr>
        <p:spPr>
          <a:xfrm>
            <a:off x="609600" y="543877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250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停止界面刷新不会自动释放服务器上的生成任务。</a:t>
            </a:r>
            <a:endParaRPr sz="2250" b="0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citation"/>
          <p:cNvSpPr>
            <a:spLocks noGrp="1"/>
          </p:cNvSpPr>
          <p:nvPr/>
        </p:nvSpPr>
        <p:spPr>
          <a:xfrm>
            <a:off x="609600" y="6200775"/>
            <a:ext cx="1095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"/>
              </a:rPr>
              <a:t>参考：NGINX：proxy_buffering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；vLLM：AsyncLLM cancellation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3"/>
              </a:rPr>
              <a:t>；vLLM：Metrics，Intervals 图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3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9061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4.10 Streaming、Async 与并发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24625"/>
            <a:ext cx="476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45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43000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它们分别控制交付、等待和同时在途的工作</a:t>
            </a:r>
            <a:endParaRPr sz="24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105" name="表格 104"/>
          <p:cNvGraphicFramePr/>
          <p:nvPr/>
        </p:nvGraphicFramePr>
        <p:xfrm>
          <a:off x="609600" y="2038350"/>
          <a:ext cx="10972800" cy="2476500"/>
        </p:xfrm>
        <a:graphic>
          <a:graphicData uri="http://schemas.openxmlformats.org/drawingml/2006/table">
            <a:tbl>
              <a:tblPr/>
              <a:tblGrid>
                <a:gridCol w="2552065"/>
                <a:gridCol w="4544060"/>
                <a:gridCol w="3876675"/>
              </a:tblGrid>
              <a:tr h="619125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概念</a:t>
                      </a:r>
                      <a:endParaRPr sz="1875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解决的问题</a:t>
                      </a:r>
                      <a:endParaRPr sz="1875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不会自动带来什么</a:t>
                      </a:r>
                      <a:endParaRPr sz="1875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Streaming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完整答案之前交付部分结果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模型计算量下降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Async / await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等待I/O时允许程序处理其他工作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同一请求的模型运算自动更快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并发请求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同时保持多个请求在途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吞吐随并发数量无限增长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106" name="body-1"/>
          <p:cNvSpPr>
            <a:spLocks noGrp="1"/>
          </p:cNvSpPr>
          <p:nvPr/>
        </p:nvSpPr>
        <p:spPr>
          <a:xfrm>
            <a:off x="609600" y="50482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00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并发过高会增加排队和资源争用；依赖上一轮结果的调用仍需等待必要结果。</a:t>
            </a:r>
            <a:endParaRPr sz="2100" b="0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citation"/>
          <p:cNvSpPr>
            <a:spLocks noGrp="1"/>
          </p:cNvSpPr>
          <p:nvPr/>
        </p:nvSpPr>
        <p:spPr>
          <a:xfrm>
            <a:off x="609600" y="6200775"/>
            <a:ext cx="1095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"/>
              </a:rPr>
              <a:t>参考：Python：Coroutines and tasks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；OpenAI Python SDK：Usage / Clients / Errors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3"/>
              </a:rPr>
              <a:t>；vLLM：Metrics，Intervals 图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3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9061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4.11 延迟优化的目标与取舍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24625"/>
            <a:ext cx="476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46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43000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吞吐、首token等待和后续输出速度需要一起观察</a:t>
            </a:r>
            <a:endParaRPr sz="24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05" name="图片 1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108851"/>
            <a:ext cx="6915150" cy="3230849"/>
          </a:xfrm>
          <a:prstGeom prst="rect">
            <a:avLst/>
          </a:prstGeom>
        </p:spPr>
      </p:pic>
      <p:sp>
        <p:nvSpPr>
          <p:cNvPr id="106" name="body-1"/>
          <p:cNvSpPr>
            <a:spLocks noGrp="1"/>
          </p:cNvSpPr>
          <p:nvPr/>
        </p:nvSpPr>
        <p:spPr>
          <a:xfrm>
            <a:off x="7991475" y="2096135"/>
            <a:ext cx="34766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曲线与坐标</a:t>
            </a:r>
            <a:endParaRPr sz="21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body-2"/>
          <p:cNvSpPr>
            <a:spLocks noGrp="1"/>
          </p:cNvSpPr>
          <p:nvPr/>
        </p:nvSpPr>
        <p:spPr>
          <a:xfrm>
            <a:off x="7991475" y="2667635"/>
            <a:ext cx="3476625" cy="1752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蓝线：Decode批次混入一次Prefill</a:t>
            </a:r>
            <a:endParaRPr sz="17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8000"/>
              </a:lnSpc>
              <a:buNone/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橙线：仅Decode</a:t>
            </a:r>
            <a:endParaRPr sz="17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8000"/>
              </a:lnSpc>
              <a:buNone/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横轴：批次大小</a:t>
            </a:r>
            <a:endParaRPr sz="17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8000"/>
              </a:lnSpc>
              <a:buNone/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纵轴：执行延迟（ms）</a:t>
            </a:r>
            <a:endParaRPr sz="17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body-3"/>
          <p:cNvSpPr>
            <a:spLocks noGrp="1"/>
          </p:cNvSpPr>
          <p:nvPr/>
        </p:nvSpPr>
        <p:spPr>
          <a:xfrm>
            <a:off x="7991475" y="4381500"/>
            <a:ext cx="3476625" cy="1133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左图：输入长度 128</a:t>
            </a:r>
            <a:endParaRPr sz="18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8000"/>
              </a:lnSpc>
              <a:buNone/>
              <a:defRPr sz="18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右图：输入长度 1024</a:t>
            </a:r>
            <a:endParaRPr sz="18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8000"/>
              </a:lnSpc>
              <a:buNone/>
              <a:defRPr sz="18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混合批次的执行延迟更高。</a:t>
            </a:r>
            <a:endParaRPr sz="18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9" name="body-4"/>
          <p:cNvSpPr>
            <a:spLocks noGrp="1"/>
          </p:cNvSpPr>
          <p:nvPr/>
        </p:nvSpPr>
        <p:spPr>
          <a:xfrm>
            <a:off x="609600" y="5753100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575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575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图示为论文实验；应用应结合实际负载观察首输出等待和后续速率。</a:t>
            </a:r>
            <a:endParaRPr sz="1575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0" name="citation"/>
          <p:cNvSpPr>
            <a:spLocks noGrp="1"/>
          </p:cNvSpPr>
          <p:nvPr/>
        </p:nvSpPr>
        <p:spPr>
          <a:xfrm>
            <a:off x="609600" y="6200775"/>
            <a:ext cx="1095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参考：DistServe：OSDI 2024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3"/>
              </a:rPr>
              <a:t>；vLLM：Metrics，Intervals 图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3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9061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4.12 对后续 Agent 系统的支撑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24625"/>
            <a:ext cx="476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47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43000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一次调用的输入、状态和观测会进入更长的执行流程</a:t>
            </a:r>
            <a:endParaRPr sz="24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105" name="表格 104"/>
          <p:cNvGraphicFramePr/>
          <p:nvPr/>
        </p:nvGraphicFramePr>
        <p:xfrm>
          <a:off x="609600" y="2028825"/>
          <a:ext cx="10972800" cy="2933700"/>
        </p:xfrm>
        <a:graphic>
          <a:graphicData uri="http://schemas.openxmlformats.org/drawingml/2006/table">
            <a:tbl>
              <a:tblPr/>
              <a:tblGrid>
                <a:gridCol w="3851275"/>
                <a:gridCol w="7121525"/>
              </a:tblGrid>
              <a:tr h="58674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本讲已建立的概念</a:t>
                      </a:r>
                      <a:endParaRPr sz="1875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后续系统中的用途</a:t>
                      </a:r>
                      <a:endParaRPr sz="1875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messages、历史与证据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Agent Loop组织状态；Memory和RAG补充上下文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内容与结束状态分开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工具调用前检查结果完整性和参数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请求标识、用量与时间边界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Trace定位失败；评估质量、延迟和成本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连接、排队与并发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Serving分析容量和吞吐，控制资源使用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6" name="body-1"/>
          <p:cNvSpPr>
            <a:spLocks noGrp="1"/>
          </p:cNvSpPr>
          <p:nvPr/>
        </p:nvSpPr>
        <p:spPr>
          <a:xfrm>
            <a:off x="609600" y="5400675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100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先把一次调用的边界讲清楚，才能解释多步执行为什么成功、失败或变慢。</a:t>
            </a:r>
            <a:endParaRPr sz="2100" b="0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citation"/>
          <p:cNvSpPr>
            <a:spLocks noGrp="1"/>
          </p:cNvSpPr>
          <p:nvPr/>
        </p:nvSpPr>
        <p:spPr>
          <a:xfrm>
            <a:off x="609600" y="6200775"/>
            <a:ext cx="1095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"/>
              </a:rPr>
              <a:t>参考：Huyen：Building A Generative AI Platform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1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9061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本讲回顾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24625"/>
            <a:ext cx="476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48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43000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按一次请求的过程，检查四个环节</a:t>
            </a:r>
            <a:endParaRPr sz="24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105" name="表格 104"/>
          <p:cNvGraphicFramePr/>
          <p:nvPr/>
        </p:nvGraphicFramePr>
        <p:xfrm>
          <a:off x="609600" y="2047875"/>
          <a:ext cx="10972800" cy="2914650"/>
        </p:xfrm>
        <a:graphic>
          <a:graphicData uri="http://schemas.openxmlformats.org/drawingml/2006/table">
            <a:tbl>
              <a:tblPr/>
              <a:tblGrid>
                <a:gridCol w="3095625"/>
                <a:gridCol w="7877175"/>
              </a:tblGrid>
              <a:tr h="58293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2025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环节</a:t>
                      </a:r>
                      <a:endParaRPr sz="2025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2025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本讲形成的认识</a:t>
                      </a:r>
                      <a:endParaRPr sz="2025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202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Prompt</a:t>
                      </a:r>
                      <a:endParaRPr sz="202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202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明确任务和结果约定，选择必要证据与历史</a:t>
                      </a:r>
                      <a:endParaRPr sz="202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202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Python Client</a:t>
                      </a:r>
                      <a:endParaRPr sz="202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202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控制一次生成，管理连接和等待，读取内容与状态</a:t>
                      </a:r>
                      <a:endParaRPr sz="202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202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REST/API</a:t>
                      </a:r>
                      <a:endParaRPr sz="202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202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区分接口契约、通信语义和数据编码</a:t>
                      </a:r>
                      <a:endParaRPr sz="202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202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Streaming</a:t>
                      </a:r>
                      <a:endParaRPr sz="202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202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累积增量结果，确认完成，分解端到端等待</a:t>
                      </a:r>
                      <a:endParaRPr sz="202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6" name="body-1"/>
          <p:cNvSpPr>
            <a:spLocks noGrp="1"/>
          </p:cNvSpPr>
          <p:nvPr/>
        </p:nvSpPr>
        <p:spPr>
          <a:xfrm>
            <a:off x="609600" y="5419725"/>
            <a:ext cx="109728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025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下一次课：Structured Output、JSON Schema、异常处理与结果解析</a:t>
            </a:r>
            <a:endParaRPr sz="2025" b="0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9061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课外参考资料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24625"/>
            <a:ext cx="476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49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43000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优先阅读的四组资料</a:t>
            </a:r>
            <a:endParaRPr sz="24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5" name="body-0"/>
          <p:cNvSpPr>
            <a:spLocks noGrp="1"/>
          </p:cNvSpPr>
          <p:nvPr/>
        </p:nvSpPr>
        <p:spPr>
          <a:xfrm>
            <a:off x="609600" y="1924050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"/>
              </a:rPr>
              <a:t>Chip Huyen · AI Engineering</a:t>
            </a:r>
            <a:endParaRPr sz="225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1"/>
            </a:endParaRPr>
          </a:p>
        </p:txBody>
      </p:sp>
      <p:sp>
        <p:nvSpPr>
          <p:cNvPr id="106" name="body-1"/>
          <p:cNvSpPr>
            <a:spLocks noGrp="1"/>
          </p:cNvSpPr>
          <p:nvPr/>
        </p:nvSpPr>
        <p:spPr>
          <a:xfrm>
            <a:off x="609600" y="2390775"/>
            <a:ext cx="109728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第2、5、9、10章：生成控制、Prompt、推理优化与应用架构</a:t>
            </a:r>
            <a:endParaRPr sz="18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body-2"/>
          <p:cNvSpPr>
            <a:spLocks noGrp="1"/>
          </p:cNvSpPr>
          <p:nvPr/>
        </p:nvSpPr>
        <p:spPr>
          <a:xfrm>
            <a:off x="609600" y="3000375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Anthropic · Courses</a:t>
            </a:r>
            <a:endParaRPr sz="225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2"/>
            </a:endParaRPr>
          </a:p>
        </p:txBody>
      </p:sp>
      <p:sp>
        <p:nvSpPr>
          <p:cNvPr id="108" name="body-3"/>
          <p:cNvSpPr>
            <a:spLocks noGrp="1"/>
          </p:cNvSpPr>
          <p:nvPr/>
        </p:nvSpPr>
        <p:spPr>
          <a:xfrm>
            <a:off x="609600" y="3467100"/>
            <a:ext cx="109728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Classification Evals 与 Customer Support：输入输出约定和评估迭代</a:t>
            </a:r>
            <a:endParaRPr sz="18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9" name="body-4"/>
          <p:cNvSpPr>
            <a:spLocks noGrp="1"/>
          </p:cNvSpPr>
          <p:nvPr/>
        </p:nvSpPr>
        <p:spPr>
          <a:xfrm>
            <a:off x="609600" y="4076700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3"/>
              </a:rPr>
              <a:t>OpenAI · Python SDK 与 API Reference</a:t>
            </a:r>
            <a:endParaRPr sz="225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3"/>
            </a:endParaRPr>
          </a:p>
        </p:txBody>
      </p:sp>
      <p:sp>
        <p:nvSpPr>
          <p:cNvPr id="110" name="body-5"/>
          <p:cNvSpPr>
            <a:spLocks noGrp="1"/>
          </p:cNvSpPr>
          <p:nvPr/>
        </p:nvSpPr>
        <p:spPr>
          <a:xfrm>
            <a:off x="609600" y="4543425"/>
            <a:ext cx="109728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Client配置、请求响应、生成字段和流式事件</a:t>
            </a:r>
            <a:endParaRPr sz="18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1" name="body-6"/>
          <p:cNvSpPr>
            <a:spLocks noGrp="1"/>
          </p:cNvSpPr>
          <p:nvPr/>
        </p:nvSpPr>
        <p:spPr>
          <a:xfrm>
            <a:off x="609600" y="5153025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4"/>
              </a:rPr>
              <a:t>vLLM · Metrics 与 Serving 文档</a:t>
            </a:r>
            <a:endParaRPr sz="225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4"/>
            </a:endParaRPr>
          </a:p>
        </p:txBody>
      </p:sp>
      <p:sp>
        <p:nvSpPr>
          <p:cNvPr id="112" name="body-7"/>
          <p:cNvSpPr>
            <a:spLocks noGrp="1"/>
          </p:cNvSpPr>
          <p:nvPr/>
        </p:nvSpPr>
        <p:spPr>
          <a:xfrm>
            <a:off x="609600" y="5619750"/>
            <a:ext cx="109728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请求阶段、TTFT/TPOT、服务接口与性能观察</a:t>
            </a:r>
            <a:endParaRPr sz="18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ISLIDE.GUIDESSETTING" val="{&quot;Id&quot;:&quot;90f36d3f-ffec-4fe5-9788-afc451dde4a9&quot;,&quot;Name&quot;:null,&quot;Kind&quot;:&quot;Custom&quot;,&quot;OldGuidesSetting&quot;:{&quot;HeaderHeight&quot;:0.0,&quot;FooterHeight&quot;:0.0,&quot;SideMargin&quot;:0.0,&quot;TopMargin&quot;:0.0,&quot;BottomMargin&quot;:0.0,&quot;IntervalMargin&quot;:0.0}}"/>
</p:tagLst>
</file>

<file path=ppt/theme/theme1.xml><?xml version="1.0" encoding="utf-8"?>
<a:theme xmlns:a="http://schemas.openxmlformats.org/drawingml/2006/main" name="Office 主题​​">
  <a:themeElements>
    <a:clrScheme name="自定义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3C8B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309481"/>
      </a:accent6>
      <a:hlink>
        <a:srgbClr val="0563C1"/>
      </a:hlink>
      <a:folHlink>
        <a:srgbClr val="954F72"/>
      </a:folHlink>
    </a:clrScheme>
    <a:fontScheme name="自定义 1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13135</Words>
  <Application>WPS 演示</Application>
  <PresentationFormat>宽屏</PresentationFormat>
  <Paragraphs>1532</Paragraphs>
  <Slides>49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49</vt:i4>
      </vt:variant>
    </vt:vector>
  </HeadingPairs>
  <TitlesOfParts>
    <vt:vector size="58" baseType="lpstr">
      <vt:lpstr>Arial</vt:lpstr>
      <vt:lpstr>宋体</vt:lpstr>
      <vt:lpstr>Wingdings</vt:lpstr>
      <vt:lpstr>微软雅黑</vt:lpstr>
      <vt:lpstr>Trebuchet MS</vt:lpstr>
      <vt:lpstr>Consolas</vt:lpstr>
      <vt:lpstr>Arial Unicode MS</vt:lpstr>
      <vt:lpstr>Calibri</vt:lpstr>
      <vt:lpstr>Office 主题​​</vt:lpstr>
      <vt:lpstr>LLM Application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苑泽兰</cp:lastModifiedBy>
  <cp:revision>95</cp:revision>
  <dcterms:created xsi:type="dcterms:W3CDTF">2021-12-28T08:11:00Z</dcterms:created>
  <dcterms:modified xsi:type="dcterms:W3CDTF">2026-09-14T13:41:37Z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B57AE2A8B969466CA4131FA5B0769B5E_12</vt:lpwstr>
  </property>
  <property fmtid="{D5CDD505-2E9C-101B-9397-08002B2CF9AE}" pid="3" name="KSOProductBuildVer">
    <vt:lpwstr>2052-12.1.0.28488</vt:lpwstr>
  </property>
</Properties>
</file>