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5814" r:id="rId5"/>
    <p:sldId id="5815" r:id="rId6"/>
    <p:sldId id="5810" r:id="rId7"/>
    <p:sldId id="5825" r:id="rId8"/>
    <p:sldId id="5811" r:id="rId9"/>
    <p:sldId id="5833" r:id="rId10"/>
    <p:sldId id="5826" r:id="rId11"/>
    <p:sldId id="5820" r:id="rId12"/>
    <p:sldId id="5812" r:id="rId13"/>
    <p:sldId id="5831" r:id="rId14"/>
    <p:sldId id="5824" r:id="rId15"/>
    <p:sldId id="5827" r:id="rId16"/>
    <p:sldId id="5813" r:id="rId17"/>
    <p:sldId id="5832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4" userDrawn="1">
          <p15:clr>
            <a:srgbClr val="A4A3A4"/>
          </p15:clr>
        </p15:guide>
        <p15:guide id="2" orient="horz" pos="2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481"/>
    <a:srgbClr val="003C8B"/>
    <a:srgbClr val="D3EEE9"/>
    <a:srgbClr val="22809E"/>
    <a:srgbClr val="3C91A0"/>
    <a:srgbClr val="26599C"/>
    <a:srgbClr val="39B099"/>
    <a:srgbClr val="2A9195"/>
    <a:srgbClr val="ABCFFF"/>
    <a:srgbClr val="8F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13E02BE-4E2E-48DC-A885-C6F41DFFF291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8" autoAdjust="0"/>
    <p:restoredTop sz="95652" autoAdjust="0"/>
  </p:normalViewPr>
  <p:slideViewPr>
    <p:cSldViewPr snapToGrid="0" showGuides="1">
      <p:cViewPr varScale="1">
        <p:scale>
          <a:sx n="105" d="100"/>
          <a:sy n="105" d="100"/>
        </p:scale>
        <p:origin x="1158" y="114"/>
      </p:cViewPr>
      <p:guideLst>
        <p:guide pos="3844"/>
        <p:guide orient="horz" pos="21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27072"/>
            <a:ext cx="11235193" cy="5237265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2" y="6536805"/>
            <a:ext cx="965902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0" y="0"/>
            <a:ext cx="118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alpha val="0"/>
                  </a:schemeClr>
                </a:solidFill>
              </a:rPr>
              <a:t>Yingjie Qi</a:t>
            </a:r>
            <a:endParaRPr lang="zh-CN" altLang="en-US" dirty="0">
              <a:solidFill>
                <a:schemeClr val="tx1">
                  <a:alpha val="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93236"/>
            <a:ext cx="12192000" cy="15273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5400" dirty="0"/>
              <a:t>顶点</a:t>
            </a:r>
            <a:r>
              <a:rPr lang="zh-CN" altLang="en-US" sz="5400"/>
              <a:t>课程期末答辩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600" dirty="0"/>
              <a:t>张若辰、杨柳、石通</a:t>
            </a:r>
            <a:endParaRPr lang="en-US" altLang="zh-CN" sz="3600" dirty="0"/>
          </a:p>
          <a:p>
            <a:r>
              <a:rPr lang="en-US" altLang="zh-CN" sz="2800" dirty="0"/>
              <a:t>2026 </a:t>
            </a:r>
            <a:r>
              <a:rPr lang="zh-CN" altLang="en-US" sz="2800" dirty="0"/>
              <a:t>年 </a:t>
            </a:r>
            <a:r>
              <a:rPr lang="en-US" altLang="zh-CN" sz="2800" dirty="0"/>
              <a:t>1 </a:t>
            </a:r>
            <a:r>
              <a:rPr lang="zh-CN" altLang="en-US" sz="2800" dirty="0"/>
              <a:t>月 </a:t>
            </a:r>
            <a:r>
              <a:rPr lang="en-US" altLang="zh-CN" sz="2800" dirty="0"/>
              <a:t>8 </a:t>
            </a:r>
            <a:r>
              <a:rPr lang="zh-CN" altLang="en-US" sz="2800" dirty="0"/>
              <a:t>日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1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研究背景与意义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094740"/>
            <a:ext cx="8670925" cy="1981200"/>
          </a:xfrm>
        </p:spPr>
        <p:txBody>
          <a:bodyPr/>
          <a:lstStyle/>
          <a:p>
            <a:r>
              <a:rPr lang="zh-CN" altLang="en-US" sz="2000" b="1" dirty="0"/>
              <a:t>为什么要进行端侧部署</a:t>
            </a:r>
            <a:r>
              <a:rPr lang="en-US" altLang="zh-CN" sz="2000" b="1" dirty="0"/>
              <a:t>？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隐私安全</a:t>
            </a:r>
            <a:r>
              <a:rPr lang="en-US" altLang="zh-CN" sz="1800" b="1" dirty="0"/>
              <a:t>：</a:t>
            </a:r>
            <a:r>
              <a:rPr lang="zh-CN" altLang="en-US" sz="1800" dirty="0"/>
              <a:t>规避云端推理带来的</a:t>
            </a:r>
            <a:r>
              <a:rPr lang="zh-CN" altLang="en-US" sz="1800" dirty="0">
                <a:solidFill>
                  <a:srgbClr val="C00000"/>
                </a:solidFill>
              </a:rPr>
              <a:t>隐私泄露</a:t>
            </a:r>
            <a:r>
              <a:rPr lang="zh-CN" altLang="en-US" sz="1800" dirty="0"/>
              <a:t>风险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低延迟响应</a:t>
            </a:r>
            <a:r>
              <a:rPr lang="en-US" altLang="zh-CN" sz="1800" b="1" dirty="0"/>
              <a:t>：</a:t>
            </a:r>
            <a:r>
              <a:rPr lang="zh-CN" altLang="en-US" sz="1800" dirty="0"/>
              <a:t>消除网络传输抖动，在弱网或</a:t>
            </a:r>
            <a:r>
              <a:rPr lang="zh-CN" altLang="en-US" sz="1800" dirty="0">
                <a:solidFill>
                  <a:srgbClr val="C00000"/>
                </a:solidFill>
              </a:rPr>
              <a:t>无网环境</a:t>
            </a:r>
            <a:r>
              <a:rPr lang="zh-CN" altLang="en-US" sz="1800" dirty="0"/>
              <a:t>下实现即时交互</a:t>
            </a:r>
            <a:endParaRPr lang="zh-CN" altLang="en-US" sz="1800" b="1" dirty="0"/>
          </a:p>
          <a:p>
            <a:pPr lvl="1"/>
            <a:r>
              <a:rPr lang="zh-CN" altLang="en-US" sz="1800" b="1" dirty="0"/>
              <a:t>算力去中心化</a:t>
            </a:r>
            <a:r>
              <a:rPr lang="en-US" altLang="zh-CN" sz="1800" b="1" dirty="0"/>
              <a:t>: </a:t>
            </a:r>
            <a:r>
              <a:rPr lang="zh-CN" altLang="en-US" sz="1800" dirty="0"/>
              <a:t>利用</a:t>
            </a:r>
            <a:r>
              <a:rPr lang="zh-CN" altLang="en-US" sz="1800" dirty="0">
                <a:solidFill>
                  <a:srgbClr val="C00000"/>
                </a:solidFill>
              </a:rPr>
              <a:t>本地算力</a:t>
            </a:r>
            <a:r>
              <a:rPr lang="zh-CN" altLang="en-US" sz="1800" dirty="0"/>
              <a:t>，降低对昂贵云端算力的依赖，实现低成本部署</a:t>
            </a:r>
            <a:endParaRPr lang="zh-CN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35" y="3240405"/>
            <a:ext cx="8558530" cy="3169920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遇到的核心瓶颈是什么</a:t>
            </a:r>
            <a:r>
              <a:rPr lang="en-US" altLang="zh-CN" sz="2000" b="1" dirty="0"/>
              <a:t>？</a:t>
            </a:r>
            <a:endParaRPr lang="zh-CN" altLang="en-US" sz="2000" b="1" dirty="0"/>
          </a:p>
          <a:p>
            <a:pPr lvl="1"/>
            <a:r>
              <a:rPr lang="zh-CN" altLang="en-US" sz="1800" b="1" dirty="0"/>
              <a:t>显存墙：</a:t>
            </a:r>
            <a:endParaRPr lang="zh-CN" altLang="en-US" sz="1800" b="1" dirty="0"/>
          </a:p>
          <a:p>
            <a:pPr lvl="2"/>
            <a:r>
              <a:rPr lang="zh-CN" altLang="en-US" sz="1800" dirty="0"/>
              <a:t>小米</a:t>
            </a:r>
            <a:r>
              <a:rPr lang="en-US" altLang="zh-CN" sz="1800" dirty="0"/>
              <a:t> 14 </a:t>
            </a:r>
            <a:r>
              <a:rPr lang="zh-CN" altLang="en-US" sz="1800" dirty="0"/>
              <a:t>内存仅有</a:t>
            </a:r>
            <a:r>
              <a:rPr lang="en-US" altLang="zh-CN" sz="1800" dirty="0"/>
              <a:t>16GB，7B </a:t>
            </a:r>
            <a:r>
              <a:rPr lang="zh-CN" altLang="en-US" sz="1800" dirty="0"/>
              <a:t>模型仅权重就占约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14GB</a:t>
            </a:r>
            <a:r>
              <a:rPr lang="en-US" altLang="zh-CN" sz="1800" dirty="0"/>
              <a:t> (FP16)</a:t>
            </a:r>
            <a:r>
              <a:rPr lang="zh-CN" altLang="en-US" sz="1800" dirty="0"/>
              <a:t>，且</a:t>
            </a:r>
            <a:r>
              <a:rPr lang="en-US" altLang="zh-CN" sz="1800" dirty="0"/>
              <a:t> KV Cache </a:t>
            </a:r>
            <a:r>
              <a:rPr lang="zh-CN" altLang="en-US" sz="1800" dirty="0"/>
              <a:t>随对话长度线性增长，极易导致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OOM</a:t>
            </a:r>
            <a:r>
              <a:rPr lang="en-US" altLang="zh-CN" sz="1800" dirty="0"/>
              <a:t> (</a:t>
            </a:r>
            <a:r>
              <a:rPr lang="zh-CN" altLang="en-US" sz="1800" dirty="0"/>
              <a:t>内存溢出</a:t>
            </a:r>
            <a:r>
              <a:rPr lang="en-US" altLang="zh-CN" sz="1800" dirty="0"/>
              <a:t>)</a:t>
            </a:r>
            <a:endParaRPr lang="en-US" altLang="zh-CN" sz="1800" b="1" dirty="0"/>
          </a:p>
          <a:p>
            <a:pPr lvl="1"/>
            <a:r>
              <a:rPr lang="zh-CN" altLang="en-US" sz="1800" b="1" dirty="0"/>
              <a:t>算力与能耗：</a:t>
            </a:r>
            <a:endParaRPr lang="zh-CN" altLang="en-US" sz="1800" b="1" dirty="0"/>
          </a:p>
          <a:p>
            <a:pPr lvl="2"/>
            <a:r>
              <a:rPr lang="zh-CN" altLang="en-US" sz="1800" dirty="0"/>
              <a:t>手机散热被动，长时间</a:t>
            </a:r>
            <a:r>
              <a:rPr lang="zh-CN" altLang="en-US" sz="1800" dirty="0">
                <a:solidFill>
                  <a:srgbClr val="C00000"/>
                </a:solidFill>
              </a:rPr>
              <a:t>高负载推理</a:t>
            </a:r>
            <a:r>
              <a:rPr lang="zh-CN" altLang="en-US" sz="1800" dirty="0"/>
              <a:t>会导致降频发热</a:t>
            </a:r>
            <a:endParaRPr lang="zh-CN" altLang="en-US" sz="1800" dirty="0"/>
          </a:p>
          <a:p>
            <a:pPr lvl="2"/>
            <a:r>
              <a:rPr lang="zh-CN" altLang="en-US" sz="1800" dirty="0"/>
              <a:t>需在有限的电池容量下</a:t>
            </a:r>
            <a:r>
              <a:rPr lang="zh-CN" altLang="en-US" sz="1800" dirty="0">
                <a:solidFill>
                  <a:srgbClr val="C00000"/>
                </a:solidFill>
              </a:rPr>
              <a:t>平衡</a:t>
            </a:r>
            <a:r>
              <a:rPr lang="zh-CN" altLang="en-US" sz="1800" dirty="0"/>
              <a:t>推理速度（</a:t>
            </a:r>
            <a:r>
              <a:rPr lang="en-US" altLang="zh-CN" sz="1800" dirty="0"/>
              <a:t>Tokens/s</a:t>
            </a:r>
            <a:r>
              <a:rPr lang="zh-CN" altLang="en-US" sz="1800" dirty="0"/>
              <a:t>）与功耗</a:t>
            </a:r>
            <a:endParaRPr lang="zh-CN" altLang="en-US" sz="1800" dirty="0"/>
          </a:p>
        </p:txBody>
      </p:sp>
      <p:pic>
        <p:nvPicPr>
          <p:cNvPr id="9" name="图片 8" descr="/Users/froggy/Library/Containers/com.kingsoft.wpsoffice.mac/Data/tmp/photoeditapp/20260107160329/temp.pngtemp"/>
          <p:cNvPicPr>
            <a:picLocks noChangeAspect="1"/>
          </p:cNvPicPr>
          <p:nvPr/>
        </p:nvPicPr>
        <p:blipFill>
          <a:blip r:embed="rId1"/>
          <a:srcRect r="50667" b="51092"/>
          <a:stretch>
            <a:fillRect/>
          </a:stretch>
        </p:blipFill>
        <p:spPr>
          <a:xfrm>
            <a:off x="8686483" y="875665"/>
            <a:ext cx="3490595" cy="1905635"/>
          </a:xfrm>
          <a:prstGeom prst="rect">
            <a:avLst/>
          </a:prstGeom>
        </p:spPr>
      </p:pic>
      <p:pic>
        <p:nvPicPr>
          <p:cNvPr id="10" name="图片 9" descr="unnamed"/>
          <p:cNvPicPr>
            <a:picLocks noChangeAspect="1"/>
          </p:cNvPicPr>
          <p:nvPr/>
        </p:nvPicPr>
        <p:blipFill>
          <a:blip r:embed="rId2"/>
          <a:srcRect l="50609" b="51350"/>
          <a:stretch>
            <a:fillRect/>
          </a:stretch>
        </p:blipFill>
        <p:spPr>
          <a:xfrm>
            <a:off x="8671560" y="2781300"/>
            <a:ext cx="3520440" cy="1892935"/>
          </a:xfrm>
          <a:prstGeom prst="rect">
            <a:avLst/>
          </a:prstGeom>
        </p:spPr>
      </p:pic>
      <p:pic>
        <p:nvPicPr>
          <p:cNvPr id="12" name="图片 11" descr="/Users/froggy/Library/Containers/com.kingsoft.wpsoffice.mac/Data/tmp/photoeditapp/20260107160342/temp.pngtemp"/>
          <p:cNvPicPr>
            <a:picLocks noChangeAspect="1"/>
          </p:cNvPicPr>
          <p:nvPr/>
        </p:nvPicPr>
        <p:blipFill>
          <a:blip r:embed="rId3"/>
          <a:srcRect l="50000" t="50005"/>
          <a:stretch>
            <a:fillRect/>
          </a:stretch>
        </p:blipFill>
        <p:spPr>
          <a:xfrm>
            <a:off x="8672195" y="4579938"/>
            <a:ext cx="3519805" cy="1920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2</a:t>
                </a:r>
                <a:r>
                  <a:rPr lang="en-US" altLang="zh-CN" sz="2800" b="1" dirty="0"/>
                  <a:t>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 </a:t>
            </a:r>
            <a:r>
              <a:rPr lang="zh-CN" altLang="en-US" dirty="0"/>
              <a:t>研究内容与思路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545" y="1090295"/>
            <a:ext cx="7273290" cy="3494405"/>
          </a:xfrm>
        </p:spPr>
        <p:txBody>
          <a:bodyPr/>
          <a:lstStyle/>
          <a:p>
            <a:pPr algn="l"/>
            <a:r>
              <a:rPr lang="zh-CN" altLang="en-US" sz="2000" b="1" dirty="0"/>
              <a:t>研究目标</a:t>
            </a:r>
            <a:endParaRPr lang="zh-CN" altLang="en-US" sz="2000" b="1" dirty="0"/>
          </a:p>
          <a:p>
            <a:pPr lvl="1"/>
            <a:r>
              <a:rPr lang="zh-CN" altLang="en-US" sz="1800" dirty="0">
                <a:sym typeface="+mn-ea"/>
              </a:rPr>
              <a:t>面向端侧设备资源受限的应用场景，本项目以大语言模型的高效部署与推理为目标，围绕</a:t>
            </a:r>
            <a:r>
              <a:rPr lang="zh-CN" altLang="en-US" sz="1800" dirty="0">
                <a:solidFill>
                  <a:srgbClr val="FF0000"/>
                </a:solidFill>
                <a:sym typeface="+mn-ea"/>
              </a:rPr>
              <a:t>模型微调、推理优化以及端侧应用</a:t>
            </a:r>
            <a:r>
              <a:rPr lang="zh-CN" altLang="en-US" sz="1800" dirty="0">
                <a:sym typeface="+mn-ea"/>
              </a:rPr>
              <a:t>实现开展研究，探索在移动端设备上部署与运行大语言模型的可行性与性能表现</a:t>
            </a:r>
            <a:endParaRPr lang="zh-CN" altLang="en-US" sz="1800" dirty="0">
              <a:sym typeface="+mn-ea"/>
            </a:endParaRPr>
          </a:p>
          <a:p>
            <a:pPr marL="323850" lvl="0" indent="-323850" algn="l"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研究思路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marL="720090" lvl="1" indent="-360045"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tx1"/>
                </a:solidFill>
              </a:rPr>
              <a:t>基于 llama.cpp，实现模型量化、KV Cache 优化以及端侧部署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720090" lvl="1" indent="-360045" algn="l"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tx1"/>
                </a:solidFill>
              </a:rPr>
              <a:t>使用 </a:t>
            </a:r>
            <a:r>
              <a:rPr lang="zh-CN" altLang="en-US" sz="1800" dirty="0">
                <a:solidFill>
                  <a:srgbClr val="FF0000"/>
                </a:solidFill>
              </a:rPr>
              <a:t>LLaMA-Factory</a:t>
            </a:r>
            <a:r>
              <a:rPr lang="zh-CN" altLang="en-US" sz="1800" dirty="0">
                <a:solidFill>
                  <a:schemeClr val="tx1"/>
                </a:solidFill>
              </a:rPr>
              <a:t> 实现大语言模型的参数高效微调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lvl="1"/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研究路线及内容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3020" y="1681480"/>
            <a:ext cx="4231005" cy="3977640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" y="4378960"/>
            <a:ext cx="61214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3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技术实现方案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3.1 </a:t>
            </a:r>
            <a:r>
              <a:rPr lang="zh-CN" altLang="en-US" dirty="0"/>
              <a:t>基于</a:t>
            </a:r>
            <a:r>
              <a:rPr lang="en-US" altLang="zh-CN" dirty="0"/>
              <a:t> LoRA </a:t>
            </a:r>
            <a:r>
              <a:rPr lang="zh-CN" altLang="en-US" dirty="0"/>
              <a:t>的参数高效微调方案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065"/>
            <a:ext cx="9273540" cy="4883785"/>
          </a:xfrm>
        </p:spPr>
        <p:txBody>
          <a:bodyPr/>
          <a:lstStyle/>
          <a:p>
            <a:r>
              <a:rPr lang="zh-CN" altLang="en-US" sz="2000" b="1" dirty="0"/>
              <a:t>微调</a:t>
            </a:r>
            <a:endParaRPr lang="zh-CN" altLang="en-US" sz="2000" b="1" dirty="0"/>
          </a:p>
          <a:p>
            <a:pPr lvl="1"/>
            <a:r>
              <a:rPr lang="zh-CN" altLang="en-US" sz="1800" b="1" dirty="0">
                <a:sym typeface="+mn-ea"/>
              </a:rPr>
              <a:t>微调核心目标</a:t>
            </a:r>
            <a:r>
              <a:rPr lang="zh-CN" altLang="en-US" sz="1800" b="1" dirty="0"/>
              <a:t>：</a:t>
            </a:r>
            <a:endParaRPr lang="zh-CN" altLang="en-US" sz="1800" b="1" dirty="0"/>
          </a:p>
          <a:p>
            <a:pPr lvl="2"/>
            <a:r>
              <a:rPr lang="zh-CN" altLang="en-US" sz="1800" b="1" dirty="0">
                <a:sym typeface="+mn-ea"/>
              </a:rPr>
              <a:t>适配端侧特定任务：</a:t>
            </a:r>
            <a:r>
              <a:rPr lang="zh-CN" altLang="en-US" sz="1800" dirty="0">
                <a:sym typeface="+mn-ea"/>
              </a:rPr>
              <a:t>实现通用大模型向中文现代诗歌创作领域的风格迁移</a:t>
            </a:r>
            <a:endParaRPr lang="zh-CN" altLang="en-US" sz="1800" dirty="0"/>
          </a:p>
          <a:p>
            <a:pPr lvl="2"/>
            <a:r>
              <a:rPr lang="zh-CN" altLang="en-US" sz="1800" b="1" dirty="0">
                <a:sym typeface="+mn-ea"/>
              </a:rPr>
              <a:t>保障轻量化部署：</a:t>
            </a:r>
            <a:r>
              <a:rPr lang="zh-CN" altLang="en-US" sz="1800" dirty="0">
                <a:sym typeface="+mn-ea"/>
              </a:rPr>
              <a:t>仅训练低秩适配器，控制额外显存开销，适配端侧资源限制</a:t>
            </a:r>
            <a:endParaRPr lang="zh-CN" altLang="en-US" sz="1800" dirty="0">
              <a:sym typeface="+mn-ea"/>
            </a:endParaRPr>
          </a:p>
          <a:p>
            <a:pPr lvl="1"/>
            <a:r>
              <a:rPr lang="zh-CN" altLang="en-US" sz="1800" b="1" dirty="0">
                <a:sym typeface="+mn-ea"/>
              </a:rPr>
              <a:t>关键技术选型：</a:t>
            </a:r>
            <a:endParaRPr lang="zh-CN" altLang="en-US" sz="1800" b="1" dirty="0"/>
          </a:p>
          <a:p>
            <a:pPr lvl="2"/>
            <a:r>
              <a:rPr lang="zh-CN" altLang="en-US" sz="1800" b="1" dirty="0">
                <a:sym typeface="+mn-ea"/>
              </a:rPr>
              <a:t>微调框架：</a:t>
            </a:r>
            <a:r>
              <a:rPr lang="zh-CN" altLang="en-US" sz="1800" dirty="0">
                <a:sym typeface="+mn-ea"/>
              </a:rPr>
              <a:t>基于</a:t>
            </a:r>
            <a:r>
              <a:rPr lang="en-US" altLang="zh-CN" sz="1800" dirty="0">
                <a:sym typeface="+mn-ea"/>
              </a:rPr>
              <a:t> LLaMA-Factory </a:t>
            </a:r>
            <a:r>
              <a:rPr lang="zh-CN" altLang="en-US" sz="1800" dirty="0">
                <a:sym typeface="+mn-ea"/>
              </a:rPr>
              <a:t>实现高效训练与全流程适配</a:t>
            </a:r>
            <a:endParaRPr lang="zh-CN" altLang="en-US" sz="1800" dirty="0"/>
          </a:p>
          <a:p>
            <a:pPr lvl="2"/>
            <a:r>
              <a:rPr lang="zh-CN" altLang="en-US" sz="1800" b="1" dirty="0">
                <a:sym typeface="+mn-ea"/>
              </a:rPr>
              <a:t>微调策略：</a:t>
            </a:r>
            <a:r>
              <a:rPr lang="en-US" altLang="zh-CN" sz="1800" dirty="0">
                <a:sym typeface="+mn-ea"/>
              </a:rPr>
              <a:t>LoRA</a:t>
            </a:r>
            <a:r>
              <a:rPr lang="zh-CN" altLang="en-US" sz="1800" dirty="0">
                <a:sym typeface="+mn-ea"/>
              </a:rPr>
              <a:t>参数高效微调，冻结基座模型主体参数</a:t>
            </a:r>
            <a:endParaRPr lang="zh-CN" altLang="en-US" sz="1800" dirty="0"/>
          </a:p>
          <a:p>
            <a:pPr marL="720090" lvl="1" indent="-360045">
              <a:buFont typeface="Wingdings" panose="05000000000000000000" charset="0"/>
              <a:buChar char="u"/>
            </a:pPr>
            <a:r>
              <a:rPr lang="zh-CN" altLang="en-US" sz="1800" b="1" dirty="0">
                <a:solidFill>
                  <a:schemeClr val="tx1"/>
                </a:solidFill>
              </a:rPr>
              <a:t>核心训练参数：</a:t>
            </a:r>
            <a:endParaRPr lang="zh-CN" altLang="en-US" sz="1800" b="1" dirty="0">
              <a:solidFill>
                <a:schemeClr val="tx1"/>
              </a:solidFill>
            </a:endParaRPr>
          </a:p>
          <a:p>
            <a:pPr marL="1115695" lvl="2" indent="-323850"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tx1"/>
                </a:solidFill>
              </a:rPr>
              <a:t>LoRA 配置：</a:t>
            </a:r>
            <a:r>
              <a:rPr lang="zh-CN" altLang="en-US" sz="1800" dirty="0">
                <a:solidFill>
                  <a:schemeClr val="tx1"/>
                </a:solidFill>
              </a:rPr>
              <a:t>秩（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zh-CN" altLang="en-US" sz="1800" dirty="0">
                <a:solidFill>
                  <a:schemeClr val="tx1"/>
                </a:solidFill>
              </a:rPr>
              <a:t>）</a:t>
            </a:r>
            <a:r>
              <a:rPr lang="en-US" altLang="zh-CN" sz="1800" dirty="0">
                <a:solidFill>
                  <a:schemeClr val="tx1"/>
                </a:solidFill>
              </a:rPr>
              <a:t>=8</a:t>
            </a:r>
            <a:r>
              <a:rPr lang="zh-CN" altLang="en-US" sz="1800" dirty="0">
                <a:solidFill>
                  <a:schemeClr val="tx1"/>
                </a:solidFill>
              </a:rPr>
              <a:t>、缩放因子（</a:t>
            </a:r>
            <a:r>
              <a:rPr lang="en-US" altLang="zh-CN" sz="1800" dirty="0">
                <a:solidFill>
                  <a:schemeClr val="tx1"/>
                </a:solidFill>
              </a:rPr>
              <a:t>Alpha</a:t>
            </a:r>
            <a:r>
              <a:rPr lang="zh-CN" altLang="en-US" sz="1800" dirty="0">
                <a:solidFill>
                  <a:schemeClr val="tx1"/>
                </a:solidFill>
              </a:rPr>
              <a:t>）</a:t>
            </a:r>
            <a:r>
              <a:rPr lang="en-US" altLang="zh-CN" sz="1800" dirty="0">
                <a:solidFill>
                  <a:schemeClr val="tx1"/>
                </a:solidFill>
              </a:rPr>
              <a:t>=16</a:t>
            </a:r>
            <a:r>
              <a:rPr lang="zh-CN" altLang="en-US" sz="1800" dirty="0">
                <a:solidFill>
                  <a:schemeClr val="tx1"/>
                </a:solidFill>
              </a:rPr>
              <a:t>、目标模块</a:t>
            </a:r>
            <a:r>
              <a:rPr lang="en-US" altLang="zh-CN" sz="1800" dirty="0">
                <a:solidFill>
                  <a:schemeClr val="tx1"/>
                </a:solidFill>
              </a:rPr>
              <a:t> = </a:t>
            </a:r>
            <a:r>
              <a:rPr lang="zh-CN" altLang="en-US" sz="1800" dirty="0">
                <a:solidFill>
                  <a:schemeClr val="tx1"/>
                </a:solidFill>
              </a:rPr>
              <a:t>所有线性层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1115695" lvl="2" indent="-323850"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tx1"/>
                </a:solidFill>
              </a:rPr>
              <a:t>训练参数：</a:t>
            </a:r>
            <a:r>
              <a:rPr lang="zh-CN" altLang="en-US" sz="1800" dirty="0">
                <a:solidFill>
                  <a:schemeClr val="tx1"/>
                </a:solidFill>
              </a:rPr>
              <a:t>学习率</a:t>
            </a:r>
            <a:r>
              <a:rPr lang="en-US" altLang="zh-CN" sz="1800" dirty="0">
                <a:solidFill>
                  <a:schemeClr val="tx1"/>
                </a:solidFill>
              </a:rPr>
              <a:t> = 1.0e-4</a:t>
            </a:r>
            <a:r>
              <a:rPr lang="zh-CN" altLang="en-US" sz="1800" dirty="0">
                <a:solidFill>
                  <a:schemeClr val="tx1"/>
                </a:solidFill>
              </a:rPr>
              <a:t>、单卡批次大小</a:t>
            </a:r>
            <a:r>
              <a:rPr lang="en-US" altLang="zh-CN" sz="1800" dirty="0">
                <a:solidFill>
                  <a:schemeClr val="tx1"/>
                </a:solidFill>
              </a:rPr>
              <a:t> = 1</a:t>
            </a:r>
            <a:r>
              <a:rPr lang="zh-CN" altLang="en-US" sz="1800" dirty="0">
                <a:solidFill>
                  <a:schemeClr val="tx1"/>
                </a:solidFill>
              </a:rPr>
              <a:t>、梯度累积步数</a:t>
            </a:r>
            <a:r>
              <a:rPr lang="en-US" altLang="zh-CN" sz="1800" dirty="0">
                <a:solidFill>
                  <a:schemeClr val="tx1"/>
                </a:solidFill>
              </a:rPr>
              <a:t> = 8</a:t>
            </a:r>
            <a:r>
              <a:rPr lang="zh-CN" altLang="en-US" sz="1800" dirty="0">
                <a:solidFill>
                  <a:schemeClr val="tx1"/>
                </a:solidFill>
              </a:rPr>
              <a:t>等</a:t>
            </a:r>
            <a:r>
              <a:rPr lang="zh-CN" altLang="en-US" sz="1800" dirty="0">
                <a:solidFill>
                  <a:schemeClr val="tx1"/>
                </a:solidFill>
              </a:rPr>
              <a:t>配置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1665" y="1427480"/>
            <a:ext cx="2268220" cy="15005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665" y="3197225"/>
            <a:ext cx="2268855" cy="1257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665" y="4724400"/>
            <a:ext cx="2268855" cy="1440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3.2 </a:t>
            </a:r>
            <a:r>
              <a:rPr lang="zh-CN" altLang="en-US" dirty="0"/>
              <a:t>基于</a:t>
            </a:r>
            <a:r>
              <a:rPr lang="en-US" altLang="zh-CN" dirty="0"/>
              <a:t> K-Quants </a:t>
            </a:r>
            <a:r>
              <a:rPr lang="zh-CN" altLang="en-US" dirty="0"/>
              <a:t>与</a:t>
            </a:r>
            <a:r>
              <a:rPr lang="en-US" altLang="zh-CN" dirty="0"/>
              <a:t> KV Cache </a:t>
            </a:r>
            <a:r>
              <a:rPr lang="zh-CN" altLang="en-US" dirty="0"/>
              <a:t>压缩的显存优化机制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065"/>
            <a:ext cx="8159750" cy="2743835"/>
          </a:xfrm>
        </p:spPr>
        <p:txBody>
          <a:bodyPr/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静态权重</a:t>
            </a:r>
            <a:r>
              <a:rPr lang="zh-CN" altLang="en-US" sz="2000" b="1" dirty="0"/>
              <a:t>精细化压缩</a:t>
            </a:r>
            <a:r>
              <a:rPr lang="en-US" altLang="zh-CN" sz="2000" b="1" dirty="0"/>
              <a:t>: GGUF Q4_K_M (K-Quants) </a:t>
            </a:r>
            <a:r>
              <a:rPr lang="zh-CN" altLang="en-US" sz="2000" b="1" dirty="0"/>
              <a:t>混合精度策略</a:t>
            </a:r>
            <a:endParaRPr lang="en-US" altLang="zh-CN" sz="2000" b="1" dirty="0"/>
          </a:p>
          <a:p>
            <a:pPr lvl="1"/>
            <a:r>
              <a:rPr lang="zh-CN" altLang="en-US" sz="1800" b="1" dirty="0"/>
              <a:t>技术原理：</a:t>
            </a:r>
            <a:endParaRPr lang="zh-CN" altLang="en-US" sz="1800" b="1" dirty="0"/>
          </a:p>
          <a:p>
            <a:pPr lvl="2"/>
            <a:r>
              <a:rPr lang="zh-CN" altLang="en-US" sz="1800" dirty="0"/>
              <a:t>超级块机制：</a:t>
            </a:r>
            <a:r>
              <a:rPr lang="en-US" altLang="zh-CN" sz="1800" dirty="0"/>
              <a:t>K-Quants </a:t>
            </a:r>
            <a:r>
              <a:rPr lang="zh-CN" altLang="en-US" sz="1800" dirty="0"/>
              <a:t>将权重划分为超级块，并在其中嵌套小块</a:t>
            </a:r>
            <a:endParaRPr lang="zh-CN" altLang="en-US" sz="1800" dirty="0"/>
          </a:p>
          <a:p>
            <a:pPr lvl="2"/>
            <a:r>
              <a:rPr lang="zh-CN" altLang="en-US" sz="1800" dirty="0"/>
              <a:t>混合精度：</a:t>
            </a:r>
            <a:r>
              <a:rPr lang="en-US" altLang="zh-CN" sz="1800" dirty="0"/>
              <a:t>_M </a:t>
            </a:r>
            <a:r>
              <a:rPr lang="zh-CN" altLang="en-US" sz="1800" dirty="0"/>
              <a:t>后缀代表</a:t>
            </a:r>
            <a:r>
              <a:rPr lang="en-US" altLang="zh-CN" sz="1800" dirty="0"/>
              <a:t> "Medium" </a:t>
            </a:r>
            <a:r>
              <a:rPr lang="zh-CN" altLang="en-US" sz="1800" dirty="0"/>
              <a:t>混合策略</a:t>
            </a:r>
            <a:br>
              <a:rPr lang="zh-CN" altLang="en-US" sz="1800" dirty="0"/>
            </a:br>
            <a:r>
              <a:rPr lang="zh-CN" altLang="en-US" sz="1800" dirty="0"/>
              <a:t>关键的</a:t>
            </a:r>
            <a:r>
              <a:rPr lang="en-US" altLang="zh-CN" sz="1800" dirty="0"/>
              <a:t> Attention.wv </a:t>
            </a:r>
            <a:r>
              <a:rPr lang="zh-CN" altLang="en-US" sz="1800" dirty="0"/>
              <a:t>和</a:t>
            </a:r>
            <a:r>
              <a:rPr lang="en-US" altLang="zh-CN" sz="1800" dirty="0"/>
              <a:t> FeedForward.w2 </a:t>
            </a:r>
            <a:r>
              <a:rPr lang="zh-CN" altLang="en-US" sz="1800" dirty="0"/>
              <a:t>张量使用更高精度存储</a:t>
            </a:r>
            <a:endParaRPr lang="zh-CN" altLang="en-US" sz="1800" dirty="0"/>
          </a:p>
          <a:p>
            <a:pPr lvl="1"/>
            <a:r>
              <a:rPr lang="zh-CN" altLang="en-US" sz="1800" b="1" dirty="0"/>
              <a:t>优势：</a:t>
            </a:r>
            <a:r>
              <a:rPr lang="zh-CN" altLang="en-US" sz="1800" dirty="0"/>
              <a:t>显著降低显存的同时，最大程度保留了模型的长尾知识</a:t>
            </a:r>
            <a:endParaRPr lang="zh-CN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-14605" y="3764280"/>
            <a:ext cx="8014335" cy="2604135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rgbClr val="C00000"/>
                </a:solidFill>
              </a:rPr>
              <a:t>动态 KV 缓存</a:t>
            </a:r>
            <a:r>
              <a:rPr lang="zh-CN" altLang="en-US" sz="2000" b="1" dirty="0"/>
              <a:t>压缩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解决</a:t>
            </a:r>
            <a:r>
              <a:rPr lang="zh-CN" altLang="en-US" sz="2000" b="1" dirty="0"/>
              <a:t>推理阶段长文本推理瓶颈</a:t>
            </a:r>
            <a:endParaRPr lang="zh-CN" altLang="en-US" sz="1800" b="1" dirty="0"/>
          </a:p>
          <a:p>
            <a:pPr lvl="1" algn="l"/>
            <a:r>
              <a:rPr lang="zh-CN" altLang="en-US" sz="1800" b="1" dirty="0"/>
              <a:t>技术原理：</a:t>
            </a:r>
            <a:endParaRPr lang="zh-CN" altLang="en-US" sz="1800" b="1" dirty="0"/>
          </a:p>
          <a:p>
            <a:pPr lvl="2" algn="l"/>
            <a:r>
              <a:rPr lang="zh-CN" altLang="en-US" sz="1800" b="1" dirty="0"/>
              <a:t>动态量化：</a:t>
            </a:r>
            <a:r>
              <a:rPr lang="zh-CN" altLang="en-US" sz="1800" dirty="0"/>
              <a:t>不同于静态权重，KV Cache 是推理时生成的</a:t>
            </a:r>
            <a:endParaRPr lang="zh-CN" altLang="en-US" sz="1800" b="1" dirty="0"/>
          </a:p>
          <a:p>
            <a:pPr lvl="2" algn="l"/>
            <a:r>
              <a:rPr lang="zh-CN" altLang="en-US" sz="1800" b="1" dirty="0"/>
              <a:t>算子级优化：</a:t>
            </a:r>
            <a:r>
              <a:rPr lang="zh-CN" altLang="en-US" sz="1800" dirty="0"/>
              <a:t>利用 SIMD 指令集 (ARM NEON) 在端侧实现高效的反量化计算核，确保在 MatMul 计算前一刻才将数据还原为 FP16</a:t>
            </a:r>
            <a:endParaRPr lang="zh-CN" altLang="en-US" sz="1800" dirty="0"/>
          </a:p>
        </p:txBody>
      </p:sp>
      <p:pic>
        <p:nvPicPr>
          <p:cNvPr id="10" name="图片 9" descr="unnamed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730" y="979170"/>
            <a:ext cx="4192270" cy="2288540"/>
          </a:xfrm>
          <a:prstGeom prst="rect">
            <a:avLst/>
          </a:prstGeom>
        </p:spPr>
      </p:pic>
      <p:pic>
        <p:nvPicPr>
          <p:cNvPr id="11" name="图片 10" descr="unnamed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730" y="3769360"/>
            <a:ext cx="4192270" cy="2288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3.3 </a:t>
            </a:r>
            <a:r>
              <a:rPr lang="zh-CN" altLang="en-US" dirty="0"/>
              <a:t>基于</a:t>
            </a:r>
            <a:r>
              <a:rPr lang="en-US" altLang="zh-CN" dirty="0"/>
              <a:t> llama.android </a:t>
            </a:r>
            <a:r>
              <a:rPr lang="zh-CN" altLang="en-US" dirty="0"/>
              <a:t>的端侧应用部署方案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865" y="1243965"/>
            <a:ext cx="7646670" cy="4530090"/>
          </a:xfrm>
        </p:spPr>
        <p:txBody>
          <a:bodyPr/>
          <a:lstStyle/>
          <a:p>
            <a:r>
              <a:rPr lang="zh-CN" altLang="en-US" sz="2000" b="1" dirty="0"/>
              <a:t>基于 llama.android 的端侧部署框架</a:t>
            </a:r>
            <a:endParaRPr lang="zh-CN" altLang="en-US" sz="2000" b="1" dirty="0"/>
          </a:p>
          <a:p>
            <a:pPr lvl="1"/>
            <a:r>
              <a:rPr lang="zh-CN" altLang="en-US" sz="1800" dirty="0">
                <a:solidFill>
                  <a:schemeClr val="tx1"/>
                </a:solidFill>
              </a:rPr>
              <a:t>基于 llama.android 构建 Android 端大语言模型应用，通过 JNI 实现 Android 应用层与底层 llama.cpp 推理引擎 的高效交互，支持模型加载、文本输入、推理生成与结果回传等完整流程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323850" lvl="0" indent="-323850" algn="l"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模型加载与推理流程设计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marL="720090" lvl="1" indent="-360045" algn="l">
              <a:buChar char="u"/>
            </a:pPr>
            <a:r>
              <a:rPr lang="zh-CN" altLang="en-US" sz="1800" dirty="0">
                <a:solidFill>
                  <a:schemeClr val="tx1"/>
                </a:solidFill>
              </a:rPr>
              <a:t>端侧应用加载 GGUF 格式的量化模型（如</a:t>
            </a:r>
            <a:r>
              <a:rPr lang="zh-CN" altLang="en-US" sz="1800" dirty="0">
                <a:solidFill>
                  <a:schemeClr val="tx1"/>
                </a:solidFill>
              </a:rPr>
              <a:t> Q4_K_M），在保证推理精度的前提下显著降低模型体积与内存占用，实现大语言模型在移动设备上的可运行性。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lvl="0" algn="l"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离线推理与应用场景支持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lvl="1" algn="l">
              <a:buChar char="u"/>
            </a:pPr>
            <a:r>
              <a:rPr lang="zh-CN" altLang="en-US" sz="1800" dirty="0">
                <a:solidFill>
                  <a:schemeClr val="tx1"/>
                </a:solidFill>
              </a:rPr>
              <a:t>系统支持在 无网络环境 下进行本地推理，具备良好的隐私保护与稳定性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lvl="2" algn="l"/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8984298" y="1305560"/>
            <a:ext cx="2685415" cy="584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用户</a:t>
            </a:r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984298" y="2343785"/>
            <a:ext cx="2685415" cy="584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Android UI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8984298" y="3377565"/>
            <a:ext cx="2685415" cy="584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JNI 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984298" y="4411345"/>
            <a:ext cx="2685415" cy="584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llama.cpp </a:t>
            </a:r>
            <a:r>
              <a:rPr lang="zh-CN" altLang="en-US"/>
              <a:t>推理引擎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984298" y="5473700"/>
            <a:ext cx="2685415" cy="584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本地模型</a:t>
            </a:r>
            <a:r>
              <a:rPr lang="zh-CN" altLang="en-US"/>
              <a:t>输出</a:t>
            </a: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9978390" y="2020570"/>
            <a:ext cx="485775" cy="241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9978390" y="3009900"/>
            <a:ext cx="485775" cy="241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9978390" y="4088130"/>
            <a:ext cx="485775" cy="241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9978390" y="5114290"/>
            <a:ext cx="485775" cy="2419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4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实验与成果展示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4.1 </a:t>
            </a:r>
            <a:r>
              <a:rPr lang="zh-CN" altLang="en-US" dirty="0"/>
              <a:t>实验结果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890905"/>
            <a:ext cx="5727700" cy="1753870"/>
          </a:xfrm>
        </p:spPr>
        <p:txBody>
          <a:bodyPr/>
          <a:lstStyle/>
          <a:p>
            <a:r>
              <a:rPr lang="zh-CN" altLang="en-US" sz="2000" b="1" dirty="0"/>
              <a:t>微调效果验证与端侧适配性</a:t>
            </a:r>
            <a:endParaRPr lang="zh-CN" altLang="en-US" sz="2000" b="1" dirty="0"/>
          </a:p>
          <a:p>
            <a:pPr lvl="1"/>
            <a:r>
              <a:rPr lang="zh-CN" altLang="en-US" sz="1800" b="1" dirty="0"/>
              <a:t>仍然适配端测部署：</a:t>
            </a:r>
            <a:endParaRPr lang="zh-CN" altLang="en-US" sz="1800" b="1" dirty="0"/>
          </a:p>
          <a:p>
            <a:pPr lvl="2"/>
            <a:r>
              <a:rPr lang="zh-CN" altLang="en-US" sz="1800" b="1" dirty="0"/>
              <a:t>适配器体积：仅</a:t>
            </a:r>
            <a:r>
              <a:rPr lang="en-US" altLang="zh-CN" sz="1800" b="1" dirty="0"/>
              <a:t> 60MB</a:t>
            </a:r>
            <a:r>
              <a:rPr lang="zh-CN" altLang="en-US" sz="1800" b="1" dirty="0"/>
              <a:t>，无额外显存开销</a:t>
            </a:r>
            <a:endParaRPr lang="zh-CN" altLang="en-US" sz="1800" b="1" dirty="0"/>
          </a:p>
          <a:p>
            <a:pPr marL="720090" lvl="1" indent="-360045">
              <a:buFont typeface="Wingdings" panose="05000000000000000000" charset="0"/>
              <a:buChar char="u"/>
            </a:pPr>
            <a:r>
              <a:rPr lang="zh-CN" altLang="en-US" sz="1800" b="1" dirty="0">
                <a:solidFill>
                  <a:schemeClr val="tx1"/>
                </a:solidFill>
              </a:rPr>
              <a:t>主观效果对比：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935" y="3860800"/>
            <a:ext cx="3900805" cy="1409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3074670"/>
            <a:ext cx="4404995" cy="33248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145" y="3625215"/>
            <a:ext cx="3740150" cy="2519045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353695" y="2734945"/>
            <a:ext cx="412242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微调前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4942205" y="3444240"/>
            <a:ext cx="412242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微调后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lo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475" y="1522730"/>
            <a:ext cx="3011170" cy="2258695"/>
          </a:xfrm>
          <a:prstGeom prst="rect">
            <a:avLst/>
          </a:prstGeom>
        </p:spPr>
      </p:pic>
      <p:sp>
        <p:nvSpPr>
          <p:cNvPr id="15" name="Content Placeholder 2"/>
          <p:cNvSpPr>
            <a:spLocks noGrp="1"/>
          </p:cNvSpPr>
          <p:nvPr/>
        </p:nvSpPr>
        <p:spPr>
          <a:xfrm>
            <a:off x="9403080" y="996315"/>
            <a:ext cx="2091055" cy="491490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客观指标：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890905"/>
            <a:ext cx="8093710" cy="2460625"/>
          </a:xfrm>
        </p:spPr>
        <p:txBody>
          <a:bodyPr/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KV Cache </a:t>
            </a:r>
            <a:r>
              <a:rPr lang="zh-CN" altLang="en-US" sz="2000" b="1" dirty="0">
                <a:solidFill>
                  <a:srgbClr val="C00000"/>
                </a:solidFill>
              </a:rPr>
              <a:t>量化</a:t>
            </a:r>
            <a:r>
              <a:rPr lang="zh-CN" altLang="en-US" sz="2000" b="1" dirty="0"/>
              <a:t>收益</a:t>
            </a:r>
            <a:r>
              <a:rPr lang="en-US" altLang="zh-CN" sz="2000" b="1" dirty="0"/>
              <a:t>：</a:t>
            </a:r>
            <a:r>
              <a:rPr lang="zh-CN" altLang="en-US" sz="2000" b="1" dirty="0"/>
              <a:t>打破长文本显存瓶颈，且不损失推理速度。</a:t>
            </a:r>
            <a:endParaRPr lang="zh-CN" altLang="en-US" sz="2000" b="1" dirty="0"/>
          </a:p>
          <a:p>
            <a:pPr lvl="1"/>
            <a:r>
              <a:rPr lang="zh-CN" altLang="en-US" sz="1800" b="1" dirty="0"/>
              <a:t>显存占用大幅降低：</a:t>
            </a:r>
            <a:endParaRPr lang="zh-CN" altLang="en-US" sz="1800" b="1" dirty="0"/>
          </a:p>
          <a:p>
            <a:pPr lvl="2"/>
            <a:r>
              <a:rPr lang="zh-CN" altLang="en-US" sz="1800" dirty="0"/>
              <a:t>在</a:t>
            </a:r>
            <a:r>
              <a:rPr lang="en-US" altLang="zh-CN" sz="1800" dirty="0"/>
              <a:t> Context=4096 </a:t>
            </a:r>
            <a:r>
              <a:rPr lang="zh-CN" altLang="en-US" sz="1800" dirty="0"/>
              <a:t>的基准测试中，</a:t>
            </a:r>
            <a:r>
              <a:rPr lang="en-US" altLang="zh-CN" sz="1800" dirty="0"/>
              <a:t>KV Cache </a:t>
            </a:r>
            <a:r>
              <a:rPr lang="zh-CN" altLang="en-US" sz="1800" dirty="0"/>
              <a:t>显存从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FP16 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224 MiB</a:t>
            </a:r>
            <a:r>
              <a:rPr lang="en-US" altLang="zh-CN" sz="1800" dirty="0"/>
              <a:t> </a:t>
            </a:r>
            <a:r>
              <a:rPr lang="zh-CN" altLang="en-US" sz="1800" dirty="0"/>
              <a:t>降至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Q4_0 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en-US" altLang="zh-CN" sz="1800" dirty="0">
                <a:solidFill>
                  <a:srgbClr val="C00000"/>
                </a:solidFill>
              </a:rPr>
              <a:t> 63 MiB</a:t>
            </a:r>
            <a:r>
              <a:rPr lang="zh-CN" altLang="en-US" sz="1800" dirty="0"/>
              <a:t>，支持上下文长度提升</a:t>
            </a:r>
            <a:r>
              <a:rPr lang="en-US" altLang="zh-CN" sz="1800" dirty="0"/>
              <a:t> 3-4 </a:t>
            </a:r>
            <a:r>
              <a:rPr lang="zh-CN" altLang="en-US" sz="1800" dirty="0"/>
              <a:t>倍</a:t>
            </a:r>
            <a:endParaRPr lang="zh-CN" altLang="en-US" sz="1800" dirty="0"/>
          </a:p>
          <a:p>
            <a:pPr lvl="1"/>
            <a:r>
              <a:rPr lang="zh-CN" altLang="en-US" sz="1800" b="1" dirty="0"/>
              <a:t>推理性能无损：</a:t>
            </a:r>
            <a:endParaRPr lang="zh-CN" altLang="en-US" sz="1800" b="1" dirty="0"/>
          </a:p>
          <a:p>
            <a:pPr lvl="2"/>
            <a:r>
              <a:rPr lang="zh-CN" altLang="en-US" sz="1800" dirty="0"/>
              <a:t>推理速度在</a:t>
            </a:r>
            <a:r>
              <a:rPr lang="en-US" altLang="zh-CN" sz="1800" dirty="0"/>
              <a:t> 360-380 </a:t>
            </a:r>
            <a:r>
              <a:rPr lang="en-US" altLang="zh-CN" sz="1800" dirty="0"/>
              <a:t>toks/s </a:t>
            </a:r>
            <a:r>
              <a:rPr lang="zh-CN" altLang="en-US" sz="1800" dirty="0"/>
              <a:t>之间波动</a:t>
            </a:r>
            <a:r>
              <a:rPr lang="en-US" sz="1800" dirty="0"/>
              <a:t>，</a:t>
            </a:r>
            <a:r>
              <a:rPr lang="zh-CN" altLang="en-US" sz="1800" dirty="0"/>
              <a:t>量化后几乎无性能损失</a:t>
            </a:r>
            <a:endParaRPr lang="zh-CN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-635" y="3266440"/>
            <a:ext cx="7966710" cy="3024505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模型权重量化与端侧实测</a:t>
            </a:r>
            <a:r>
              <a:rPr lang="en-US" altLang="zh-CN" sz="2000" b="1" dirty="0"/>
              <a:t>：</a:t>
            </a:r>
            <a:r>
              <a:rPr lang="zh-CN" altLang="en-US" sz="2000" b="1" dirty="0"/>
              <a:t>验证</a:t>
            </a:r>
            <a:r>
              <a:rPr lang="en-US" altLang="zh-CN" sz="2000" b="1" dirty="0"/>
              <a:t>8B</a:t>
            </a:r>
            <a:r>
              <a:rPr lang="zh-CN" altLang="en-US" sz="2000" b="1" dirty="0"/>
              <a:t>模型端侧可用性</a:t>
            </a:r>
            <a:endParaRPr lang="en-US" altLang="zh-CN" sz="1800" dirty="0"/>
          </a:p>
          <a:p>
            <a:pPr lvl="1"/>
            <a:r>
              <a:rPr lang="zh-CN" altLang="en-US" sz="1800" b="1" dirty="0"/>
              <a:t>内存占用分析：</a:t>
            </a:r>
            <a:endParaRPr lang="zh-CN" altLang="en-US" sz="1530" dirty="0"/>
          </a:p>
          <a:p>
            <a:pPr lvl="2"/>
            <a:r>
              <a:rPr lang="zh-CN" altLang="en-US" sz="1800" dirty="0"/>
              <a:t>模型权重：</a:t>
            </a:r>
            <a:r>
              <a:rPr lang="en-US" altLang="zh-CN" sz="1800" dirty="0"/>
              <a:t>Llama-3-8B </a:t>
            </a:r>
            <a:r>
              <a:rPr lang="zh-CN" altLang="en-US" sz="1800" dirty="0"/>
              <a:t>经过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Q4 </a:t>
            </a:r>
            <a:r>
              <a:rPr lang="zh-CN" altLang="en-US" sz="1800" dirty="0">
                <a:solidFill>
                  <a:srgbClr val="C00000"/>
                </a:solidFill>
              </a:rPr>
              <a:t>量化</a:t>
            </a:r>
            <a:r>
              <a:rPr lang="zh-CN" altLang="en-US" sz="1800" dirty="0"/>
              <a:t>后，权重体积约为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4.7 GB</a:t>
            </a:r>
            <a:r>
              <a:rPr lang="en-US" altLang="zh-CN" sz="1800" dirty="0"/>
              <a:t> </a:t>
            </a:r>
            <a:endParaRPr lang="zh-CN" altLang="en-US" sz="1800" dirty="0"/>
          </a:p>
          <a:p>
            <a:pPr lvl="2"/>
            <a:r>
              <a:rPr lang="zh-CN" altLang="en-US" sz="1800" dirty="0"/>
              <a:t>总内存开销：运行时</a:t>
            </a:r>
            <a:r>
              <a:rPr lang="en-US" altLang="zh-CN" sz="1800" dirty="0"/>
              <a:t> Host </a:t>
            </a:r>
            <a:r>
              <a:rPr lang="zh-CN" altLang="en-US" sz="1800" dirty="0"/>
              <a:t>总内存占用约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5.3 GB / （16GB </a:t>
            </a:r>
            <a:r>
              <a:rPr lang="zh-CN" altLang="en-US" sz="1800" dirty="0">
                <a:solidFill>
                  <a:srgbClr val="C00000"/>
                </a:solidFill>
              </a:rPr>
              <a:t>内存</a:t>
            </a:r>
            <a:r>
              <a:rPr lang="en-US" altLang="zh-CN" sz="1800" dirty="0">
                <a:solidFill>
                  <a:srgbClr val="C00000"/>
                </a:solidFill>
              </a:rPr>
              <a:t>）</a:t>
            </a:r>
            <a:endParaRPr lang="zh-CN" altLang="en-US" sz="1800" dirty="0"/>
          </a:p>
          <a:p>
            <a:pPr lvl="1"/>
            <a:r>
              <a:rPr lang="zh-CN" altLang="en-US" sz="1800" b="1" dirty="0"/>
              <a:t>端侧推理速度：</a:t>
            </a:r>
            <a:endParaRPr lang="en-US" altLang="zh-CN" sz="1800" dirty="0"/>
          </a:p>
          <a:p>
            <a:pPr lvl="2"/>
            <a:r>
              <a:rPr lang="en-US" altLang="zh-CN" sz="1800" dirty="0"/>
              <a:t>Prompt </a:t>
            </a:r>
            <a:r>
              <a:rPr lang="zh-CN" altLang="en-US" sz="1800" dirty="0"/>
              <a:t>处理约</a:t>
            </a:r>
            <a:r>
              <a:rPr lang="en-US" altLang="zh-CN" sz="1800" dirty="0"/>
              <a:t> 16.9 tok/s </a:t>
            </a:r>
            <a:r>
              <a:rPr lang="zh-CN" altLang="en-US" sz="1800" dirty="0"/>
              <a:t>；生成阶段</a:t>
            </a:r>
            <a:r>
              <a:rPr lang="en-US" altLang="zh-CN" sz="1800" dirty="0"/>
              <a:t> </a:t>
            </a:r>
            <a:r>
              <a:rPr lang="zh-CN" altLang="en-US" sz="1800" dirty="0"/>
              <a:t>约</a:t>
            </a:r>
            <a:r>
              <a:rPr lang="en-US" altLang="zh-CN" sz="1800" dirty="0"/>
              <a:t> 8.7 tok/s </a:t>
            </a:r>
            <a:endParaRPr lang="en-US" altLang="zh-CN" sz="1800" dirty="0"/>
          </a:p>
          <a:p>
            <a:pPr lvl="2"/>
            <a:r>
              <a:rPr lang="zh-CN" altLang="en-US" sz="1800" dirty="0"/>
              <a:t>该速度满足中短文本对话与指令交互的</a:t>
            </a:r>
            <a:r>
              <a:rPr lang="zh-CN" altLang="en-US" sz="1800" dirty="0">
                <a:solidFill>
                  <a:srgbClr val="C00000"/>
                </a:solidFill>
              </a:rPr>
              <a:t>实时性</a:t>
            </a:r>
            <a:r>
              <a:rPr lang="zh-CN" altLang="en-US" sz="1800" dirty="0"/>
              <a:t>需求，验证了端侧</a:t>
            </a:r>
            <a:r>
              <a:rPr lang="en-US" altLang="zh-CN" sz="1800" dirty="0"/>
              <a:t> Q4 </a:t>
            </a:r>
            <a:r>
              <a:rPr lang="zh-CN" altLang="en-US" sz="1800" dirty="0"/>
              <a:t>量化模型的</a:t>
            </a:r>
            <a:r>
              <a:rPr lang="zh-CN" altLang="en-US" sz="1800" dirty="0">
                <a:solidFill>
                  <a:srgbClr val="C00000"/>
                </a:solidFill>
              </a:rPr>
              <a:t>可落地性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pic>
        <p:nvPicPr>
          <p:cNvPr id="7" name="图片 6" descr="kv_cache_benchma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170" y="890905"/>
            <a:ext cx="4227830" cy="253746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8092440" y="3781425"/>
          <a:ext cx="3950970" cy="2301240"/>
        </p:xfrm>
        <a:graphic>
          <a:graphicData uri="http://schemas.openxmlformats.org/drawingml/2006/table">
            <a:tbl>
              <a:tblPr firstRow="1" bandCol="1">
                <a:tableStyleId>{113E02BE-4E2E-48DC-A885-C6F41DFFF291}</a:tableStyleId>
              </a:tblPr>
              <a:tblGrid>
                <a:gridCol w="1975485"/>
                <a:gridCol w="1975485"/>
              </a:tblGrid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指标 </a:t>
                      </a:r>
                      <a:r>
                        <a:rPr lang="en-US" altLang="zh-CN" sz="11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(Metric)</a:t>
                      </a:r>
                      <a:endParaRPr lang="en-US" altLang="zh-CN" sz="110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实测数据 </a:t>
                      </a:r>
                      <a:r>
                        <a:rPr lang="en-US" altLang="zh-CN" sz="1100">
                          <a:solidFill>
                            <a:schemeClr val="bg1"/>
                          </a:solidFill>
                          <a:latin typeface="Google Sans Text"/>
                          <a:ea typeface="Google Sans Text"/>
                        </a:rPr>
                        <a:t>(Measured)</a:t>
                      </a:r>
                      <a:endParaRPr lang="en-US" altLang="zh-CN" sz="1100">
                        <a:solidFill>
                          <a:schemeClr val="bg1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Prompt </a:t>
                      </a:r>
                      <a:r>
                        <a:rPr lang="zh-CN" altLang="en-US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处理速度</a:t>
                      </a:r>
                      <a:endParaRPr lang="zh-CN" altLang="en-US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16.92 tokens/s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生成速度 </a:t>
                      </a: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(Eval)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8.66 tokens/s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模型权重显存</a:t>
                      </a:r>
                      <a:endParaRPr lang="zh-CN" altLang="en-US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4685 MiB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上下文显存 </a:t>
                      </a: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(KV)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512 MiB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  <a:tr h="383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总内存占用</a:t>
                      </a:r>
                      <a:endParaRPr lang="zh-CN" altLang="en-US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~5.3 GB</a:t>
                      </a:r>
                      <a:endParaRPr lang="en-US" altLang="zh-CN"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152717" marR="152717" marT="101917" marB="1019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4.3 </a:t>
            </a:r>
            <a:r>
              <a:rPr lang="zh-CN" altLang="en-US" dirty="0"/>
              <a:t>实验结果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930" y="1021715"/>
            <a:ext cx="6976745" cy="4814570"/>
          </a:xfrm>
        </p:spPr>
        <p:txBody>
          <a:bodyPr/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</a:rPr>
              <a:t>实验设置：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/>
            <a:r>
              <a:rPr lang="zh-CN" altLang="en-US" sz="1800" b="1" dirty="0"/>
              <a:t>终端设备：</a:t>
            </a:r>
            <a:r>
              <a:rPr lang="zh-CN" altLang="en-US" sz="1660" dirty="0"/>
              <a:t>小米</a:t>
            </a:r>
            <a:r>
              <a:rPr lang="en-US" altLang="zh-CN" sz="1660" dirty="0"/>
              <a:t>14</a:t>
            </a:r>
            <a:endParaRPr lang="en-US" altLang="zh-CN" sz="1660" dirty="0"/>
          </a:p>
          <a:p>
            <a:pPr lvl="1"/>
            <a:r>
              <a:rPr lang="zh-CN" altLang="en-US" sz="1800" b="1" dirty="0"/>
              <a:t>模型：</a:t>
            </a:r>
            <a:r>
              <a:rPr lang="en-US" altLang="zh-CN" sz="1660" dirty="0">
                <a:sym typeface="+mn-ea"/>
              </a:rPr>
              <a:t>Llama-3.2-3B-Instruct-Q4_K_M.gguf</a:t>
            </a:r>
            <a:endParaRPr lang="en-US" altLang="zh-CN" sz="1660" dirty="0">
              <a:sym typeface="+mn-ea"/>
            </a:endParaRPr>
          </a:p>
          <a:p>
            <a:pPr lvl="1"/>
            <a:r>
              <a:rPr lang="zh-CN" altLang="en-US" sz="1800" b="1" dirty="0">
                <a:sym typeface="+mn-ea"/>
              </a:rPr>
              <a:t>推理方式：</a:t>
            </a:r>
            <a:r>
              <a:rPr lang="zh-CN" altLang="en-US" sz="1660" dirty="0">
                <a:sym typeface="+mn-ea"/>
              </a:rPr>
              <a:t>端侧本地推理</a:t>
            </a:r>
            <a:endParaRPr lang="zh-CN" altLang="en-US" sz="1660" dirty="0">
              <a:sym typeface="+mn-ea"/>
            </a:endParaRPr>
          </a:p>
          <a:p>
            <a:pPr marL="323850" lvl="0" indent="-323850" algn="l"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实验结果与表现：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marL="720090" lvl="1" indent="-360045">
              <a:buFont typeface="Wingdings" panose="05000000000000000000" charset="0"/>
              <a:buChar char="u"/>
            </a:pPr>
            <a:r>
              <a:rPr lang="zh-CN" altLang="en-US" sz="1660" dirty="0">
                <a:solidFill>
                  <a:schemeClr val="tx1"/>
                </a:solidFill>
              </a:rPr>
              <a:t>成功完成模型加载与初始化，支持连续多轮对话生成，输出内容语义连贯、响应稳定</a:t>
            </a:r>
            <a:endParaRPr lang="zh-CN" altLang="en-US" sz="1660" dirty="0">
              <a:solidFill>
                <a:schemeClr val="tx1"/>
              </a:solidFill>
            </a:endParaRPr>
          </a:p>
          <a:p>
            <a:pPr marL="720090" lvl="1" indent="-360045">
              <a:buFont typeface="Wingdings" panose="05000000000000000000" charset="0"/>
              <a:buChar char="u"/>
            </a:pPr>
            <a:r>
              <a:rPr lang="zh-CN" altLang="en-US" sz="1660" dirty="0">
                <a:solidFill>
                  <a:schemeClr val="tx1"/>
                </a:solidFill>
              </a:rPr>
              <a:t>验证了大模型在移动端本地部署的可行性</a:t>
            </a:r>
            <a:endParaRPr lang="zh-CN" altLang="en-US" sz="1660" dirty="0">
              <a:solidFill>
                <a:schemeClr val="tx1"/>
              </a:solidFill>
            </a:endParaRPr>
          </a:p>
          <a:p>
            <a:pPr lvl="1"/>
            <a:endParaRPr lang="zh-CN" altLang="en-US" sz="166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Screenshot_2026-01-07-17-50-42-027_com.example.llama.aich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3490" y="933450"/>
            <a:ext cx="2459355" cy="54743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5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总结与讨论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5 </a:t>
            </a:r>
            <a:r>
              <a:rPr lang="zh-CN" altLang="en-US" dirty="0"/>
              <a:t>总结</a:t>
            </a:r>
            <a:r>
              <a:rPr lang="zh-CN" altLang="en-US" dirty="0"/>
              <a:t>与讨论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35305" y="1200150"/>
            <a:ext cx="5190490" cy="4834255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3850" lvl="0" indent="-323850"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</a:rPr>
              <a:t>总结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构建</a:t>
            </a:r>
            <a:r>
              <a:rPr lang="en-US" altLang="zh-CN" sz="1600" dirty="0">
                <a:solidFill>
                  <a:schemeClr val="tx1"/>
                </a:solidFill>
              </a:rPr>
              <a:t> “LoRA </a:t>
            </a:r>
            <a:r>
              <a:rPr lang="zh-CN" altLang="en-US" sz="1600" dirty="0">
                <a:solidFill>
                  <a:schemeClr val="tx1"/>
                </a:solidFill>
              </a:rPr>
              <a:t>微调</a:t>
            </a:r>
            <a:r>
              <a:rPr lang="en-US" altLang="en-US" sz="1600" dirty="0">
                <a:solidFill>
                  <a:schemeClr val="tx1"/>
                </a:solidFill>
              </a:rPr>
              <a:t>→</a:t>
            </a:r>
            <a:r>
              <a:rPr lang="zh-CN" altLang="en-US" sz="1600" dirty="0">
                <a:solidFill>
                  <a:schemeClr val="tx1"/>
                </a:solidFill>
              </a:rPr>
              <a:t>双重量化</a:t>
            </a:r>
            <a:r>
              <a:rPr lang="en-US" altLang="en-US" sz="1600" dirty="0">
                <a:solidFill>
                  <a:schemeClr val="tx1"/>
                </a:solidFill>
              </a:rPr>
              <a:t>→</a:t>
            </a:r>
            <a:r>
              <a:rPr lang="zh-CN" altLang="en-US" sz="1600" dirty="0">
                <a:solidFill>
                  <a:schemeClr val="tx1"/>
                </a:solidFill>
              </a:rPr>
              <a:t>端侧部署</a:t>
            </a:r>
            <a:r>
              <a:rPr lang="en-US" altLang="zh-CN" sz="1600" dirty="0">
                <a:solidFill>
                  <a:schemeClr val="tx1"/>
                </a:solidFill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</a:rPr>
              <a:t>全链路方案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小米</a:t>
            </a:r>
            <a:r>
              <a:rPr lang="en-US" altLang="zh-CN" sz="1600" dirty="0">
                <a:solidFill>
                  <a:schemeClr val="tx1"/>
                </a:solidFill>
              </a:rPr>
              <a:t> 14 </a:t>
            </a:r>
            <a:r>
              <a:rPr lang="zh-CN" altLang="en-US" sz="1600" dirty="0">
                <a:solidFill>
                  <a:schemeClr val="tx1"/>
                </a:solidFill>
              </a:rPr>
              <a:t>实现</a:t>
            </a:r>
            <a:r>
              <a:rPr lang="en-US" altLang="zh-CN" sz="1600" dirty="0">
                <a:solidFill>
                  <a:schemeClr val="tx1"/>
                </a:solidFill>
              </a:rPr>
              <a:t> 7/8B </a:t>
            </a:r>
            <a:r>
              <a:rPr lang="zh-CN" altLang="en-US" sz="1600" dirty="0">
                <a:solidFill>
                  <a:schemeClr val="tx1"/>
                </a:solidFill>
              </a:rPr>
              <a:t>模型本地运行，显存节省且性能损失低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达成</a:t>
            </a:r>
            <a:r>
              <a:rPr lang="en-US" altLang="zh-CN" sz="1600" dirty="0">
                <a:solidFill>
                  <a:schemeClr val="tx1"/>
                </a:solidFill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</a:rPr>
              <a:t>隐私安全、低延迟、个性化</a:t>
            </a:r>
            <a:r>
              <a:rPr lang="en-US" altLang="zh-CN" sz="1600" dirty="0">
                <a:solidFill>
                  <a:schemeClr val="tx1"/>
                </a:solidFill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</a:rPr>
              <a:t>端侧部署目标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23850" lvl="0" indent="-323850"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</a:rPr>
              <a:t>创新性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全栈优化闭环：端侧</a:t>
            </a:r>
            <a:r>
              <a:rPr lang="en-US" altLang="zh-CN" sz="1600" dirty="0">
                <a:solidFill>
                  <a:schemeClr val="tx1"/>
                </a:solidFill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</a:rPr>
              <a:t>微调</a:t>
            </a:r>
            <a:r>
              <a:rPr lang="en-US" altLang="zh-CN" sz="1600" dirty="0">
                <a:solidFill>
                  <a:schemeClr val="tx1"/>
                </a:solidFill>
              </a:rPr>
              <a:t> + </a:t>
            </a:r>
            <a:r>
              <a:rPr lang="zh-CN" altLang="en-US" sz="1600" dirty="0">
                <a:solidFill>
                  <a:schemeClr val="tx1"/>
                </a:solidFill>
              </a:rPr>
              <a:t>量化</a:t>
            </a:r>
            <a:r>
              <a:rPr lang="en-US" altLang="zh-CN" sz="1600" dirty="0">
                <a:solidFill>
                  <a:schemeClr val="tx1"/>
                </a:solidFill>
              </a:rPr>
              <a:t> + </a:t>
            </a:r>
            <a:r>
              <a:rPr lang="zh-CN" altLang="en-US" sz="1600" dirty="0">
                <a:solidFill>
                  <a:schemeClr val="tx1"/>
                </a:solidFill>
              </a:rPr>
              <a:t>推理</a:t>
            </a:r>
            <a:r>
              <a:rPr lang="en-US" altLang="zh-CN" sz="1600" dirty="0">
                <a:solidFill>
                  <a:schemeClr val="tx1"/>
                </a:solidFill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</a:rPr>
              <a:t>全流程落地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轻量化风格迁移：</a:t>
            </a:r>
            <a:r>
              <a:rPr lang="en-US" altLang="zh-CN" sz="1600" dirty="0">
                <a:solidFill>
                  <a:schemeClr val="tx1"/>
                </a:solidFill>
              </a:rPr>
              <a:t>60MB LoRA </a:t>
            </a:r>
            <a:r>
              <a:rPr lang="zh-CN" altLang="en-US" sz="1600" dirty="0">
                <a:solidFill>
                  <a:schemeClr val="tx1"/>
                </a:solidFill>
              </a:rPr>
              <a:t>适配器，适配端侧资源限制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实机量化参考：提供</a:t>
            </a:r>
            <a:r>
              <a:rPr lang="en-US" altLang="zh-CN" sz="1600" dirty="0">
                <a:solidFill>
                  <a:schemeClr val="tx1"/>
                </a:solidFill>
              </a:rPr>
              <a:t> Snapdragon 8 Gen 3 </a:t>
            </a:r>
            <a:r>
              <a:rPr lang="zh-CN" altLang="en-US" sz="1600" dirty="0">
                <a:solidFill>
                  <a:schemeClr val="tx1"/>
                </a:solidFill>
              </a:rPr>
              <a:t>芯片量化收益数据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23850" lvl="0" indent="-323850">
              <a:buFont typeface="Wingdings" panose="05000000000000000000" charset="0"/>
              <a:buChar char="n"/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096000" y="1242060"/>
            <a:ext cx="5289550" cy="4752340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3850" lvl="0" indent="-323850"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</a:rPr>
              <a:t>局限性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仅适配中文现代诗单一场景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源码层面未深入探索：未对</a:t>
            </a:r>
            <a:r>
              <a:rPr lang="en-US" altLang="zh-CN" sz="1600" dirty="0">
                <a:solidFill>
                  <a:schemeClr val="tx1"/>
                </a:solidFill>
              </a:rPr>
              <a:t> llama.cpp </a:t>
            </a:r>
            <a:r>
              <a:rPr lang="zh-CN" altLang="en-US" sz="1600" dirty="0">
                <a:solidFill>
                  <a:schemeClr val="tx1"/>
                </a:solidFill>
              </a:rPr>
              <a:t>源码二次开发，未集成</a:t>
            </a:r>
            <a:r>
              <a:rPr lang="en-US" altLang="zh-CN" sz="1600" dirty="0">
                <a:solidFill>
                  <a:schemeClr val="tx1"/>
                </a:solidFill>
              </a:rPr>
              <a:t> SnapKV/H2O </a:t>
            </a:r>
            <a:r>
              <a:rPr lang="zh-CN" altLang="en-US" sz="1600" dirty="0">
                <a:solidFill>
                  <a:schemeClr val="tx1"/>
                </a:solidFill>
              </a:rPr>
              <a:t>等先进算法，仅依赖现有量化与缓存接口，优化深度不足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端侧生成速度（</a:t>
            </a:r>
            <a:r>
              <a:rPr lang="en-US" altLang="zh-CN" sz="1600" dirty="0">
                <a:solidFill>
                  <a:schemeClr val="tx1"/>
                </a:solidFill>
              </a:rPr>
              <a:t>~8.7 tok/s</a:t>
            </a:r>
            <a:r>
              <a:rPr lang="zh-CN" altLang="en-US" sz="1600" dirty="0">
                <a:solidFill>
                  <a:schemeClr val="tx1"/>
                </a:solidFill>
              </a:rPr>
              <a:t>）仍有优化空间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en-US" altLang="zh-CN" sz="1600" dirty="0">
                <a:solidFill>
                  <a:schemeClr val="tx1"/>
                </a:solidFill>
              </a:rPr>
              <a:t>Q4 </a:t>
            </a:r>
            <a:r>
              <a:rPr lang="zh-CN" altLang="en-US" sz="1600" dirty="0">
                <a:solidFill>
                  <a:schemeClr val="tx1"/>
                </a:solidFill>
              </a:rPr>
              <a:t>量化存在轻微精度损失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23850" lvl="0" indent="-323850"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</a:rPr>
              <a:t>项目收获</a:t>
            </a:r>
            <a:endParaRPr lang="zh-CN" altLang="en-US" sz="1600" b="1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掌握</a:t>
            </a:r>
            <a:r>
              <a:rPr lang="en-US" altLang="zh-CN" sz="1600" dirty="0">
                <a:solidFill>
                  <a:schemeClr val="tx1"/>
                </a:solidFill>
              </a:rPr>
              <a:t> LLM </a:t>
            </a:r>
            <a:r>
              <a:rPr lang="zh-CN" altLang="en-US" sz="1600" dirty="0">
                <a:solidFill>
                  <a:schemeClr val="tx1"/>
                </a:solidFill>
              </a:rPr>
              <a:t>微调、量化、端侧部署</a:t>
            </a:r>
            <a:r>
              <a:rPr lang="zh-CN" altLang="en-US" sz="1600" dirty="0">
                <a:solidFill>
                  <a:schemeClr val="tx1"/>
                </a:solidFill>
              </a:rPr>
              <a:t>等技术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攻克跨层交互、环境配置等工程问题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781050" lvl="1" indent="-323850">
              <a:buFont typeface="Wingdings" panose="05000000000000000000" charset="0"/>
              <a:buChar char="n"/>
            </a:pPr>
            <a:r>
              <a:rPr lang="zh-CN" altLang="en-US" sz="1600" dirty="0">
                <a:solidFill>
                  <a:schemeClr val="tx1"/>
                </a:solidFill>
              </a:rPr>
              <a:t>积累算法</a:t>
            </a:r>
            <a:r>
              <a:rPr lang="en-US" altLang="zh-CN" sz="1600" dirty="0">
                <a:solidFill>
                  <a:schemeClr val="tx1"/>
                </a:solidFill>
              </a:rPr>
              <a:t> + </a:t>
            </a:r>
            <a:r>
              <a:rPr lang="zh-CN" altLang="en-US" sz="1600" dirty="0">
                <a:solidFill>
                  <a:schemeClr val="tx1"/>
                </a:solidFill>
              </a:rPr>
              <a:t>工程的团队协作经验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2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3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4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5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6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7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8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9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10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11.xml><?xml version="1.0" encoding="utf-8"?>
<p:tagLst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12.xml><?xml version="1.0" encoding="utf-8"?>
<p:tagLst xmlns:p="http://schemas.openxmlformats.org/presentationml/2006/main">
  <p:tag name="TABLE_ENDDRAG_ORIGIN_RECT" val="311*181"/>
  <p:tag name="TABLE_ENDDRAG_RECT" val="637*297*311*181"/>
</p:tagLst>
</file>

<file path=ppt/tags/tag13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  <p:tag name="resource_record_key" val="{&quot;29&quot;:[50000269,50053052,50053017]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2706</Words>
  <Application>WPS 演示</Application>
  <PresentationFormat>Widescreen</PresentationFormat>
  <Paragraphs>248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Google Sans Text</vt:lpstr>
      <vt:lpstr>Segoe Print</vt:lpstr>
      <vt:lpstr>Calibri</vt:lpstr>
      <vt:lpstr>Arial Unicode MS</vt:lpstr>
      <vt:lpstr>Office 主题​​</vt:lpstr>
      <vt:lpstr>顶点课程期末答辩</vt:lpstr>
      <vt:lpstr>目录</vt:lpstr>
      <vt:lpstr>1 研究背景与意义</vt:lpstr>
      <vt:lpstr>目录</vt:lpstr>
      <vt:lpstr>2 研究内容与思路 </vt:lpstr>
      <vt:lpstr>目录</vt:lpstr>
      <vt:lpstr>3.1 基于 LoRA 的参数高效微调方案</vt:lpstr>
      <vt:lpstr>3.2 基于 K-Quants 与 KV Cache 压缩的显存优化机制</vt:lpstr>
      <vt:lpstr>3.3 基于 llama.android 的端侧应用部署方案</vt:lpstr>
      <vt:lpstr>目录</vt:lpstr>
      <vt:lpstr>4.1 实验结果</vt:lpstr>
      <vt:lpstr>4.2 实验结果</vt:lpstr>
      <vt:lpstr>4.3 实验结果</vt:lpstr>
      <vt:lpstr>目录</vt:lpstr>
      <vt:lpstr>5 总结与讨论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Yingjie Qi</dc:creator>
  <cp:lastModifiedBy>石通</cp:lastModifiedBy>
  <cp:revision>754</cp:revision>
  <dcterms:created xsi:type="dcterms:W3CDTF">2026-01-07T08:04:00Z</dcterms:created>
  <dcterms:modified xsi:type="dcterms:W3CDTF">2026-01-07T16:51:29Z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98FBACA9873F44C0B8C22B7AC3C2AE4B_13</vt:lpwstr>
  </property>
  <property fmtid="{D5CDD505-2E9C-101B-9397-08002B2CF9AE}" pid="3" name="KSOProductBuildVer">
    <vt:lpwstr>2052-12.1.0.22529</vt:lpwstr>
  </property>
</Properties>
</file>