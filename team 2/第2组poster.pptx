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14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5"/>
    <p:restoredTop sz="94354"/>
  </p:normalViewPr>
  <p:slideViewPr>
    <p:cSldViewPr snapToGrid="0" snapToObjects="1">
      <p:cViewPr varScale="1">
        <p:scale>
          <a:sx n="120" d="100"/>
          <a:sy n="120" d="100"/>
        </p:scale>
        <p:origin x="1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BEE69-2E78-1945-BC16-4D31710F65B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657D0-87E6-174D-9BF4-DAEBE125717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jpe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/>
          <p:cNvSpPr/>
          <p:nvPr/>
        </p:nvSpPr>
        <p:spPr>
          <a:xfrm>
            <a:off x="77334" y="3823556"/>
            <a:ext cx="3626415" cy="2940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31" name="Rectangle 130"/>
          <p:cNvSpPr/>
          <p:nvPr/>
        </p:nvSpPr>
        <p:spPr>
          <a:xfrm>
            <a:off x="3828415" y="908685"/>
            <a:ext cx="4827270" cy="5861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Rectangle 128"/>
          <p:cNvSpPr/>
          <p:nvPr/>
        </p:nvSpPr>
        <p:spPr>
          <a:xfrm>
            <a:off x="69215" y="913130"/>
            <a:ext cx="3626485" cy="2837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27" name="Rectangle 126"/>
          <p:cNvSpPr/>
          <p:nvPr/>
        </p:nvSpPr>
        <p:spPr>
          <a:xfrm>
            <a:off x="8803005" y="892175"/>
            <a:ext cx="3281680" cy="58769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672465" y="43180"/>
            <a:ext cx="10768965" cy="3689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2000" b="1" dirty="0"/>
              <a:t>End-to-End On-device LLM System: Fine-tuning, Quantization, and Android Deployment</a:t>
            </a:r>
            <a:endParaRPr lang="en-US" altLang="zh-CN" sz="2000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3895090" y="411480"/>
            <a:ext cx="4190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Ruochen Zhang, Tong Shi, Liu Yang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8" name="Straight Connector 87"/>
          <p:cNvCxnSpPr/>
          <p:nvPr/>
        </p:nvCxnSpPr>
        <p:spPr>
          <a:xfrm>
            <a:off x="96793" y="801397"/>
            <a:ext cx="12095207" cy="4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890000" y="908685"/>
            <a:ext cx="3096895" cy="306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600" b="1" dirty="0">
                <a:solidFill>
                  <a:srgbClr val="7A1410"/>
                </a:solidFill>
              </a:rPr>
              <a:t>On-device LLM </a:t>
            </a:r>
            <a:r>
              <a:rPr lang="en-US" sz="1600" b="1" dirty="0">
                <a:solidFill>
                  <a:srgbClr val="7A1410"/>
                </a:solidFill>
              </a:rPr>
              <a:t>Inference APP</a:t>
            </a:r>
            <a:endParaRPr lang="en-US" sz="1600" b="1" dirty="0">
              <a:solidFill>
                <a:srgbClr val="7A141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736951" y="868281"/>
            <a:ext cx="50126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b="1" dirty="0">
                <a:solidFill>
                  <a:srgbClr val="7A1410"/>
                </a:solidFill>
              </a:rPr>
              <a:t>Model Optimization and Deployment </a:t>
            </a:r>
            <a:r>
              <a:rPr lang="en-US" altLang="zh-CN" sz="1600" b="1" dirty="0">
                <a:solidFill>
                  <a:srgbClr val="7A1410"/>
                </a:solidFill>
              </a:rPr>
              <a:t>Optimization</a:t>
            </a:r>
            <a:endParaRPr lang="en-US" altLang="zh-CN" sz="1600" b="1" dirty="0">
              <a:solidFill>
                <a:srgbClr val="7A141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13413" y="872672"/>
            <a:ext cx="19462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b="1" dirty="0">
                <a:solidFill>
                  <a:srgbClr val="7A1410"/>
                </a:solidFill>
              </a:rPr>
              <a:t>Model Fine-tuning</a:t>
            </a:r>
            <a:endParaRPr lang="en-US" altLang="zh-CN" sz="1600" b="1" dirty="0">
              <a:solidFill>
                <a:srgbClr val="7A1410"/>
              </a:solidFill>
            </a:endParaRPr>
          </a:p>
        </p:txBody>
      </p:sp>
      <p:grpSp>
        <p:nvGrpSpPr>
          <p:cNvPr id="138" name="Group 137"/>
          <p:cNvGrpSpPr/>
          <p:nvPr/>
        </p:nvGrpSpPr>
        <p:grpSpPr>
          <a:xfrm>
            <a:off x="2055" y="1137469"/>
            <a:ext cx="3046555" cy="2465388"/>
            <a:chOff x="8442475" y="1177474"/>
            <a:chExt cx="3046555" cy="2465388"/>
          </a:xfrm>
        </p:grpSpPr>
        <p:sp>
          <p:nvSpPr>
            <p:cNvPr id="98" name="TextBox 97"/>
            <p:cNvSpPr txBox="1"/>
            <p:nvPr/>
          </p:nvSpPr>
          <p:spPr>
            <a:xfrm>
              <a:off x="8949205" y="1409249"/>
              <a:ext cx="954405" cy="26733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1190"/>
                </a:spcBef>
                <a:spcAft>
                  <a:spcPts val="990"/>
                </a:spcAft>
                <a:buNone/>
              </a:pPr>
              <a:r>
                <a:rPr lang="en-US" altLang="zh-CN" sz="1000" b="0" i="0" u="none" strike="noStrike" kern="1200" dirty="0">
                  <a:ln>
                    <a:noFill/>
                  </a:ln>
                  <a:ea typeface="Droid Sans Fallback" pitchFamily="2"/>
                  <a:cs typeface="FreeSans" pitchFamily="2"/>
                </a:rPr>
                <a:t>Chinese poetry</a:t>
              </a:r>
              <a:endParaRPr lang="en-US" altLang="zh-CN" sz="1000" b="0" i="0" u="none" strike="noStrike" kern="1200" dirty="0">
                <a:ln>
                  <a:noFill/>
                </a:ln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0875480" y="1436612"/>
              <a:ext cx="613550" cy="1662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1190"/>
                </a:spcBef>
                <a:spcAft>
                  <a:spcPts val="990"/>
                </a:spcAft>
                <a:buNone/>
              </a:pPr>
              <a:r>
                <a:rPr lang="en-US" sz="1000" b="0" i="0" u="none" strike="noStrike" kern="1200">
                  <a:ln>
                    <a:noFill/>
                  </a:ln>
                  <a:ea typeface="Droid Sans Fallback" pitchFamily="2"/>
                  <a:cs typeface="FreeSans" pitchFamily="2"/>
                </a:rPr>
                <a:t>KOR</a:t>
              </a:r>
              <a:endParaRPr lang="en-US" sz="1000" b="0" i="0" u="none" strike="noStrike" kern="1200">
                <a:ln>
                  <a:noFill/>
                </a:ln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 rot="16200000">
              <a:off x="8267850" y="1881054"/>
              <a:ext cx="594995" cy="186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1190"/>
                </a:spcBef>
                <a:spcAft>
                  <a:spcPts val="990"/>
                </a:spcAft>
                <a:buNone/>
              </a:pPr>
              <a:r>
                <a:rPr lang="en-US" sz="1000" b="0" i="0" u="none" strike="noStrike" kern="1200" dirty="0">
                  <a:ln>
                    <a:noFill/>
                  </a:ln>
                  <a:ea typeface="Droid Sans Fallback" pitchFamily="2"/>
                  <a:cs typeface="FreeSans" pitchFamily="2"/>
                </a:rPr>
                <a:t>Dataset</a:t>
              </a:r>
              <a:endParaRPr lang="en-US" sz="1000" b="0" i="0" u="none" strike="noStrike" kern="1200" dirty="0">
                <a:ln>
                  <a:noFill/>
                </a:ln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 rot="16200000">
              <a:off x="8284995" y="3158674"/>
              <a:ext cx="708660" cy="2597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1190"/>
                </a:spcBef>
                <a:spcAft>
                  <a:spcPts val="990"/>
                </a:spcAft>
                <a:buNone/>
              </a:pPr>
              <a:r>
                <a:rPr lang="en-US" altLang="zh-CN" sz="1050" b="0" i="0" u="none" strike="noStrike" kern="1200" dirty="0">
                  <a:ln>
                    <a:noFill/>
                  </a:ln>
                  <a:ea typeface="Droid Sans Fallback" pitchFamily="2"/>
                  <a:cs typeface="FreeSans" pitchFamily="2"/>
                </a:rPr>
                <a:t>Visualized </a:t>
              </a:r>
              <a:endParaRPr lang="en-US" altLang="zh-CN" sz="1050" b="0" i="0" u="none" strike="noStrike" kern="1200" dirty="0">
                <a:ln>
                  <a:noFill/>
                </a:ln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9137952" y="2593284"/>
              <a:ext cx="613550" cy="165974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1190"/>
                </a:spcBef>
                <a:spcAft>
                  <a:spcPts val="990"/>
                </a:spcAft>
                <a:buNone/>
              </a:pPr>
              <a:r>
                <a:rPr lang="en-US" sz="1000" b="0" i="0" u="none" strike="noStrike" kern="1200" dirty="0">
                  <a:ln>
                    <a:noFill/>
                  </a:ln>
                  <a:ea typeface="Droid Sans Fallback" pitchFamily="2"/>
                  <a:cs typeface="FreeSans" pitchFamily="2"/>
                </a:rPr>
                <a:t>Web ui</a:t>
              </a:r>
              <a:endParaRPr lang="en-US" sz="1000" b="0" i="0" u="none" strike="noStrike" kern="1200" dirty="0">
                <a:ln>
                  <a:noFill/>
                </a:ln>
                <a:ea typeface="Droid Sans Fallback" pitchFamily="2"/>
                <a:cs typeface="FreeSans" pitchFamily="2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8442475" y="1177474"/>
              <a:ext cx="174752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1400" b="1" dirty="0"/>
                <a:t>Fine-tuning Setup：</a:t>
              </a:r>
              <a:endParaRPr lang="en-US" altLang="zh-CN" sz="1400" b="1" dirty="0"/>
            </a:p>
          </p:txBody>
        </p:sp>
        <p:sp>
          <p:nvSpPr>
            <p:cNvPr id="14" name="TextBox 103"/>
            <p:cNvSpPr txBox="1"/>
            <p:nvPr/>
          </p:nvSpPr>
          <p:spPr>
            <a:xfrm>
              <a:off x="10738152" y="2593284"/>
              <a:ext cx="613550" cy="165974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/>
            <a:p>
              <a:pPr marL="0" marR="0" lvl="0" indent="0" algn="l" rtl="0" hangingPunct="0">
                <a:lnSpc>
                  <a:spcPct val="100000"/>
                </a:lnSpc>
                <a:spcBef>
                  <a:spcPts val="1190"/>
                </a:spcBef>
                <a:spcAft>
                  <a:spcPts val="990"/>
                </a:spcAft>
                <a:buNone/>
              </a:pPr>
              <a:r>
                <a:rPr lang="en-US" altLang="zh-CN" sz="1000" b="0" i="0" u="none" strike="noStrike" kern="1200" dirty="0">
                  <a:ln>
                    <a:noFill/>
                  </a:ln>
                  <a:ea typeface="Droid Sans Fallback" pitchFamily="2"/>
                  <a:cs typeface="FreeSans" pitchFamily="2"/>
                </a:rPr>
                <a:t>Configuration</a:t>
              </a:r>
              <a:endParaRPr lang="en-US" altLang="zh-CN" sz="1000" b="0" i="0" u="none" strike="noStrike" kern="1200" dirty="0">
                <a:ln>
                  <a:noFill/>
                </a:ln>
                <a:ea typeface="Droid Sans Fallback" pitchFamily="2"/>
                <a:cs typeface="FreeSans" pitchFamily="2"/>
              </a:endParaRPr>
            </a:p>
          </p:txBody>
        </p:sp>
      </p:grpSp>
      <p:cxnSp>
        <p:nvCxnSpPr>
          <p:cNvPr id="125" name="Straight Connector 124"/>
          <p:cNvCxnSpPr/>
          <p:nvPr/>
        </p:nvCxnSpPr>
        <p:spPr>
          <a:xfrm>
            <a:off x="3769360" y="888457"/>
            <a:ext cx="0" cy="5914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>
            <a:off x="8733979" y="915762"/>
            <a:ext cx="0" cy="5914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27533" y="5478635"/>
            <a:ext cx="23310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1400" b="1" dirty="0"/>
              <a:t>Performance validation：</a:t>
            </a:r>
            <a:endParaRPr lang="en-US" altLang="zh-CN" sz="1400" b="1" dirty="0"/>
          </a:p>
        </p:txBody>
      </p:sp>
      <p:sp>
        <p:nvSpPr>
          <p:cNvPr id="140" name="Rectangle 139"/>
          <p:cNvSpPr/>
          <p:nvPr/>
        </p:nvSpPr>
        <p:spPr>
          <a:xfrm>
            <a:off x="96083" y="3814843"/>
            <a:ext cx="366522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1400" b="1" dirty="0">
                <a:solidFill>
                  <a:srgbClr val="7A1410"/>
                </a:solidFill>
              </a:rPr>
              <a:t>Performance Before vs. After Fine-tuning</a:t>
            </a:r>
            <a:endParaRPr lang="en-US" altLang="zh-CN" sz="1400" b="1" dirty="0">
              <a:solidFill>
                <a:srgbClr val="7A141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65480" y="4229100"/>
            <a:ext cx="848995" cy="193675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defRPr sz="1600"/>
            </a:pPr>
            <a:r>
              <a:rPr lang="en-US" sz="1000" b="0" i="0" u="none" strike="noStrike" kern="1200" cap="none" dirty="0">
                <a:ln>
                  <a:noFill/>
                </a:ln>
                <a:ea typeface="Droid Sans Fallback" pitchFamily="2"/>
                <a:cs typeface="FreeSans" pitchFamily="2"/>
              </a:rPr>
              <a:t>Befor fine-tuning</a:t>
            </a:r>
            <a:endParaRPr lang="en-US" sz="1000" b="0" i="0" u="none" strike="noStrike" kern="1200" cap="none" dirty="0">
              <a:ln>
                <a:noFill/>
              </a:ln>
              <a:ea typeface="Droid Sans Fallback" pitchFamily="2"/>
              <a:cs typeface="FreeSans" pitchFamily="2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524355" y="4228197"/>
            <a:ext cx="813977" cy="2276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defRPr sz="1600"/>
            </a:pPr>
            <a:r>
              <a:rPr lang="en-US" sz="1000" b="0" i="0" u="none" strike="noStrike" kern="1200" cap="none" dirty="0">
                <a:ln>
                  <a:noFill/>
                </a:ln>
                <a:ea typeface="Droid Sans Fallback" pitchFamily="2"/>
                <a:cs typeface="FreeSans" pitchFamily="2"/>
              </a:rPr>
              <a:t>After fine-tuning</a:t>
            </a:r>
            <a:endParaRPr lang="en-US" sz="1000" b="0" i="0" u="none" strike="noStrike" kern="1200" cap="none" dirty="0">
              <a:ln>
                <a:noFill/>
              </a:ln>
              <a:ea typeface="Droid Sans Fallback" pitchFamily="2"/>
              <a:cs typeface="FreeSans" pitchFamily="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90805" y="5785485"/>
            <a:ext cx="2104390" cy="9474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dirty="0">
                <a:ln>
                  <a:noFill/>
                </a:ln>
                <a:ea typeface="Droid Sans Fallback" pitchFamily="2"/>
                <a:cs typeface="FreeSans" pitchFamily="2"/>
              </a:rPr>
              <a:t>Quality: Improved instruction following, </a:t>
            </a:r>
            <a:endParaRPr lang="en-US" altLang="zh-CN" sz="900" b="0" i="0" u="none" strike="noStrike" kern="1200" cap="none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dirty="0">
                <a:ln>
                  <a:noFill/>
                </a:ln>
                <a:ea typeface="Droid Sans Fallback" pitchFamily="2"/>
                <a:cs typeface="FreeSans" pitchFamily="2"/>
              </a:rPr>
              <a:t>coherence &amp; novelty in poetry</a:t>
            </a:r>
            <a:endParaRPr lang="en-US" altLang="zh-CN" sz="900" b="0" i="0" u="none" strike="noStrike" kern="1200" cap="none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dirty="0">
                <a:ln>
                  <a:noFill/>
                </a:ln>
                <a:ea typeface="Droid Sans Fallback" pitchFamily="2"/>
                <a:cs typeface="FreeSans" pitchFamily="2"/>
              </a:rPr>
              <a:t>Size: Adapter ~60MB, merged &amp; </a:t>
            </a:r>
            <a:endParaRPr lang="en-US" altLang="zh-CN" sz="900" b="0" i="0" u="none" strike="noStrike" kern="1200" cap="none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dirty="0">
                <a:ln>
                  <a:noFill/>
                </a:ln>
                <a:ea typeface="Droid Sans Fallback" pitchFamily="2"/>
                <a:cs typeface="FreeSans" pitchFamily="2"/>
              </a:rPr>
              <a:t>quantized to 6GB GGUF (Q4_K_M)</a:t>
            </a:r>
            <a:endParaRPr lang="en-US" altLang="zh-CN" sz="900" b="0" i="0" u="none" strike="noStrike" kern="1200" cap="none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dirty="0">
                <a:ln>
                  <a:noFill/>
                </a:ln>
                <a:ea typeface="Droid Sans Fallback" pitchFamily="2"/>
                <a:cs typeface="FreeSans" pitchFamily="2"/>
              </a:rPr>
              <a:t>Deployment: Runs on mobile </a:t>
            </a:r>
            <a:endParaRPr lang="en-US" altLang="zh-CN" sz="900" b="0" i="0" u="none" strike="noStrike" kern="1200" cap="none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dirty="0">
                <a:ln>
                  <a:noFill/>
                </a:ln>
                <a:ea typeface="Droid Sans Fallback" pitchFamily="2"/>
                <a:cs typeface="FreeSans" pitchFamily="2"/>
              </a:rPr>
              <a:t>(Xiaomi 14/Termux)</a:t>
            </a:r>
            <a:endParaRPr lang="en-US" altLang="zh-CN" sz="900" b="0" i="0" u="none" strike="noStrike" kern="1200" cap="none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900" b="0" i="0" u="none" strike="noStrike" kern="1200" cap="none" dirty="0">
              <a:ln>
                <a:noFill/>
              </a:ln>
              <a:ea typeface="Droid Sans Fallback" pitchFamily="2"/>
              <a:cs typeface="FreeSans" pitchFamily="2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2584450" y="6583045"/>
            <a:ext cx="871855" cy="215265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kern="1200" cap="none" dirty="0">
                <a:ln>
                  <a:noFill/>
                </a:ln>
                <a:ea typeface="Droid Sans Fallback" pitchFamily="2"/>
                <a:cs typeface="FreeSans" pitchFamily="2"/>
              </a:rPr>
              <a:t>Training loss</a:t>
            </a:r>
            <a:endParaRPr lang="en-US" sz="800" b="0" i="0" u="none" strike="noStrike" kern="1200" cap="none" dirty="0">
              <a:ln>
                <a:noFill/>
              </a:ln>
              <a:ea typeface="Droid Sans Fallback" pitchFamily="2"/>
              <a:cs typeface="FreeSans" pitchFamily="2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18706" y="4037938"/>
            <a:ext cx="230187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1400" b="1" dirty="0"/>
              <a:t>Keep the same prompt：</a:t>
            </a:r>
            <a:endParaRPr lang="en-US" altLang="zh-CN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8832850" y="1208405"/>
            <a:ext cx="2993390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Source:</a:t>
            </a:r>
            <a:endParaRPr lang="en-US" sz="1100" b="1" dirty="0"/>
          </a:p>
          <a:p>
            <a:r>
              <a:rPr lang="en-US" sz="1100" dirty="0"/>
              <a:t>llama.android</a:t>
            </a:r>
            <a:endParaRPr lang="en-US" sz="1100" dirty="0"/>
          </a:p>
          <a:p>
            <a:r>
              <a:rPr lang="en-US" sz="1100" b="1" dirty="0"/>
              <a:t>Environment:</a:t>
            </a:r>
            <a:endParaRPr lang="en-US" sz="1100" b="1" dirty="0"/>
          </a:p>
          <a:p>
            <a:r>
              <a:rPr lang="en-US" altLang="zh-CN" sz="1100" dirty="0"/>
              <a:t>Android Studio + NDK + CMake</a:t>
            </a:r>
            <a:endParaRPr lang="en-US" altLang="zh-CN" sz="1100" dirty="0"/>
          </a:p>
          <a:p>
            <a:pPr algn="l">
              <a:buClrTx/>
              <a:buSzTx/>
              <a:buFontTx/>
            </a:pPr>
            <a:r>
              <a:rPr lang="en-US" sz="1100" b="1" dirty="0"/>
              <a:t>Module:</a:t>
            </a:r>
            <a:endParaRPr lang="en-US" sz="1100" b="1" dirty="0"/>
          </a:p>
          <a:p>
            <a:r>
              <a:rPr lang="en-US" altLang="zh-CN" sz="1100" dirty="0"/>
              <a:t>Llama-3.2-3B-Instruct-Q4_K_M.gguf</a:t>
            </a:r>
            <a:endParaRPr lang="en-US" altLang="zh-CN" sz="1100" dirty="0"/>
          </a:p>
        </p:txBody>
      </p:sp>
      <p:sp>
        <p:nvSpPr>
          <p:cNvPr id="4" name="Rectangle 3"/>
          <p:cNvSpPr/>
          <p:nvPr/>
        </p:nvSpPr>
        <p:spPr>
          <a:xfrm>
            <a:off x="8804275" y="3256280"/>
            <a:ext cx="3245485" cy="937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100" b="1" dirty="0"/>
              <a:t>Build</a:t>
            </a:r>
            <a:r>
              <a:rPr lang="en-US" altLang="zh-CN" sz="1100" dirty="0"/>
              <a:t> an </a:t>
            </a:r>
            <a:r>
              <a:rPr lang="en-US" altLang="zh-CN" sz="1100" dirty="0"/>
              <a:t>on-device LLM app based on llama.android (llama.cpp)</a:t>
            </a:r>
            <a:endParaRPr lang="en-US" altLang="zh-CN" sz="11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100" b="1" dirty="0"/>
              <a:t>Connect </a:t>
            </a:r>
            <a:r>
              <a:rPr lang="en-US" altLang="zh-CN" sz="1100" dirty="0"/>
              <a:t>C++ inference and Android UI via JNI</a:t>
            </a:r>
            <a:endParaRPr lang="en-US" altLang="zh-CN" sz="11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100" b="1" dirty="0"/>
              <a:t>Run</a:t>
            </a:r>
            <a:r>
              <a:rPr lang="en-US" altLang="zh-CN" sz="1100" dirty="0"/>
              <a:t> GGUF models </a:t>
            </a:r>
            <a:r>
              <a:rPr lang="en-US" altLang="zh-CN" sz="1100" b="1" dirty="0"/>
              <a:t>locally</a:t>
            </a:r>
            <a:r>
              <a:rPr lang="en-US" altLang="zh-CN" sz="1100" dirty="0"/>
              <a:t> on mobile devices</a:t>
            </a:r>
            <a:endParaRPr lang="en-US" altLang="zh-CN" sz="11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34459" r="69250"/>
          <a:stretch>
            <a:fillRect/>
          </a:stretch>
        </p:blipFill>
        <p:spPr>
          <a:xfrm>
            <a:off x="2477770" y="4431665"/>
            <a:ext cx="1167765" cy="10769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t="22063" r="62147" b="61204"/>
          <a:stretch>
            <a:fillRect/>
          </a:stretch>
        </p:blipFill>
        <p:spPr>
          <a:xfrm>
            <a:off x="137795" y="4456430"/>
            <a:ext cx="2287270" cy="10560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2783205"/>
            <a:ext cx="1473200" cy="8693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55" y="1602105"/>
            <a:ext cx="1473835" cy="9093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4195" y="1618615"/>
            <a:ext cx="1778635" cy="908685"/>
          </a:xfrm>
          <a:prstGeom prst="rect">
            <a:avLst/>
          </a:prstGeom>
        </p:spPr>
      </p:pic>
      <p:pic>
        <p:nvPicPr>
          <p:cNvPr id="15" name="图片 14" descr="loss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8850" y="5681345"/>
            <a:ext cx="1416685" cy="967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rcRect t="60129"/>
          <a:stretch>
            <a:fillRect/>
          </a:stretch>
        </p:blipFill>
        <p:spPr>
          <a:xfrm>
            <a:off x="3899535" y="2826385"/>
            <a:ext cx="4675505" cy="1173480"/>
          </a:xfrm>
          <a:prstGeom prst="rect">
            <a:avLst/>
          </a:prstGeom>
        </p:spPr>
      </p:pic>
      <p:pic>
        <p:nvPicPr>
          <p:cNvPr id="8" name="图片 7" descr="kv_cache_benchmar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3345" y="4302760"/>
            <a:ext cx="2205990" cy="13239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rcRect t="10852" r="-557" b="49277"/>
          <a:stretch>
            <a:fillRect/>
          </a:stretch>
        </p:blipFill>
        <p:spPr>
          <a:xfrm>
            <a:off x="3903345" y="1395730"/>
            <a:ext cx="4701540" cy="1173480"/>
          </a:xfrm>
          <a:prstGeom prst="rect">
            <a:avLst/>
          </a:prstGeom>
        </p:spPr>
      </p:pic>
      <p:sp>
        <p:nvSpPr>
          <p:cNvPr id="17" name="TextBox 109"/>
          <p:cNvSpPr txBox="1"/>
          <p:nvPr/>
        </p:nvSpPr>
        <p:spPr>
          <a:xfrm>
            <a:off x="5313830" y="1129849"/>
            <a:ext cx="183578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dirty="0"/>
              <a:t>Model Quantization</a:t>
            </a:r>
            <a:endParaRPr lang="en-US" altLang="zh-CN" sz="1400" b="1" dirty="0"/>
          </a:p>
        </p:txBody>
      </p:sp>
      <p:sp>
        <p:nvSpPr>
          <p:cNvPr id="18" name="TextBox 109"/>
          <p:cNvSpPr txBox="1"/>
          <p:nvPr/>
        </p:nvSpPr>
        <p:spPr>
          <a:xfrm>
            <a:off x="5167780" y="2519864"/>
            <a:ext cx="21424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dirty="0"/>
              <a:t>KV Cache Quantization</a:t>
            </a:r>
            <a:endParaRPr lang="en-US" altLang="zh-CN" sz="1400" b="1" dirty="0"/>
          </a:p>
        </p:txBody>
      </p:sp>
      <p:sp>
        <p:nvSpPr>
          <p:cNvPr id="20" name="矩形 19"/>
          <p:cNvSpPr/>
          <p:nvPr/>
        </p:nvSpPr>
        <p:spPr>
          <a:xfrm>
            <a:off x="1814195" y="2781300"/>
            <a:ext cx="1797050" cy="871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3345" y="5905500"/>
            <a:ext cx="4686300" cy="7823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748790" y="2826385"/>
            <a:ext cx="2104390" cy="57531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en-US" sz="900" b="1" i="0">
                <a:ln>
                  <a:noFill/>
                </a:ln>
                <a:ea typeface="Droid Sans Fallback" pitchFamily="2"/>
                <a:cs typeface="FreeSans" pitchFamily="2"/>
              </a:rPr>
              <a:t>Base Model: Llama3-8B-Instruct</a:t>
            </a:r>
            <a:endParaRPr lang="en-US" sz="900" b="1" i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en-US" sz="900" b="1" i="0">
                <a:ln>
                  <a:noFill/>
                </a:ln>
                <a:ea typeface="Droid Sans Fallback" pitchFamily="2"/>
                <a:cs typeface="FreeSans" pitchFamily="2"/>
              </a:rPr>
              <a:t>Technique: LoRA fine-tuning</a:t>
            </a:r>
            <a:endParaRPr lang="en-US" sz="900" b="1" i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en-US" sz="900" b="1" i="0">
                <a:ln>
                  <a:noFill/>
                </a:ln>
                <a:ea typeface="Droid Sans Fallback" pitchFamily="2"/>
                <a:cs typeface="FreeSans" pitchFamily="2"/>
              </a:rPr>
              <a:t>Dataset: Chinese poetry</a:t>
            </a:r>
            <a:endParaRPr lang="en-US" sz="900" b="1" i="0">
              <a:ln>
                <a:noFill/>
              </a:ln>
              <a:ea typeface="Droid Sans Fallback" pitchFamily="2"/>
              <a:cs typeface="FreeSans" pitchFamily="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8415" y="4033520"/>
            <a:ext cx="32823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 dirty="0"/>
              <a:t>KV Cache quantization experiment：</a:t>
            </a:r>
            <a:endParaRPr lang="en-US" altLang="zh-CN" sz="14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3810000" y="5626735"/>
            <a:ext cx="43408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 dirty="0"/>
              <a:t>On-device deployment and performance results：</a:t>
            </a:r>
            <a:endParaRPr lang="en-US" altLang="zh-CN" sz="1400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6236335" y="4340225"/>
            <a:ext cx="22059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 b="1" dirty="0">
                <a:ln>
                  <a:noFill/>
                </a:ln>
                <a:ea typeface="Droid Sans Fallback" pitchFamily="2"/>
                <a:cs typeface="FreeSans" pitchFamily="2"/>
              </a:rPr>
              <a:t>Memory usage: </a:t>
            </a:r>
            <a:endParaRPr lang="en-US" altLang="zh-CN" sz="900" b="1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r>
              <a:rPr lang="en-US" altLang="zh-CN" sz="900" dirty="0">
                <a:ln>
                  <a:noFill/>
                </a:ln>
                <a:ea typeface="Droid Sans Fallback" pitchFamily="2"/>
                <a:cs typeface="FreeSans" pitchFamily="2"/>
              </a:rPr>
              <a:t>Decreased from 224 MiB to 63 MiB</a:t>
            </a:r>
            <a:endParaRPr lang="en-US" altLang="zh-CN" sz="900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r>
              <a:rPr lang="en-US" altLang="zh-CN" sz="900" dirty="0">
                <a:ln>
                  <a:noFill/>
                </a:ln>
                <a:ea typeface="Droid Sans Fallback" pitchFamily="2"/>
                <a:cs typeface="FreeSans" pitchFamily="2"/>
              </a:rPr>
              <a:t>A reduction of up to 72%</a:t>
            </a:r>
            <a:endParaRPr lang="en-US" altLang="zh-CN" sz="900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r>
              <a:rPr lang="en-US" altLang="zh-CN" sz="900" dirty="0">
                <a:ln>
                  <a:noFill/>
                </a:ln>
                <a:ea typeface="Droid Sans Fallback" pitchFamily="2"/>
                <a:cs typeface="FreeSans" pitchFamily="2"/>
              </a:rPr>
              <a:t>Support 3-4 times longer contexts</a:t>
            </a:r>
            <a:endParaRPr lang="en-US" altLang="zh-CN" sz="900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endParaRPr lang="en-US" altLang="zh-CN" sz="900" b="1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r>
              <a:rPr lang="en-US" altLang="zh-CN" sz="900" b="1" dirty="0">
                <a:ln>
                  <a:noFill/>
                </a:ln>
                <a:ea typeface="Droid Sans Fallback" pitchFamily="2"/>
                <a:cs typeface="FreeSans" pitchFamily="2"/>
              </a:rPr>
              <a:t>Model performance:</a:t>
            </a:r>
            <a:endParaRPr lang="en-US" altLang="zh-CN" sz="900" b="1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r>
              <a:rPr lang="en-US" altLang="zh-CN" sz="900" dirty="0">
                <a:ln>
                  <a:noFill/>
                </a:ln>
                <a:ea typeface="Droid Sans Fallback" pitchFamily="2"/>
                <a:cs typeface="FreeSans" pitchFamily="2"/>
              </a:rPr>
              <a:t>Maximized maintained</a:t>
            </a:r>
            <a:endParaRPr lang="en-US" altLang="zh-CN" sz="900" dirty="0">
              <a:ln>
                <a:noFill/>
              </a:ln>
              <a:ea typeface="Droid Sans Fallback" pitchFamily="2"/>
              <a:cs typeface="FreeSans" pitchFamily="2"/>
            </a:endParaRPr>
          </a:p>
          <a:p>
            <a:r>
              <a:rPr lang="en-US" altLang="zh-CN" sz="900" dirty="0">
                <a:ln>
                  <a:noFill/>
                </a:ln>
                <a:ea typeface="Droid Sans Fallback" pitchFamily="2"/>
                <a:cs typeface="FreeSans" pitchFamily="2"/>
              </a:rPr>
              <a:t>Delivers </a:t>
            </a:r>
            <a:r>
              <a:rPr lang="en-US" altLang="zh-CN" sz="900" dirty="0">
                <a:ln>
                  <a:noFill/>
                </a:ln>
                <a:ea typeface="Droid Sans Fallback" pitchFamily="2"/>
                <a:cs typeface="FreeSans" pitchFamily="2"/>
              </a:rPr>
              <a:t>well operational results</a:t>
            </a:r>
            <a:endParaRPr lang="en-US" altLang="zh-CN" sz="900" dirty="0">
              <a:ln>
                <a:noFill/>
              </a:ln>
              <a:ea typeface="Droid Sans Fallback" pitchFamily="2"/>
              <a:cs typeface="FreeSans" pitchFamily="2"/>
            </a:endParaRPr>
          </a:p>
        </p:txBody>
      </p:sp>
      <p:pic>
        <p:nvPicPr>
          <p:cNvPr id="6" name="图片 5" descr="Screenshot_2026-01-07-12-15-38-809_com.example.llama.aichat"/>
          <p:cNvPicPr>
            <a:picLocks noChangeAspect="1"/>
          </p:cNvPicPr>
          <p:nvPr/>
        </p:nvPicPr>
        <p:blipFill>
          <a:blip r:embed="rId10"/>
          <a:srcRect t="73963"/>
          <a:stretch>
            <a:fillRect/>
          </a:stretch>
        </p:blipFill>
        <p:spPr>
          <a:xfrm>
            <a:off x="8890000" y="4814570"/>
            <a:ext cx="3081655" cy="1785620"/>
          </a:xfrm>
          <a:prstGeom prst="rect">
            <a:avLst/>
          </a:prstGeom>
        </p:spPr>
      </p:pic>
      <p:sp>
        <p:nvSpPr>
          <p:cNvPr id="24" name="Rectangle 3"/>
          <p:cNvSpPr/>
          <p:nvPr/>
        </p:nvSpPr>
        <p:spPr>
          <a:xfrm>
            <a:off x="8853805" y="4246245"/>
            <a:ext cx="328295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Successful on-device inference on a real Android smartphone(</a:t>
            </a:r>
            <a:r>
              <a:rPr lang="en-US" altLang="zh-CN" sz="1200" b="1" dirty="0">
                <a:ln>
                  <a:noFill/>
                </a:ln>
                <a:solidFill>
                  <a:srgbClr val="FF0000"/>
                </a:solidFill>
                <a:ea typeface="Droid Sans Fallback" pitchFamily="2"/>
                <a:cs typeface="FreeSans" pitchFamily="2"/>
                <a:sym typeface="+mn-ea"/>
              </a:rPr>
              <a:t>Xiaomi 14</a:t>
            </a:r>
            <a:r>
              <a:rPr lang="en-US" altLang="zh-CN" sz="1200" b="1" dirty="0">
                <a:solidFill>
                  <a:srgbClr val="FF0000"/>
                </a:solidFill>
              </a:rPr>
              <a:t>)！</a:t>
            </a:r>
            <a:endParaRPr lang="en-US" altLang="zh-CN" sz="1200" b="1" dirty="0">
              <a:solidFill>
                <a:srgbClr val="FF0000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1"/>
          <a:srcRect t="33794" b="24290"/>
          <a:stretch>
            <a:fillRect/>
          </a:stretch>
        </p:blipFill>
        <p:spPr>
          <a:xfrm>
            <a:off x="8821420" y="2320925"/>
            <a:ext cx="3262630" cy="91249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2">
            <a:clrChange>
              <a:clrFrom>
                <a:srgbClr val="FDFDFE">
                  <a:alpha val="100000"/>
                </a:srgbClr>
              </a:clrFrom>
              <a:clrTo>
                <a:srgbClr val="FDFDFE">
                  <a:alpha val="100000"/>
                  <a:alpha val="0"/>
                </a:srgbClr>
              </a:clrTo>
            </a:clrChange>
          </a:blip>
          <a:srcRect r="79960"/>
          <a:stretch>
            <a:fillRect/>
          </a:stretch>
        </p:blipFill>
        <p:spPr>
          <a:xfrm>
            <a:off x="-36195" y="0"/>
            <a:ext cx="782320" cy="812800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1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98250" y="15240"/>
            <a:ext cx="781685" cy="767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1271</Words>
  <Application>WPS 文字</Application>
  <PresentationFormat>Widescreen</PresentationFormat>
  <Paragraphs>78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2" baseType="lpstr">
      <vt:lpstr>Arial</vt:lpstr>
      <vt:lpstr>宋体</vt:lpstr>
      <vt:lpstr>Wingdings</vt:lpstr>
      <vt:lpstr>Arial</vt:lpstr>
      <vt:lpstr>Droid Sans Fallback</vt:lpstr>
      <vt:lpstr>Thonburi</vt:lpstr>
      <vt:lpstr>FreeSans</vt:lpstr>
      <vt:lpstr>Calibri</vt:lpstr>
      <vt:lpstr>Helvetica Neue</vt:lpstr>
      <vt:lpstr>DengXian</vt:lpstr>
      <vt:lpstr>汉仪中等线KW</vt:lpstr>
      <vt:lpstr>微软雅黑</vt:lpstr>
      <vt:lpstr>汉仪旗黑</vt:lpstr>
      <vt:lpstr>宋体</vt:lpstr>
      <vt:lpstr>Arial Unicode MS</vt:lpstr>
      <vt:lpstr>Calibri Light</vt:lpstr>
      <vt:lpstr>汉仪书宋二KW</vt:lpstr>
      <vt:lpstr>Droid Sans Fallback</vt:lpstr>
      <vt:lpstr>FreeSans</vt:lpstr>
      <vt:lpstr>苹方-简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BoleiZhou</dc:creator>
  <cp:lastModifiedBy>张若辰</cp:lastModifiedBy>
  <cp:revision>49</cp:revision>
  <dcterms:created xsi:type="dcterms:W3CDTF">2026-01-07T05:31:05Z</dcterms:created>
  <dcterms:modified xsi:type="dcterms:W3CDTF">2026-01-07T05:31:05Z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A2F564EC43AA4B73929CB33F8B13C983_13</vt:lpwstr>
  </property>
  <property fmtid="{D5CDD505-2E9C-101B-9397-08002B2CF9AE}" pid="3" name="KSOProductBuildVer">
    <vt:lpwstr>2052-12.1.23141.23141</vt:lpwstr>
  </property>
</Properties>
</file>