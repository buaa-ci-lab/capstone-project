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302" r:id="rId53"/>
    <p:sldId id="303" r:id="rId54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8B"/>
    <a:srgbClr val="0372C1"/>
    <a:srgbClr val="DEEBF5"/>
    <a:srgbClr val="BED7EC"/>
    <a:srgbClr val="309481"/>
    <a:srgbClr val="D3EEE9"/>
    <a:srgbClr val="22809E"/>
    <a:srgbClr val="3C91A0"/>
    <a:srgbClr val="26599C"/>
    <a:srgbClr val="39B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52" autoAdjust="0"/>
    <p:restoredTop sz="96357" autoAdjust="0"/>
  </p:normalViewPr>
  <p:slideViewPr>
    <p:cSldViewPr snapToGrid="0" showGuides="1">
      <p:cViewPr varScale="1">
        <p:scale>
          <a:sx n="127" d="100"/>
          <a:sy n="127" d="100"/>
        </p:scale>
        <p:origin x="208" y="192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tags" Target="tags/tag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t>2026/9/9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本教程使用 Qwen/Qwen3-8B dense 模型。教学范围为单条请求、BF16、eager attention、greedy decoding、DynamicCache。配套代码与实测数据位于同名目录。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先把最简单的推理过程走通。eager 用于直接观察 attention probabilities，采集中的 Python hooks 和同步开销不适合性能基准。BF16 使用 2 bytes/element。Greedy 是本教程为了简化流程选择的策略。官方生产使用建议与采样参数不属于本次实验范围。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原图展示逻辑上的文本增长。加入 KV cache 后，decode 实际只输入最新 token，历史信息从 cache 读取。本图没有表达带 cache 时的实际 forward 输入长度。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https://huggingface.co/blog/kv-cache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条件概率分解：$p(x_{1:T})=\prod_{t=1}^{T}p(x_t\mid x_{&lt;t})$。图中 y1/y2 为生成 token 的符号，不预设实际分词。prefill 得到第一个 token；第一个 decode 消耗 y1 并预测 y2。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https://huggingface.co/docs/transformers/v4.51.3/cache_explanation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右图为 2017 年原论文架构，用于解释架构来源。它不是 Qwen3 的精确结构：Qwen3 采用 pre-RMSNorm、QK-Norm、RoPE、GQA 与 SwiGLU，不在 embedding 上加原图的位置编码。下一页给出 Qwen3-8B 的实际结构。图从 PDF 第 3 页截取完整 Fig. 1 绘图区，未改动图内标签。</a:t>
            </a:r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https://arxiv.org/abs/1706.03762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结构图根据官方 config 和 Transformers 实现绘制。RoPE 位于每层 attention 的 Q/K 路径。最终 RMSNorm 在 36 个 block 之后。Embedding 和 LM head 权重不共享。</a:t>
            </a:r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这些值定义模型本身。num_hidden_layers 是串联的 Transformer decoder block 数量，每个 block 包含 attention 与 MLP 子层；它不是 cache 数量的定义。num_key_value_heads 是每层 K head 和 V head 的数量，32/8=4 的共享关系是由两个 head 数推导的。vocab_size 是模型 embedding 行数和输出类别数，不能等同于自然语言词数，也不保证每个预留行都有 tokenizer 文本。B 是 batch size，S 是本轮输入长度，T 是本轮已有 cache 长度加 S，D 是 head dimension。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 (a) 为 Post-LN，(b) 为 Pre-LN，用于说明通用子层和残差结构；由下向上阅读。Qwen3-8B 使用图 (b) 的归一化位置，但具体 Norm 是 RMSNorm，attention 是 causal GQA，FFN 是 SwiGLU。$u=h+\mathrm{Attention}(\mathrm{RMSNorm}(h))$，$h_{next}=u+\mathrm{MLP}(\mathrm{RMSNorm}(u))$。Attention 内的 QK-Norm 与 block 的两个 RMSNorm 是不同模块。原图截取完整 Fig. 1 绘图区，未重绘。</a:t>
            </a:r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https://proceedings.mlr.press/v119/xiong20b.html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完整代码：code/minimal_inference.py 的 load()。本地目录或 Hugging Face repo ID 均可作为 model_path。实际模型权重 revision 记录在 data/model_manifest.json。eval() 关闭 dropout 等训练行为，inference_mode() 关闭 autograd。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完整代码：prepare()。enable_thinking=False 通过 chat template 加入空 thinking 标记；它不是改变 Transformer 结构的参数。add_generation_prompt=True 添加 assistant 开始位置。add_special_tokens=False 避免再次添加特殊 token。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完整逐 token 列表见 data/trace.json 的 tokens 字段。本表按位置索引节选，位置跳号表示省略了中间 token。piece 是 tokenizer 内部表示；decoded 是单个 token 的解码结果。token ID 是离散词表索引，不是连续特征。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右侧为与本例一致的原生矩阵节选表，不再使用 GPT-2 图片。Embedding 权重 $E$ 的 shape 为 $[151936,4096]$；表头除 ID 外是列索引。只显示列 0、1、4095，其余列用省略号表示；只显示一条真实数据行，其余行也以省略号表示。行索引范围为 0 至 151935，列索引范围为 0 至 4095。输入 token ID 105538 解码为“中国的”，位于本次输入的 position 3。其查表关系为 $h_{0,3,:}=E_{105538,:}$，输出为 4096 维向量。数据取自 data/tensors.pt 的 prefill.embedding[0,3,[0,1,4095]]，原始数值分别为 -0.03271484375、-0.014404296875、0.0177001953125；表中舍入至三位小数。Embedding 是纯查表，因此采集的 embedding 输出就是对应权重行。左侧占位符、标题、版式与其他所有页面保留 Long 当前版本。</a:t>
            </a:r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states 是模型各阶段为输入位置维护的连续向量表示，后续 block 会继续更新它们。相同 token 的初始 embedding 相同，后续 hidden states 会随上下文而变化。它们不是 KV cache 的同义词。实际切片位于 data/trace.json / records[0] / tensors / embedding。h[0,-1,:4] 表示 batch 0、prompt 最后一个 token、前 4 个特征。单个通道通常没有可直接命名的自然语言含义。第 2 章代码顺序拆解首层 prefill，整合后的可执行程序见 code/walkthrough_prefill.py。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RMSNorm：$\mathrm{RMSNorm}(x)=w\odot x/\sqrt{\mathrm{mean}(x^2)+\epsilon}$，$\epsilon=10^{-6}$。实现先转 float32 计算平方均值与归一化，再转回输入 dtype 并乘权重。LayerNorm 会减均值，RMSNorm 此处不减均值。这是拆解首层 prefill 的局部代码，h 来自上一张 Embedding 代码页；各代码页共同组成的可运行文件为 walkthrough_prefill.py。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文件夹是类比：Query 表示当前查询，Key 用于匹配，Value 提供汇总内容。实际计算使用连续向量与点积，不是文本检索或只取一个文件夹。该图用于建立直觉，数值计算见后续投影和 softmax 页面。原图未修改，CC BY-NC-SA 4.0。</a:t>
            </a:r>
          </a:p>
          <a:p>
            <a:endParaRPr/>
          </a:p>
          <a:p>
            <a:r>
              <a:t>[Sources]</a:t>
            </a:r>
          </a:p>
          <a:p>
            <a:r>
              <a:t>- https://jalammar.github.io/illustrated-gpt2/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原图说明 $Q=XW_Q$、$K=XW_K$、$V=XW_V$。图中格子数量为示意，Qwen3 的投影宽度不同。PyTorch Linear 保存转置方向的权重，所以代码计算为 $XW^T$。原图未修改，CC BY-NC-SA 4.0。</a:t>
            </a:r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https://jalammar.github.io/illustrated-transformer/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a=model.model.layers[0].self_attn；x 是 input_layernorm 输出。q_norm/k_norm 沿各 head 的最后 128 维做 RMSNorm。q_proj.weight 为 [4096,4096]；k_proj.weight/v_proj.weight 为 [1024,4096]。PyTorch Linear 的权重形状为 [out_features,in_features]。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Q/K 为 QK-Norm 后、RoPE 前。V 未进行 QK-Norm 或 RoPE；这里从 v_projection reshape/transpose 后取出 head 0，因此其前四个数值与 projection 输出前四维相同。所有数字为 BF16 tensor 转 float32 后打印的真实值。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原图是通用结构示意，图中 head 数量不是 Qwen3-8B 的实际配置。Qwen3 的 num_key_value_groups=32/8=4。Transformers eager 实现使用 repeat_kv 扩展到 32 个 head 以参与运算；cache 内仍然保存 8 个 head。</a:t>
            </a:r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https://aclanthology.org/2023.emnlp-main.298/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RoPE 通过 $\widetilde q_m=R_m q_m$、$\widetilde k_n=R_n k_n$ 引入位置；内积包含 $R_m^T R_n=R_{n-m}$。原论文示意按相邻坐标配对，HF Qwen3 采用 split-half 排列，将通道 i 与 i+64 配对。两者在配套的通道排列下表达相同的二维旋转思想。Qwen3-8B 的 rope_theta 为 1,000,000，区别于原论文示例。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https://arxiv.org/abs/2104.09864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设原向量为 $(a,b)$，模长为 $r$，原方向为 $\beta$。逆时针旋转 $\alpha$，方向变成 $\beta+\alpha$；展开和角公式得到两行坐标公式。以下所有通道下标从 0 开始。对于 Qwen3 的 split-half 排列，$a=x_i,b=x_{i+64}$；x 表示同一位置、同一 head 的 Q 或 K，不是整条 hidden state。原论文图的第一对相邻坐标与 HF 的前后半段配对表达相同的二维旋转，在配套的通道排列下等价。数学上的旋转保持模长；BF16 会有舍入误差。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https://arxiv.org/abs/2104.09864</a:t>
            </a:r>
          </a:p>
          <a:p>
            <a:r>
              <a:t>[/Sources]</a:t>
            </a:r>
          </a:p>
          <a:p>
            <a:endParaRPr/>
          </a:p>
          <a:p>
            <a:r>
              <a:t>$a=r\cos\beta,\qquad b=r\sin\beta$</a:t>
            </a:r>
          </a:p>
          <a:p>
            <a:endParaRPr/>
          </a:p>
          <a:p>
            <a:r>
              <a:t>$a'=r\cos(\beta+\alpha)=a\cos\alpha-b\sin\alpha$</a:t>
            </a:r>
          </a:p>
          <a:p>
            <a:endParaRPr/>
          </a:p>
          <a:p>
            <a:r>
              <a:t>$b'=r\sin(\beta+\alpha)=a\sin\alpha+b\cos\alpha$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Qwen3-8B 本配置使用 default RoPE，无额外 scaling，attention_scaling=1。$d=128$，$\theta=10^6$，$i=0,\ldots,63$。角频率 $\omega_i=\theta^{-2i/d}$，位置 m 的角度 $\alpha_{m,i}=m\omega_i$。原论文图中标出的 $m\theta_1$ 对应这里的 $m\omega_0$；为避免与配置 rope_theta 混淆，此处用 omega 表示频率。freqs 保存的是角度，inv_freq 才是频率。代码写成广播乘法，与原源码的矩阵乘法生成相同的 [B,S,64] 结果。cat(freqs,freqs) 把每个角度放到一对通道的对应位置；随后 cos/sin 逐元素计算，转回 BF16。首次 decode 的 pos 从已有长度 22 开始。</a:t>
            </a:r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- https://arxiv.org/abs/2104.09864</a:t>
            </a:r>
          </a:p>
          <a:p>
            <a:r>
              <a:t>[/Sources]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>
            <a:endParaRPr/>
          </a:p>
          <a:p>
            <a:r>
              <a:t>$\omega_i=\theta^{-2i/d},\qquad \alpha_{m,i}=m\omega_i=m\theta^{-2i/d}$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频率为 $\omega_i=1000000^{-2i/128}$，$i=0,\ldots,63$。HF 构造 cat(freqs,freqs)，因此 rotate_half 配对前后两半。rotary_emb 输出 [B,S,128]，unsqueeze(1) 后为 [B,1,S,128]，可广播到 Q 的 32 个 head 和 K 的 8 个 head。对一对通道展开：$[a,b]\odot[\cos\alpha,\cos\alpha]+[-b,a]\odot[\sin\alpha,\sin\alpha]=[a\cos\alpha-b\sin\alpha,a\sin\alpha+b\cos\alpha]$。因此两行向量化代码就是前面的两条坐标公式。rotate_half 单独相当于每个二维子空间转 90 度；最终旋转角仍由 cos/sin 中的 alpha 决定。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右图是两 token 的算术示意，原图除数 8 对应 $d_k=64$。Qwen3 每个 head 用 $d_k=128$，缩放因子为 $1/\sqrt{128}$。该图没有 causal mask，不能直接作为 Qwen3 第一个位置的可见范围。下一组原理图与实测热图补上 mask。原图未修改，CC BY-NC-SA 4.0。</a:t>
            </a:r>
          </a:p>
          <a:p>
            <a:endParaRPr/>
          </a:p>
          <a:p>
            <a:r>
              <a:t>[Sources]</a:t>
            </a:r>
          </a:p>
          <a:p>
            <a:r>
              <a:t>- https://jalammar.github.io/illustrated-transformer/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左图按从下到上的顺序读取，两个 MatMul 分别是 $QK^T$ 和 $AV$。右图的 Concat 与 Linear 对应 Qwen3 eager 路径的 transpose/reshape 和 o_proj。Qwen3 的 32 个 query head 最终拼成 $32\times128=4096$ 维，K/V 通过 GQA 共享。图从 PDF 第 4 页截取 Fig. 2 完整绘图区，未改动图内标签。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https://arxiv.org/abs/1706.03762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原图的绿色三角形表示允许关注的区域，红色格表示原始 QK 分数。eager 代码使用 additive mask：允许位置加 0，未来位置加极小负数，使其 softmax 权重为 0。该图为单 head、无 padding 的示意；下一页展示真实 22×22 attention。原图未修改。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https://huggingface.co/blog/continuous_batching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图为实际采集的第 0 层第 0 个 Q head。左图用 0/1 可见性表示实际加性 mask（底层不可见位置使用 dtype 最小有限值）；右图为 softmax 后的真实 attention probabilities。上三角权重为 0。每一行是一个 query，列是 key 位置。图来自 data/tensors.pt。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$A=\mathrm{softmax}(QK^T/\sqrt{128}+M)$，$O=AV$。本页只拆解无 padding、无历史 cache 的首层 prefill，因此 key 长度等于 S。q_rot、k_rot、v、a 承接前面的 QKV 与 RoPE 代码页，完整程序见 walkthrough_prefill.py。future 是 [S,S] 的布尔上三角，广播到各 batch/head。masked_fill 等价于原实现的加性 causal mask。repeat_kv 把 8 个 K/V head 临时扩展到 32 个以匹配 Q，不改变 cache 的 head 数。eval 时 dropout=0。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$\mathrm{MLP}(x)=W_{down}(\mathrm{SiLU}(W_{gate}x)\odot W_{up}x)$。SiLU(x)=x sigmoid(x)。x 是第一个残差相加后的 post_attention_layernorm 输出。MLP 在每个 token 上独立执行，不沿序列维聚合。最后需要与第一个残差结果相加。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版本 4.51.3 在进入每层前保存 hidden_states，再在最终 RMSNorm 后保存最后一个。索引 0 是 embedding 输出；索引 1 是 block 0 输出；索引 35 是 block 34 输出；索引 36 是 block 35 输出再经过 final RMSNorm。最终 block 在 final RMSNorm 前的结果不单独包含在该 tuple 里。这里单独进行无 cache 的 prefill 观察；decode 调用返回的 hidden_states 只包含本次输入 token。没有设置 output_hidden_states=True 时此字段默认为 None。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softmax 用于展示概率，argmax(logits) 与 argmax(softmax(logits)) 相同。概率为当前前缀下的模型预测，不是答案真实性概率。只读取最后输入位置的 logits；其他位置也产生 logits，但不用于本次新增 token。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本图是无 KV cache 的单 head 示意。最后一行用于生成新 token，前面的绿色区域是已经计算过、又被重复执行的历史位置。对于本例固定模型、固定位置与 causal mask，新增未来 token 不会改变过去位置的数学结果，因此可缓存各层 K/V。数值实现的 BF16 舍入差异见交叉检查页。原图未修改。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https://huggingface.co/blog/continuous_batching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这一页与 minimal_inference.py 的 prefill 部分对应。DynamicCache() 是可变对象，forward 更新同一对象。position_ids 为 [1,S]；cache_position 为 [S]。在本例无 padding 的设置下二者编码相同的位置序列。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https://huggingface.co/docs/transformers/v4.51.3/cache_explanation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本页数字均来自首轮实际 forward。K/V cache 为每层一对张量。Q/K 表中的 shape 为分头后的结果，RoPE 不改变形状。attention probability 包括 batch/head/query/key 四个维度。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循环每次 forward 消耗上一步 next_id。先判断上一步 token 是否为 EOS，若是则停止，不再送回模型。完整函数中把每个 next_id 加入 generated，循环最多生成 24 个 token。该示例针对 batch=1 且无 padding；批量 padding 需额外处理 position_ids 与终止状态。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https://huggingface.co/docs/transformers/v4.51.3/cache_explanation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原图为单 head。Qwen3 每层的 cache 保留 8 个 KV head，当前有 32 个 Q head。历史 Q 不参与本轮新位置的输出，所以不缓存。K 在 QK-Norm 与 RoPE 后写入 cache；历史 K 不再次旋转。绿色一行是本轮 attention 的计算范围。原图未修改。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https://huggingface.co/blog/continuous_batching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DynamicCache.update(key_states,value_states,layer_idx,cache_kwargs) 对本层 K/V 在 dim=-2 追加。cache 保存的是按当前层输入计算出的特征，各层不同。缓存节省历史 token 的计算，decode 仍需让新 token 经过所有层并读取历史 K/V。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https://huggingface.co/docs/transformers/v4.51.3/cache_explanation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第一次 decode 中 S=1，已有 cache 长度为 22，因此 T=23。每层每个 Q head 的 query 长度为 1，key 长度为 T。新 K、V 各自为 [1,8,1,128]，更新后的 K、V 各自为 [1,8,23,128]。旧 token 的 hidden states 不会在本轮模型输出中重新返回。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实测 layer 0、Q head 0、decode_1 的 attention_probs[0,0,0,:]。与 prefill 的矩阵对比，本轮只有一行。softmax 后每行的 float32 求和可能因为回转 BF16 而轻微偏离 1。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仅计算逻辑 K/V 张量存储，不包括模型权重、allocator 预留空间与临时张量：$M=2\times L\times B\times H_{kv}\times T\times D\times s$。本例 $2\times36\times1\times8\times T\times128\times2=147456T$ bytes，即每 token 144 KiB。GQA 相比同样 D、层数但 32 个 KV head 的 MHA 减少到 1/4。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数据：data/trace.json。每行是一轮实际 forward；cache 长度统计该轮输入已经加入 cache 后的状态。最后生成的 EOS 不再被送回模型，所以此时 cache 长度为 prompt 长度 + 已生成 token 数 - 1。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数据：trace.json。cache 追加检查只比较首层历史 K/V 切片；全部 36 层的 shape 和字节数均有记录，但不能把首层逐元素检查表述为所有层检查。这里只对本例进行验证，不推断所有提示词均得到相同 token。BF16 和不同矩阵形状可能产生舍入差异，因此同时记录 logits 最大绝对差和 argmax 是否一致。完整路径见 collect_trace.py。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本例不含 padding、batching、beam search、滑动窗口或跨请求 cache 复用。mask 中 1 表示该输入位置有效，它会和内部 causal mask 共同决定可见性。DynamicCache 原地更新，不能把同一个可变实例当作多个独立前缀使用。</a:t>
            </a:r>
          </a:p>
          <a:p>
            <a:endParaRPr/>
          </a:p>
          <a:p>
            <a:r>
              <a:t>[Sources]</a:t>
            </a:r>
          </a:p>
          <a:p>
            <a:r>
              <a:t>- https://huggingface.co/docs/transformers/v4.51.3/cache_explanation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运行步骤详见 README.md。模型需约 16GB 的 BF16 权重存储，运行还需额外激活空间。使用支持当前 CUDA/PyTorch 组合且显存足够的 GPU。代码默认模型 ID，可通过 --model 指定已下载的本地权重目录。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采集脚本调用原始函数并原样返回结果，不改变张量。完整版还按 layer_idx 和 phase 过滤，只保存首层 prefill/decode_1 的完整张量。detach().cpu().clone() 产生独立快照；否则可变 cache 的后续追加会让日志难以对应。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原图为通用 SwiGLU/GEGLU 模块，读取方向从下至上。原图 W 对应 gate_proj，V 对应 up_proj，W2 对应 down_proj；Qwen3-8B 取 Swish 分支，且 beta=1，即 SiLU。图中的圆圈叉号表示逐元素相乘。仅通过 PowerPoint 的原生裁剪显示完整右下模块子图，原始 PNG 完整保留，未重绘或改写图内标签。原图中其他 GPT 架构、benchmark 与 GEGLU 公式不作为 Qwen3 配置依据。Qwen3 的三个投影均无 bias；输入 x 是 attention 残差相加之后、post_attention_layernorm 的输出，shape 为 [B,S,4096]。MLP 逐 token 计算，输出 shape 仍为 [B,S,4096]。残差在 MLP 模块之外，下一张代码页保留 h1=u+mlp_out。</a:t>
            </a:r>
          </a:p>
          <a:p>
            <a:r>
              <a:t>[Sources]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- https://huggingface.co/Qwen/Qwen3-8B/blob/b968826d9c46dd6066d109eabc6255188de91218/config.json</a:t>
            </a:r>
          </a:p>
          <a:p>
            <a:r>
              <a:t>- https://arxiv.org/abs/2002.05202</a:t>
            </a:r>
          </a:p>
          <a:p>
            <a:r>
              <a:t>[/Sources]</a:t>
            </a:r>
          </a:p>
          <a:p/>
          <a:p>
            <a:r>
              <a:t>[Sources]</a:t>
            </a:r>
          </a:p>
          <a:p>
            <a:r>
              <a:t>- https://magazine.sebastianraschka.com/p/from-gpt-2-to-gpt-oss-analyzing-the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SiLU 也称 beta=1 的 Swish，定义为 $\mathrm{SiLU}(z)=z\sigma(z)=z/(1+e^{-z})$。SwiGLU 的门控相乘为 $t=\mathrm{SiLU}(\mathrm{gate\_proj}(x))\odot\mathrm{up\_proj}(x)$，完整 MLP 再计算 $y=\mathrm{down\_proj}(t)$。这里 j 为中间维度的通道编号，而非 token 或 attention head 编号。gate、up 权重是独立学习的，推理时固定；gate 的值是对当前输入计算得出的。SiLU 的输出不是 sigmoid 概率：负输入产生负的输出，正输入足够大时输出可大于 1，故不能解释为 0/1 开关或概率掩码。对固定 up_j=2 的教学例子，gate 的预激活 z=-2、0、2 时，SiLU(z) 分别约为 -0.2384、0、1.7616，乘后分别约为 -0.4768、0、3.5232；这是数学示例，不是模型实测。本页曲线来自原图右侧完整坐标区，保留标签、图例和作者水印。绿色点线是 Swish，即本例 SiLU；另外两条线只作激活形状对照，不作性能结论。</a:t>
            </a:r>
          </a:p>
          <a:p>
            <a:r>
              <a:t>[Sources]</a:t>
            </a:r>
          </a:p>
          <a:p>
            <a:r>
              <a:t>- https://arxiv.org/abs/2002.05202</a:t>
            </a:r>
          </a:p>
          <a:p>
            <a:r>
              <a:t>- https://github.com/huggingface/transformers/blob/v4.51.3/src/transformers/models/qwen3/modeling_qwen3.py</a:t>
            </a:r>
          </a:p>
          <a:p>
            <a:r>
              <a:t>[/Sources]</a:t>
            </a:r>
          </a:p>
          <a:p/>
          <a:p>
            <a:r>
              <a:t>[Sources]</a:t>
            </a:r>
          </a:p>
          <a:p>
            <a:r>
              <a:t>- https://magazine.sebastianraschka.com/p/from-gpt-2-to-gpt-oss-analyzing-the</a:t>
            </a:r>
          </a:p>
          <a:p>
            <a:r>
              <a:t>[/Sources]</a:t>
            </a:r>
          </a:p>
          <a:p/>
          <a:p>
            <a:r>
              <a:t>$g_j=\mathrm{SiLU}(z_j)=\frac{z_j}{1+e^{-z_j}}$</a:t>
            </a:r>
          </a:p>
          <a:p/>
          <a:p>
            <a:r>
              <a:t>$t_j=g_j\,v_j$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27072"/>
            <a:ext cx="11235193" cy="5237265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2" y="6536805"/>
            <a:ext cx="965902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0" y="0"/>
            <a:ext cx="118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alpha val="0"/>
                  </a:schemeClr>
                </a:solidFill>
              </a:rPr>
              <a:t>Yingjie Qi</a:t>
            </a:r>
            <a:endParaRPr lang="zh-CN" altLang="en-US" dirty="0">
              <a:solidFill>
                <a:schemeClr val="tx1">
                  <a:alpha val="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65960"/>
            <a:ext cx="12192000" cy="612648"/>
          </a:xfrm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sz="4000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>LLM Inference 入门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9017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sz="3200" dirty="0"/>
              <a:t>Qwen3-8B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Transformers 代码与张量观察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zh-CN" dirty="0"/>
              <a:t>2026 年秋季</a:t>
            </a:r>
            <a:endParaRPr dirty="0"/>
          </a:p>
        </p:txBody>
      </p:sp>
      <p:sp>
        <p:nvSpPr>
          <p:cNvPr id="101" name="Editable Shape 101"/>
          <p:cNvSpPr txBox="1"/>
          <p:nvPr/>
        </p:nvSpPr>
        <p:spPr>
          <a:xfrm>
            <a:off x="594360" y="2715768"/>
            <a:ext cx="11000232" cy="539496"/>
          </a:xfrm>
          <a:prstGeom prst="rect">
            <a:avLst/>
          </a:prstGeom>
          <a:noFill/>
          <a:ln w="9525">
            <a:noFill/>
          </a:ln>
        </p:spPr>
        <p:txBody>
          <a:bodyPr wrap="square" lIns="36576" tIns="36576" rIns="36576" bIns="36576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sz="2800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>一次 Prefill 与逐 Token Decode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教程目标与实验范围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理解模型如何根据已有 token 预测</a:t>
            </a:r>
            <a:r>
              <a:rPr lang="zh-CN" b="1">
                <a:solidFill>
                  <a:srgbClr val="C7000B"/>
                </a:solidFill>
              </a:rPr>
              <a:t>下一个 token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对应结构、代码与张量：hidden states、Q/K/V、RoPE、KV cache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手写一次 </a:t>
            </a:r>
            <a:r>
              <a:rPr lang="zh-CN" b="1">
                <a:solidFill>
                  <a:srgbClr val="C7000B"/>
                </a:solidFill>
              </a:rPr>
              <a:t>prefill</a:t>
            </a:r>
            <a:r>
              <a:rPr lang="zh-CN"/>
              <a:t> 和逐 token </a:t>
            </a:r>
            <a:r>
              <a:rPr lang="zh-CN" b="1">
                <a:solidFill>
                  <a:srgbClr val="C7000B"/>
                </a:solidFill>
              </a:rPr>
              <a:t>decode</a:t>
            </a:r>
            <a:r>
              <a:rPr lang="zh-CN"/>
              <a:t>，观察 cache 增长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单条输入、无 padding、BF16、greedy decoding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Qwen3-8B dense，关闭 thinking，使用 eager attention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官方模型说明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自回归生成的循环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每次选出一个 token，把它接到已有文本后继续预测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KV Cache from scratch in nanoVLM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https://huggingface.co/blog/kv-cache</a:t>
            </a:r>
          </a:p>
        </p:txBody>
      </p:sp>
      <p:pic>
        <p:nvPicPr>
          <p:cNvPr id="10" name="Picture 9" descr="hf_auto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21" y="1764792"/>
            <a:ext cx="5262476" cy="3977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96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图示文本的逻辑增长；使用 cache 时，decode 实际只输入最新 token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自回归生成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本例一次 forward 为每个输入位置产生词表 logits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生成时读取</a:t>
            </a:r>
            <a:r>
              <a:rPr lang="zh-CN" b="1">
                <a:solidFill>
                  <a:srgbClr val="C7000B"/>
                </a:solidFill>
              </a:rPr>
              <a:t>最后一个位置</a:t>
            </a:r>
            <a:r>
              <a:rPr lang="zh-CN"/>
              <a:t>，选出一个 token，再把它送回模型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Caching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https://huggingface.co/docs/transformers/v4.51.3/cache_explanation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423160"/>
          <a:ext cx="109728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本次输入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已有 KV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本次预测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Prefill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完整 prompt：x₀ … xₛ₋₁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空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y₁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Decode 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y₁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prompt 的 KV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y₂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Decode 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y₂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prompt + y₁ 的 KV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y₃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074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600" b="1">
                <a:solidFill>
                  <a:srgbClr val="003C8B"/>
                </a:solidFill>
                <a:latin typeface="Microsoft YaHei"/>
              </a:rPr>
              <a:t>第一个生成 token 来自 prefill 的结果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Transformer 与 Decoder-only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原论文包含 </a:t>
            </a:r>
            <a:r>
              <a:rPr lang="zh-CN" b="1">
                <a:solidFill>
                  <a:srgbClr val="C7000B"/>
                </a:solidFill>
              </a:rPr>
              <a:t>Encoder 和 Decoder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 使用 Decoder-only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没有 Encoder 与 cross-attention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保留 causal self-attention 与 MLP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Qwen3：RMSNorm、RoPE、GQA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5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内容参考自：Vaswani et al. / Attention Is All You Need，Fig. 1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https://arxiv.org/abs/1706.03762</a:t>
            </a:r>
          </a:p>
        </p:txBody>
      </p:sp>
      <p:pic>
        <p:nvPicPr>
          <p:cNvPr id="10" name="Picture 9" descr="paper_transfor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498" y="1170432"/>
            <a:ext cx="3306802" cy="46634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Qwen3-8B 整体结构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Decoder-only Transformer：</a:t>
            </a:r>
            <a:r>
              <a:rPr lang="zh-CN" b="1">
                <a:solidFill>
                  <a:srgbClr val="C7000B"/>
                </a:solidFill>
              </a:rPr>
              <a:t>36 层</a:t>
            </a:r>
            <a:r>
              <a:rPr lang="zh-CN"/>
              <a:t>相同结构、不同权重的 block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token ID 经 embedding 得到向量，LM head 产生词表中各位置的分数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6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config.json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https://huggingface.co/Qwen/Qwen3-8B/blob/b968826d9c46dd6066d109eabc6255188de91218/config.json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08960"/>
            <a:ext cx="1755648" cy="1005840"/>
          </a:xfrm>
          <a:prstGeom prst="rect">
            <a:avLst/>
          </a:prstGeom>
          <a:solidFill>
            <a:srgbClr val="EDF4FA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Token</a:t>
            </a:r>
          </a:p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1448" y="3611880"/>
            <a:ext cx="429768" cy="0"/>
          </a:xfrm>
          <a:prstGeom prst="line">
            <a:avLst/>
          </a:prstGeom>
          <a:ln w="21590">
            <a:solidFill>
              <a:srgbClr val="003C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44368" y="3108960"/>
            <a:ext cx="2587752" cy="1005840"/>
          </a:xfrm>
          <a:prstGeom prst="rect">
            <a:avLst/>
          </a:prstGeom>
          <a:solidFill>
            <a:srgbClr val="E8F5F1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Decoder block</a:t>
            </a:r>
          </a:p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× 36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3611880"/>
            <a:ext cx="429768" cy="0"/>
          </a:xfrm>
          <a:prstGeom prst="line">
            <a:avLst/>
          </a:prstGeom>
          <a:ln w="21590">
            <a:solidFill>
              <a:srgbClr val="003C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35040" y="3108960"/>
            <a:ext cx="1965960" cy="1005840"/>
          </a:xfrm>
          <a:prstGeom prst="rect">
            <a:avLst/>
          </a:prstGeom>
          <a:solidFill>
            <a:srgbClr val="EDF4FA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Final</a:t>
            </a:r>
          </a:p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RMSNorm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3611880"/>
            <a:ext cx="429768" cy="0"/>
          </a:xfrm>
          <a:prstGeom prst="line">
            <a:avLst/>
          </a:prstGeom>
          <a:ln w="21590">
            <a:solidFill>
              <a:srgbClr val="003C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503920" y="3108960"/>
            <a:ext cx="2286000" cy="1005840"/>
          </a:xfrm>
          <a:prstGeom prst="rect">
            <a:avLst/>
          </a:prstGeom>
          <a:solidFill>
            <a:srgbClr val="EDF4FA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LM head</a:t>
            </a:r>
          </a:p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315968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0">
                <a:solidFill>
                  <a:srgbClr val="202020"/>
                </a:solidFill>
                <a:latin typeface="Microsoft YaHei"/>
              </a:rPr>
              <a:t>[B, S, 4096]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4315968"/>
            <a:ext cx="2916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0">
                <a:solidFill>
                  <a:srgbClr val="202020"/>
                </a:solidFill>
                <a:latin typeface="Microsoft YaHei"/>
              </a:rPr>
              <a:t>[B, S, 4096]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4315968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0">
                <a:solidFill>
                  <a:srgbClr val="202020"/>
                </a:solidFill>
                <a:latin typeface="Microsoft YaHei"/>
              </a:rPr>
              <a:t>[B, S, 4096]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31596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0">
                <a:solidFill>
                  <a:srgbClr val="202020"/>
                </a:solidFill>
                <a:latin typeface="Microsoft YaHei"/>
              </a:rPr>
              <a:t>[B, S, 151936]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35915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0">
                <a:solidFill>
                  <a:srgbClr val="595959"/>
                </a:solidFill>
                <a:latin typeface="Microsoft YaHei"/>
              </a:rPr>
              <a:t>input_ids</a:t>
            </a:r>
          </a:p>
          <a:p>
            <a:pPr algn="ctr"/>
            <a:r>
              <a:rPr lang="zh-CN" sz="2000" b="0">
                <a:solidFill>
                  <a:srgbClr val="595959"/>
                </a:solidFill>
                <a:latin typeface="Microsoft YaHei"/>
              </a:rPr>
              <a:t>[B, 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000" b="1">
                <a:solidFill>
                  <a:srgbClr val="003C8B"/>
                </a:solidFill>
                <a:latin typeface="Microsoft YaHei"/>
              </a:rPr>
              <a:t>logits</a:t>
            </a:r>
          </a:p>
          <a:p>
            <a:pPr algn="ctr"/>
            <a:r>
              <a:rPr lang="zh-CN" sz="2000" b="1">
                <a:solidFill>
                  <a:srgbClr val="003C8B"/>
                </a:solidFill>
                <a:latin typeface="Microsoft YaHei"/>
              </a:rPr>
              <a:t>词表分数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1.3 模型配置的含义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7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config.json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https://huggingface.co/Qwen/Qwen3-8B/blob/b968826d9c46dd6066d109eabc6255188de91218/config.json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配置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模型中的含义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num_hidden_layers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串联的 Transformer decoder block 数量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hidden_size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4096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每个 token 的隐藏表示维度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num_attention_heads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每层 attention 的 Q head 数量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head_dim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每个 Q/K/V head 的向量维度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num_key_value_heads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每层 K head 和 V head 各有 8 个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intermediate_size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12288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MLP 两个上投影分支的输出维度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vocab_size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151936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模型词表维度，即 logits 的类别数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记号：B = batch size；S = 本轮输入长度；T = 本轮开始时的 cache 长度 +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1.4 Decoder block 与残差连接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一个 block 包含 Attention 与 FFN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Attention 聚合不同位置的信息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FFN 逐位置变换特征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两条残差路径分别绕过一个子层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Qwen3-8B 对应图 (b)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归一化位于各子层之前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Norm 用 RMSNorm，FFN 用 SwiGLU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8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内容参考自：Xiong et al. / On Layer Normalization，Fig. 1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https://proceedings.mlr.press/v119/xiong20b.html</a:t>
            </a:r>
          </a:p>
        </p:txBody>
      </p:sp>
      <p:pic>
        <p:nvPicPr>
          <p:cNvPr id="10" name="Picture 9" descr="preln_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827" y="1463040"/>
            <a:ext cx="3468704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模型加载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固定 Transformers </a:t>
            </a:r>
            <a:r>
              <a:rPr lang="zh-CN" b="1">
                <a:solidFill>
                  <a:srgbClr val="C7000B"/>
                </a:solidFill>
              </a:rPr>
              <a:t>4.51.3</a:t>
            </a:r>
            <a:r>
              <a:rPr lang="zh-CN"/>
              <a:t>，显式选择 eager attention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9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官方模型说明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972800" cy="335813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003C8B"/>
                </a:solidFill>
                <a:latin typeface="Consolas"/>
              </a:rPr>
              <a:t>import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torch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003C8B"/>
                </a:solidFill>
                <a:latin typeface="Consolas"/>
              </a:rPr>
              <a:t>from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transformers 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import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AutoTokenizer, AutoModelForCausalLM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endParaRPr lang="zh-CN" sz="2100">
              <a:solidFill>
                <a:srgbClr val="202020"/>
              </a:solidFill>
              <a:latin typeface="Consolas"/>
            </a:endParaRP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model_path = 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"Qwen/Qwen3-8B"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or a local checkpoint directory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tokenizer = AutoTokenizer.from_pretrained(model_path)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model = AutoModelForCausalLM.from_pretrained(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model_path, torch_dtype=torch.bfloat16,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attn_implementation=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"eager"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device_map=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"cuda:0"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).eval()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8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实测：NVIDIA L20X；PyTorch 2.7.1+cu126；CUDA 12.6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Chat template 与 Tokenizer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聊天消息先组织成文本，再转换为整数 token ID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10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官方模型说明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972800" cy="3011423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messages = [{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"role"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: 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"user"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         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"content"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: 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"中国的首都是哪里？请用一句话回答。"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}]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text = tokenizer.apply_chat_template(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messages, tokenize=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False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add_generation_prompt=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enable_thinking=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False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inputs = tokenizer(text, return_tensors=</a:t>
            </a:r>
            <a:r>
              <a:rPr lang="zh-CN" sz="2100">
                <a:solidFill>
                  <a:srgbClr val="309481"/>
                </a:solidFill>
                <a:latin typeface="Consolas"/>
              </a:rPr>
              <a:t>"pt"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               add_special_tokens=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False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).to(model.device)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02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inputs 包含 input_ids 和 attention_mask；本例没有 padding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实际输入的 Token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本次 prompt 共 </a:t>
            </a:r>
            <a:r>
              <a:rPr lang="zh-CN" b="1">
                <a:solidFill>
                  <a:srgbClr val="C7000B"/>
                </a:solidFill>
              </a:rPr>
              <a:t>22 个 token</a:t>
            </a:r>
            <a:r>
              <a:rPr lang="zh-CN"/>
              <a:t>，包含聊天与 thinking 标记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Tokenizer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828800"/>
          <a:ext cx="1097280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token ID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单 token 解码内容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151644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'&lt;|im_start|&gt;'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872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'user'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105538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'中国的'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59975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'首'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100132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'都是'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101314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'哪里'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151667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'&lt;think&gt;'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151668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'&lt;/think&gt;'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271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'\n\n'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表中为节选；input_ids [1,22]，int64；attention_mask 全部为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 Embedding 查表的含义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每个 token ID 对应权重矩阵的一行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每一行是一个连续向量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Qwen3-8B 的查表矩阵：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151936 行，对应词表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4096 列，对应 hidden size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12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55138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行列索引从 0 开始；高亮行取自本次真实 embedding，省略号代表未展示的行列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4592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lang="zh-CN">
                <a:solidFill>
                  <a:srgbClr val="003C8B"/>
                </a:solidFill>
                <a:latin typeface="Microsoft YaHei"/>
              </a:rPr>
              <a:t>Qwen3-8B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0312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lang="zh-CN">
                <a:solidFill>
                  <a:srgbClr val="595959"/>
                </a:solidFill>
                <a:latin typeface="Microsoft YaHei"/>
              </a:rPr>
              <a:t>151936 行 × 4096 列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3760" y="2697480"/>
          <a:ext cx="4526280" cy="1874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960120"/>
                <a:gridCol w="960120"/>
                <a:gridCol w="457200"/>
                <a:gridCol w="1051560"/>
              </a:tblGrid>
              <a:tr h="468629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ID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…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4095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⋱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C7000B"/>
                          </a:solidFill>
                          <a:latin typeface="Microsoft YaHei"/>
                        </a:rPr>
                        <a:t>105538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C7000B"/>
                          </a:solidFill>
                          <a:latin typeface="Microsoft YaHei"/>
                        </a:rPr>
                        <a:t>-0.033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C7000B"/>
                          </a:solidFill>
                          <a:latin typeface="Microsoft YaHei"/>
                        </a:rPr>
                        <a:t>-0.014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C7000B"/>
                          </a:solidFill>
                          <a:latin typeface="Microsoft YaHei"/>
                        </a:rPr>
                        <a:t>…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C7000B"/>
                          </a:solidFill>
                          <a:latin typeface="Microsoft YaHei"/>
                        </a:rPr>
                        <a:t>0.018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⋱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⋮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23760" y="4773168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lang="zh-CN">
                <a:solidFill>
                  <a:srgbClr val="003C8B"/>
                </a:solidFill>
                <a:latin typeface="Microsoft YaHei"/>
              </a:rPr>
              <a:t>输入 105538（“中国的”）</a:t>
            </a:r>
          </a:p>
          <a:p>
            <a:pPr algn="ctr"/>
            <a:r>
              <a:rPr sz="1800" b="0" lang="zh-CN">
                <a:solidFill>
                  <a:srgbClr val="003C8B"/>
                </a:solidFill>
                <a:latin typeface="Microsoft YaHei"/>
              </a:rPr>
              <a:t>取出高亮行，得到 4096 维向量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 lang="zh-CN">
                <a:solidFill>
                  <a:srgbClr val="595959"/>
                </a:solidFill>
              </a:rPr>
              <a:t>内容参考自：Qwen3-8B config.json；本次 embedding 实测</a:t>
            </a:r>
          </a:p>
          <a:p>
            <a:pPr algn="r"/>
            <a:r>
              <a:rPr sz="950" i="1">
                <a:solidFill>
                  <a:srgbClr val="B5B5B5"/>
                </a:solidFill>
              </a:rPr>
              <a:t>https://huggingface.co/Qwen/Qwen3-8B/blob/b968826d9c46dd6066d109eabc6255188de91218/config.json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 Embedding 与 Hidden states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Embedding 查表得到初始 hidden states，每个 token 为 </a:t>
            </a:r>
            <a:r>
              <a:rPr lang="zh-CN" b="1">
                <a:solidFill>
                  <a:srgbClr val="C7000B"/>
                </a:solidFill>
              </a:rPr>
              <a:t>4096 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13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72800" cy="169062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>
                <a:solidFill>
                  <a:srgbClr val="202020"/>
                </a:solidFill>
                <a:latin typeface="Consolas"/>
              </a:rPr>
              <a:t>ids = inputs.input_ids                 </a:t>
            </a:r>
            <a:r>
              <a:rPr lang="zh-CN" sz="2200">
                <a:solidFill>
                  <a:srgbClr val="595959"/>
                </a:solidFill>
                <a:latin typeface="Consolas"/>
              </a:rPr>
              <a:t># [B, S]</a:t>
            </a:r>
          </a:p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>
                <a:solidFill>
                  <a:srgbClr val="202020"/>
                </a:solidFill>
                <a:latin typeface="Consolas"/>
              </a:rPr>
              <a:t>h = model.model.embed_tokens(ids)      </a:t>
            </a:r>
            <a:r>
              <a:rPr lang="zh-CN" sz="2200">
                <a:solidFill>
                  <a:srgbClr val="595959"/>
                </a:solidFill>
                <a:latin typeface="Consolas"/>
              </a:rPr>
              <a:t># [B, S, 4096]</a:t>
            </a:r>
          </a:p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>
                <a:solidFill>
                  <a:srgbClr val="202020"/>
                </a:solidFill>
                <a:latin typeface="Consolas"/>
              </a:rPr>
              <a:t>print(model.model.embed_tokens.weight.shape)</a:t>
            </a:r>
          </a:p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>
                <a:solidFill>
                  <a:srgbClr val="202020"/>
                </a:solidFill>
                <a:latin typeface="Consolas"/>
              </a:rPr>
              <a:t>print(h[</a:t>
            </a:r>
            <a:r>
              <a:rPr lang="zh-CN" sz="22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200">
                <a:solidFill>
                  <a:srgbClr val="202020"/>
                </a:solidFill>
                <a:latin typeface="Consolas"/>
              </a:rPr>
              <a:t>, -</a:t>
            </a:r>
            <a:r>
              <a:rPr lang="zh-CN" sz="22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200">
                <a:solidFill>
                  <a:srgbClr val="202020"/>
                </a:solidFill>
                <a:latin typeface="Consolas"/>
              </a:rPr>
              <a:t>, :</a:t>
            </a:r>
            <a:r>
              <a:rPr lang="zh-CN" sz="2200">
                <a:solidFill>
                  <a:srgbClr val="C7000B"/>
                </a:solidFill>
                <a:latin typeface="Consolas"/>
              </a:rPr>
              <a:t>4</a:t>
            </a:r>
            <a:r>
              <a:rPr lang="zh-CN" sz="2200">
                <a:solidFill>
                  <a:srgbClr val="202020"/>
                </a:solidFill>
                <a:latin typeface="Consolas"/>
              </a:rPr>
              <a:t>])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3611880"/>
          <a:ext cx="109728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实际 shape / 数值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embedding.weight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[151936, 4096]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22, 4096] · bfloat16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h[0, -1, :4]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0.0269, 0.0096, -0.0079, 0.0044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2.4 RMSNorm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先按均方根归一化，再乘可学习的逐维缩放权重 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14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266471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norm = model.model.layers[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].input_layernorm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w = norm.weight                       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[4096]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xf = h.float()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xf = xf * torch.rsqrt(xf.square().mean(-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keepdim=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 +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1e-6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normalized = w * xf.to(h.dtype)       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[B,S,4096]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endParaRPr lang="zh-CN" sz="2100">
              <a:solidFill>
                <a:srgbClr val="595959"/>
              </a:solidFill>
              <a:latin typeface="Consolas"/>
            </a:endParaRP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torch.testing.assert_close(normalized, norm(h))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RMSNorm 使用可学习的缩放权重 w；每个 token 独立计算平方均值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Query、Key 与 Value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用 Q 与各个 K 匹配，得到权重，再对对应的 V 做加权汇总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15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内容参考自：Jay Alammar / The Illustrated GPT-2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https://jalammar.github.io/illustrated-gpt2/</a:t>
            </a:r>
          </a:p>
        </p:txBody>
      </p:sp>
      <p:pic>
        <p:nvPicPr>
          <p:cNvPr id="10" name="Picture 9" descr="jay_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294" y="1828800"/>
            <a:ext cx="6482651" cy="3520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138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Q 决定怎么查，K 决定怎么匹配，V 提供被汇总的内容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三组权重产生 Q、K、V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同一个 X 分别乘三组权重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各权重通过训练学习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Qwen3-8B 的 Q 总宽度为 4096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K/V 总宽度各为 1024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随后分成 32 / 8 / 8 个 head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16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内容参考自：Jay Alammar / The Illustrated Transformer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https://jalammar.github.io/illustrated-transformer/</a:t>
            </a:r>
          </a:p>
        </p:txBody>
      </p:sp>
      <p:pic>
        <p:nvPicPr>
          <p:cNvPr id="10" name="Picture 9" descr="jay_qk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599" y="1353312"/>
            <a:ext cx="3899721" cy="44165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Q、K、V 投影与分头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Q/K/V 来自同一个归一化输入，使用</a:t>
            </a:r>
            <a:r>
              <a:rPr lang="zh-CN" b="1">
                <a:solidFill>
                  <a:srgbClr val="C7000B"/>
                </a:solidFill>
              </a:rPr>
              <a:t>三个独立线性层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17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10972800" cy="335813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a = model.model.layers[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].self_attn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x = model.model.layers[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].input_layernorm(h)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B, S, _ = x.shape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q = a.q_proj(x).view(B, S,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32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128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k = a.k_proj(x).view(B, S, 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8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128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v = a.v_proj(x).view(B, S, 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8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128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q = a.q_norm(q).transpose(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[B, 32, S, 128]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k = a.k_norm(k).transpose(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[B,  8, S, 128]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v = v.transpose(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         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[B,  8, S, 128]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q_norm/k_norm 沿每个 head 的 128 维计算；block 的 RMSNorm 沿 4096 维计算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Q、K、V 的实际内容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固定观察首层、head 0、最后一个输入 token 的前 4 个维度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18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377440"/>
          <a:ext cx="109728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张量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索引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Q（RoPE 前）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[0, 0, -1, :4]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-0.1074, 0.1670, 0.0864, 0.2354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K（RoPE 前）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[0, 0, -1, :4]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-5.0625, 0.3711, 3.4531, 1.5312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[0, 0, -1, :4]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-0.0005, 0.0024, -0.0123, -0.0256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983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400" b="1">
                <a:solidFill>
                  <a:srgbClr val="003C8B"/>
                </a:solidFill>
                <a:latin typeface="Microsoft YaHei"/>
              </a:rPr>
              <a:t>Q：当前查询　　K：匹配特征　　V：聚合的内容向量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2.6 Grouped-Query Attention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Qwen3-8B 使用 </a:t>
            </a:r>
            <a:r>
              <a:rPr lang="zh-CN" b="1">
                <a:solidFill>
                  <a:srgbClr val="C7000B"/>
                </a:solidFill>
              </a:rPr>
              <a:t>32 个 Q head、8 个 KV head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同一组的 4 个 Q head 共享 K/V，各自计算 attention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19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内容参考自：Ainslie et al. / GQA，Fig. 2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https://aclanthology.org/2023.emnlp-main.298/</a:t>
            </a:r>
          </a:p>
        </p:txBody>
      </p:sp>
      <p:pic>
        <p:nvPicPr>
          <p:cNvPr id="10" name="Picture 9" descr="g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317" y="2743200"/>
            <a:ext cx="6874605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385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原图为通用示意；本例每组 4 个 Q head，cache 始终保留 8 个 KV head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Rotary Position Embedding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RoPE 按 token 的位置旋转 Q/K，让 attention 感知位置关系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每个二维子空间使用不同旋转频率；V 保持不变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20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内容参考自：Su et al. / RoFormer，Fig. 1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https://arxiv.org/abs/2104.09864</a:t>
            </a:r>
          </a:p>
        </p:txBody>
      </p:sp>
      <p:pic>
        <p:nvPicPr>
          <p:cNvPr id="10" name="Picture 9" descr="r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727" y="2560320"/>
            <a:ext cx="4998064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229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图中的 mθ₁ 是第一对坐标的旋转角；后文用 α 表示角度、ω 表示角频率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二维旋转的坐标公式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固定一个 token、一个 head：每对坐标在二维平面内旋转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图中的旋转角是新增角度；原向量本身已有方向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内容参考自：Su et al. / RoFormer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https://arxiv.org/abs/2104.09864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003C8B"/>
                </a:solidFill>
                <a:latin typeface="Microsoft YaHei"/>
              </a:rPr>
              <a:t>r 是模长，β 是原方向角，α 是本次旋转角</a:t>
            </a:r>
          </a:p>
        </p:txBody>
      </p:sp>
      <p:pic>
        <p:nvPicPr>
          <p:cNvPr id="11" name="Picture 10" descr="formula_6b6561ffe0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82" y="2606040"/>
            <a:ext cx="4164329" cy="3543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2004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003C8B"/>
                </a:solidFill>
                <a:latin typeface="Microsoft YaHei"/>
              </a:rPr>
              <a:t>旋转后：和角公式展开为 cos / sin 的乘加</a:t>
            </a:r>
          </a:p>
        </p:txBody>
      </p:sp>
      <p:pic>
        <p:nvPicPr>
          <p:cNvPr id="13" name="Picture 12" descr="formula_2c0ae3bf11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682" y="3767328"/>
            <a:ext cx="5688330" cy="365760"/>
          </a:xfrm>
          <a:prstGeom prst="rect">
            <a:avLst/>
          </a:prstGeom>
        </p:spPr>
      </p:pic>
      <p:pic>
        <p:nvPicPr>
          <p:cNvPr id="14" name="Picture 13" descr="formula_78cc019366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82" y="4480560"/>
            <a:ext cx="561213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5229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Qwen3-8B：a 对应通道 i，b 对应通道 i+64；Q 与 K 分别使用同一旋转规则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旋转角度与 cos / sin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角度由位置 m 和通道对编号 i 决定，单位为弧度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22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pic>
        <p:nvPicPr>
          <p:cNvPr id="10" name="Picture 9" descr="formula_24accbd96a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032" y="1783080"/>
            <a:ext cx="6183630" cy="4305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423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000" b="0">
                <a:solidFill>
                  <a:srgbClr val="202020"/>
                </a:solidFill>
                <a:latin typeface="Microsoft YaHei"/>
              </a:rPr>
              <a:t>m：token 的位置；i = 0 … 63；d = 128；θ = rope_theta = 1,000,000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10972800" cy="2549143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inv_freq =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1.0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/ (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1_000_000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** (torch.arange(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128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device=h.device).float() /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128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))    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[64]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pos = torch.arange(S, device=h.device)[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prefill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freqs = pos.float()[..., 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 * inv_freq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[B,S,64]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emb = torch.cat((freqs, freqs), dim=-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)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[B,S,128]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cos = emb.cos().to(h.dtype)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sin = emb.sin().to(h.dtype)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cat 重复的是同一组 64 个角度，使通道 i 与 i+64 取到相同的 cos / sin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rotate_half 与旋转公式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rotate_half 将每对坐标 (a, b) 变成 (−b, a)，提供公式中的交叉项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23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353974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past_len =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prefill; decode: cache length BEFORE this call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pos = torch.arange(past_len, past_len + S, device=h.device)[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cos, sin = model.model.rotary_emb(h, pos)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[B,S,128]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cos, sin = cos[:, 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], sin[:, 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 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[B,1,S,128]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003C8B"/>
                </a:solidFill>
                <a:latin typeface="Consolas"/>
              </a:rPr>
              <a:t>def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rotate_half(x):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x1, x2 = x[..., :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64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], x[..., 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64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:]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return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torch.cat((-x2, x1), dim=-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endParaRPr lang="zh-CN" sz="2000">
              <a:solidFill>
                <a:srgbClr val="202020"/>
              </a:solidFill>
              <a:latin typeface="Consolas"/>
            </a:endParaRP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q_rot = q * cos + rotate_half(q) * sin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k_rot = k * cos + rotate_half(k) * 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95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Prefill 的位置为 0 … 21；第一次 decode 使用位置 22，不会重新从 0 开始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Attention 的加权汇总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一个 Q 与每个 K 做点积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缩放后用 softmax 得到权重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将权重乘对应的 V，再相加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示例：0.88 V₁ + 0.12 V₂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原图尚未加入 causal mask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Qwen3-8B 将分数除以 √128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24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内容参考自：Jay Alammar / The Illustrated Transformer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https://jalammar.github.io/illustrated-transformer/</a:t>
            </a:r>
          </a:p>
        </p:txBody>
      </p:sp>
      <p:pic>
        <p:nvPicPr>
          <p:cNvPr id="10" name="Picture 9" descr="jay_weigh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22704"/>
            <a:ext cx="4663440" cy="4432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Scaled Dot-Product Attention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拼接各 head 的 attention 输出，再用 o_proj 混合不同 head 的特征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25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内容参考自：Vaswani et al. / Attention Is All You Need，Fig. 2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https://arxiv.org/abs/1706.03762</a:t>
            </a:r>
          </a:p>
        </p:txBody>
      </p:sp>
      <p:pic>
        <p:nvPicPr>
          <p:cNvPr id="10" name="Picture 9" descr="paper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73" y="1856231"/>
            <a:ext cx="6501692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Causal Mask 的可见范围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在 softmax 前屏蔽未来位置，softmax 沿 key 维逐行计算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26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Continuous batching from first principles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https://huggingface.co/blog/continuous_batching</a:t>
            </a:r>
          </a:p>
        </p:txBody>
      </p:sp>
      <p:pic>
        <p:nvPicPr>
          <p:cNvPr id="10" name="Picture 9" descr="hf_masking_and_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62" y="1746504"/>
            <a:ext cx="5124995" cy="3675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50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代码用极小负数屏蔽未来位置，使其 softmax 权重为 0；不是将分数乘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Causal mask 与注意力权重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Prefill 中，每个位置只能读取自己和之前位置的 K/V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27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pic>
        <p:nvPicPr>
          <p:cNvPr id="10" name="Picture 9" descr="attention_pref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610"/>
            <a:ext cx="10652760" cy="39060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Eager attention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首层 prefill：计算 QK 分数、屏蔽未来位置，再对 V 加权求和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28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345719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003C8B"/>
                </a:solidFill>
                <a:latin typeface="Consolas"/>
              </a:rPr>
              <a:t>from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 transformers.models.qwen3.modeling_qwen3 </a:t>
            </a:r>
            <a:r>
              <a:rPr lang="zh-CN" sz="1950">
                <a:solidFill>
                  <a:srgbClr val="003C8B"/>
                </a:solidFill>
                <a:latin typeface="Consolas"/>
              </a:rPr>
              <a:t>import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 repeat_kv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K = repeat_kv(k_rot, 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4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            </a:t>
            </a:r>
            <a:r>
              <a:rPr lang="zh-CN" sz="1950">
                <a:solidFill>
                  <a:srgbClr val="595959"/>
                </a:solidFill>
                <a:latin typeface="Consolas"/>
              </a:rPr>
              <a:t># [B,32,S,128]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V = repeat_kv(v, 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4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                </a:t>
            </a:r>
            <a:r>
              <a:rPr lang="zh-CN" sz="1950">
                <a:solidFill>
                  <a:srgbClr val="595959"/>
                </a:solidFill>
                <a:latin typeface="Consolas"/>
              </a:rPr>
              <a:t># [B,32,S,128]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scores = (q_rot @ K.transpose(-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, -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)) * a.scaling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future = torch.ones(S, S, device=h.device, dtype=torch.bool).triu(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scores = scores.masked_fill(future, torch.finfo(q_rot.dtype).min)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probs = scores.softmax(-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, dtype=torch.float32).to(q_rot.dtype)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z = probs @ V                      </a:t>
            </a:r>
            <a:r>
              <a:rPr lang="zh-CN" sz="1950">
                <a:solidFill>
                  <a:srgbClr val="595959"/>
                </a:solidFill>
                <a:latin typeface="Consolas"/>
              </a:rPr>
              <a:t># [B,32,S,128]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z = z.transpose(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2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).reshape(B, S, </a:t>
            </a:r>
            <a:r>
              <a:rPr lang="zh-CN" sz="1950">
                <a:solidFill>
                  <a:srgbClr val="C7000B"/>
                </a:solidFill>
                <a:latin typeface="Consolas"/>
              </a:rPr>
              <a:t>4096</a:t>
            </a:r>
            <a:r>
              <a:rPr lang="zh-CN" sz="195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>
                <a:solidFill>
                  <a:srgbClr val="202020"/>
                </a:solidFill>
                <a:latin typeface="Consolas"/>
              </a:rPr>
              <a:t>attention_out = a.o_proj(z)         </a:t>
            </a:r>
            <a:r>
              <a:rPr lang="zh-CN" sz="1950">
                <a:solidFill>
                  <a:srgbClr val="595959"/>
                </a:solidFill>
                <a:latin typeface="Consolas"/>
              </a:rPr>
              <a:t># [B,S,4096]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本页 T = S；decode 中 K/V 还包含 cache 的历史部分，Q 只含当前输入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 SwiGLU MLP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两个分支映射到 12288 维，相乘后投影回 4096 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2549143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mlp = model.model.layers[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].mlp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u = h + attention_out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x = model.model.layers[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].post_attention_layernorm(u)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gate = torch.nn.functional.silu(mlp.gate_proj(x))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[B,S,12288]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up = mlp.up_proj(x)                 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[B,S,12288]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mlp_out = mlp.down_proj(gate * up)   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[B,S,4096]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h1 = u + mlp_out                                </a:t>
            </a:r>
            <a:r>
              <a:rPr lang="zh-CN" sz="2000">
                <a:solidFill>
                  <a:srgbClr val="595959"/>
                </a:solidFill>
                <a:latin typeface="Consolas"/>
              </a:rPr>
              <a:t># block 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4407408"/>
          <a:ext cx="10972800" cy="1024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实测对象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shape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</a:rPr>
                        <a:t>最后一个 token 的前 4 维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3C3C3C"/>
                          </a:solidFill>
                          <a:latin typeface="Microsoft YaHei"/>
                        </a:rPr>
                        <a:t>gate_proj 输出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[1,22,12288]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0.0527, -0.0535, -0.1357, 0.1230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3C3C3C"/>
                          </a:solidFill>
                          <a:latin typeface="Microsoft YaHei"/>
                        </a:rPr>
                        <a:t>MLP 输出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[1,22,4096]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3C3C3C"/>
                          </a:solidFill>
                          <a:latin typeface="Microsoft YaHei"/>
                        </a:rPr>
                        <a:t>0.0178, -0.0369, 0.0270, -0.0417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gate_proj 行展示 SiLU 之前的线性投影值；完整张量保存在 tensors.pt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2.10 Hidden states 的读取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模型有 </a:t>
            </a:r>
            <a:r>
              <a:rPr lang="zh-CN" b="1">
                <a:solidFill>
                  <a:srgbClr val="C7000B"/>
                </a:solidFill>
              </a:rPr>
              <a:t>36 个 block</a:t>
            </a:r>
            <a:r>
              <a:rPr lang="zh-CN"/>
              <a:t>，此接口记录 </a:t>
            </a:r>
            <a:r>
              <a:rPr lang="zh-CN" b="1">
                <a:solidFill>
                  <a:srgbClr val="C7000B"/>
                </a:solidFill>
              </a:rPr>
              <a:t>37 个状态张量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32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10972800" cy="122834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003C8B"/>
                </a:solidFill>
                <a:latin typeface="Consolas"/>
              </a:rPr>
              <a:t>with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torch.inference_mode():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out = model(**inputs, use_cache=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False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,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            output_hidden_states=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3035808"/>
          <a:ext cx="109728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API 索引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实测 shape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out.hidden_states[0]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Embedding 输出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[1,22,4096]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out.hidden_states[1]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第 0 个 block 输出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[1,22,4096]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out.hidden_states[-1]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末层输出经 Final RMSNorm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[1,22,4096]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0474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100" b="1">
                <a:solidFill>
                  <a:srgbClr val="003C8B"/>
                </a:solidFill>
                <a:latin typeface="Microsoft YaHei"/>
              </a:rPr>
              <a:t>最后状态的切片 [0, -1, :4]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86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0">
                <a:solidFill>
                  <a:srgbClr val="202020"/>
                </a:solidFill>
                <a:latin typeface="Consolas"/>
              </a:rPr>
              <a:t>1.1719, 0.3906, -0.2539, -0.8672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2.10 LM head 与下一个 Token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LM head 产生词表分数；greedy decoding 取最大分数的 ID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33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10972800" cy="127787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003C8B"/>
                </a:solidFill>
                <a:latin typeface="Consolas"/>
              </a:rPr>
              <a:t>with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torch.inference_mode():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logits = model.lm_head(out.hidden_states[-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])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[1,S,151936]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next_id = logits[:, 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:].argmax(-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                </a:t>
            </a:r>
            <a:r>
              <a:rPr lang="zh-CN" sz="2100">
                <a:solidFill>
                  <a:srgbClr val="595959"/>
                </a:solidFill>
                <a:latin typeface="Consolas"/>
              </a:rPr>
              <a:t># [1,1]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3090672"/>
          <a:ext cx="109728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候选 ID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Token 文本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Logit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Softmax 概率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105538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'中国的'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49.500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99.95335%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58695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'中国'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41.750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0.04305%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68990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'北京'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39.000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0.00275%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105492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'中华人民'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37.250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0.00048%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104554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'北京市'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37.000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0.00037%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上表为 prefill 最后一个位置的真实 top-5 候选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完整前缀重算的计算范围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把完整前缀送回模型，会重复计算历史位置的 Q/K/V 与中间状态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34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Continuous batching from first principles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https://huggingface.co/blog/continuous_batching</a:t>
            </a:r>
          </a:p>
        </p:txBody>
      </p:sp>
      <p:pic>
        <p:nvPicPr>
          <p:cNvPr id="10" name="Picture 9" descr="hf_naive_gene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923" y="1792224"/>
            <a:ext cx="4843952" cy="40599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一次 Prefill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完整 prompt 输入一次，建立各层 KV cache，并预测第一个 token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35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Caching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https://huggingface.co/docs/transformers/v4.51.3/cache_explanation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362229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003C8B"/>
                </a:solidFill>
                <a:latin typeface="Consolas"/>
              </a:rPr>
              <a:t>from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 transformers </a:t>
            </a:r>
            <a:r>
              <a:rPr lang="zh-CN" sz="2050">
                <a:solidFill>
                  <a:srgbClr val="003C8B"/>
                </a:solidFill>
                <a:latin typeface="Consolas"/>
              </a:rPr>
              <a:t>import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 DynamicCache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cache = DynamicCache()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ids, mask = inputs.input_ids, inputs.attention_mask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position = torch.arange(ids.shape[</a:t>
            </a:r>
            <a:r>
              <a:rPr lang="zh-CN" sz="20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], device=ids.device)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003C8B"/>
                </a:solidFill>
                <a:latin typeface="Consolas"/>
              </a:rPr>
              <a:t>with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 torch.inference_mode():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    out = model(input_ids=ids, attention_mask=mask,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                position_ids=position[</a:t>
            </a:r>
            <a:r>
              <a:rPr lang="zh-CN" sz="205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, :],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                cache_position=position,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                past_key_values=cache, use_cache=</a:t>
            </a:r>
            <a:r>
              <a:rPr lang="zh-CN" sz="205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50">
                <a:solidFill>
                  <a:srgbClr val="202020"/>
                </a:solidFill>
                <a:latin typeface="Consolas"/>
              </a:rPr>
              <a:t>next_id = out.logits[:, -</a:t>
            </a:r>
            <a:r>
              <a:rPr lang="zh-CN" sz="20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:].argmax(-</a:t>
            </a:r>
            <a:r>
              <a:rPr lang="zh-CN" sz="205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050">
                <a:solidFill>
                  <a:srgbClr val="20202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Prefill 张量形状总览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36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Prefill shape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维度含义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input_ids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22]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batch × 输入 token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hidden state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22, 4096]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batch × token × hidden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32, 22, 128]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 × Q head × S × D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每层 K / V cache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8, 22, 128]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 × KV head × T × 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attention probabilities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32, 22, 22]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batch × Q head × query × key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logits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22, 151936]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batch × token × 词表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next_id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 1]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一个尚未写入 cache 的新 token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一步 Decode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输入上轮选出的 token，mask 覆盖历史和当前输入，cache 复用历史 K/V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37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Caching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https://huggingface.co/docs/transformers/v4.51.3/cache_explanation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335813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595959"/>
                </a:solidFill>
                <a:latin typeface="Consolas"/>
              </a:rPr>
              <a:t># Stop first if next_id is EOS; otherwise consume it.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mask = torch.cat((mask, mask.new_ones((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))), dim=-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position = position[-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:] + 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003C8B"/>
                </a:solidFill>
                <a:latin typeface="Consolas"/>
              </a:rPr>
              <a:t>with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 torch.inference_mode():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out = model(input_ids=next_id, attention_mask=mask,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            position_ids=position[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None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, :],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            cache_position=position,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                past_key_values=cache, use_cache=</a:t>
            </a:r>
            <a:r>
              <a:rPr lang="zh-CN" sz="210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>
                <a:solidFill>
                  <a:srgbClr val="202020"/>
                </a:solidFill>
                <a:latin typeface="Consolas"/>
              </a:rPr>
              <a:t>next_id = out.logits[:, 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:].argmax(-</a:t>
            </a:r>
            <a:r>
              <a:rPr lang="zh-CN" sz="2100">
                <a:solidFill>
                  <a:srgbClr val="C7000B"/>
                </a:solidFill>
                <a:latin typeface="Consolas"/>
              </a:rPr>
              <a:t>1</a:t>
            </a:r>
            <a:r>
              <a:rPr lang="zh-CN" sz="2100">
                <a:solidFill>
                  <a:srgbClr val="202020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第一次 decode：input_ids [1,1]；mask [1,23]；position = [22]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KV Cache 保留历史计算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Attention 中，蓝色 K/V 复用，白色 K/V 与当前 Q 为本轮新算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新 Q 仍要读取全部历史 K/V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当前 token 仍需经过全部 36 个 block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38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Continuous batching from first principles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https://huggingface.co/blog/continuous_batching</a:t>
            </a:r>
          </a:p>
        </p:txBody>
      </p:sp>
      <p:pic>
        <p:nvPicPr>
          <p:cNvPr id="10" name="Picture 9" descr="hf_kv_ca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732" y="2770632"/>
            <a:ext cx="8199774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KV Cache 的内容与追加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每层保存 </a:t>
            </a:r>
            <a:r>
              <a:rPr lang="zh-CN" b="1">
                <a:solidFill>
                  <a:srgbClr val="C7000B"/>
                </a:solidFill>
              </a:rPr>
              <a:t>RoPE 后的 K</a:t>
            </a:r>
            <a:r>
              <a:rPr lang="zh-CN"/>
              <a:t> 与 </a:t>
            </a:r>
            <a:r>
              <a:rPr lang="zh-CN" b="1">
                <a:solidFill>
                  <a:srgbClr val="C7000B"/>
                </a:solidFill>
              </a:rPr>
              <a:t>投影后的 V</a:t>
            </a:r>
            <a:r>
              <a:rPr lang="zh-CN"/>
              <a:t>，沿序列维追加</a:t>
            </a:r>
          </a:p>
          <a:p>
            <a:pPr lvl="1" algn="l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历史 token 的 Q 不需要缓存，历史 K 也不需要再次旋转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39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Caching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https://huggingface.co/docs/transformers/v4.51.3/cache_explanation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300" b="1">
                <a:solidFill>
                  <a:srgbClr val="003C8B"/>
                </a:solidFill>
                <a:latin typeface="Microsoft YaHei"/>
              </a:rPr>
              <a:t>K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926080"/>
            <a:ext cx="5303520" cy="685800"/>
          </a:xfrm>
          <a:prstGeom prst="rect">
            <a:avLst/>
          </a:prstGeom>
          <a:solidFill>
            <a:srgbClr val="EDF4FA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历史 22 个位置的 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2926080"/>
            <a:ext cx="1508760" cy="685800"/>
          </a:xfrm>
          <a:prstGeom prst="rect">
            <a:avLst/>
          </a:prstGeom>
          <a:solidFill>
            <a:srgbClr val="E8F5F1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000">
                <a:solidFill>
                  <a:srgbClr val="003C8B"/>
                </a:solidFill>
                <a:latin typeface="Microsoft YaHei"/>
              </a:rPr>
              <a:t>新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100" b="1">
                <a:solidFill>
                  <a:srgbClr val="309481"/>
                </a:solidFill>
                <a:latin typeface="Microsoft YaHei"/>
              </a:rPr>
              <a:t>T =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300" b="1">
                <a:solidFill>
                  <a:srgbClr val="003C8B"/>
                </a:solidFill>
                <a:latin typeface="Microsoft YaHei"/>
              </a:rPr>
              <a:t>V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005072"/>
            <a:ext cx="5303520" cy="685800"/>
          </a:xfrm>
          <a:prstGeom prst="rect">
            <a:avLst/>
          </a:prstGeom>
          <a:solidFill>
            <a:srgbClr val="EDF4FA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200">
                <a:solidFill>
                  <a:srgbClr val="003C8B"/>
                </a:solidFill>
                <a:latin typeface="Microsoft YaHei"/>
              </a:rPr>
              <a:t>历史 22 个位置的 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4005072"/>
            <a:ext cx="1508760" cy="685800"/>
          </a:xfrm>
          <a:prstGeom prst="rect">
            <a:avLst/>
          </a:prstGeom>
          <a:solidFill>
            <a:srgbClr val="E8F5F1"/>
          </a:solidFill>
          <a:ln w="10160">
            <a:solidFill>
              <a:srgbClr val="003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2000">
                <a:solidFill>
                  <a:srgbClr val="003C8B"/>
                </a:solidFill>
                <a:latin typeface="Microsoft YaHei"/>
              </a:rPr>
              <a:t>新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09651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100" b="1">
                <a:solidFill>
                  <a:srgbClr val="309481"/>
                </a:solidFill>
                <a:latin typeface="Microsoft YaHei"/>
              </a:rPr>
              <a:t>T =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395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300" b="1">
                <a:solidFill>
                  <a:srgbClr val="003C8B"/>
                </a:solidFill>
                <a:latin typeface="Microsoft YaHei"/>
              </a:rPr>
              <a:t>每层 K、V 各自：[1, 8, 22, 128]  变为  [1, 8, 23, 128]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Prefill 与 Decode 的形状对比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40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Prefill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第一次 Decode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输入 token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[1,1]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hidden state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[1,22,4096]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[1,1,4096]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本次 Q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[1,32,22,128]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[1,32,1,128]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本次新 K/V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[1,8,22,128]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[1,8,1,128]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累计 K/V cache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[1,8,22,128]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[1,8,23,128]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attention probabilities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[1,32,22,22]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[1,32,1,23]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logits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[1,22,151936]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[1,1,151936]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Decode 读取全部历史 K/V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新 query 位于位置 </a:t>
            </a:r>
            <a:r>
              <a:rPr lang="zh-CN" b="1">
                <a:solidFill>
                  <a:srgbClr val="C7000B"/>
                </a:solidFill>
              </a:rPr>
              <a:t>22</a:t>
            </a:r>
            <a:r>
              <a:rPr lang="zh-CN"/>
              <a:t>，可以关注包含自身的全部 23 个位置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Qwen3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pic>
        <p:nvPicPr>
          <p:cNvPr id="10" name="Picture 9" descr="attention_d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68225"/>
            <a:ext cx="10652760" cy="2350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074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600" b="1">
                <a:solidFill>
                  <a:srgbClr val="003C8B"/>
                </a:solidFill>
                <a:latin typeface="Microsoft YaHei"/>
              </a:rPr>
              <a:t>每层每个 Q head 计算 1 个 query，读取 T 个 K/V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KV Cache 的存储量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每处理一个新输入位置，36 层各自向 cache 追加该位置的 K/V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42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内容参考自：Qwen3-8B 配置与本次张量采集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https://huggingface.co/Qwen/Qwen3-8B/blob/b968826d9c46dd6066d109eabc6255188de91218/config.json</a:t>
            </a:r>
          </a:p>
        </p:txBody>
      </p:sp>
      <p:pic>
        <p:nvPicPr>
          <p:cNvPr id="10" name="Picture 9" descr="cache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34" y="1965960"/>
            <a:ext cx="10659291" cy="932688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3218688"/>
          <a:ext cx="1097280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zh-CN" sz="2100" b="1">
                          <a:solidFill>
                            <a:srgbClr val="FFFFFF"/>
                          </a:solidFill>
                          <a:latin typeface="Microsoft YaHei"/>
                        </a:rPr>
                        <a:t>上下文长度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100" b="1">
                          <a:solidFill>
                            <a:srgbClr val="FFFFFF"/>
                          </a:solidFill>
                          <a:latin typeface="Microsoft YaHei"/>
                        </a:rPr>
                        <a:t>全部 36 层 K/V 的逻辑存储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zh-CN" sz="2100" b="1">
                          <a:solidFill>
                            <a:srgbClr val="3C3C3C"/>
                          </a:solidFill>
                          <a:latin typeface="Microsoft YaHei"/>
                        </a:rPr>
                        <a:t>每新增 1 个缓存位置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100" b="0">
                          <a:solidFill>
                            <a:srgbClr val="3C3C3C"/>
                          </a:solidFill>
                          <a:latin typeface="Microsoft YaHei"/>
                        </a:rPr>
                        <a:t>147456 bytes = 144 KiB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zh-CN" sz="2100" b="1">
                          <a:solidFill>
                            <a:srgbClr val="3C3C3C"/>
                          </a:solidFill>
                          <a:latin typeface="Microsoft YaHei"/>
                        </a:rPr>
                        <a:t>Prefill：T = 22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100" b="0">
                          <a:solidFill>
                            <a:srgbClr val="3C3C3C"/>
                          </a:solidFill>
                          <a:latin typeface="Microsoft YaHei"/>
                        </a:rPr>
                        <a:t>3,244,032 bytes = 3.0938 MiB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zh-CN" sz="2100" b="1">
                          <a:solidFill>
                            <a:srgbClr val="3C3C3C"/>
                          </a:solidFill>
                          <a:latin typeface="Microsoft YaHei"/>
                        </a:rPr>
                        <a:t>T = 4096（按公式计算）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100" b="0">
                          <a:solidFill>
                            <a:srgbClr val="3C3C3C"/>
                          </a:solidFill>
                          <a:latin typeface="Microsoft YaHei"/>
                        </a:rPr>
                        <a:t>576 MiB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只统计 K/V 张量；未包含权重、临时激活和显存分配器预留空间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3.5 一次完整生成的实测记录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43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400" b="1">
                <a:solidFill>
                  <a:srgbClr val="003C8B"/>
                </a:solidFill>
                <a:latin typeface="Microsoft YaHei"/>
              </a:rPr>
              <a:t>输入：中国的首都是哪里？请用一句话回答。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810512"/>
          <a:ext cx="109728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Forward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输入长度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位置 / 末位置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Cache 长度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FFFFFF"/>
                          </a:solidFill>
                          <a:latin typeface="Microsoft YaHei"/>
                        </a:rPr>
                        <a:t>预测 Token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prefill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'中国的'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decode_1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'首'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decode_2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'都是'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decode_3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'北京'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decode_4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'。'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900" b="1">
                          <a:solidFill>
                            <a:srgbClr val="3C3C3C"/>
                          </a:solidFill>
                          <a:latin typeface="Microsoft YaHei"/>
                        </a:rPr>
                        <a:t>decode_5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900" b="0">
                          <a:solidFill>
                            <a:srgbClr val="3C3C3C"/>
                          </a:solidFill>
                          <a:latin typeface="Microsoft YaHei"/>
                        </a:rPr>
                        <a:t>'&lt;|im_end|&gt;'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400" b="1">
                <a:solidFill>
                  <a:srgbClr val="309481"/>
                </a:solidFill>
                <a:latin typeface="Microsoft YaHei"/>
              </a:rPr>
              <a:t>最终输出：中国的首都是北京。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推理结果的交叉检查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同一份权重、同一输入与 greedy 策略下，比较三种执行路径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44</a:t>
            </a:r>
            <a:endParaRPr lang="zh-CN" alt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920240"/>
          <a:ext cx="109728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检查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</a:rPr>
                        <a:t>本次结果</a:t>
                      </a:r>
                    </a:p>
                  </a:txBody>
                  <a:tcPr marL="109728" marR="73152" marT="36576" marB="36576" anchor="ctr">
                    <a:solidFill>
                      <a:srgbClr val="003C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最简手写循环 vs 采集脚本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生成 token ID 序列完全一致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手写循环 vs model.generate()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生成 token ID 序列完全一致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缓存推理 vs 每轮完整前缀重算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每轮 argmax 一致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首层：追加前后的历史 K/V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首层历史切片逐元素完全相同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lang="zh-CN" sz="2000" b="1">
                          <a:solidFill>
                            <a:srgbClr val="3C3C3C"/>
                          </a:solidFill>
                          <a:latin typeface="Microsoft YaHei"/>
                        </a:rPr>
                        <a:t>重算与缓存路径的 logits 最大绝对差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b="0">
                          <a:solidFill>
                            <a:srgbClr val="3C3C3C"/>
                          </a:solidFill>
                          <a:latin typeface="Microsoft YaHei"/>
                        </a:rPr>
                        <a:t>0.750000（BF16，限本次实验）</a:t>
                      </a:r>
                    </a:p>
                  </a:txBody>
                  <a:tcPr marL="109728" marR="73152" marT="36576" marB="36576" anchor="ctr">
                    <a:solidFill>
                      <a:srgbClr val="ED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最简循环中的关键边界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Prefill 预测 y₁；decode 输入 y₁，再预测 y₂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Decode 的 input_ids 长度为 1，attention_mask 覆盖</a:t>
            </a:r>
            <a:r>
              <a:rPr lang="zh-CN" b="1">
                <a:solidFill>
                  <a:srgbClr val="C7000B"/>
                </a:solidFill>
              </a:rPr>
              <a:t>完整上下文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position 随 cache 长度递增，已缓存的 K 不再做 RoPE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cache 每层保存 K/V，</a:t>
            </a:r>
            <a:r>
              <a:rPr lang="zh-CN" b="1">
                <a:solidFill>
                  <a:srgbClr val="C7000B"/>
                </a:solidFill>
              </a:rPr>
              <a:t>不保存 Q 或全部 hidden states</a:t>
            </a:r>
          </a:p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先检查 EOS，再决定是否执行下一轮 forward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45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内容参考自：Hugging Face / Caching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https://huggingface.co/docs/transformers/v4.51.3/cache_explanation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4.3 运行代码与课堂实验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配套文件包含最简推理、张量采集和本次实测数据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46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972800" cy="2549143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595959"/>
                </a:solidFill>
                <a:latin typeface="Consolas"/>
              </a:rPr>
              <a:t># See README.md for the tested dependency versions.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python code/minimal_inference.py --model Qwen/Qwen3-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8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B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python code/walkthrough_prefill.py --model Qwen/Qwen3-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8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B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python code/collect_trace.py --model Qwen/Qwen3-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8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B --out my_trace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endParaRPr lang="zh-CN" sz="2000">
              <a:solidFill>
                <a:srgbClr val="202020"/>
              </a:solidFill>
              <a:latin typeface="Consolas"/>
            </a:endParaRP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595959"/>
                </a:solidFill>
                <a:latin typeface="Consolas"/>
              </a:rPr>
              <a:t># data/trace.json       shapes, indexed values, generation trace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595959"/>
                </a:solidFill>
                <a:latin typeface="Consolas"/>
              </a:rPr>
              <a:t># data/tensors.pt       full layer-0 tensors: prefill / decode_1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3542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003C8B"/>
                </a:solidFill>
                <a:latin typeface="Microsoft YaHei"/>
              </a:rPr>
              <a:t>实验 1：修改 prompt 长度，预测所有 shape 的变化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005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003C8B"/>
                </a:solidFill>
                <a:latin typeface="Microsoft YaHei"/>
              </a:rPr>
              <a:t>实验 2：读取 Q/K 的完整 128 维，手算并核对一次 RoPE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046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003C8B"/>
                </a:solidFill>
                <a:latin typeface="Microsoft YaHei"/>
              </a:rPr>
              <a:t>实验 3：去掉 cache，比较生成结果与重复计算的范围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附录：中间张量的采集位置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Linear 输出用 forward hook，RoPE 前后在原函数调用处记录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47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i="1">
                <a:solidFill>
                  <a:srgbClr val="595959"/>
                </a:solidFill>
              </a:rPr>
              <a:t>内容参考自：Transformers v4.51.3 / 采集脚本对应位置</a:t>
            </a:r>
          </a:p>
          <a:p>
            <a:pPr algn="r"/>
            <a:r>
              <a:rPr lang="zh-CN" sz="950" i="1">
                <a:solidFill>
                  <a:srgbClr val="B5B5B5"/>
                </a:solidFill>
              </a:rPr>
              <a:t>https://github.com/huggingface/transformers/blob/v4.51.3/src/transformers/models/qwen3/modeling_qwen3.py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3539744"/>
          </a:xfrm>
          <a:prstGeom prst="rect">
            <a:avLst/>
          </a:prstGeom>
          <a:solidFill>
            <a:srgbClr val="EDF4FA"/>
          </a:solidFill>
        </p:spPr>
        <p:txBody>
          <a:bodyPr wrap="none" lIns="164592" tIns="109728" rIns="109728" bIns="9144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saved = {}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003C8B"/>
                </a:solidFill>
                <a:latin typeface="Consolas"/>
              </a:rPr>
              <a:t>def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hook(module, args, output):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saved[</a:t>
            </a:r>
            <a:r>
              <a:rPr lang="zh-CN" sz="2000">
                <a:solidFill>
                  <a:srgbClr val="309481"/>
                </a:solidFill>
                <a:latin typeface="Consolas"/>
              </a:rPr>
              <a:t>"q_projection"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 = output.detach().cpu().clone()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endParaRPr lang="zh-CN" sz="2000">
              <a:solidFill>
                <a:srgbClr val="202020"/>
              </a:solidFill>
              <a:latin typeface="Consolas"/>
            </a:endParaRP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q_proj = model.model.layers[</a:t>
            </a:r>
            <a:r>
              <a:rPr lang="zh-CN" sz="2000">
                <a:solidFill>
                  <a:srgbClr val="C7000B"/>
                </a:solidFill>
                <a:latin typeface="Consolas"/>
              </a:rPr>
              <a:t>0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].self_attn.q_proj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handle = q_proj.register_forward_hook(hook)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003C8B"/>
                </a:solidFill>
                <a:latin typeface="Consolas"/>
              </a:rPr>
              <a:t>with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 torch.inference_mode():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    out = model(**inputs, use_cache=</a:t>
            </a:r>
            <a:r>
              <a:rPr lang="zh-CN" sz="2000">
                <a:solidFill>
                  <a:srgbClr val="003C8B"/>
                </a:solidFill>
                <a:latin typeface="Consolas"/>
              </a:rPr>
              <a:t>True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handle.remove()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>
                <a:solidFill>
                  <a:srgbClr val="202020"/>
                </a:solidFill>
                <a:latin typeface="Consolas"/>
              </a:rPr>
              <a:t>print(saved[</a:t>
            </a:r>
            <a:r>
              <a:rPr lang="zh-CN" sz="2000">
                <a:solidFill>
                  <a:srgbClr val="309481"/>
                </a:solidFill>
                <a:latin typeface="Consolas"/>
              </a:rPr>
              <a:t>"q_projection"</a:t>
            </a:r>
            <a:r>
              <a:rPr lang="zh-CN" sz="2000">
                <a:solidFill>
                  <a:srgbClr val="202020"/>
                </a:solidFill>
                <a:latin typeface="Consolas"/>
              </a:rPr>
              <a:t>].shape)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0">
                <a:solidFill>
                  <a:srgbClr val="595959"/>
                </a:solidFill>
                <a:latin typeface="Microsoft YaHei"/>
              </a:rPr>
              <a:t>RoPE、attention probabilities 与 cache 的完整采集实现见 collect_trace.py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 SwiGLU MLP 模块结构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同一输入 x 分成两条投影分支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W：gate_proj，4096→12288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V：up_proj，4096→12288</a:t>
            </a:r>
          </a:p>
          <a:p>
            <a:pPr algn="l" lvl="0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gate 经 SiLU 后，与 up 逐元素相乘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两路均为 [B,S,12288]</a:t>
            </a:r>
          </a:p>
          <a:p>
            <a:pPr algn="l" lvl="0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W₂：down_proj，12288→4096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29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 lang="zh-CN">
                <a:solidFill>
                  <a:srgbClr val="595959"/>
                </a:solidFill>
              </a:rPr>
              <a:t>内容参考自：Sebastian Raschka / Fig. 6，右下模块子图</a:t>
            </a:r>
          </a:p>
          <a:p>
            <a:pPr algn="r"/>
            <a:r>
              <a:rPr sz="950" i="1">
                <a:solidFill>
                  <a:srgbClr val="B5B5B5"/>
                </a:solidFill>
              </a:rPr>
              <a:t>https://magazine.sebastianraschka.com/p/from-gpt-2-to-gpt-oss-analyzing-the</a:t>
            </a:r>
          </a:p>
        </p:txBody>
      </p:sp>
      <p:pic>
        <p:nvPicPr>
          <p:cNvPr id="10" name="Picture 9" descr="swiglu_module_original.png"/>
          <p:cNvPicPr>
            <a:picLocks noChangeAspect="1"/>
          </p:cNvPicPr>
          <p:nvPr/>
        </p:nvPicPr>
        <p:blipFill>
          <a:blip r:embed="rId3"/>
          <a:srcRect l="53234" t="51777" r="13930" b="11137"/>
          <a:stretch>
            <a:fillRect/>
          </a:stretch>
        </p:blipFill>
        <p:spPr>
          <a:xfrm>
            <a:off x="7223760" y="1554480"/>
            <a:ext cx="3931920" cy="37293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zh-CN">
                <a:solidFill>
                  <a:srgbClr val="595959"/>
                </a:solidFill>
                <a:latin typeface="Microsoft YaHei"/>
              </a:rPr>
              <a:t>原图由下向上读；Qwen3 选择 Swish / SiLU，圆圈中的 × 表示逐元素相乘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D57C142F-77B8-4A91-E3CC-5001ED11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</p:spPr>
        <p:txBody>
          <a:bodyPr rot="0" vert="horz" wrap="non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3200" b="1" i="0" u="none" strike="noStrike" spc="0" baseline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 SwiGLU 的门控原理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03AEF6B-3203-1D93-5103-260AC7A5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1" y="1027072"/>
            <a:ext cx="6582342" cy="5237265"/>
          </a:xfrm>
        </p:spPr>
        <p:txBody>
          <a:bodyPr wrap="square"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 algn="l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SiLU 对 gate 投影逐元素激活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z 为 gate 投影，v 为 up 投影</a:t>
            </a:r>
          </a:p>
          <a:p>
            <a:pPr algn="l" lvl="0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门控值随当前 token 的输入变化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可以为负，也可以大于 1</a:t>
            </a:r>
          </a:p>
          <a:p>
            <a:pPr algn="l" lvl="0"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/>
              <a:t>与 up 分支逐通道相乘</a:t>
            </a:r>
          </a:p>
          <a:p>
            <a:pPr algn="l" lvl="1"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/>
              <a:t>j 为通道编号，乘后再做 down_proj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8FB7-99ED-D7D5-A5D9-95DDF74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/>
              <a:t>30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06240" y="5989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 lang="zh-CN">
                <a:solidFill>
                  <a:srgbClr val="595959"/>
                </a:solidFill>
              </a:rPr>
              <a:t>内容参考自：Sebastian Raschka / Fig. 5，激活函数曲线子图</a:t>
            </a:r>
          </a:p>
          <a:p>
            <a:pPr algn="r"/>
            <a:r>
              <a:rPr sz="950" i="1">
                <a:solidFill>
                  <a:srgbClr val="B5B5B5"/>
                </a:solidFill>
              </a:rPr>
              <a:t>https://magazine.sebastianraschka.com/p/from-gpt-2-to-gpt-oss-analyzing-the</a:t>
            </a:r>
          </a:p>
        </p:txBody>
      </p:sp>
      <p:pic>
        <p:nvPicPr>
          <p:cNvPr id="10" name="Picture 9" descr="formula_86314251f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40" y="1353312"/>
            <a:ext cx="2956560" cy="419100"/>
          </a:xfrm>
          <a:prstGeom prst="rect">
            <a:avLst/>
          </a:prstGeom>
        </p:spPr>
      </p:pic>
      <p:pic>
        <p:nvPicPr>
          <p:cNvPr id="11" name="Picture 10" descr="formula_fe265ce7fc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540" y="2084831"/>
            <a:ext cx="1127760" cy="316230"/>
          </a:xfrm>
          <a:prstGeom prst="rect">
            <a:avLst/>
          </a:prstGeom>
        </p:spPr>
      </p:pic>
      <p:pic>
        <p:nvPicPr>
          <p:cNvPr id="12" name="Picture 11" descr="swiglu_silu_curve.png"/>
          <p:cNvPicPr>
            <a:picLocks noChangeAspect="1"/>
          </p:cNvPicPr>
          <p:nvPr/>
        </p:nvPicPr>
        <p:blipFill>
          <a:blip r:embed="rId5"/>
          <a:srcRect l="43141" t="16129" b="19355"/>
          <a:stretch>
            <a:fillRect/>
          </a:stretch>
        </p:blipFill>
        <p:spPr>
          <a:xfrm>
            <a:off x="6858000" y="2651760"/>
            <a:ext cx="4663440" cy="2914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zh-CN">
                <a:solidFill>
                  <a:srgbClr val="595959"/>
                </a:solidFill>
                <a:latin typeface="Microsoft YaHei"/>
              </a:rPr>
              <a:t>绿色点线为 SiLU / Swish；SiLU 是激活函数，SwiGLU 还包含两分支的门控相乘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8764</Words>
  <Application>Microsoft Macintosh PowerPoint</Application>
  <PresentationFormat>宽屏</PresentationFormat>
  <Paragraphs>904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Microsoft YaHei</vt:lpstr>
      <vt:lpstr>Microsoft YaHei</vt:lpstr>
      <vt:lpstr>Arial</vt:lpstr>
      <vt:lpstr>Consolas</vt:lpstr>
      <vt:lpstr>Wingdings</vt:lpstr>
      <vt:lpstr>Office 主题​​</vt:lpstr>
      <vt:lpstr>LLM Inference 入门</vt:lpstr>
      <vt:lpstr>教程目标与实验范围</vt:lpstr>
      <vt:lpstr>1.1 自回归生成的循环</vt:lpstr>
      <vt:lpstr>1.2 自回归生成</vt:lpstr>
      <vt:lpstr>1.3 Transformer 与 Decoder-only</vt:lpstr>
      <vt:lpstr>1.4 Qwen3-8B 整体结构</vt:lpstr>
      <vt:lpstr>1.5 模型配置的含义</vt:lpstr>
      <vt:lpstr>1.6 Decoder block 与残差连接</vt:lpstr>
      <vt:lpstr>2.1 模型加载</vt:lpstr>
      <vt:lpstr>2.2 Chat template 与 Tokenizer</vt:lpstr>
      <vt:lpstr>2.3 实际输入的 Token</vt:lpstr>
      <vt:lpstr>2.4 Embedding 查表的含义</vt:lpstr>
      <vt:lpstr>2.5 Embedding 与 Hidden states</vt:lpstr>
      <vt:lpstr>2.6 RMSNorm</vt:lpstr>
      <vt:lpstr>2.7 Query、Key 与 Value</vt:lpstr>
      <vt:lpstr>2.8 三组权重产生 Q、K、V</vt:lpstr>
      <vt:lpstr>2.9 Q、K、V 投影与分头</vt:lpstr>
      <vt:lpstr>2.10 Q、K、V 的实际内容</vt:lpstr>
      <vt:lpstr>2.11 Grouped-Query Attention</vt:lpstr>
      <vt:lpstr>2.12 Rotary Position Embedding</vt:lpstr>
      <vt:lpstr>2.13 二维旋转的坐标公式</vt:lpstr>
      <vt:lpstr>2.14 旋转角度与 cos / sin</vt:lpstr>
      <vt:lpstr>2.15 rotate_half 与旋转公式</vt:lpstr>
      <vt:lpstr>2.17 Attention 的加权汇总</vt:lpstr>
      <vt:lpstr>2.18 Scaled Dot-Product Attention</vt:lpstr>
      <vt:lpstr>2.19 Causal Mask 的可见范围</vt:lpstr>
      <vt:lpstr>2.20 Causal mask 与注意力权重</vt:lpstr>
      <vt:lpstr>2.21 Eager attention</vt:lpstr>
      <vt:lpstr>2.22 SwiGLU MLP</vt:lpstr>
      <vt:lpstr>2.23 Hidden states 的读取</vt:lpstr>
      <vt:lpstr>2.24 LM head 与下一个 Token</vt:lpstr>
      <vt:lpstr>3.1 完整前缀重算的计算范围</vt:lpstr>
      <vt:lpstr>3.2 一次 Prefill</vt:lpstr>
      <vt:lpstr>3.3 Prefill 张量形状总览</vt:lpstr>
      <vt:lpstr>3.4 一步 Decode</vt:lpstr>
      <vt:lpstr>3.5 KV Cache 保留历史计算</vt:lpstr>
      <vt:lpstr>3.6 KV Cache 的内容与追加</vt:lpstr>
      <vt:lpstr>3.7 Prefill 与 Decode 的形状对比</vt:lpstr>
      <vt:lpstr>3.8 Decode 读取全部历史 K/V</vt:lpstr>
      <vt:lpstr>3.9 KV Cache 的存储量</vt:lpstr>
      <vt:lpstr>3.10 一次完整生成的实测记录</vt:lpstr>
      <vt:lpstr>4.1 推理结果的交叉检查</vt:lpstr>
      <vt:lpstr>4.2 最简循环中的关键边界</vt:lpstr>
      <vt:lpstr>4.3 运行代码与课堂实验</vt:lpstr>
      <vt:lpstr>附录：中间张量的采集位置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Qwen3-8B 最简推理教程</dc:title>
  <dc:subject>模型结构、Transformers、Prefill、Decode、RoPE 与 KV Cache</dc:subject>
  <dc:creator>Long</dc:creator>
  <cp:keywords>Qwen3-8B, Transformers, prefill, decode, KV cache, RoPE</cp:keywords>
  <cp:lastModifiedBy>longlingkun</cp:lastModifiedBy>
  <cp:revision>489</cp:revision>
  <dcterms:created xsi:type="dcterms:W3CDTF">2025-09-08T09:32:25Z</dcterms:created>
  <dcterms:modified xsi:type="dcterms:W3CDTF">2026-09-09T08:58:13Z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DDEA6C05B4F0AFC0DE9CBE689F108008_43</vt:lpwstr>
  </property>
  <property fmtid="{D5CDD505-2E9C-101B-9397-08002B2CF9AE}" pid="3" name="KSOProductBuildVer">
    <vt:lpwstr>2052-6.5.2.8766</vt:lpwstr>
  </property>
</Properties>
</file>