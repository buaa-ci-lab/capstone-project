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84" y="64"/>
      </p:cViewPr>
      <p:guideLst>
        <p:guide orient="horz" pos="2191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/>
          <p:cNvSpPr/>
          <p:nvPr/>
        </p:nvSpPr>
        <p:spPr>
          <a:xfrm>
            <a:off x="8517754" y="3914361"/>
            <a:ext cx="3626415" cy="279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3548022" y="908808"/>
            <a:ext cx="4827078" cy="3520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>
            <a:off x="8509437" y="908462"/>
            <a:ext cx="3626415" cy="2940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3514650" y="4669643"/>
            <a:ext cx="4891862" cy="20534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96793" y="915260"/>
            <a:ext cx="3281725" cy="573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/>
          <p:cNvCxnSpPr/>
          <p:nvPr/>
        </p:nvCxnSpPr>
        <p:spPr>
          <a:xfrm>
            <a:off x="96793" y="801397"/>
            <a:ext cx="12095207" cy="4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707833" y="844732"/>
            <a:ext cx="13703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A1410"/>
                </a:solidFill>
              </a:rPr>
              <a:t>KV Cache</a:t>
            </a:r>
            <a:r>
              <a:rPr lang="zh-CN" altLang="en-US" sz="1600" b="1" dirty="0">
                <a:solidFill>
                  <a:srgbClr val="7A1410"/>
                </a:solidFill>
              </a:rPr>
              <a:t>量化</a:t>
            </a:r>
          </a:p>
        </p:txBody>
      </p:sp>
      <p:cxnSp>
        <p:nvCxnSpPr>
          <p:cNvPr id="125" name="Straight Connector 124"/>
          <p:cNvCxnSpPr/>
          <p:nvPr/>
        </p:nvCxnSpPr>
        <p:spPr>
          <a:xfrm>
            <a:off x="3467100" y="887822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>
            <a:off x="8447594" y="887822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795" y="1595755"/>
            <a:ext cx="3618865" cy="1094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135" y="1186815"/>
            <a:ext cx="3522980" cy="466725"/>
          </a:xfrm>
          <a:prstGeom prst="rect">
            <a:avLst/>
          </a:prstGeom>
        </p:spPr>
      </p:pic>
      <p:sp>
        <p:nvSpPr>
          <p:cNvPr id="5" name="TextBox 92"/>
          <p:cNvSpPr txBox="1"/>
          <p:nvPr/>
        </p:nvSpPr>
        <p:spPr>
          <a:xfrm>
            <a:off x="10570845" y="2690495"/>
            <a:ext cx="1532890" cy="1087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1000" b="1" dirty="0">
                <a:solidFill>
                  <a:schemeClr val="tx1"/>
                </a:solidFill>
              </a:rPr>
              <a:t>KV Cache</a:t>
            </a:r>
            <a:r>
              <a:rPr lang="zh-CN" altLang="en-US" sz="1000" b="1" dirty="0">
                <a:solidFill>
                  <a:schemeClr val="tx1"/>
                </a:solidFill>
              </a:rPr>
              <a:t>初始为</a:t>
            </a:r>
            <a:r>
              <a:rPr lang="en-US" altLang="zh-CN" sz="1000" b="1" dirty="0">
                <a:solidFill>
                  <a:schemeClr val="tx1"/>
                </a:solidFill>
              </a:rPr>
              <a:t>FP16</a:t>
            </a:r>
            <a:r>
              <a:rPr lang="zh-CN" altLang="en-US" sz="1000" b="1" dirty="0">
                <a:solidFill>
                  <a:schemeClr val="tx1"/>
                </a:solidFill>
              </a:rPr>
              <a:t>，通</a:t>
            </a: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过调整不同量化版本来</a:t>
            </a: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降低</a:t>
            </a:r>
            <a:r>
              <a:rPr lang="en-US" altLang="zh-CN" sz="1000" b="1" dirty="0">
                <a:solidFill>
                  <a:schemeClr val="tx1"/>
                </a:solidFill>
              </a:rPr>
              <a:t>kv cache</a:t>
            </a:r>
            <a:r>
              <a:rPr lang="zh-CN" altLang="en-US" sz="1000" b="1" dirty="0">
                <a:solidFill>
                  <a:schemeClr val="tx1"/>
                </a:solidFill>
              </a:rPr>
              <a:t>占用内存，</a:t>
            </a: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最终在不明显影响性能</a:t>
            </a: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的情况下选择</a:t>
            </a:r>
            <a:r>
              <a:rPr lang="en-US" altLang="zh-CN" sz="1000" b="1" dirty="0">
                <a:solidFill>
                  <a:schemeClr val="tx1"/>
                </a:solidFill>
              </a:rPr>
              <a:t>INT8</a:t>
            </a:r>
            <a:r>
              <a:rPr lang="zh-CN" altLang="en-US" sz="1000" b="1" dirty="0">
                <a:solidFill>
                  <a:schemeClr val="tx1"/>
                </a:solidFill>
              </a:rPr>
              <a:t>量化版</a:t>
            </a: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本。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755" y="2689860"/>
            <a:ext cx="1972945" cy="2851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770" y="3077845"/>
            <a:ext cx="1974215" cy="298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975" y="3479165"/>
            <a:ext cx="1981835" cy="302260"/>
          </a:xfrm>
          <a:prstGeom prst="rect">
            <a:avLst/>
          </a:prstGeom>
        </p:spPr>
      </p:pic>
      <p:pic>
        <p:nvPicPr>
          <p:cNvPr id="9" name="图片 8" descr="图片包含 形状&#10;&#10;AI 生成的内容可能不正确。">
            <a:extLst>
              <a:ext uri="{FF2B5EF4-FFF2-40B4-BE49-F238E27FC236}">
                <a16:creationId xmlns:a16="http://schemas.microsoft.com/office/drawing/2014/main" id="{9E82A78C-E930-F7CB-F454-8270E817386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9" y="1884892"/>
            <a:ext cx="1632446" cy="3632191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81DA0CA2-B74C-2C45-4729-77FAA378AE8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90" y="1894076"/>
            <a:ext cx="1628317" cy="3623007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FB743E0-4620-965F-1641-CAEC173A4C88}"/>
              </a:ext>
            </a:extLst>
          </p:cNvPr>
          <p:cNvCxnSpPr>
            <a:cxnSpLocks/>
          </p:cNvCxnSpPr>
          <p:nvPr/>
        </p:nvCxnSpPr>
        <p:spPr>
          <a:xfrm flipV="1">
            <a:off x="300709" y="1595755"/>
            <a:ext cx="411173" cy="466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5E988DD-8AD3-8C09-2BC5-2BD23C8ABFF2}"/>
              </a:ext>
            </a:extLst>
          </p:cNvPr>
          <p:cNvSpPr/>
          <p:nvPr/>
        </p:nvSpPr>
        <p:spPr>
          <a:xfrm>
            <a:off x="156752" y="2062004"/>
            <a:ext cx="1205643" cy="527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7D241E3-17A4-3F21-BE29-A1AD5E0E0FBB}"/>
              </a:ext>
            </a:extLst>
          </p:cNvPr>
          <p:cNvCxnSpPr>
            <a:cxnSpLocks/>
          </p:cNvCxnSpPr>
          <p:nvPr/>
        </p:nvCxnSpPr>
        <p:spPr>
          <a:xfrm flipH="1">
            <a:off x="2338164" y="5351388"/>
            <a:ext cx="239684" cy="344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D6C6544-8D31-90EA-F214-17F002C23AF2}"/>
              </a:ext>
            </a:extLst>
          </p:cNvPr>
          <p:cNvSpPr/>
          <p:nvPr/>
        </p:nvSpPr>
        <p:spPr>
          <a:xfrm>
            <a:off x="2338164" y="2096252"/>
            <a:ext cx="1048015" cy="186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414FB5-92FC-377F-94F3-3777D9B76C9B}"/>
              </a:ext>
            </a:extLst>
          </p:cNvPr>
          <p:cNvSpPr/>
          <p:nvPr/>
        </p:nvSpPr>
        <p:spPr>
          <a:xfrm>
            <a:off x="1807814" y="4040068"/>
            <a:ext cx="1499982" cy="1311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92">
            <a:extLst>
              <a:ext uri="{FF2B5EF4-FFF2-40B4-BE49-F238E27FC236}">
                <a16:creationId xmlns:a16="http://schemas.microsoft.com/office/drawing/2014/main" id="{8241AE72-B9DF-3735-34AC-0C49D9A9F566}"/>
              </a:ext>
            </a:extLst>
          </p:cNvPr>
          <p:cNvSpPr txBox="1"/>
          <p:nvPr/>
        </p:nvSpPr>
        <p:spPr>
          <a:xfrm>
            <a:off x="1152964" y="877176"/>
            <a:ext cx="975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A1410"/>
                </a:solidFill>
              </a:rPr>
              <a:t>A</a:t>
            </a:r>
            <a:r>
              <a:rPr lang="en-US" altLang="zh-CN" sz="1600" b="1" dirty="0">
                <a:solidFill>
                  <a:srgbClr val="7A1410"/>
                </a:solidFill>
              </a:rPr>
              <a:t>pp</a:t>
            </a:r>
            <a:r>
              <a:rPr lang="zh-CN" altLang="en-US" sz="1600" b="1" dirty="0">
                <a:solidFill>
                  <a:srgbClr val="7A1410"/>
                </a:solidFill>
              </a:rPr>
              <a:t>设计</a:t>
            </a:r>
          </a:p>
        </p:txBody>
      </p:sp>
      <p:sp>
        <p:nvSpPr>
          <p:cNvPr id="36" name="TextBox 92">
            <a:extLst>
              <a:ext uri="{FF2B5EF4-FFF2-40B4-BE49-F238E27FC236}">
                <a16:creationId xmlns:a16="http://schemas.microsoft.com/office/drawing/2014/main" id="{BD684E4D-4772-990F-61C7-F781913D1285}"/>
              </a:ext>
            </a:extLst>
          </p:cNvPr>
          <p:cNvSpPr txBox="1"/>
          <p:nvPr/>
        </p:nvSpPr>
        <p:spPr>
          <a:xfrm>
            <a:off x="9826525" y="38973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7A1410"/>
                </a:solidFill>
              </a:rPr>
              <a:t>算子优化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D54E42F-FE42-15D5-EF6B-34BA44C7FC05}"/>
              </a:ext>
            </a:extLst>
          </p:cNvPr>
          <p:cNvSpPr txBox="1"/>
          <p:nvPr/>
        </p:nvSpPr>
        <p:spPr>
          <a:xfrm>
            <a:off x="9032843" y="4207010"/>
            <a:ext cx="2919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RMS_NORM CPU</a:t>
            </a:r>
            <a:r>
              <a:rPr lang="zh-CN" altLang="en-US" sz="1600" b="1" dirty="0"/>
              <a:t>算子改进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A4035C7-9ED0-B4A9-D3CF-CC00B20D5F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560" y="4684866"/>
            <a:ext cx="4850540" cy="2032877"/>
          </a:xfrm>
          <a:prstGeom prst="rect">
            <a:avLst/>
          </a:prstGeom>
        </p:spPr>
      </p:pic>
      <p:sp>
        <p:nvSpPr>
          <p:cNvPr id="39" name="Rectangle 130">
            <a:extLst>
              <a:ext uri="{FF2B5EF4-FFF2-40B4-BE49-F238E27FC236}">
                <a16:creationId xmlns:a16="http://schemas.microsoft.com/office/drawing/2014/main" id="{09C44F7E-37F8-7DB0-059F-85B17DBD1A18}"/>
              </a:ext>
            </a:extLst>
          </p:cNvPr>
          <p:cNvSpPr/>
          <p:nvPr/>
        </p:nvSpPr>
        <p:spPr>
          <a:xfrm>
            <a:off x="3548022" y="908808"/>
            <a:ext cx="4827078" cy="3520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F6BD5DE-53F7-F5D1-3F82-820617BC853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" r="8228" b="37313"/>
          <a:stretch>
            <a:fillRect/>
          </a:stretch>
        </p:blipFill>
        <p:spPr>
          <a:xfrm>
            <a:off x="5464834" y="4281904"/>
            <a:ext cx="1507099" cy="137600"/>
          </a:xfrm>
          <a:prstGeom prst="rect">
            <a:avLst/>
          </a:prstGeom>
        </p:spPr>
      </p:pic>
      <p:cxnSp>
        <p:nvCxnSpPr>
          <p:cNvPr id="41" name="Straight Connector 124">
            <a:extLst>
              <a:ext uri="{FF2B5EF4-FFF2-40B4-BE49-F238E27FC236}">
                <a16:creationId xmlns:a16="http://schemas.microsoft.com/office/drawing/2014/main" id="{262F0503-E0D3-4154-F55D-52565E387452}"/>
              </a:ext>
            </a:extLst>
          </p:cNvPr>
          <p:cNvCxnSpPr/>
          <p:nvPr/>
        </p:nvCxnSpPr>
        <p:spPr>
          <a:xfrm>
            <a:off x="3467100" y="887822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125">
            <a:extLst>
              <a:ext uri="{FF2B5EF4-FFF2-40B4-BE49-F238E27FC236}">
                <a16:creationId xmlns:a16="http://schemas.microsoft.com/office/drawing/2014/main" id="{A7F099F6-8790-5EB9-99E6-109573BF2758}"/>
              </a:ext>
            </a:extLst>
          </p:cNvPr>
          <p:cNvCxnSpPr/>
          <p:nvPr/>
        </p:nvCxnSpPr>
        <p:spPr>
          <a:xfrm>
            <a:off x="8447594" y="887822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EF001B6-2606-B464-78E4-95C4C3B75984}"/>
              </a:ext>
            </a:extLst>
          </p:cNvPr>
          <p:cNvGrpSpPr/>
          <p:nvPr/>
        </p:nvGrpSpPr>
        <p:grpSpPr>
          <a:xfrm>
            <a:off x="3547793" y="887822"/>
            <a:ext cx="3443190" cy="3565601"/>
            <a:chOff x="903804" y="1367288"/>
            <a:chExt cx="4279811" cy="4276256"/>
          </a:xfrm>
        </p:grpSpPr>
        <p:pic>
          <p:nvPicPr>
            <p:cNvPr id="44" name="图片 43" descr="图形用户界面, 文本, 应用程序, 电子邮件&#10;&#10;AI 生成的内容可能不正确。">
              <a:extLst>
                <a:ext uri="{FF2B5EF4-FFF2-40B4-BE49-F238E27FC236}">
                  <a16:creationId xmlns:a16="http://schemas.microsoft.com/office/drawing/2014/main" id="{8D49C30E-A37F-63B4-3DCE-4C9D80E66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9271" y="1367288"/>
              <a:ext cx="4204344" cy="2350460"/>
            </a:xfrm>
            <a:prstGeom prst="rect">
              <a:avLst/>
            </a:prstGeom>
          </p:spPr>
        </p:pic>
        <p:pic>
          <p:nvPicPr>
            <p:cNvPr id="45" name="图片 44" descr="文本&#10;&#10;AI 生成的内容可能不正确。">
              <a:extLst>
                <a:ext uri="{FF2B5EF4-FFF2-40B4-BE49-F238E27FC236}">
                  <a16:creationId xmlns:a16="http://schemas.microsoft.com/office/drawing/2014/main" id="{A0110348-48C2-4BD8-728F-D666F2EAD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03804" y="3717748"/>
              <a:ext cx="2647215" cy="1925796"/>
            </a:xfrm>
            <a:prstGeom prst="rect">
              <a:avLst/>
            </a:prstGeom>
          </p:spPr>
        </p:pic>
      </p:grpSp>
      <p:pic>
        <p:nvPicPr>
          <p:cNvPr id="46" name="图片 45" descr="手机屏幕截图&#10;&#10;AI 生成的内容可能不正确。">
            <a:extLst>
              <a:ext uri="{FF2B5EF4-FFF2-40B4-BE49-F238E27FC236}">
                <a16:creationId xmlns:a16="http://schemas.microsoft.com/office/drawing/2014/main" id="{920B71FA-8C0B-2289-1134-0799E72F87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3497" y="1534264"/>
            <a:ext cx="1418436" cy="2790618"/>
          </a:xfrm>
          <a:prstGeom prst="rect">
            <a:avLst/>
          </a:prstGeom>
        </p:spPr>
      </p:pic>
      <p:pic>
        <p:nvPicPr>
          <p:cNvPr id="47" name="图片 46" descr="图示&#10;&#10;AI 生成的内容可能不正确。">
            <a:extLst>
              <a:ext uri="{FF2B5EF4-FFF2-40B4-BE49-F238E27FC236}">
                <a16:creationId xmlns:a16="http://schemas.microsoft.com/office/drawing/2014/main" id="{B74AEE94-051B-7D33-EE8E-E6483E36B2F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773" b="1"/>
          <a:stretch>
            <a:fillRect/>
          </a:stretch>
        </p:blipFill>
        <p:spPr>
          <a:xfrm>
            <a:off x="3524560" y="5510212"/>
            <a:ext cx="2823853" cy="1207531"/>
          </a:xfrm>
          <a:prstGeom prst="rect">
            <a:avLst/>
          </a:prstGeom>
        </p:spPr>
      </p:pic>
      <p:sp>
        <p:nvSpPr>
          <p:cNvPr id="48" name="TextBox 92">
            <a:extLst>
              <a:ext uri="{FF2B5EF4-FFF2-40B4-BE49-F238E27FC236}">
                <a16:creationId xmlns:a16="http://schemas.microsoft.com/office/drawing/2014/main" id="{77B2524B-E8BF-8579-4EAB-E6DE996EF56E}"/>
              </a:ext>
            </a:extLst>
          </p:cNvPr>
          <p:cNvSpPr txBox="1"/>
          <p:nvPr/>
        </p:nvSpPr>
        <p:spPr>
          <a:xfrm>
            <a:off x="7011663" y="88465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7A1410"/>
                </a:solidFill>
              </a:rPr>
              <a:t>专业领域微调</a:t>
            </a:r>
          </a:p>
        </p:txBody>
      </p:sp>
      <p:sp>
        <p:nvSpPr>
          <p:cNvPr id="49" name="TextBox 92">
            <a:extLst>
              <a:ext uri="{FF2B5EF4-FFF2-40B4-BE49-F238E27FC236}">
                <a16:creationId xmlns:a16="http://schemas.microsoft.com/office/drawing/2014/main" id="{5CCBB7A3-2DBF-A4EE-8113-7CCC770112CE}"/>
              </a:ext>
            </a:extLst>
          </p:cNvPr>
          <p:cNvSpPr txBox="1"/>
          <p:nvPr/>
        </p:nvSpPr>
        <p:spPr>
          <a:xfrm>
            <a:off x="7021075" y="1272688"/>
            <a:ext cx="1287900" cy="146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针对通用大语言模型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/>
              <a:t>在特定领域上效果不</a:t>
            </a:r>
            <a:endParaRPr lang="en-US" altLang="zh-CN" sz="1000" b="1" dirty="0"/>
          </a:p>
          <a:p>
            <a:pPr>
              <a:lnSpc>
                <a:spcPct val="110000"/>
              </a:lnSpc>
            </a:pPr>
            <a:r>
              <a:rPr lang="zh-CN" altLang="en-US" sz="1000" b="1" dirty="0"/>
              <a:t>佳，使用</a:t>
            </a:r>
            <a:r>
              <a:rPr lang="en-US" altLang="zh-CN" sz="1000" b="1" dirty="0"/>
              <a:t>llama-</a:t>
            </a:r>
          </a:p>
          <a:p>
            <a:pPr>
              <a:lnSpc>
                <a:spcPct val="110000"/>
              </a:lnSpc>
            </a:pPr>
            <a:r>
              <a:rPr lang="en-US" altLang="zh-CN" sz="1000" b="1" dirty="0"/>
              <a:t>Factory</a:t>
            </a:r>
            <a:r>
              <a:rPr lang="zh-CN" altLang="en-US" sz="1000" b="1" dirty="0"/>
              <a:t>进行微调</a:t>
            </a:r>
            <a:endParaRPr lang="en-US" altLang="zh-CN" sz="1000" b="1" dirty="0"/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在现代诗歌生成任务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中小型通用大语言模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型出现生成无意义重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复等情况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pic>
        <p:nvPicPr>
          <p:cNvPr id="50" name="图片 49" descr="文本&#10;&#10;AI 生成的内容可能不正确。">
            <a:extLst>
              <a:ext uri="{FF2B5EF4-FFF2-40B4-BE49-F238E27FC236}">
                <a16:creationId xmlns:a16="http://schemas.microsoft.com/office/drawing/2014/main" id="{352C3193-DA67-C236-54F4-D8EFD1CD650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47793" y="4707537"/>
            <a:ext cx="2876624" cy="730334"/>
          </a:xfrm>
          <a:prstGeom prst="rect">
            <a:avLst/>
          </a:prstGeom>
        </p:spPr>
      </p:pic>
      <p:pic>
        <p:nvPicPr>
          <p:cNvPr id="51" name="图片 50" descr="图表, 直方图&#10;&#10;AI 生成的内容可能不正确。">
            <a:extLst>
              <a:ext uri="{FF2B5EF4-FFF2-40B4-BE49-F238E27FC236}">
                <a16:creationId xmlns:a16="http://schemas.microsoft.com/office/drawing/2014/main" id="{5FE82726-9C3D-C3CD-4312-DDE570521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4576" y="5377893"/>
            <a:ext cx="1811028" cy="1472167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9038B380-AB1F-E262-C9CE-468EDE17410A}"/>
              </a:ext>
            </a:extLst>
          </p:cNvPr>
          <p:cNvSpPr/>
          <p:nvPr/>
        </p:nvSpPr>
        <p:spPr>
          <a:xfrm>
            <a:off x="3631832" y="2252664"/>
            <a:ext cx="1349744" cy="117500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 descr="图形用户界面, 文本, 应用程序, 网站&#10;&#10;AI 生成的内容可能不正确。">
            <a:extLst>
              <a:ext uri="{FF2B5EF4-FFF2-40B4-BE49-F238E27FC236}">
                <a16:creationId xmlns:a16="http://schemas.microsoft.com/office/drawing/2014/main" id="{9E4E50AB-B3BB-61AF-AF3D-5361A33A2A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7607" y="4702695"/>
            <a:ext cx="1811028" cy="601617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73EC5560-1224-15A8-1652-CD6C4BAF6A4A}"/>
              </a:ext>
            </a:extLst>
          </p:cNvPr>
          <p:cNvSpPr txBox="1"/>
          <p:nvPr/>
        </p:nvSpPr>
        <p:spPr>
          <a:xfrm>
            <a:off x="6998892" y="3396551"/>
            <a:ext cx="1349743" cy="92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000" b="1" dirty="0"/>
              <a:t>任务：在不显著增加模型参数量的前提下，提升模型对现代诗语言风格、意象表达、情绪一致性能力</a:t>
            </a:r>
            <a:endParaRPr lang="en-US" altLang="zh-CN" sz="1000" b="1" dirty="0"/>
          </a:p>
        </p:txBody>
      </p:sp>
      <p:sp>
        <p:nvSpPr>
          <p:cNvPr id="55" name="TextBox 92">
            <a:extLst>
              <a:ext uri="{FF2B5EF4-FFF2-40B4-BE49-F238E27FC236}">
                <a16:creationId xmlns:a16="http://schemas.microsoft.com/office/drawing/2014/main" id="{20E49C76-E19B-4754-C20C-9BE09DA3C109}"/>
              </a:ext>
            </a:extLst>
          </p:cNvPr>
          <p:cNvSpPr txBox="1"/>
          <p:nvPr/>
        </p:nvSpPr>
        <p:spPr>
          <a:xfrm>
            <a:off x="7027425" y="3376295"/>
            <a:ext cx="1275200" cy="962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56" name="对话气泡: 圆角矩形 55">
            <a:extLst>
              <a:ext uri="{FF2B5EF4-FFF2-40B4-BE49-F238E27FC236}">
                <a16:creationId xmlns:a16="http://schemas.microsoft.com/office/drawing/2014/main" id="{DB0A0059-AA67-2C00-8C16-8172F53C80DB}"/>
              </a:ext>
            </a:extLst>
          </p:cNvPr>
          <p:cNvSpPr/>
          <p:nvPr/>
        </p:nvSpPr>
        <p:spPr>
          <a:xfrm>
            <a:off x="7017018" y="2827503"/>
            <a:ext cx="1349743" cy="439472"/>
          </a:xfrm>
          <a:prstGeom prst="wedgeRoundRectCallout">
            <a:avLst>
              <a:gd name="adj1" fmla="val -62614"/>
              <a:gd name="adj2" fmla="val -905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Qwen2-0.5b</a:t>
            </a:r>
            <a:r>
              <a:rPr lang="zh-CN" altLang="en-US" sz="1000" dirty="0"/>
              <a:t>微调前后回答现代诗歌生成问题</a:t>
            </a:r>
          </a:p>
        </p:txBody>
      </p:sp>
      <p:pic>
        <p:nvPicPr>
          <p:cNvPr id="58" name="图片 57" descr="图片包含 文本&#10;&#10;AI 生成的内容可能不正确。">
            <a:extLst>
              <a:ext uri="{FF2B5EF4-FFF2-40B4-BE49-F238E27FC236}">
                <a16:creationId xmlns:a16="http://schemas.microsoft.com/office/drawing/2014/main" id="{F9975213-F8B2-5CBE-EA1A-A9953E9CE5C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0755" y="4825910"/>
            <a:ext cx="2288520" cy="493086"/>
          </a:xfrm>
          <a:prstGeom prst="rect">
            <a:avLst/>
          </a:prstGeom>
        </p:spPr>
      </p:pic>
      <p:pic>
        <p:nvPicPr>
          <p:cNvPr id="60" name="图片 59" descr="图形用户界面&#10;&#10;AI 生成的内容可能不正确。">
            <a:extLst>
              <a:ext uri="{FF2B5EF4-FFF2-40B4-BE49-F238E27FC236}">
                <a16:creationId xmlns:a16="http://schemas.microsoft.com/office/drawing/2014/main" id="{AFB4AD54-7F59-D190-99C2-EA32267D62B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4544" y="5335974"/>
            <a:ext cx="2284732" cy="337821"/>
          </a:xfrm>
          <a:prstGeom prst="rect">
            <a:avLst/>
          </a:prstGeom>
        </p:spPr>
      </p:pic>
      <p:sp>
        <p:nvSpPr>
          <p:cNvPr id="61" name="箭头: 下 60">
            <a:extLst>
              <a:ext uri="{FF2B5EF4-FFF2-40B4-BE49-F238E27FC236}">
                <a16:creationId xmlns:a16="http://schemas.microsoft.com/office/drawing/2014/main" id="{695FBEC0-BB0E-BA64-8B8A-B0C902B139BB}"/>
              </a:ext>
            </a:extLst>
          </p:cNvPr>
          <p:cNvSpPr/>
          <p:nvPr/>
        </p:nvSpPr>
        <p:spPr>
          <a:xfrm>
            <a:off x="9685110" y="5756755"/>
            <a:ext cx="118692" cy="25848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3" name="图片 62" descr="文本&#10;&#10;AI 生成的内容可能不正确。">
            <a:extLst>
              <a:ext uri="{FF2B5EF4-FFF2-40B4-BE49-F238E27FC236}">
                <a16:creationId xmlns:a16="http://schemas.microsoft.com/office/drawing/2014/main" id="{DD4156F5-49D0-2BD9-C453-A3FF681A93F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60376" y="6032218"/>
            <a:ext cx="2284732" cy="326390"/>
          </a:xfrm>
          <a:prstGeom prst="rect">
            <a:avLst/>
          </a:prstGeom>
        </p:spPr>
      </p:pic>
      <p:sp>
        <p:nvSpPr>
          <p:cNvPr id="64" name="TextBox 92">
            <a:extLst>
              <a:ext uri="{FF2B5EF4-FFF2-40B4-BE49-F238E27FC236}">
                <a16:creationId xmlns:a16="http://schemas.microsoft.com/office/drawing/2014/main" id="{098409C3-E852-E7C7-8C0A-18978C1FDCC6}"/>
              </a:ext>
            </a:extLst>
          </p:cNvPr>
          <p:cNvSpPr txBox="1"/>
          <p:nvPr/>
        </p:nvSpPr>
        <p:spPr>
          <a:xfrm>
            <a:off x="776032" y="1233236"/>
            <a:ext cx="1511751" cy="417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/>
              <a:t>历史对话本地存储</a:t>
            </a:r>
            <a:endParaRPr lang="en-US" altLang="zh-CN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b="1" dirty="0"/>
              <a:t>LLM</a:t>
            </a:r>
            <a:r>
              <a:rPr lang="zh-CN" altLang="en-US" sz="1000" b="1" dirty="0"/>
              <a:t>总结对话标题</a:t>
            </a:r>
          </a:p>
        </p:txBody>
      </p:sp>
      <p:sp>
        <p:nvSpPr>
          <p:cNvPr id="65" name="TextBox 92">
            <a:extLst>
              <a:ext uri="{FF2B5EF4-FFF2-40B4-BE49-F238E27FC236}">
                <a16:creationId xmlns:a16="http://schemas.microsoft.com/office/drawing/2014/main" id="{9C5BC80A-A86A-194D-7FD3-ED6CF751622D}"/>
              </a:ext>
            </a:extLst>
          </p:cNvPr>
          <p:cNvSpPr txBox="1"/>
          <p:nvPr/>
        </p:nvSpPr>
        <p:spPr>
          <a:xfrm>
            <a:off x="730250" y="5696898"/>
            <a:ext cx="1511751" cy="417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/>
              <a:t>便捷模型切换</a:t>
            </a:r>
            <a:endParaRPr lang="en-US" altLang="zh-CN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/>
              <a:t>本地加载</a:t>
            </a:r>
            <a:r>
              <a:rPr lang="en-US" altLang="zh-CN" sz="1000" b="1" dirty="0"/>
              <a:t>&amp;</a:t>
            </a:r>
            <a:r>
              <a:rPr lang="zh-CN" altLang="en-US" sz="1000" b="1" dirty="0"/>
              <a:t>联网下载</a:t>
            </a:r>
          </a:p>
        </p:txBody>
      </p:sp>
      <p:sp>
        <p:nvSpPr>
          <p:cNvPr id="66" name="TextBox 92">
            <a:extLst>
              <a:ext uri="{FF2B5EF4-FFF2-40B4-BE49-F238E27FC236}">
                <a16:creationId xmlns:a16="http://schemas.microsoft.com/office/drawing/2014/main" id="{51967818-39F6-2886-7323-2B358AA34511}"/>
              </a:ext>
            </a:extLst>
          </p:cNvPr>
          <p:cNvSpPr txBox="1"/>
          <p:nvPr/>
        </p:nvSpPr>
        <p:spPr>
          <a:xfrm>
            <a:off x="10915267" y="5008558"/>
            <a:ext cx="1034618" cy="1105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000" b="1" dirty="0"/>
              <a:t>优化耗时的循环</a:t>
            </a:r>
            <a:endParaRPr lang="en-US" altLang="zh-CN" sz="1000" b="1" dirty="0"/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以及</a:t>
            </a:r>
            <a:r>
              <a:rPr lang="en-US" altLang="zh-CN" sz="1000" b="1" dirty="0" err="1">
                <a:solidFill>
                  <a:schemeClr val="tx1"/>
                </a:solidFill>
              </a:rPr>
              <a:t>memcpy</a:t>
            </a:r>
            <a:r>
              <a:rPr lang="zh-CN" altLang="en-US" sz="1000" b="1" dirty="0">
                <a:solidFill>
                  <a:schemeClr val="tx1"/>
                </a:solidFill>
              </a:rPr>
              <a:t>过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/>
              <a:t>程，融合为统一</a:t>
            </a:r>
            <a:endParaRPr lang="en-US" altLang="zh-CN" sz="1000" b="1" dirty="0"/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的</a:t>
            </a:r>
            <a:r>
              <a:rPr lang="en-US" altLang="zh-CN" sz="1000" b="1" dirty="0">
                <a:solidFill>
                  <a:schemeClr val="tx1"/>
                </a:solidFill>
              </a:rPr>
              <a:t>SIMD</a:t>
            </a:r>
            <a:r>
              <a:rPr lang="zh-CN" altLang="en-US" sz="1000" b="1" dirty="0">
                <a:solidFill>
                  <a:schemeClr val="tx1"/>
                </a:solidFill>
              </a:rPr>
              <a:t>计算过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1000" b="1" dirty="0"/>
              <a:t>程，实现效率的</a:t>
            </a:r>
            <a:endParaRPr lang="en-US" altLang="zh-CN" sz="1000" b="1" dirty="0"/>
          </a:p>
          <a:p>
            <a:pPr>
              <a:lnSpc>
                <a:spcPct val="110000"/>
              </a:lnSpc>
            </a:pPr>
            <a:r>
              <a:rPr lang="zh-CN" altLang="en-US" sz="1000" b="1" dirty="0">
                <a:solidFill>
                  <a:schemeClr val="tx1"/>
                </a:solidFill>
              </a:rPr>
              <a:t>提升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E4EF62A-671A-456E-3CBB-BB8F23A65648}"/>
              </a:ext>
            </a:extLst>
          </p:cNvPr>
          <p:cNvSpPr txBox="1"/>
          <p:nvPr/>
        </p:nvSpPr>
        <p:spPr>
          <a:xfrm>
            <a:off x="0" y="16318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基于</a:t>
            </a:r>
            <a:r>
              <a:rPr lang="en-US" altLang="zh-CN" b="1" dirty="0"/>
              <a:t>llama.cpp</a:t>
            </a:r>
            <a:r>
              <a:rPr lang="zh-CN" altLang="en-US" b="1" dirty="0"/>
              <a:t>的多角度优化</a:t>
            </a:r>
            <a:r>
              <a:rPr lang="en-US" altLang="zh-CN" b="1" dirty="0"/>
              <a:t>Android</a:t>
            </a:r>
            <a:r>
              <a:rPr lang="zh-CN" altLang="en-US" b="1" dirty="0"/>
              <a:t>大语言模型推理软件系统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4B7C19F-B19C-1DBA-D31B-1683051AFBFE}"/>
              </a:ext>
            </a:extLst>
          </p:cNvPr>
          <p:cNvSpPr txBox="1"/>
          <p:nvPr/>
        </p:nvSpPr>
        <p:spPr>
          <a:xfrm>
            <a:off x="9269010" y="472963"/>
            <a:ext cx="3035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小组成员：杨逸舸、胡睿希、朱治屹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181</Words>
  <Application>Microsoft Office PowerPoint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逸舸 杨</cp:lastModifiedBy>
  <cp:revision>17</cp:revision>
  <dcterms:created xsi:type="dcterms:W3CDTF">2023-08-09T12:44:00Z</dcterms:created>
  <dcterms:modified xsi:type="dcterms:W3CDTF">2026-01-07T07:29:59Z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3473B1B937F646D9A503B707496BB996_12</vt:lpwstr>
  </property>
</Properties>
</file>