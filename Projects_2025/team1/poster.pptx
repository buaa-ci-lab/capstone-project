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0" r:id="rId4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ng Hailong" initials="YH" lastIdx="27" clrIdx="0"/>
  <p:cmAuthor id="2" name="han qingchang" initials="hq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6FC6"/>
    <a:srgbClr val="2E75B6"/>
    <a:srgbClr val="FFD701"/>
    <a:srgbClr val="9DC3E6"/>
    <a:srgbClr val="59AAF1"/>
    <a:srgbClr val="C8E3FB"/>
    <a:srgbClr val="A9D08E"/>
    <a:srgbClr val="443BFF"/>
    <a:srgbClr val="0F6FC7"/>
    <a:srgbClr val="0B53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4" autoAdjust="0"/>
    <p:restoredTop sz="75238" autoAdjust="0"/>
  </p:normalViewPr>
  <p:slideViewPr>
    <p:cSldViewPr snapToGrid="0">
      <p:cViewPr varScale="1">
        <p:scale>
          <a:sx n="95" d="100"/>
          <a:sy n="95" d="100"/>
        </p:scale>
        <p:origin x="1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562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gs" Target="tags/tag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5BBBB-F645-47CF-A951-C40C4997C4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64624E-E12B-4681-BBEE-06D23A21DD7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A7D200-09F0-4584-B62C-5165A5836FD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0F98-B668-404F-92F1-CDC57A2C1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D918-A989-4A92-8EC4-4D5D7148A6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0F98-B668-404F-92F1-CDC57A2C1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D918-A989-4A92-8EC4-4D5D7148A6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0F98-B668-404F-92F1-CDC57A2C1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D918-A989-4A92-8EC4-4D5D7148A6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0F98-B668-404F-92F1-CDC57A2C1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D918-A989-4A92-8EC4-4D5D7148A6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0F98-B668-404F-92F1-CDC57A2C1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D918-A989-4A92-8EC4-4D5D7148A6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0F98-B668-404F-92F1-CDC57A2C1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D918-A989-4A92-8EC4-4D5D7148A6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0F98-B668-404F-92F1-CDC57A2C1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D918-A989-4A92-8EC4-4D5D7148A6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0F98-B668-404F-92F1-CDC57A2C1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D918-A989-4A92-8EC4-4D5D7148A6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0F98-B668-404F-92F1-CDC57A2C1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D918-A989-4A92-8EC4-4D5D7148A6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0F98-B668-404F-92F1-CDC57A2C1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D918-A989-4A92-8EC4-4D5D7148A6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D0F98-B668-404F-92F1-CDC57A2C1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D918-A989-4A92-8EC4-4D5D7148A6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8" name="Rectangle 1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911424" y="1772816"/>
            <a:ext cx="10363200" cy="1143000"/>
          </a:xfrm>
        </p:spPr>
        <p:txBody>
          <a:bodyPr/>
          <a:lstStyle>
            <a:lvl1pPr algn="ctr">
              <a:defRPr sz="4000" b="0" cap="none" spc="0">
                <a:ln w="17780" cmpd="sng">
                  <a:noFill/>
                  <a:prstDash val="solid"/>
                  <a:miter lim="800000"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828800" y="4891608"/>
            <a:ext cx="8534400" cy="1273696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400">
                <a:ln w="9000" cmpd="sng">
                  <a:noFill/>
                  <a:prstDash val="solid"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altLang="zh-CN" dirty="0"/>
              <a:t>author</a:t>
            </a:r>
            <a:endParaRPr lang="zh-CN" altLang="en-US" dirty="0"/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54AADD2-2545-4C7F-8D9F-2B8508F9F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111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  <p:cxnSp>
        <p:nvCxnSpPr>
          <p:cNvPr id="19" name="直接连接符 18"/>
          <p:cNvCxnSpPr/>
          <p:nvPr userDrawn="1"/>
        </p:nvCxnSpPr>
        <p:spPr bwMode="auto">
          <a:xfrm>
            <a:off x="0" y="1178781"/>
            <a:ext cx="12192000" cy="0"/>
          </a:xfrm>
          <a:prstGeom prst="line">
            <a:avLst/>
          </a:prstGeom>
          <a:ln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>
                <a:ln w="17780" cmpd="sng">
                  <a:noFill/>
                  <a:prstDash val="solid"/>
                  <a:miter lim="800000"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altLang="zh-CN" dirty="0"/>
              <a:t>test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3365" y="1196752"/>
            <a:ext cx="11412736" cy="4248472"/>
          </a:xfrm>
        </p:spPr>
        <p:txBody>
          <a:bodyPr/>
          <a:lstStyle>
            <a:lvl1pPr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93FFF"/>
              </a:buClr>
              <a:buFont typeface="Wingdings" panose="05000000000000000000" pitchFamily="2" charset="2"/>
              <a:buChar char="n"/>
              <a:defRPr kumimoji="1" lang="zh-CN" altLang="en-US" sz="2400" b="0" cap="none" spc="0" baseline="0" dirty="0" smtClean="0">
                <a:ln w="9000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微软雅黑" panose="020B0503020204020204" charset="-122"/>
                <a:cs typeface="Tahoma" panose="020B0604030504040204" pitchFamily="34" charset="0"/>
              </a:defRPr>
            </a:lvl1pPr>
            <a:lvl2pPr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93FFF"/>
              </a:buClr>
              <a:buFont typeface="Wingdings" panose="05000000000000000000" pitchFamily="2" charset="2"/>
              <a:buChar char="n"/>
              <a:defRPr kumimoji="1" lang="zh-CN" altLang="en-US" sz="2000" b="0" cap="none" spc="0" baseline="0" dirty="0" smtClean="0">
                <a:ln w="9000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微软雅黑" panose="020B0503020204020204" charset="-122"/>
                <a:cs typeface="Tahoma" panose="020B0604030504040204" pitchFamily="34" charset="0"/>
              </a:defRPr>
            </a:lvl2pPr>
            <a:lvl3pPr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93FFF"/>
              </a:buClr>
              <a:buFont typeface="Wingdings" panose="05000000000000000000" pitchFamily="2" charset="2"/>
              <a:buChar char="n"/>
              <a:defRPr kumimoji="1" lang="zh-CN" altLang="en-US" sz="2000" b="0" cap="none" spc="0" baseline="0" dirty="0" smtClean="0">
                <a:ln w="9000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微软雅黑" panose="020B0503020204020204" charset="-122"/>
                <a:cs typeface="Tahoma" panose="020B0604030504040204" pitchFamily="34" charset="0"/>
              </a:defRPr>
            </a:lvl3pPr>
            <a:lvl4pPr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93FFF"/>
              </a:buClr>
              <a:buFont typeface="Wingdings" panose="05000000000000000000" pitchFamily="2" charset="2"/>
              <a:buChar char="n"/>
              <a:defRPr kumimoji="1" lang="zh-CN" altLang="en-US" sz="2000" b="0" cap="none" spc="0" baseline="0" dirty="0" smtClean="0">
                <a:ln w="9000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微软雅黑" panose="020B0503020204020204" charset="-122"/>
                <a:cs typeface="Tahoma" panose="020B0604030504040204" pitchFamily="34" charset="0"/>
              </a:defRPr>
            </a:lvl4pPr>
            <a:lvl5pPr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93FFF"/>
              </a:buClr>
              <a:buFont typeface="Wingdings" panose="05000000000000000000" pitchFamily="2" charset="2"/>
              <a:buChar char="n"/>
              <a:defRPr kumimoji="1" lang="zh-CN" altLang="en-US" sz="2000" b="0" cap="none" spc="0" baseline="0" dirty="0">
                <a:ln w="9000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微软雅黑" panose="020B0503020204020204" charset="-122"/>
                <a:cs typeface="Tahoma" panose="020B0604030504040204" pitchFamily="34" charset="0"/>
              </a:defRPr>
            </a:lvl5pPr>
          </a:lstStyle>
          <a:p>
            <a:pPr lvl="0"/>
            <a:r>
              <a:rPr lang="en-US" altLang="zh-CN" dirty="0"/>
              <a:t>test</a:t>
            </a:r>
            <a:endParaRPr lang="zh-CN" altLang="en-US" dirty="0"/>
          </a:p>
          <a:p>
            <a:pPr lvl="1"/>
            <a:r>
              <a:rPr lang="en-US" altLang="zh-CN" dirty="0"/>
              <a:t>test</a:t>
            </a:r>
            <a:endParaRPr lang="zh-CN" altLang="en-US" dirty="0"/>
          </a:p>
          <a:p>
            <a:pPr lvl="2"/>
            <a:r>
              <a:rPr lang="en-US" altLang="zh-CN" dirty="0"/>
              <a:t>test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4AADD2-2545-4C7F-8D9F-2B8508F9F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4AADD2-2545-4C7F-8D9F-2B8508F9F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4AADD2-2545-4C7F-8D9F-2B8508F9F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4AADD2-2545-4C7F-8D9F-2B8508F9F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4AADD2-2545-4C7F-8D9F-2B8508F9F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4AADD2-2545-4C7F-8D9F-2B8508F9F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4AADD2-2545-4C7F-8D9F-2B8508F9F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4AADD2-2545-4C7F-8D9F-2B8508F9F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38733" y="617541"/>
            <a:ext cx="2601384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34584" y="617541"/>
            <a:ext cx="7600949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4AADD2-2545-4C7F-8D9F-2B8508F9F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9C5216-126B-4A64-9FF2-2DCB179393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D0F98-B668-404F-92F1-CDC57A2C1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FD918-A989-4A92-8EC4-4D5D7148A6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83367" y="344405"/>
            <a:ext cx="11425269" cy="5525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endParaRPr lang="zh-CN" altLang="en-US" dirty="0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3365" y="1181409"/>
            <a:ext cx="11412736" cy="42484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dirty="0"/>
              <a:t>test</a:t>
            </a:r>
            <a:endParaRPr lang="zh-CN" altLang="en-US" dirty="0"/>
          </a:p>
          <a:p>
            <a:pPr lvl="1"/>
            <a:r>
              <a:rPr lang="en-US" altLang="zh-CN" dirty="0"/>
              <a:t>test</a:t>
            </a:r>
            <a:endParaRPr lang="zh-CN" altLang="en-US" dirty="0"/>
          </a:p>
          <a:p>
            <a:pPr lvl="2"/>
            <a:r>
              <a:rPr lang="en-US" altLang="zh-CN" dirty="0"/>
              <a:t>test</a:t>
            </a:r>
            <a:endParaRPr lang="zh-CN" altLang="en-US" dirty="0"/>
          </a:p>
          <a:p>
            <a:pPr lvl="3"/>
            <a:r>
              <a:rPr lang="en-US" altLang="zh-CN" dirty="0"/>
              <a:t>test</a:t>
            </a:r>
            <a:endParaRPr lang="zh-CN" altLang="en-US" dirty="0"/>
          </a:p>
          <a:p>
            <a:pPr lvl="4"/>
            <a:r>
              <a:rPr lang="en-US" altLang="zh-CN" dirty="0"/>
              <a:t>test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 userDrawn="1"/>
        </p:nvCxnSpPr>
        <p:spPr bwMode="auto">
          <a:xfrm>
            <a:off x="0" y="980728"/>
            <a:ext cx="12192000" cy="0"/>
          </a:xfrm>
          <a:prstGeom prst="line">
            <a:avLst/>
          </a:prstGeom>
          <a:ln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8"/>
          <p:cNvSpPr txBox="1"/>
          <p:nvPr userDrawn="1"/>
        </p:nvSpPr>
        <p:spPr>
          <a:xfrm>
            <a:off x="11232571" y="6525344"/>
            <a:ext cx="5760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B315D865-C375-41BE-B1C6-2AD4F45ECB54}" type="slidenum">
              <a:rPr lang="zh-CN" altLang="en-US" sz="900" b="0" cap="all" spc="0" smtClean="0">
                <a:ln w="9000" cmpd="sng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>
                  <a:reflection blurRad="6350" stA="50000" endA="300" endPos="50000" dist="60007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 sz="900" b="0" cap="all" spc="0" dirty="0">
              <a:ln w="9000" cmpd="sng">
                <a:solidFill>
                  <a:schemeClr val="tx1"/>
                </a:solidFill>
                <a:prstDash val="solid"/>
              </a:ln>
              <a:solidFill>
                <a:schemeClr val="tx1"/>
              </a:solidFill>
              <a:effectLst>
                <a:reflection blurRad="6350" stA="50000" endA="300" endPos="50000" dist="60007" dir="5400000" sy="-100000" algn="bl" rotWithShape="0"/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0" cap="none" spc="0">
          <a:ln w="17780" cmpd="sng">
            <a:noFill/>
            <a:prstDash val="solid"/>
            <a:miter lim="800000"/>
          </a:ln>
          <a:gradFill rotWithShape="1">
            <a:gsLst>
              <a:gs pos="0">
                <a:srgbClr val="000000">
                  <a:tint val="92000"/>
                  <a:shade val="100000"/>
                  <a:satMod val="150000"/>
                </a:srgbClr>
              </a:gs>
              <a:gs pos="49000">
                <a:srgbClr val="000000">
                  <a:tint val="89000"/>
                  <a:shade val="90000"/>
                  <a:satMod val="150000"/>
                </a:srgbClr>
              </a:gs>
              <a:gs pos="50000">
                <a:srgbClr val="000000">
                  <a:tint val="100000"/>
                  <a:shade val="75000"/>
                  <a:satMod val="150000"/>
                </a:srgbClr>
              </a:gs>
              <a:gs pos="95000">
                <a:srgbClr val="000000">
                  <a:shade val="47000"/>
                  <a:satMod val="150000"/>
                </a:srgbClr>
              </a:gs>
              <a:gs pos="100000">
                <a:srgbClr val="000000">
                  <a:shade val="39000"/>
                  <a:satMod val="150000"/>
                </a:srgbClr>
              </a:gs>
            </a:gsLst>
            <a:lin ang="5400000"/>
          </a:gradFill>
          <a:effectLst/>
          <a:latin typeface="Garamond" panose="02020404030301010803" pitchFamily="18" charset="0"/>
          <a:ea typeface="黑体" panose="02010609060101010101" pitchFamily="49" charset="-122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193FFF"/>
        </a:buClr>
        <a:buSzPct val="60000"/>
        <a:buFont typeface="Wingdings" panose="05000000000000000000" pitchFamily="2" charset="2"/>
        <a:buChar char="n"/>
        <a:defRPr kumimoji="1" lang="zh-CN" altLang="en-US" sz="2400" b="0" cap="none" spc="0" baseline="0" dirty="0" smtClean="0">
          <a:ln w="9000" cmpd="sng">
            <a:noFill/>
            <a:prstDash val="solid"/>
          </a:ln>
          <a:solidFill>
            <a:schemeClr val="tx1"/>
          </a:solidFill>
          <a:effectLst/>
          <a:latin typeface="Tahoma" panose="020B0604030504040204" pitchFamily="34" charset="0"/>
          <a:ea typeface="微软雅黑" panose="020B0503020204020204" charset="-122"/>
          <a:cs typeface="Tahoma" panose="020B060403050404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193FFF"/>
        </a:buClr>
        <a:buSzPct val="55000"/>
        <a:buFont typeface="Wingdings" panose="05000000000000000000" pitchFamily="2" charset="2"/>
        <a:buChar char="n"/>
        <a:defRPr kumimoji="1" lang="zh-CN" altLang="en-US" sz="2000" b="0" cap="none" spc="0" baseline="0" dirty="0" smtClean="0">
          <a:ln w="9000" cmpd="sng">
            <a:noFill/>
            <a:prstDash val="solid"/>
          </a:ln>
          <a:solidFill>
            <a:schemeClr val="tx1"/>
          </a:solidFill>
          <a:effectLst/>
          <a:latin typeface="Tahoma" panose="020B0604030504040204" pitchFamily="34" charset="0"/>
          <a:ea typeface="微软雅黑" panose="020B0503020204020204" charset="-122"/>
          <a:cs typeface="Tahoma" panose="020B060403050404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193FFF"/>
        </a:buClr>
        <a:buSzPct val="50000"/>
        <a:buFont typeface="Wingdings" panose="05000000000000000000" pitchFamily="2" charset="2"/>
        <a:buChar char="n"/>
        <a:defRPr kumimoji="1" lang="zh-CN" altLang="en-US" sz="2000" b="0" cap="none" spc="0" baseline="0" dirty="0" smtClean="0">
          <a:ln w="9000" cmpd="sng">
            <a:noFill/>
            <a:prstDash val="solid"/>
          </a:ln>
          <a:solidFill>
            <a:schemeClr val="tx1"/>
          </a:solidFill>
          <a:effectLst/>
          <a:latin typeface="Tahoma" panose="020B0604030504040204" pitchFamily="34" charset="0"/>
          <a:ea typeface="微软雅黑" panose="020B0503020204020204" charset="-122"/>
          <a:cs typeface="Tahoma" panose="020B060403050404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193FFF"/>
        </a:buClr>
        <a:buSzPct val="55000"/>
        <a:buFont typeface="Wingdings" panose="05000000000000000000" pitchFamily="2" charset="2"/>
        <a:buChar char="n"/>
        <a:defRPr kumimoji="1" lang="zh-CN" altLang="en-US" sz="2000" b="0" cap="none" spc="0" baseline="0" dirty="0" smtClean="0">
          <a:ln w="9000" cmpd="sng">
            <a:noFill/>
            <a:prstDash val="solid"/>
          </a:ln>
          <a:solidFill>
            <a:schemeClr val="tx1"/>
          </a:solidFill>
          <a:effectLst/>
          <a:latin typeface="Tahoma" panose="020B0604030504040204" pitchFamily="34" charset="0"/>
          <a:ea typeface="微软雅黑" panose="020B0503020204020204" charset="-122"/>
          <a:cs typeface="Tahoma" panose="020B060403050404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193FFF"/>
        </a:buClr>
        <a:buSzPct val="50000"/>
        <a:buFont typeface="Wingdings" panose="05000000000000000000" pitchFamily="2" charset="2"/>
        <a:buChar char="n"/>
        <a:defRPr kumimoji="1" lang="zh-CN" altLang="en-US" sz="2000" b="0" cap="none" spc="0" baseline="0" dirty="0" smtClean="0">
          <a:ln w="9000" cmpd="sng">
            <a:noFill/>
            <a:prstDash val="solid"/>
          </a:ln>
          <a:solidFill>
            <a:schemeClr val="tx1"/>
          </a:solidFill>
          <a:effectLst/>
          <a:latin typeface="Tahoma" panose="020B0604030504040204" pitchFamily="34" charset="0"/>
          <a:ea typeface="微软雅黑" panose="020B0503020204020204" charset="-122"/>
          <a:cs typeface="Tahoma" panose="020B060403050404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1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0" y="246380"/>
            <a:ext cx="12190730" cy="678815"/>
          </a:xfrm>
        </p:spPr>
        <p:txBody>
          <a:bodyPr/>
          <a:lstStyle/>
          <a:p>
            <a:pPr algn="ctr"/>
            <a:r>
              <a:rPr lang="zh-CN" altLang="en-US" sz="26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基于移动手机端的自回归大语言模型部署及优化</a:t>
            </a:r>
            <a:endParaRPr lang="zh-CN" altLang="en-US" sz="26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553653" y="-22013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solidFill>
                <a:prstClr val="black"/>
              </a:solidFill>
              <a:latin typeface="Tahoma" panose="020B0604030504040204"/>
              <a:ea typeface="宋体" panose="02010600030101010101" pitchFamily="2" charset="-122"/>
            </a:endParaRPr>
          </a:p>
        </p:txBody>
      </p:sp>
      <p:sp>
        <p:nvSpPr>
          <p:cNvPr id="9" name="文本框 5"/>
          <p:cNvSpPr txBox="1"/>
          <p:nvPr/>
        </p:nvSpPr>
        <p:spPr>
          <a:xfrm>
            <a:off x="9861550" y="405765"/>
            <a:ext cx="2059940" cy="519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1"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kumimoji="1"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kumimoji="1"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endParaRPr kumimoji="1" lang="zh-CN" altLang="en-US" sz="24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下箭头 54"/>
          <p:cNvSpPr/>
          <p:nvPr/>
        </p:nvSpPr>
        <p:spPr>
          <a:xfrm>
            <a:off x="5986780" y="2004695"/>
            <a:ext cx="229870" cy="3206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81710" y="1263015"/>
            <a:ext cx="10276840" cy="706755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背景与挑战</a:t>
            </a:r>
            <a:endParaRPr lang="zh-CN" altLang="en-US" sz="2000"/>
          </a:p>
          <a:p>
            <a:pPr algn="ctr"/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边缘智能需求激增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  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模型参数量与设备容量差异大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 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实时性要求高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37" name="图片 36" descr="1圆形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7685" y="1618615"/>
            <a:ext cx="281305" cy="281305"/>
          </a:xfrm>
          <a:prstGeom prst="rect">
            <a:avLst/>
          </a:prstGeom>
        </p:spPr>
      </p:pic>
      <p:pic>
        <p:nvPicPr>
          <p:cNvPr id="38" name="图片 37" descr="2圆形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5475" y="1617980"/>
            <a:ext cx="293370" cy="293370"/>
          </a:xfrm>
          <a:prstGeom prst="rect">
            <a:avLst/>
          </a:prstGeom>
        </p:spPr>
      </p:pic>
      <p:pic>
        <p:nvPicPr>
          <p:cNvPr id="39" name="图片 38" descr="3-圆形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72780" y="1608455"/>
            <a:ext cx="291465" cy="291465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2920365" y="2360295"/>
            <a:ext cx="6398260" cy="706755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整体研究思路</a:t>
            </a:r>
            <a:endParaRPr lang="zh-CN" altLang="en-US" sz="2000"/>
          </a:p>
          <a:p>
            <a:pPr algn="ctr"/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端侧部署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---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模型轻量化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---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推理加速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  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38125" y="3457575"/>
            <a:ext cx="3786505" cy="3300730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832485" y="3710940"/>
            <a:ext cx="1050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框架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794510" y="3527425"/>
            <a:ext cx="13392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llama.cpp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MNN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左大括号 47"/>
          <p:cNvSpPr/>
          <p:nvPr/>
        </p:nvSpPr>
        <p:spPr>
          <a:xfrm>
            <a:off x="1601470" y="3607435"/>
            <a:ext cx="193040" cy="565150"/>
          </a:xfrm>
          <a:prstGeom prst="leftBr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5" y="4347845"/>
            <a:ext cx="3557905" cy="2265045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4233545" y="3457575"/>
            <a:ext cx="3786505" cy="3300730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8272780" y="3429000"/>
            <a:ext cx="3786505" cy="3300730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4761865" y="3607435"/>
            <a:ext cx="2773680" cy="891540"/>
          </a:xfrm>
          <a:prstGeom prst="rect">
            <a:avLst/>
          </a:prstGeom>
          <a:noFill/>
          <a:ln>
            <a:solidFill>
              <a:srgbClr val="7030A0"/>
            </a:solidFill>
            <a:prstDash val="sysDash"/>
          </a:ln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知识蒸馏</a:t>
            </a:r>
            <a:endParaRPr lang="zh-CN" altLang="en-US"/>
          </a:p>
          <a:p>
            <a:pPr algn="ctr"/>
            <a:r>
              <a:rPr lang="en-US" altLang="zh-CN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Teacher-Student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架构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endParaRPr lang="en-US" altLang="zh-CN" sz="16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ctr"/>
            <a:r>
              <a:rPr lang="en-US" altLang="zh-CN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GSM8K-Instruct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数据集</a:t>
            </a:r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365625" y="4773930"/>
            <a:ext cx="3507740" cy="1838960"/>
          </a:xfrm>
          <a:prstGeom prst="rect">
            <a:avLst/>
          </a:prstGeom>
          <a:noFill/>
          <a:ln>
            <a:solidFill>
              <a:srgbClr val="7030A0"/>
            </a:solidFill>
            <a:prstDash val="sysDash"/>
          </a:ln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量化压缩</a:t>
            </a:r>
            <a:endParaRPr lang="zh-CN" altLang="en-US"/>
          </a:p>
          <a:p>
            <a:pPr algn="ctr"/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1520" y="5309870"/>
            <a:ext cx="3214370" cy="1095375"/>
          </a:xfrm>
          <a:prstGeom prst="rect">
            <a:avLst/>
          </a:prstGeom>
        </p:spPr>
      </p:pic>
      <p:sp>
        <p:nvSpPr>
          <p:cNvPr id="60" name="文本框 59"/>
          <p:cNvSpPr txBox="1"/>
          <p:nvPr/>
        </p:nvSpPr>
        <p:spPr>
          <a:xfrm>
            <a:off x="8328660" y="3527425"/>
            <a:ext cx="3627755" cy="157543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sysDash"/>
          </a:ln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硬件加速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9790" y="3986530"/>
            <a:ext cx="1583690" cy="1028065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63480" y="3881120"/>
            <a:ext cx="1778635" cy="1104900"/>
          </a:xfrm>
          <a:prstGeom prst="rect">
            <a:avLst/>
          </a:prstGeom>
        </p:spPr>
      </p:pic>
      <p:sp>
        <p:nvSpPr>
          <p:cNvPr id="63" name="文本框 62"/>
          <p:cNvSpPr txBox="1"/>
          <p:nvPr/>
        </p:nvSpPr>
        <p:spPr>
          <a:xfrm>
            <a:off x="8342630" y="5190490"/>
            <a:ext cx="3625850" cy="142240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sysDash"/>
          </a:ln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KV cache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量化</a:t>
            </a:r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5845" y="5563235"/>
            <a:ext cx="3035300" cy="949325"/>
          </a:xfrm>
          <a:prstGeom prst="rect">
            <a:avLst/>
          </a:prstGeom>
        </p:spPr>
      </p:pic>
      <p:cxnSp>
        <p:nvCxnSpPr>
          <p:cNvPr id="65" name="直接箭头连接符 64"/>
          <p:cNvCxnSpPr/>
          <p:nvPr/>
        </p:nvCxnSpPr>
        <p:spPr>
          <a:xfrm flipH="1">
            <a:off x="2101215" y="3075940"/>
            <a:ext cx="2181860" cy="35814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40" idx="2"/>
            <a:endCxn id="51" idx="0"/>
          </p:cNvCxnSpPr>
          <p:nvPr/>
        </p:nvCxnSpPr>
        <p:spPr>
          <a:xfrm>
            <a:off x="6119495" y="3067050"/>
            <a:ext cx="7620" cy="39052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endCxn id="52" idx="0"/>
          </p:cNvCxnSpPr>
          <p:nvPr/>
        </p:nvCxnSpPr>
        <p:spPr>
          <a:xfrm>
            <a:off x="7689215" y="3053080"/>
            <a:ext cx="2477135" cy="3759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IMING" val="|0.1|4.2|7.8|3.1|3|1.5"/>
  <p:tag name="resource_record_key" val="{&quot;10&quot;:[50059495,50059472,50062265]}"/>
</p:tagLst>
</file>

<file path=ppt/tags/tag2.xml><?xml version="1.0" encoding="utf-8"?>
<p:tagLst xmlns:p="http://schemas.openxmlformats.org/presentationml/2006/main">
  <p:tag name="commondata" val="eyJoZGlkIjoiZmJjOGVkZDI5YWE2NWRiNTFkYmZhOTEyYjAyOGI4NGEifQ=="/>
  <p:tag name="resource_record_key" val="{&quot;10&quot;:[50059495,50059472,50062265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1">
  <a:themeElements>
    <a:clrScheme name="自定义 1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00000"/>
      </a:hlink>
      <a:folHlink>
        <a:srgbClr val="000000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6">
            <a:lumMod val="60000"/>
            <a:lumOff val="40000"/>
          </a:schemeClr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rtlCol="0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sz="2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WPS 演示</Application>
  <PresentationFormat>宽屏</PresentationFormat>
  <Paragraphs>27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Tahoma</vt:lpstr>
      <vt:lpstr>微软雅黑</vt:lpstr>
      <vt:lpstr>Garamond</vt:lpstr>
      <vt:lpstr>黑体</vt:lpstr>
      <vt:lpstr>Times New Roman</vt:lpstr>
      <vt:lpstr>Tahoma</vt:lpstr>
      <vt:lpstr>Calibri</vt:lpstr>
      <vt:lpstr>Arial Unicode MS</vt:lpstr>
      <vt:lpstr>等线</vt:lpstr>
      <vt:lpstr>Office 主题​​</vt:lpstr>
      <vt:lpstr>1_主题1</vt:lpstr>
      <vt:lpstr>Puzzle: Efficiently Aligning Large Language Models through Light-Weight Context Switch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Multi-Role SpTRSV on Sunway  Many-core Architecture</dc:title>
  <dc:creator>qingxiaosun</dc:creator>
  <cp:lastModifiedBy>李浩泉</cp:lastModifiedBy>
  <cp:revision>2441</cp:revision>
  <dcterms:created xsi:type="dcterms:W3CDTF">2018-06-19T02:08:00Z</dcterms:created>
  <dcterms:modified xsi:type="dcterms:W3CDTF">2026-01-07T02:52:58Z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E18DB01BDCAF47D4A114DE7BBDFD4B6B_12</vt:lpwstr>
  </property>
  <property fmtid="{D5CDD505-2E9C-101B-9397-08002B2CF9AE}" pid="3" name="KSOProductBuildVer">
    <vt:lpwstr>2052-12.1.0.24034</vt:lpwstr>
  </property>
</Properties>
</file>