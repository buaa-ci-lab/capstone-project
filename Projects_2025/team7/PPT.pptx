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5814" r:id="rId3"/>
    <p:sldId id="5829" r:id="rId4"/>
    <p:sldId id="5830" r:id="rId5"/>
    <p:sldId id="5831" r:id="rId6"/>
    <p:sldId id="5810" r:id="rId7"/>
    <p:sldId id="5816" r:id="rId8"/>
    <p:sldId id="5832" r:id="rId9"/>
    <p:sldId id="5811" r:id="rId10"/>
    <p:sldId id="5819" r:id="rId11"/>
    <p:sldId id="5820" r:id="rId12"/>
    <p:sldId id="5833" r:id="rId13"/>
    <p:sldId id="5834" r:id="rId14"/>
    <p:sldId id="5821" r:id="rId15"/>
    <p:sldId id="5822" r:id="rId16"/>
    <p:sldId id="5812" r:id="rId17"/>
    <p:sldId id="5823" r:id="rId18"/>
    <p:sldId id="5824" r:id="rId19"/>
    <p:sldId id="5837" r:id="rId20"/>
    <p:sldId id="5838" r:id="rId21"/>
    <p:sldId id="5839" r:id="rId22"/>
    <p:sldId id="5825" r:id="rId23"/>
    <p:sldId id="5813" r:id="rId24"/>
    <p:sldId id="5826" r:id="rId25"/>
    <p:sldId id="5827" r:id="rId26"/>
    <p:sldId id="5828" r:id="rId27"/>
    <p:sldId id="5840" r:id="rId28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9481"/>
    <a:srgbClr val="003C8B"/>
    <a:srgbClr val="D3EEE9"/>
    <a:srgbClr val="22809E"/>
    <a:srgbClr val="3C91A0"/>
    <a:srgbClr val="26599C"/>
    <a:srgbClr val="39B099"/>
    <a:srgbClr val="2A9195"/>
    <a:srgbClr val="ABCFFF"/>
    <a:srgbClr val="8F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4" autoAdjust="0"/>
    <p:restoredTop sz="95673" autoAdjust="0"/>
  </p:normalViewPr>
  <p:slideViewPr>
    <p:cSldViewPr snapToGrid="0">
      <p:cViewPr varScale="1">
        <p:scale>
          <a:sx n="139" d="100"/>
          <a:sy n="139" d="100"/>
        </p:scale>
        <p:origin x="192" y="272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  <a:pPr/>
              <a:t>2026/1/11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160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2225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CCFE-E0DF-BF40-EADB-671E7880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F87F63-6F58-0B70-B870-AE053C32D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9562BB-CF97-7294-968E-1F6DB2F83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5F1283-9940-A650-AC69-4B102B7FD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960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4900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D7F32-EC18-1FF6-5A0B-5DD9DCA4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7D084-81EB-60D7-1123-F3C44E738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45548-5342-CA73-7E25-03E0A7566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70F7-C356-EE2E-B14E-0D27E4B37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5334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199E-6A5B-D910-64DE-CFAB3FA3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AADFAB-4DB5-5148-9304-17EFB503A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577655-8C22-013C-42DE-35D4A3815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309FFD-6040-0DF0-849A-C788146EA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334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3918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185C-D597-C6D4-7F92-8919688F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86EFD0-10F6-E478-641E-3E7F06B36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337977-03A3-E251-6178-1B0DD21F8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AAA48B-FF1B-FBB6-641E-149E3D3B4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782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5581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7613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6F3A-95DA-3731-3A6C-BE096DCC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C2C77C-DF5D-5E7A-E508-C71CC1E58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EFF4C5-AB43-47C3-932B-2F6DB5D96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14BF4D-4AEB-BBF8-4157-2ACE6F816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8424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698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DD87D-A0A8-679A-5615-EC828C0C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AD2BE-71CA-DB36-13EE-2DDECF5C5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ECF2B-3DDA-8C6B-B28D-8995702D5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02551-F9E2-7FEB-83AB-905AF2399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449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2247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B85C-A10C-AEB9-421C-7094D9A6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54B9E-346C-0E4E-634F-D16BA771F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AC1D5-8A4F-6E98-C9F9-3924876A9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1EB154-F01A-FFCA-B81F-C6E51C131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925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9EAA07-E697-40D7-9B4C-DED97E80C504}"/>
              </a:ext>
            </a:extLst>
          </p:cNvPr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>
              <a:extLst>
                <a:ext uri="{FF2B5EF4-FFF2-40B4-BE49-F238E27FC236}">
                  <a16:creationId xmlns:a16="http://schemas.microsoft.com/office/drawing/2014/main" id="{6D693256-420F-4470-B78D-BE117AE6132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/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D3B3D05-7960-46B2-AD2E-A1C8DE6E54E4}"/>
                </a:ext>
              </a:extLst>
            </p:cNvPr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5D9E4CE-05C7-4131-AC4A-CED947263467}"/>
              </a:ext>
            </a:extLst>
          </p:cNvPr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>
              <a:extLst>
                <a:ext uri="{FF2B5EF4-FFF2-40B4-BE49-F238E27FC236}">
                  <a16:creationId xmlns:a16="http://schemas.microsoft.com/office/drawing/2014/main" id="{F6EDE2FB-178C-4F3A-8B11-E18F75714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/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1407E76-57C9-48CD-94F6-D6DA47102ABC}"/>
                </a:ext>
              </a:extLst>
            </p:cNvPr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451A1DE-90FF-427E-B017-EDB6E98D55DD}"/>
              </a:ext>
            </a:extLst>
          </p:cNvPr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BC41291-1270-4CBE-BC52-E45AE164A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7CE139-EFEB-45FA-8E8F-5E3150FA4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3E0E6AB-E84A-4E27-A635-0D6A39EA284E}"/>
              </a:ext>
            </a:extLst>
          </p:cNvPr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19AACD1-60BE-43F8-B461-70D9A8DD29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/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>
              <a:extLst>
                <a:ext uri="{FF2B5EF4-FFF2-40B4-BE49-F238E27FC236}">
                  <a16:creationId xmlns:a16="http://schemas.microsoft.com/office/drawing/2014/main" id="{F3AD4E9C-1699-4F94-8FEE-F4C74D5C8F7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B5D9A12-04E6-43DC-953B-C989A3BF940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/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2A1C601-418B-4083-83FF-4219910229E7}"/>
              </a:ext>
            </a:extLst>
          </p:cNvPr>
          <p:cNvCxnSpPr>
            <a:cxnSpLocks/>
          </p:cNvCxnSpPr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E6AEBB7-FF16-4664-AA6F-C0ED51A50BE2}"/>
              </a:ext>
            </a:extLst>
          </p:cNvPr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710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FF93673-81D4-4510-B7F2-C9D7B603E913}"/>
              </a:ext>
            </a:extLst>
          </p:cNvPr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39C8A2F-9F5C-4E4B-885B-13BEBE68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A3F34-DC46-46B5-8D23-0D60C5F47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5237265"/>
          </a:xfrm>
          <a:prstGeom prst="rect">
            <a:avLst/>
          </a:prstGeom>
        </p:spPr>
        <p:txBody>
          <a:bodyPr/>
          <a:lstStyle>
            <a:lvl1pPr marL="324000" indent="-324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00" indent="-360000">
              <a:lnSpc>
                <a:spcPct val="100000"/>
              </a:lnSpc>
              <a:spcBef>
                <a:spcPts val="576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6000" indent="-32400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6000" indent="-28800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2000" indent="-28800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1350A0-F497-4964-A7FF-F6AB1DCE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4322" y="6536805"/>
            <a:ext cx="965902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fld id="{49694AC3-6159-4530-81F2-715F87DA755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BD49979-46B7-4B2B-9BAD-1E552E47BA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/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B0A2F01-D85D-4D28-8692-E9D3DFD97D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/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113B536-E296-465C-89C1-B9AF60C6418A}"/>
              </a:ext>
            </a:extLst>
          </p:cNvPr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43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>
            <a:extLst>
              <a:ext uri="{FF2B5EF4-FFF2-40B4-BE49-F238E27FC236}">
                <a16:creationId xmlns:a16="http://schemas.microsoft.com/office/drawing/2014/main" id="{F6EDE2FB-178C-4F3A-8B11-E18F757147B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/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>
            <a:extLst>
              <a:ext uri="{FF2B5EF4-FFF2-40B4-BE49-F238E27FC236}">
                <a16:creationId xmlns:a16="http://schemas.microsoft.com/office/drawing/2014/main" id="{6D693256-420F-4470-B78D-BE117AE6132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/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4D3B3D05-7960-46B2-AD2E-A1C8DE6E54E4}"/>
              </a:ext>
            </a:extLst>
          </p:cNvPr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0096C9D-01CB-404C-9E2D-61C239FCACB8}"/>
              </a:ext>
            </a:extLst>
          </p:cNvPr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1D96CD2A-015C-4BF9-8186-A0B14A093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825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FA6756-0B3B-4678-AD9D-E49F68C973BB}"/>
              </a:ext>
            </a:extLst>
          </p:cNvPr>
          <p:cNvSpPr txBox="1"/>
          <p:nvPr userDrawn="1"/>
        </p:nvSpPr>
        <p:spPr>
          <a:xfrm>
            <a:off x="0" y="0"/>
            <a:ext cx="118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alpha val="0"/>
                  </a:schemeClr>
                </a:solidFill>
              </a:rPr>
              <a:t>Yingjie Qi</a:t>
            </a:r>
            <a:endParaRPr lang="zh-CN" altLang="en-US" dirty="0">
              <a:solidFill>
                <a:schemeClr val="tx1">
                  <a:alpha val="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08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54601-1969-4A9C-972D-F31E32088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93236"/>
            <a:ext cx="12192000" cy="15273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5400" dirty="0"/>
              <a:t>顶点</a:t>
            </a:r>
            <a:r>
              <a:rPr lang="zh-CN" altLang="en-US" sz="5400"/>
              <a:t>课程期末答辩</a:t>
            </a:r>
            <a:endParaRPr lang="zh-CN" altLang="en-US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789571-8941-42DB-96F4-25310877FC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600" dirty="0"/>
              <a:t>杨荣津</a:t>
            </a:r>
            <a:endParaRPr lang="en-US" altLang="zh-CN" sz="3600" dirty="0"/>
          </a:p>
          <a:p>
            <a:r>
              <a:rPr lang="en-US" altLang="zh-CN" sz="2800" dirty="0"/>
              <a:t>2026 </a:t>
            </a:r>
            <a:r>
              <a:rPr lang="zh-CN" altLang="en-US" sz="2800" dirty="0"/>
              <a:t>年 </a:t>
            </a:r>
            <a:r>
              <a:rPr lang="en-US" altLang="zh-CN" sz="2800" dirty="0"/>
              <a:t>1 </a:t>
            </a:r>
            <a:r>
              <a:rPr lang="zh-CN" altLang="en-US" sz="2800" dirty="0"/>
              <a:t>月 </a:t>
            </a:r>
            <a:r>
              <a:rPr lang="en-US" altLang="zh-CN" sz="2800" dirty="0"/>
              <a:t>8 </a:t>
            </a:r>
            <a:r>
              <a:rPr lang="zh-CN" altLang="en-US" sz="2800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81629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A0178-7B86-501B-7469-896C3DA3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2D3EE-946C-C1DA-78B7-A5E35B05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ECA4A5-935E-613A-140A-EBE9B87D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6EE6A8A-C7D7-25B5-7F9F-4ACAA1987EBD}"/>
              </a:ext>
            </a:extLst>
          </p:cNvPr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3F1C9DB-29B5-1D72-C00C-C9726D8B2C82}"/>
                </a:ext>
              </a:extLst>
            </p:cNvPr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0078B09-1EFF-C9E2-A9FE-853349D93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DEDE963-26A3-0B79-82CC-1A935500D702}"/>
                  </a:ext>
                </a:extLst>
              </p:cNvPr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1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研究背景与意义</a:t>
                </a: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3F47A06-F619-FBC1-9891-1A82D8BD0A36}"/>
                </a:ext>
              </a:extLst>
            </p:cNvPr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1E1136E-E21A-7BF4-766F-7A55D99118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65E3016-246B-ED9F-23D5-638F4DDBDE86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C6604D3-17E8-BDE9-A7E5-6F484510446D}"/>
                </a:ext>
              </a:extLst>
            </p:cNvPr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5CFC945F-D5F8-D022-708E-451ACFC0B2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E527CA-8D86-CA78-B101-DC6F4DB81245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A6A99AC-E26F-2121-586B-F098D0BDBB54}"/>
                </a:ext>
              </a:extLst>
            </p:cNvPr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7173A4F3-2DFD-9E42-AA29-8A2A957AB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27D60E-E4B6-C6B5-E598-2DFD6AA720EE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F34E105-CA05-EB05-62CF-F0FA7A10CBBF}"/>
                </a:ext>
              </a:extLst>
            </p:cNvPr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9CFBBC3-3C0A-8849-9320-03084E3C83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0EA4B58-62F9-520E-CF10-D5821F88B7CD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304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BF81-F090-07B0-0B4C-C9512102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11FA-DCD1-1A39-8F05-90F50C4E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研究背景与意义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66834-52DE-DAA0-95FB-33D255FEA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7885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技术背景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大语言模型用于对话生成、知识问答等场景展现出强大能力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主流部署方式依赖云端服务器</a:t>
            </a:r>
            <a:br>
              <a:rPr lang="en-US" altLang="zh-CN" b="1" dirty="0"/>
            </a:br>
            <a:r>
              <a:rPr lang="zh-CN" altLang="en-US" sz="2000" b="1" dirty="0"/>
              <a:t>网络依赖：</a:t>
            </a:r>
            <a:r>
              <a:rPr lang="zh-CN" altLang="en-US" sz="2000" dirty="0"/>
              <a:t>需要持续联网传输数据，在弱网或断网环境下难以使用</a:t>
            </a:r>
            <a:br>
              <a:rPr lang="en-US" altLang="zh-CN" sz="2000" dirty="0"/>
            </a:br>
            <a:r>
              <a:rPr lang="zh-CN" altLang="en-US" sz="2000" b="1" dirty="0"/>
              <a:t>隐私风险：</a:t>
            </a:r>
            <a:r>
              <a:rPr lang="zh-CN" altLang="en-US" sz="2000" dirty="0"/>
              <a:t>用户输入的数据需上传云端，存在数据泄露隐患</a:t>
            </a:r>
            <a:br>
              <a:rPr lang="en-US" altLang="zh-CN" sz="2000" dirty="0"/>
            </a:br>
            <a:r>
              <a:rPr lang="zh-CN" altLang="en-US" sz="2000" b="1" dirty="0"/>
              <a:t>资源消耗：</a:t>
            </a:r>
            <a:r>
              <a:rPr lang="zh-CN" altLang="en-US" sz="2000" dirty="0"/>
              <a:t>云端推理需要大量服务器算力支持，规模化应用成本较高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77848-006D-029C-083A-03C0F23D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8DE9C-21A5-E29F-6724-6C483DD2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339" y="4627958"/>
            <a:ext cx="2757046" cy="1527745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C2370F-AB22-DD33-8667-3240772BB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617" y="4627957"/>
            <a:ext cx="2653093" cy="1527745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43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E20E-1195-5E28-B14C-2F3BECCA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C7C0-0554-8EEA-321D-0B673067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研究背景与意义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BC7A-388C-A964-88FC-6DABE9C78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7885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技术背景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端侧部署：</a:t>
            </a:r>
            <a:r>
              <a:rPr lang="zh-CN" altLang="en-US" sz="2000" dirty="0"/>
              <a:t>安卓设备全球用户基数最大的移动终端，端侧大模型部署具有极高的实用价值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两大技术瓶颈</a:t>
            </a:r>
            <a:br>
              <a:rPr lang="en-US" altLang="zh-CN" b="1" dirty="0"/>
            </a:br>
            <a:r>
              <a:rPr lang="zh-CN" altLang="en-US" sz="2000" b="1" dirty="0"/>
              <a:t>硬件限制：</a:t>
            </a:r>
            <a:r>
              <a:rPr lang="zh-CN" altLang="en-US" sz="2000" dirty="0"/>
              <a:t>多数安卓设备内存与算力有限，无法直接运行</a:t>
            </a:r>
            <a:r>
              <a:rPr lang="en-US" altLang="zh-CN" sz="2000" dirty="0"/>
              <a:t>GB</a:t>
            </a:r>
            <a:r>
              <a:rPr lang="zh-CN" altLang="en-US" sz="2000" dirty="0"/>
              <a:t>级原始模型</a:t>
            </a:r>
            <a:br>
              <a:rPr lang="en-US" altLang="zh-CN" sz="2000" b="1" dirty="0"/>
            </a:br>
            <a:r>
              <a:rPr lang="zh-CN" altLang="en-US" sz="2000" b="1" dirty="0"/>
              <a:t>框架适配：</a:t>
            </a:r>
            <a:r>
              <a:rPr lang="zh-CN" altLang="en-US" sz="2000" dirty="0"/>
              <a:t>主流大模型推理框架对安卓端支持不足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22DA0-268E-725B-9BFA-55A2FF76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BE8B6-28B2-FB2C-D934-8E8943DC3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288" y="4209913"/>
            <a:ext cx="3293424" cy="1828739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145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35F2-8013-D2DA-F2EB-444EE0F4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15D1-0C15-F007-0C00-FF365239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研究背景与意义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9D97-6B5A-D97C-7577-E45C10C3A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55097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项目意义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技术落地价值：</a:t>
            </a:r>
            <a:br>
              <a:rPr lang="en-US" altLang="zh-CN" b="1" dirty="0"/>
            </a:br>
            <a:r>
              <a:rPr lang="zh-CN" altLang="en-US" sz="2000" dirty="0"/>
              <a:t>探索</a:t>
            </a:r>
            <a:r>
              <a:rPr lang="en-US" altLang="zh-CN" sz="2000" dirty="0"/>
              <a:t>llama.cpp </a:t>
            </a:r>
            <a:r>
              <a:rPr lang="zh-CN" altLang="en-US" sz="2000" dirty="0"/>
              <a:t>框架在安卓端的适配方案</a:t>
            </a:r>
            <a:br>
              <a:rPr lang="en-US" altLang="zh-CN" sz="2000" dirty="0"/>
            </a:br>
            <a:r>
              <a:rPr lang="zh-CN" altLang="en-US" sz="2000" dirty="0"/>
              <a:t>解决模型量化、跨语言调用等关键问题，为同类端侧大模型项目提供参考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用户体验提升：</a:t>
            </a:r>
            <a:br>
              <a:rPr lang="en-US" altLang="zh-CN" b="1" dirty="0"/>
            </a:br>
            <a:r>
              <a:rPr lang="zh-CN" altLang="en-US" sz="2000" dirty="0"/>
              <a:t>开发的</a:t>
            </a:r>
            <a:r>
              <a:rPr lang="en-US" altLang="zh-CN" sz="2000" dirty="0"/>
              <a:t>LlamaBot </a:t>
            </a:r>
            <a:r>
              <a:rPr lang="zh-CN" altLang="en-US" sz="2000" dirty="0"/>
              <a:t>应用支持本地推理</a:t>
            </a:r>
            <a:br>
              <a:rPr lang="en-US" altLang="zh-CN" sz="2000" dirty="0"/>
            </a:br>
            <a:r>
              <a:rPr lang="zh-CN" altLang="en-US" sz="2000" dirty="0"/>
              <a:t>无需联网即可实现对话交互，降低隐私风险的同时提升使用灵活性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资源优化价值：</a:t>
            </a:r>
            <a:br>
              <a:rPr lang="en-US" altLang="zh-CN" b="1" dirty="0"/>
            </a:br>
            <a:r>
              <a:rPr lang="zh-CN" altLang="en-US" sz="2000" dirty="0"/>
              <a:t>通过模型量化与</a:t>
            </a:r>
            <a:r>
              <a:rPr lang="en-US" altLang="zh-CN" sz="2000" dirty="0"/>
              <a:t>KV-Cache </a:t>
            </a:r>
            <a:r>
              <a:rPr lang="zh-CN" altLang="en-US" sz="2000" dirty="0"/>
              <a:t>量化优化，将模型体积压缩至</a:t>
            </a:r>
            <a:r>
              <a:rPr lang="en-US" altLang="zh-CN" sz="2000" dirty="0"/>
              <a:t>1~2GB </a:t>
            </a:r>
            <a:r>
              <a:rPr lang="zh-CN" altLang="en-US" sz="2000" dirty="0"/>
              <a:t>，适配中低端安卓设备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7747-D560-8D9A-A69D-6E18055A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FFC8B-2AA0-9D6D-08C8-E6969B53B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375" y="4057651"/>
            <a:ext cx="821608" cy="83486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972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0511F-D371-FF72-F943-E872BF6E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595DC-BCD0-B9A0-D5A2-504C67FA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9E0CB-96A9-46CE-ED63-812A2A11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6E42341-A495-6404-34AF-A464A459BE24}"/>
              </a:ext>
            </a:extLst>
          </p:cNvPr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B2AD7DF-2F3F-AF31-C697-08357A994DC3}"/>
                </a:ext>
              </a:extLst>
            </p:cNvPr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BE904CF-E894-EE4B-AAC0-DA53304909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971FF0-7505-0CDE-3FB8-0A24EFBCFB31}"/>
                  </a:ext>
                </a:extLst>
              </p:cNvPr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9D75AFF3-E3BB-8EF1-BF04-07A3E85C6766}"/>
                </a:ext>
              </a:extLst>
            </p:cNvPr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87F82D7-274A-F097-B911-CF4439FF7B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5087616-C491-FD75-4827-66619E6F6B02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2</a:t>
                </a:r>
                <a:r>
                  <a:rPr lang="en-US" altLang="zh-CN" sz="2800" b="1" dirty="0"/>
                  <a:t>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FAB0CD8-C19A-F4A4-4E61-082836E88916}"/>
                </a:ext>
              </a:extLst>
            </p:cNvPr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5287877B-4A04-5C37-8A35-4D4126581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A2EBBB8-B518-0CDE-619A-ABAF42A0A45B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9F6A377-A97E-2ABF-E73C-DF528798DCDB}"/>
                </a:ext>
              </a:extLst>
            </p:cNvPr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744B73AD-4D1D-C201-5164-FB884A771F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BFF27EC-8022-2F07-57CD-F429955B3B40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1404730-0B09-ED7E-12D5-B816ADC3A391}"/>
                </a:ext>
              </a:extLst>
            </p:cNvPr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6302802F-A855-A2A9-0B64-753D58F42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7062495-AE9B-067E-63A9-CF540B6D27C7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607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6435-69F5-EE51-72F9-2CAD4AFA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B5BC-754D-B26F-7171-10A8BF30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研究目标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6D46D-D53D-E77E-31AE-9EEDFC71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49118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核心研究目标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模型部署目标：</a:t>
            </a:r>
            <a:r>
              <a:rPr lang="zh-CN" altLang="en-US" sz="2000" dirty="0"/>
              <a:t>完成 </a:t>
            </a:r>
            <a:r>
              <a:rPr lang="en-US" altLang="zh-CN" sz="2000" dirty="0"/>
              <a:t>Llama2</a:t>
            </a:r>
            <a:r>
              <a:rPr lang="zh-CN" altLang="en-US" sz="2000" dirty="0"/>
              <a:t>、</a:t>
            </a:r>
            <a:r>
              <a:rPr lang="en-US" altLang="zh-CN" sz="2000" dirty="0"/>
              <a:t>Qwen3 </a:t>
            </a:r>
            <a:r>
              <a:rPr lang="zh-CN" altLang="en-US" sz="2000" dirty="0"/>
              <a:t>两款主流自回归大语言模型的安卓端量化部署，实现模型本地下载、加载与推理，摆脱云端依赖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性能优化目标：</a:t>
            </a:r>
            <a:r>
              <a:rPr lang="zh-CN" altLang="en-US" sz="2000" dirty="0"/>
              <a:t>突破安卓设备硬件限制与框架适配瓶颈，通过模型量化、</a:t>
            </a:r>
            <a:r>
              <a:rPr lang="en-US" altLang="zh-CN" sz="2000" dirty="0"/>
              <a:t>KV-Cache </a:t>
            </a:r>
            <a:r>
              <a:rPr lang="zh-CN" altLang="en-US" sz="2000" dirty="0"/>
              <a:t>量化优化等技术，降低内存占用并提升推理速度，适配中低端安卓设备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应用开发目标：</a:t>
            </a:r>
            <a:r>
              <a:rPr lang="zh-CN" altLang="en-US" sz="2000" dirty="0"/>
              <a:t>开发功能完善的 </a:t>
            </a:r>
            <a:r>
              <a:rPr lang="en-US" altLang="zh-CN" sz="2000" dirty="0"/>
              <a:t>LlamaBot </a:t>
            </a:r>
            <a:r>
              <a:rPr lang="zh-CN" altLang="en-US" sz="2000" dirty="0"/>
              <a:t>交互应用，支持文本</a:t>
            </a:r>
            <a:r>
              <a:rPr lang="en-US" altLang="zh-CN" sz="2000" dirty="0"/>
              <a:t>/</a:t>
            </a:r>
            <a:r>
              <a:rPr lang="zh-CN" altLang="en-US" sz="2000" dirty="0"/>
              <a:t>本地语音输入、实时对话生成等核心功能，同时保障用户隐私安全与使用灵活性。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81C5-271C-3DC0-615E-790C6793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52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46F1A-3616-05C3-EB88-2588EE8D1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EFD9-3C2E-1CBD-3853-07A7BA30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研究目标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F4E7F-00AF-61A6-3B87-692D211C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56944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技术路线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框架适配 → 模型优化 → 应用开发 → 策略迭代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框架适配：</a:t>
            </a:r>
            <a:r>
              <a:rPr lang="zh-CN" altLang="en-US" sz="2000" dirty="0"/>
              <a:t>基于 </a:t>
            </a:r>
            <a:r>
              <a:rPr lang="en-US" altLang="zh-CN" sz="2000" dirty="0"/>
              <a:t>llama.cpp </a:t>
            </a:r>
            <a:r>
              <a:rPr lang="zh-CN" altLang="en-US" sz="2000" dirty="0"/>
              <a:t>框架，通过 </a:t>
            </a:r>
            <a:r>
              <a:rPr lang="en-US" altLang="zh-CN" sz="2000" dirty="0"/>
              <a:t>Android NDK </a:t>
            </a:r>
            <a:r>
              <a:rPr lang="zh-CN" altLang="en-US" sz="2000" dirty="0"/>
              <a:t>编译生成安卓兼容</a:t>
            </a:r>
            <a:r>
              <a:rPr lang="en-US" altLang="zh-CN" sz="2000" dirty="0"/>
              <a:t>.so </a:t>
            </a:r>
            <a:r>
              <a:rPr lang="zh-CN" altLang="en-US" sz="2000" dirty="0"/>
              <a:t>库，适配 </a:t>
            </a:r>
            <a:r>
              <a:rPr lang="en-US" altLang="zh-CN" sz="2000" dirty="0"/>
              <a:t>ARM64-v8a </a:t>
            </a:r>
            <a:r>
              <a:rPr lang="zh-CN" altLang="en-US" sz="2000" dirty="0"/>
              <a:t>架构，解决跨平台调用问题。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模型优化：</a:t>
            </a:r>
            <a:r>
              <a:rPr lang="zh-CN" altLang="en-US" sz="2000" dirty="0"/>
              <a:t>采用 </a:t>
            </a:r>
            <a:r>
              <a:rPr lang="en-US" altLang="zh-CN" sz="2000" dirty="0"/>
              <a:t>4bit/8bit</a:t>
            </a:r>
            <a:r>
              <a:rPr lang="zh-CN" altLang="en-US" sz="2000" dirty="0"/>
              <a:t>量化压缩模型，结合 </a:t>
            </a:r>
            <a:r>
              <a:rPr lang="en-CN" altLang="zh-CN" sz="2000" dirty="0"/>
              <a:t>KV</a:t>
            </a:r>
            <a:r>
              <a:rPr lang="zh-CN" altLang="en-US" sz="2000" dirty="0"/>
              <a:t> </a:t>
            </a:r>
            <a:r>
              <a:rPr lang="en-US" altLang="zh-CN" sz="2000" dirty="0"/>
              <a:t>Cache</a:t>
            </a:r>
            <a:r>
              <a:rPr lang="zh-CN" altLang="en-US" sz="2000" dirty="0"/>
              <a:t>量化平衡性能与资源占用。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应用开发：</a:t>
            </a:r>
            <a:r>
              <a:rPr lang="zh-CN" altLang="en-US" sz="2000" dirty="0"/>
              <a:t>以 “</a:t>
            </a:r>
            <a:r>
              <a:rPr lang="en-US" altLang="zh-CN" sz="2000" dirty="0"/>
              <a:t>Kotlin </a:t>
            </a:r>
            <a:r>
              <a:rPr lang="zh-CN" altLang="en-US" sz="2000" dirty="0"/>
              <a:t>前端 </a:t>
            </a:r>
            <a:r>
              <a:rPr lang="en-US" altLang="zh-CN" sz="2000" dirty="0"/>
              <a:t>+ C++ </a:t>
            </a:r>
            <a:r>
              <a:rPr lang="zh-CN" altLang="en-US" sz="2000" dirty="0"/>
              <a:t>后端” 跨语言架构，通过 </a:t>
            </a:r>
            <a:r>
              <a:rPr lang="en-US" altLang="zh-CN" sz="2000" dirty="0"/>
              <a:t>JNI </a:t>
            </a:r>
            <a:r>
              <a:rPr lang="zh-CN" altLang="en-US" sz="2000" dirty="0"/>
              <a:t>实现层间调用，开发含模型下载、对话交互、主题适配的完整 </a:t>
            </a:r>
            <a:r>
              <a:rPr lang="en-US" altLang="zh-CN" sz="2000" dirty="0"/>
              <a:t>APP</a:t>
            </a:r>
            <a:r>
              <a:rPr lang="zh-CN" altLang="en-US" sz="2000" dirty="0"/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策略迭代：</a:t>
            </a:r>
            <a:r>
              <a:rPr lang="zh-CN" altLang="en-US" sz="2000" dirty="0"/>
              <a:t>集成 </a:t>
            </a:r>
            <a:r>
              <a:rPr lang="en-US" altLang="zh-CN" sz="2000" dirty="0"/>
              <a:t>Vosk </a:t>
            </a:r>
            <a:r>
              <a:rPr lang="zh-CN" altLang="en-US" sz="2000" dirty="0"/>
              <a:t>本地语音识别模型，完成性能测试与用户体验调优，形成技术方案。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877A7-12BA-2511-47EA-2A770B2B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BFD1F-5D8F-B4C1-78E2-E26A6A481C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4" t="4685" r="3281" b="20097"/>
          <a:stretch>
            <a:fillRect/>
          </a:stretch>
        </p:blipFill>
        <p:spPr>
          <a:xfrm>
            <a:off x="8392688" y="1130983"/>
            <a:ext cx="2544201" cy="1133806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312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D25B-9C77-0824-C62C-4B567E46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619C0-1CE3-D36F-8C6D-FBE09CC6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6E1F92-EA42-4FC3-9409-421C7A37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327A5A5-12F1-E30E-0C6B-0444947F955F}"/>
              </a:ext>
            </a:extLst>
          </p:cNvPr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54F2BE6-57CF-91D0-F2F6-3AC55F388D85}"/>
                </a:ext>
              </a:extLst>
            </p:cNvPr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3D5737D-0B0B-13A9-F3E7-1FDB4133D2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1818AF6-109A-3BF2-1E15-83BD16988753}"/>
                  </a:ext>
                </a:extLst>
              </p:cNvPr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3836B06-7967-71FD-D0E7-EE9732D390CB}"/>
                </a:ext>
              </a:extLst>
            </p:cNvPr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9D059B9-B6C4-A535-4FDD-72BB0E5C8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4450B4E-6357-1D3E-F989-5D019AD81B40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24347C6-2616-A0C4-54CE-18114F0AD112}"/>
                </a:ext>
              </a:extLst>
            </p:cNvPr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FB2A4FDA-F4C9-5D4B-AC14-8D5A584AA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93321D8-9FD9-55B6-CB53-F30AE3BE0773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3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技术实现方案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8FEE157-4F3C-A205-020A-1A815C9836C3}"/>
                </a:ext>
              </a:extLst>
            </p:cNvPr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9C799B9A-707D-7775-0DF9-354E5D0FE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9A800F6-A77E-EF22-DDD9-214479BD54D0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D13C301-D438-270D-7201-22995A247C30}"/>
                </a:ext>
              </a:extLst>
            </p:cNvPr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B1E9120-6C2B-6CD3-2171-BAE7AA313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8743FDF-5B4D-DC2E-324E-9D1CEEF92837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0989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8773-C4D5-FE5A-DE5B-0ED3F2C1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F8DA-D46D-AD65-4359-7DF54736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系统总体设计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4663-042A-A0C6-C22A-7BA3AD967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zh-CN" altLang="en-US" b="1" dirty="0"/>
              <a:t>核心架构图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B7200-34D8-BEAB-F44C-A813239B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3D91C9-4BB9-B56E-C096-5CDF40C2F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426" y="1747876"/>
            <a:ext cx="7772400" cy="428625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A5BEF4-7E7D-26D3-0E92-606CC06F375C}"/>
              </a:ext>
            </a:extLst>
          </p:cNvPr>
          <p:cNvSpPr/>
          <p:nvPr/>
        </p:nvSpPr>
        <p:spPr>
          <a:xfrm>
            <a:off x="5093436" y="3188677"/>
            <a:ext cx="553282" cy="23336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48F07E7-99C5-EBEC-7A4E-BB3B30DBE4C4}"/>
              </a:ext>
            </a:extLst>
          </p:cNvPr>
          <p:cNvSpPr/>
          <p:nvPr/>
        </p:nvSpPr>
        <p:spPr>
          <a:xfrm>
            <a:off x="2586842" y="3312319"/>
            <a:ext cx="583870" cy="29184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D63E3-95B5-4C5B-2C28-2127740D4776}"/>
              </a:ext>
            </a:extLst>
          </p:cNvPr>
          <p:cNvSpPr txBox="1"/>
          <p:nvPr/>
        </p:nvSpPr>
        <p:spPr>
          <a:xfrm>
            <a:off x="2586842" y="3273574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/>
              <a:t>(JNI)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184510B-5C2F-D6F4-B8DC-452EA3ACC5CC}"/>
              </a:ext>
            </a:extLst>
          </p:cNvPr>
          <p:cNvSpPr/>
          <p:nvPr/>
        </p:nvSpPr>
        <p:spPr>
          <a:xfrm>
            <a:off x="2397945" y="2227915"/>
            <a:ext cx="1049977" cy="26977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B69005-DE74-86DF-2DA8-B8653F97DB96}"/>
              </a:ext>
            </a:extLst>
          </p:cNvPr>
          <p:cNvSpPr txBox="1"/>
          <p:nvPr/>
        </p:nvSpPr>
        <p:spPr>
          <a:xfrm>
            <a:off x="2488840" y="2178136"/>
            <a:ext cx="86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/>
              <a:t>(Kotlin)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DC4C4F5-3B18-33B0-D7A2-8D7131EFAD72}"/>
              </a:ext>
            </a:extLst>
          </p:cNvPr>
          <p:cNvSpPr/>
          <p:nvPr/>
        </p:nvSpPr>
        <p:spPr>
          <a:xfrm>
            <a:off x="5951580" y="5290019"/>
            <a:ext cx="989267" cy="5409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2ECB5-C6DC-0398-F054-987ADD219A68}"/>
              </a:ext>
            </a:extLst>
          </p:cNvPr>
          <p:cNvSpPr txBox="1"/>
          <p:nvPr/>
        </p:nvSpPr>
        <p:spPr>
          <a:xfrm>
            <a:off x="5994538" y="539119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/>
              <a:t>效率优化</a:t>
            </a:r>
          </a:p>
        </p:txBody>
      </p:sp>
    </p:spTree>
    <p:extLst>
      <p:ext uri="{BB962C8B-B14F-4D97-AF65-F5344CB8AC3E}">
        <p14:creationId xmlns:p14="http://schemas.microsoft.com/office/powerpoint/2010/main" val="395804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BFE7-119E-F028-26D2-D9435D454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AA86-240F-E9E8-6C32-A03C6565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80E6-B034-680E-DCE2-6854CB197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52942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框架适配实现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编译工具：</a:t>
            </a:r>
            <a:br>
              <a:rPr lang="en-US" altLang="zh-CN" b="1" dirty="0"/>
            </a:br>
            <a:r>
              <a:rPr lang="zh-CN" altLang="en-US" sz="2000" dirty="0"/>
              <a:t>采用 </a:t>
            </a:r>
            <a:r>
              <a:rPr lang="en-US" altLang="zh-CN" sz="2000" dirty="0"/>
              <a:t>Android NDK</a:t>
            </a:r>
            <a:r>
              <a:rPr lang="zh-CN" altLang="en-US" sz="2000" dirty="0"/>
              <a:t>，通过 </a:t>
            </a:r>
            <a:r>
              <a:rPr lang="en-US" altLang="zh-CN" sz="2000" dirty="0"/>
              <a:t>CMakeLists.txt </a:t>
            </a:r>
            <a:r>
              <a:rPr lang="zh-CN" altLang="en-US" sz="2000" dirty="0"/>
              <a:t>配置编译选项（指定 </a:t>
            </a:r>
            <a:r>
              <a:rPr lang="en-US" altLang="zh-CN" sz="2000" dirty="0"/>
              <a:t>ARM64-v8a </a:t>
            </a:r>
            <a:r>
              <a:rPr lang="zh-CN" altLang="en-US" sz="2000" dirty="0"/>
              <a:t>架构、</a:t>
            </a:r>
            <a:r>
              <a:rPr lang="en-US" altLang="zh-CN" sz="2000" dirty="0"/>
              <a:t>C++17 </a:t>
            </a:r>
            <a:r>
              <a:rPr lang="zh-CN" altLang="en-US" sz="2000" dirty="0"/>
              <a:t>标准），将 </a:t>
            </a:r>
            <a:r>
              <a:rPr lang="en-US" altLang="zh-CN" sz="2000" dirty="0"/>
              <a:t>llama.cpp </a:t>
            </a:r>
            <a:r>
              <a:rPr lang="zh-CN" altLang="en-US" sz="2000" dirty="0"/>
              <a:t>源码编译为 </a:t>
            </a:r>
            <a:r>
              <a:rPr lang="en-US" altLang="zh-CN" sz="2000" dirty="0"/>
              <a:t>libggml.so</a:t>
            </a:r>
            <a:r>
              <a:rPr lang="zh-CN" altLang="en-US" sz="2000" dirty="0"/>
              <a:t>、</a:t>
            </a:r>
            <a:r>
              <a:rPr lang="en-US" altLang="zh-CN" sz="2000" dirty="0"/>
              <a:t>libllama.so </a:t>
            </a:r>
            <a:r>
              <a:rPr lang="zh-CN" altLang="en-US" sz="2000" dirty="0"/>
              <a:t>等安卓兼容动态库；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跨层调用：</a:t>
            </a:r>
            <a:br>
              <a:rPr lang="en-US" altLang="zh-CN" b="1" dirty="0"/>
            </a:br>
            <a:r>
              <a:rPr lang="zh-CN" altLang="en-US" sz="2000" dirty="0"/>
              <a:t>通过 </a:t>
            </a:r>
            <a:r>
              <a:rPr lang="en-US" altLang="zh-CN" sz="2000" dirty="0"/>
              <a:t>JNI </a:t>
            </a:r>
            <a:r>
              <a:rPr lang="zh-CN" altLang="en-US" sz="2000" dirty="0"/>
              <a:t>构建 </a:t>
            </a:r>
            <a:r>
              <a:rPr lang="en-US" altLang="zh-CN" sz="2000" dirty="0"/>
              <a:t>LlamaAndroid </a:t>
            </a:r>
            <a:r>
              <a:rPr lang="zh-CN" altLang="en-US" sz="2000" dirty="0"/>
              <a:t>中间类，封装模型加载、对话请求、资源释放三大核心接口，实现 </a:t>
            </a:r>
            <a:r>
              <a:rPr lang="en-US" altLang="zh-CN" sz="2000" dirty="0"/>
              <a:t>Kotlin </a:t>
            </a:r>
            <a:r>
              <a:rPr lang="zh-CN" altLang="en-US" sz="2000" dirty="0"/>
              <a:t>前端与 </a:t>
            </a:r>
            <a:r>
              <a:rPr lang="en-US" altLang="zh-CN" sz="2000" dirty="0"/>
              <a:t>C++ </a:t>
            </a:r>
            <a:r>
              <a:rPr lang="zh-CN" altLang="en-US" sz="2000" dirty="0"/>
              <a:t>后端的高效通信。</a:t>
            </a:r>
            <a:endParaRPr lang="en-US" altLang="zh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6EA93-5815-29C5-879C-34BFA576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257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5A277-58DB-60EA-2AB7-98E6A7F5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19C3-C04C-88EC-924C-388FB291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4F6D-2D84-C9FB-C35E-6F317334F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51550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模型优化关键实现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量化方案：</a:t>
            </a:r>
            <a:br>
              <a:rPr lang="en-US" altLang="zh-CN" b="1" dirty="0"/>
            </a:br>
            <a:r>
              <a:rPr lang="zh-CN" altLang="en-US" sz="2000" dirty="0"/>
              <a:t>采用 </a:t>
            </a:r>
            <a:r>
              <a:rPr lang="en-US" altLang="zh-CN" sz="2000" dirty="0"/>
              <a:t>GGUF </a:t>
            </a:r>
            <a:r>
              <a:rPr lang="zh-CN" altLang="en-US" sz="2000" dirty="0"/>
              <a:t>格式量化，</a:t>
            </a:r>
            <a:r>
              <a:rPr lang="en-US" altLang="zh-CN" sz="2000" dirty="0"/>
              <a:t>Llama2</a:t>
            </a:r>
            <a:r>
              <a:rPr lang="zh-CN" altLang="en-US" sz="2000" dirty="0"/>
              <a:t>（</a:t>
            </a:r>
            <a:r>
              <a:rPr lang="en-US" altLang="zh-CN" sz="2000" dirty="0"/>
              <a:t>1.1B</a:t>
            </a:r>
            <a:r>
              <a:rPr lang="zh-CN" altLang="en-US" sz="2000" dirty="0"/>
              <a:t>）经 </a:t>
            </a:r>
            <a:r>
              <a:rPr lang="en-US" altLang="zh-CN" sz="2000" dirty="0"/>
              <a:t>8bit</a:t>
            </a:r>
            <a:r>
              <a:rPr lang="zh-CN" altLang="en-US" sz="2000" dirty="0"/>
              <a:t>量化后体积 </a:t>
            </a:r>
            <a:r>
              <a:rPr lang="en-US" altLang="zh-CN" sz="2000" dirty="0"/>
              <a:t>1.17GB</a:t>
            </a:r>
            <a:r>
              <a:rPr lang="zh-CN" altLang="en-US" sz="2000" dirty="0"/>
              <a:t>，</a:t>
            </a:r>
            <a:r>
              <a:rPr lang="en-US" altLang="zh-CN" sz="2000" dirty="0"/>
              <a:t>Qwen3</a:t>
            </a:r>
            <a:r>
              <a:rPr lang="zh-CN" altLang="en-US" sz="2000" dirty="0"/>
              <a:t>（</a:t>
            </a:r>
            <a:r>
              <a:rPr lang="en-US" altLang="zh-CN" sz="2000" dirty="0"/>
              <a:t>4B</a:t>
            </a:r>
            <a:r>
              <a:rPr lang="zh-CN" altLang="en-US" sz="2000" dirty="0"/>
              <a:t>）经 </a:t>
            </a:r>
            <a:r>
              <a:rPr lang="en-US" altLang="zh-CN" sz="2000" dirty="0"/>
              <a:t>4bit </a:t>
            </a:r>
            <a:r>
              <a:rPr lang="zh-CN" altLang="en-US" sz="2000" dirty="0"/>
              <a:t>量化后体积 </a:t>
            </a:r>
            <a:r>
              <a:rPr lang="en-US" altLang="zh-CN" sz="2000" dirty="0"/>
              <a:t>2.38GB</a:t>
            </a:r>
            <a:r>
              <a:rPr lang="zh-CN" altLang="en-US" sz="2000" dirty="0"/>
              <a:t>，平衡精度与资源占用；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/>
              <a:t>KV-Cache </a:t>
            </a:r>
            <a:r>
              <a:rPr lang="zh-CN" altLang="en-US" b="1" dirty="0"/>
              <a:t>优化：</a:t>
            </a:r>
            <a:br>
              <a:rPr lang="en-US" altLang="zh-CN" b="1" dirty="0"/>
            </a:br>
            <a:r>
              <a:rPr lang="zh-CN" altLang="en-US" sz="2000" dirty="0"/>
              <a:t>放弃开发成本过高的 </a:t>
            </a:r>
            <a:r>
              <a:rPr lang="en-US" altLang="zh-CN" sz="2000" dirty="0"/>
              <a:t>DynamicKV </a:t>
            </a:r>
            <a:r>
              <a:rPr lang="zh-CN" altLang="en-US" sz="2000" dirty="0"/>
              <a:t>策略，改用 </a:t>
            </a:r>
            <a:r>
              <a:rPr lang="en-US" altLang="zh-CN" sz="2000" dirty="0"/>
              <a:t>KV-Cache </a:t>
            </a:r>
            <a:r>
              <a:rPr lang="zh-CN" altLang="en-US" sz="2000" dirty="0"/>
              <a:t>量化方案，在不大幅修改 </a:t>
            </a:r>
            <a:r>
              <a:rPr lang="en-US" altLang="zh-CN" sz="2000" dirty="0"/>
              <a:t>llama.cpp </a:t>
            </a:r>
            <a:r>
              <a:rPr lang="zh-CN" altLang="en-US" sz="2000" dirty="0"/>
              <a:t>源码的前提下，进一步降低缓存内存占用，提升推理速度。</a:t>
            </a:r>
            <a:endParaRPr lang="en-US" altLang="zh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585AE-BA8D-8195-B09B-E48CA73B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4565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9F92-029D-A8AA-3686-60EA59059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199E-C936-EF1C-578A-5BC429E2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41B0-D89A-EDD6-FFEA-50E878873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51351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应用功能实现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交互优化：</a:t>
            </a:r>
            <a:br>
              <a:rPr lang="en-US" altLang="zh-CN" b="1" dirty="0"/>
            </a:br>
            <a:r>
              <a:rPr lang="zh-CN" altLang="en-US" sz="2000" dirty="0"/>
              <a:t>对话页面基于 </a:t>
            </a:r>
            <a:r>
              <a:rPr lang="en-US" altLang="zh-CN" sz="2000" dirty="0"/>
              <a:t>LazyListState </a:t>
            </a:r>
            <a:r>
              <a:rPr lang="zh-CN" altLang="en-US" sz="2000" dirty="0"/>
              <a:t>实现消息自动滚动，输入文本实时触发模型本地推理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语音识别：</a:t>
            </a:r>
            <a:br>
              <a:rPr lang="en-US" altLang="zh-CN" b="1" dirty="0"/>
            </a:br>
            <a:r>
              <a:rPr lang="zh-CN" altLang="en-US" sz="2000" dirty="0"/>
              <a:t>集成 </a:t>
            </a:r>
            <a:r>
              <a:rPr lang="en-US" altLang="zh-CN" sz="2000" dirty="0"/>
              <a:t>Vosk </a:t>
            </a:r>
            <a:r>
              <a:rPr lang="zh-CN" altLang="en-US" sz="2000" dirty="0"/>
              <a:t>本地语音模型（几十 </a:t>
            </a:r>
            <a:r>
              <a:rPr lang="en-US" altLang="zh-CN" sz="2000" dirty="0"/>
              <a:t>MB </a:t>
            </a:r>
            <a:r>
              <a:rPr lang="zh-CN" altLang="en-US" sz="2000" dirty="0"/>
              <a:t>体积打包进 </a:t>
            </a:r>
            <a:r>
              <a:rPr lang="en-US" altLang="zh-CN" sz="2000" dirty="0"/>
              <a:t>APK</a:t>
            </a:r>
            <a:r>
              <a:rPr lang="zh-CN" altLang="en-US" sz="2000" dirty="0"/>
              <a:t>），替代不可用的 </a:t>
            </a:r>
            <a:r>
              <a:rPr lang="en-US" altLang="zh-CN" sz="2000" dirty="0"/>
              <a:t>Google </a:t>
            </a:r>
            <a:r>
              <a:rPr lang="zh-CN" altLang="en-US" sz="2000" dirty="0"/>
              <a:t>系统语音服务，实现 “语音输入→本地识别→文本生成” 全流程本地闭环。</a:t>
            </a:r>
            <a:endParaRPr lang="en-US" altLang="zh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7763F-D77C-3018-E760-CE50330B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9A1B5-7A6F-B569-9140-242FFA08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4796153"/>
            <a:ext cx="5448300" cy="11938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86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A664-2199-2AB5-2270-58F7F330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09D5-36F7-E42C-E4CC-C1009FF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项目进展路线图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3F28D-E932-3CD1-A164-4B88ADBA6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pPr algn="just"/>
            <a:r>
              <a:rPr lang="zh-CN" altLang="en-US" b="1" dirty="0"/>
              <a:t>项目进展路线图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7223-654B-358D-BDDF-321CD962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CFB77-872A-12D3-94A0-815425B27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99128"/>
            <a:ext cx="7772400" cy="2202313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92EB1-EF26-3B59-37B5-53BBF03F30BC}"/>
              </a:ext>
            </a:extLst>
          </p:cNvPr>
          <p:cNvSpPr txBox="1">
            <a:spLocks/>
          </p:cNvSpPr>
          <p:nvPr/>
        </p:nvSpPr>
        <p:spPr>
          <a:xfrm>
            <a:off x="612656" y="4152131"/>
            <a:ext cx="2131450" cy="1824066"/>
          </a:xfrm>
          <a:prstGeom prst="rect">
            <a:avLst/>
          </a:prstGeom>
        </p:spPr>
        <p:txBody>
          <a:bodyPr/>
          <a:lstStyle>
            <a:lvl1pPr marL="324000" indent="-32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6000" indent="-324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6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2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参考形式确定技术路线</a:t>
            </a:r>
            <a:endParaRPr lang="en-US" altLang="zh-CN" sz="1250" dirty="0"/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完成</a:t>
            </a:r>
            <a:r>
              <a:rPr lang="en-US" altLang="zh-CN" sz="1250" dirty="0"/>
              <a:t>llama.cpp</a:t>
            </a:r>
            <a:r>
              <a:rPr lang="zh-CN" altLang="en-US" sz="1250" dirty="0"/>
              <a:t>框架</a:t>
            </a:r>
            <a:r>
              <a:rPr lang="en-US" altLang="zh-CN" sz="1250" dirty="0"/>
              <a:t>/</a:t>
            </a:r>
            <a:r>
              <a:rPr lang="zh-CN" altLang="en-US" sz="1250" dirty="0"/>
              <a:t>安卓 </a:t>
            </a:r>
            <a:r>
              <a:rPr lang="en-US" altLang="zh-CN" sz="1250" dirty="0"/>
              <a:t>NDK/</a:t>
            </a:r>
            <a:r>
              <a:rPr lang="zh-CN" altLang="en-US" sz="1250" dirty="0"/>
              <a:t>模型选型调研</a:t>
            </a:r>
            <a:endParaRPr lang="en-US" altLang="zh-CN" sz="1250" dirty="0"/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阅读</a:t>
            </a:r>
            <a:r>
              <a:rPr lang="en-US" altLang="zh-CN" sz="1250" dirty="0"/>
              <a:t>DynamicKV</a:t>
            </a:r>
            <a:r>
              <a:rPr lang="zh-CN" altLang="en-US" sz="1250" dirty="0"/>
              <a:t>相关论文</a:t>
            </a:r>
            <a:endParaRPr lang="en-US" altLang="zh-CN" sz="125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894F40-2B3E-9E72-2CDC-8566A7ADDB70}"/>
              </a:ext>
            </a:extLst>
          </p:cNvPr>
          <p:cNvSpPr txBox="1">
            <a:spLocks/>
          </p:cNvSpPr>
          <p:nvPr/>
        </p:nvSpPr>
        <p:spPr>
          <a:xfrm>
            <a:off x="2827945" y="4152131"/>
            <a:ext cx="2131450" cy="1644203"/>
          </a:xfrm>
          <a:prstGeom prst="rect">
            <a:avLst/>
          </a:prstGeom>
        </p:spPr>
        <p:txBody>
          <a:bodyPr/>
          <a:lstStyle>
            <a:lvl1pPr marL="324000" indent="-32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6000" indent="-324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6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2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完成</a:t>
            </a:r>
            <a:r>
              <a:rPr lang="en-US" altLang="zh-CN" sz="1250" dirty="0"/>
              <a:t>llama.cpp</a:t>
            </a:r>
            <a:r>
              <a:rPr lang="zh-CN" altLang="en-US" sz="1250" dirty="0"/>
              <a:t>安卓端编译适配，生成</a:t>
            </a:r>
            <a:r>
              <a:rPr lang="en-US" altLang="zh-CN" sz="1250" dirty="0"/>
              <a:t>.so</a:t>
            </a:r>
            <a:r>
              <a:rPr lang="zh-CN" altLang="en-US" sz="1250" dirty="0"/>
              <a:t>库</a:t>
            </a:r>
            <a:endParaRPr lang="en-US" altLang="zh-CN" sz="1250" dirty="0"/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实现</a:t>
            </a:r>
            <a:r>
              <a:rPr lang="en-US" altLang="zh-CN" sz="1250" dirty="0"/>
              <a:t>Llama2/Qwen3</a:t>
            </a:r>
            <a:r>
              <a:rPr lang="zh-CN" altLang="en-US" sz="1250" dirty="0"/>
              <a:t>模型量化与</a:t>
            </a:r>
            <a:r>
              <a:rPr lang="en-US" altLang="zh-CN" sz="1250" dirty="0"/>
              <a:t>adb</a:t>
            </a:r>
            <a:r>
              <a:rPr lang="zh-CN" altLang="en-US" sz="1250" dirty="0"/>
              <a:t>推理测试</a:t>
            </a:r>
            <a:endParaRPr lang="en-US" altLang="zh-CN" sz="125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19C7169-665B-EFF8-ACAB-01CBBD680C4F}"/>
              </a:ext>
            </a:extLst>
          </p:cNvPr>
          <p:cNvSpPr txBox="1">
            <a:spLocks/>
          </p:cNvSpPr>
          <p:nvPr/>
        </p:nvSpPr>
        <p:spPr>
          <a:xfrm>
            <a:off x="5043234" y="4152131"/>
            <a:ext cx="2131450" cy="1357710"/>
          </a:xfrm>
          <a:prstGeom prst="rect">
            <a:avLst/>
          </a:prstGeom>
        </p:spPr>
        <p:txBody>
          <a:bodyPr/>
          <a:lstStyle>
            <a:lvl1pPr marL="324000" indent="-32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6000" indent="-324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6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2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学习安卓开发基础，基于 </a:t>
            </a:r>
            <a:r>
              <a:rPr lang="en-US" altLang="zh-CN" sz="1250" dirty="0"/>
              <a:t>Kotlin+Jetpack Compose </a:t>
            </a:r>
            <a:r>
              <a:rPr lang="zh-CN" altLang="en-US" sz="1250" dirty="0"/>
              <a:t>实现</a:t>
            </a:r>
            <a:r>
              <a:rPr lang="en-US" altLang="zh-CN" sz="1250" dirty="0"/>
              <a:t>APP</a:t>
            </a:r>
            <a:r>
              <a:rPr lang="zh-CN" altLang="en-US" sz="1250" dirty="0"/>
              <a:t>前端</a:t>
            </a:r>
            <a:r>
              <a:rPr lang="en-US" altLang="zh-CN" sz="1250" dirty="0"/>
              <a:t>UI</a:t>
            </a:r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通过 </a:t>
            </a:r>
            <a:r>
              <a:rPr lang="en-US" altLang="zh-CN" sz="1250" dirty="0"/>
              <a:t>JNI </a:t>
            </a:r>
            <a:r>
              <a:rPr lang="zh-CN" altLang="en-US" sz="1250" dirty="0"/>
              <a:t>打通前后端调用	</a:t>
            </a:r>
            <a:endParaRPr lang="en-US" altLang="zh-CN" sz="125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1069A6-27EF-4376-CFB9-E312D2BF4212}"/>
              </a:ext>
            </a:extLst>
          </p:cNvPr>
          <p:cNvSpPr txBox="1">
            <a:spLocks/>
          </p:cNvSpPr>
          <p:nvPr/>
        </p:nvSpPr>
        <p:spPr>
          <a:xfrm>
            <a:off x="7258523" y="4152131"/>
            <a:ext cx="2131450" cy="1644203"/>
          </a:xfrm>
          <a:prstGeom prst="rect">
            <a:avLst/>
          </a:prstGeom>
        </p:spPr>
        <p:txBody>
          <a:bodyPr/>
          <a:lstStyle>
            <a:lvl1pPr marL="324000" indent="-32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6000" indent="-324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6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2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开发模型下载</a:t>
            </a:r>
            <a:r>
              <a:rPr lang="en-US" altLang="zh-CN" sz="1250" dirty="0"/>
              <a:t>/</a:t>
            </a:r>
            <a:r>
              <a:rPr lang="zh-CN" altLang="en-US" sz="1250" dirty="0"/>
              <a:t>对话交互</a:t>
            </a:r>
            <a:r>
              <a:rPr lang="en-US" altLang="zh-CN" sz="1250" dirty="0"/>
              <a:t>/</a:t>
            </a:r>
            <a:r>
              <a:rPr lang="zh-CN" altLang="en-US" sz="1250" dirty="0"/>
              <a:t>主题适配功能</a:t>
            </a:r>
            <a:endParaRPr lang="en-US" altLang="zh-CN" sz="1250" dirty="0"/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集成</a:t>
            </a:r>
            <a:r>
              <a:rPr lang="en-US" altLang="zh-CN" sz="1250" dirty="0"/>
              <a:t>Vosk</a:t>
            </a:r>
            <a:r>
              <a:rPr lang="zh-CN" altLang="en-US" sz="1250" dirty="0"/>
              <a:t>本地语音识别</a:t>
            </a:r>
            <a:endParaRPr lang="en-US" altLang="zh-CN" sz="1250" dirty="0"/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完成</a:t>
            </a:r>
            <a:r>
              <a:rPr lang="en-US" altLang="zh-CN" sz="1250" dirty="0"/>
              <a:t>KV-Cache</a:t>
            </a:r>
            <a:r>
              <a:rPr lang="zh-CN" altLang="en-US" sz="1250" dirty="0"/>
              <a:t>量化优化</a:t>
            </a:r>
            <a:endParaRPr lang="en-US" altLang="zh-CN" sz="125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950B359-3F3C-AE3B-7FAF-48374949C7CE}"/>
              </a:ext>
            </a:extLst>
          </p:cNvPr>
          <p:cNvSpPr txBox="1">
            <a:spLocks/>
          </p:cNvSpPr>
          <p:nvPr/>
        </p:nvSpPr>
        <p:spPr>
          <a:xfrm>
            <a:off x="9473812" y="4152131"/>
            <a:ext cx="2131450" cy="1400842"/>
          </a:xfrm>
          <a:prstGeom prst="rect">
            <a:avLst/>
          </a:prstGeom>
        </p:spPr>
        <p:txBody>
          <a:bodyPr/>
          <a:lstStyle>
            <a:lvl1pPr marL="324000" indent="-32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6000" indent="-324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6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2000" indent="-28800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优化</a:t>
            </a:r>
            <a:r>
              <a:rPr lang="en-US" altLang="zh-CN" sz="1250" dirty="0"/>
              <a:t>UI</a:t>
            </a:r>
            <a:r>
              <a:rPr lang="zh-CN" altLang="en-US" sz="1250" dirty="0"/>
              <a:t>交互细节</a:t>
            </a:r>
            <a:endParaRPr lang="en-US" altLang="zh-CN" sz="1250" dirty="0"/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适配多分辨率安卓设备</a:t>
            </a:r>
            <a:endParaRPr lang="en-US" altLang="zh-CN" sz="1250" dirty="0"/>
          </a:p>
          <a:p>
            <a:pPr marL="0" lvl="1" indent="0">
              <a:lnSpc>
                <a:spcPct val="150000"/>
              </a:lnSpc>
            </a:pPr>
            <a:r>
              <a:rPr lang="zh-CN" altLang="en-US" sz="1250" dirty="0"/>
              <a:t>生成最终</a:t>
            </a:r>
            <a:r>
              <a:rPr lang="en-US" altLang="zh-CN" sz="1250" dirty="0"/>
              <a:t>APK</a:t>
            </a:r>
          </a:p>
        </p:txBody>
      </p:sp>
    </p:spTree>
    <p:extLst>
      <p:ext uri="{BB962C8B-B14F-4D97-AF65-F5344CB8AC3E}">
        <p14:creationId xmlns:p14="http://schemas.microsoft.com/office/powerpoint/2010/main" val="2123665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6434-0C64-085E-E685-6773F673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6DEF-DE61-6C0E-5537-049C8A67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项目分工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373A-08FC-8B60-6C2F-B8EDD1A0B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zh-CN" altLang="en-US" b="1" dirty="0"/>
              <a:t>小组分工情况</a:t>
            </a:r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E0F77-C664-D875-55F8-700A148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677001-9EFF-B330-6FCD-B394795C8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48781"/>
              </p:ext>
            </p:extLst>
          </p:nvPr>
        </p:nvGraphicFramePr>
        <p:xfrm>
          <a:off x="2032000" y="2185964"/>
          <a:ext cx="8127999" cy="2801672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879554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464145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33433729"/>
                    </a:ext>
                  </a:extLst>
                </a:gridCol>
              </a:tblGrid>
              <a:tr h="700418">
                <a:tc>
                  <a:txBody>
                    <a:bodyPr/>
                    <a:lstStyle/>
                    <a:p>
                      <a:pPr algn="ctr" fontAlgn="ctr"/>
                      <a:r>
                        <a:rPr lang="en-CN" sz="2000"/>
                        <a:t>成员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N" sz="2000"/>
                        <a:t>分工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N" sz="2000"/>
                        <a:t>工作量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759698"/>
                  </a:ext>
                </a:extLst>
              </a:tr>
              <a:tr h="7004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/>
                        <a:t>11</a:t>
                      </a:r>
                      <a:r>
                        <a:rPr lang="zh-CN" altLang="en-US" sz="2000"/>
                        <a:t>月的杨荣津</a:t>
                      </a:r>
                      <a:endParaRPr lang="en-C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N" sz="2000"/>
                        <a:t>部署</a:t>
                      </a:r>
                      <a:r>
                        <a:rPr lang="zh-CN" altLang="en-US" sz="2000"/>
                        <a:t>、开发</a:t>
                      </a:r>
                      <a:endParaRPr lang="en-C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/>
                        <a:t>35%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852909"/>
                  </a:ext>
                </a:extLst>
              </a:tr>
              <a:tr h="7004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/>
                        <a:t>12</a:t>
                      </a:r>
                      <a:r>
                        <a:rPr lang="zh-CN" altLang="en-US" sz="2000"/>
                        <a:t>月的杨荣津</a:t>
                      </a:r>
                      <a:endParaRPr lang="en-C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N" sz="2000"/>
                        <a:t>推理优化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/>
                        <a:t>55%</a:t>
                      </a:r>
                      <a:endParaRPr lang="en-C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029557"/>
                  </a:ext>
                </a:extLst>
              </a:tr>
              <a:tr h="7004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/>
                        <a:t>1</a:t>
                      </a:r>
                      <a:r>
                        <a:rPr lang="zh-CN" altLang="en-US" sz="2000"/>
                        <a:t>月的杨荣津</a:t>
                      </a:r>
                      <a:endParaRPr lang="en-US" altLang="zh-C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N" sz="2000"/>
                        <a:t>报告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/>
                        <a:t>10%</a:t>
                      </a:r>
                      <a:endParaRPr lang="en-C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837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697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B4DD3-D32D-A12E-A4A1-21D832F27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6C75C-19C6-2093-F710-4B2DAC9B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F76785-2D61-48E9-4663-2A122194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6C23FC-5ACD-6620-EB12-848401CEB578}"/>
              </a:ext>
            </a:extLst>
          </p:cNvPr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9941FA3-424E-9C41-9A24-A7FAE52AB600}"/>
                </a:ext>
              </a:extLst>
            </p:cNvPr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A78246A-7248-3EBE-1733-10D757CC5B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B3B63D-E343-C721-5FDB-7A642DBA2B43}"/>
                  </a:ext>
                </a:extLst>
              </p:cNvPr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5A21ADA-EEFF-4239-E26C-4CE493FBF89D}"/>
                </a:ext>
              </a:extLst>
            </p:cNvPr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B4742AF4-0F11-B69D-9AF6-C6B8C7320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77E4A23-40E2-22A1-CD5E-9C5896A16E6C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A9DEEA9-FC03-C62C-C6EA-8C946EDAC165}"/>
                </a:ext>
              </a:extLst>
            </p:cNvPr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472378A3-B493-1F4B-35B9-111CF8FF08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E4ACA15-4AD5-E74E-AF20-97C0E5578B2B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2051BAF-A85B-B10C-1D21-3571DDE275CB}"/>
                </a:ext>
              </a:extLst>
            </p:cNvPr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AA22D499-ED0D-058E-F60B-55384D365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7AEB1A-F118-7C9A-A606-F42EBA18313A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4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实验与成果展示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B29A31D-A113-EA06-C72F-7A66377A7092}"/>
                </a:ext>
              </a:extLst>
            </p:cNvPr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B5B3A155-4849-2D60-24E8-F263C03307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CA9C51-89C0-E1B5-B590-800D7274A5D2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3724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8F62B-D8F2-372E-6853-405B35D3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5A9D-E779-920A-4919-C48CBE2F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实验方案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EF5D-F822-5EE9-6F9E-5958986A0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项目实验环境与准备过程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硬件平台：</a:t>
            </a:r>
            <a:r>
              <a:rPr lang="en-US" altLang="zh-CN" sz="2000" dirty="0"/>
              <a:t>Apple M1 GPU (Unified Memory)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推理框架：</a:t>
            </a:r>
            <a:r>
              <a:rPr lang="en-US" altLang="zh-CN" sz="2000" dirty="0"/>
              <a:t>llama.cpp (Metal backend, GGUF v3)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Batch size</a:t>
            </a:r>
            <a:r>
              <a:rPr lang="zh-CN" altLang="en-US" b="1" dirty="0"/>
              <a:t>：</a:t>
            </a:r>
            <a:r>
              <a:rPr lang="en-US" altLang="zh-CN" sz="2000" dirty="0"/>
              <a:t>1 sequence × 512 tokens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测试方式：</a:t>
            </a:r>
            <a:r>
              <a:rPr lang="en-US" altLang="zh-CN" sz="2000" dirty="0"/>
              <a:t>Prompt Prefill (pp512), Text Generation (tg128)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EA1F7-6561-3926-F7D8-A28A02B5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8720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40A0D-EEBA-7375-8EA6-D4E6221A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AAF2-77C3-DDA0-95FF-28A458FD0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实验结果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E3B52-B370-1324-F8FC-782448905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9939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本节介绍项目的具体实验结果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延迟（</a:t>
            </a:r>
            <a:r>
              <a:rPr lang="en-US" altLang="zh-CN" b="1" dirty="0"/>
              <a:t>ms / token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360000" lvl="1" indent="0">
              <a:lnSpc>
                <a:spcPct val="150000"/>
              </a:lnSpc>
              <a:buNone/>
            </a:pPr>
            <a:endParaRPr lang="en-US" altLang="zh-CN" b="1" dirty="0"/>
          </a:p>
          <a:p>
            <a:pPr marL="360000" lvl="1" indent="0">
              <a:lnSpc>
                <a:spcPct val="150000"/>
              </a:lnSpc>
              <a:buNone/>
            </a:pP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峰值内存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17D9F-43B5-1E81-A0D4-FC24EEAE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48479" y="5649595"/>
            <a:ext cx="965902" cy="295932"/>
          </a:xfrm>
        </p:spPr>
        <p:txBody>
          <a:bodyPr/>
          <a:lstStyle/>
          <a:p>
            <a:pPr algn="ctr"/>
            <a:fld id="{49694AC3-6159-4530-81F2-715F87DA7557}" type="slidenum">
              <a:rPr lang="zh-CN" altLang="en-US" sz="2200" smtClean="0"/>
              <a:pPr algn="ctr"/>
              <a:t>18</a:t>
            </a:fld>
            <a:endParaRPr lang="zh-CN" altLang="en-US" sz="2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3B799D-E513-F3EB-4C19-0DE6B13D1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228205"/>
              </p:ext>
            </p:extLst>
          </p:nvPr>
        </p:nvGraphicFramePr>
        <p:xfrm>
          <a:off x="1399855" y="2395888"/>
          <a:ext cx="9709725" cy="14833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941945">
                  <a:extLst>
                    <a:ext uri="{9D8B030D-6E8A-4147-A177-3AD203B41FA5}">
                      <a16:colId xmlns:a16="http://schemas.microsoft.com/office/drawing/2014/main" val="1515250520"/>
                    </a:ext>
                  </a:extLst>
                </a:gridCol>
                <a:gridCol w="1941945">
                  <a:extLst>
                    <a:ext uri="{9D8B030D-6E8A-4147-A177-3AD203B41FA5}">
                      <a16:colId xmlns:a16="http://schemas.microsoft.com/office/drawing/2014/main" val="199028243"/>
                    </a:ext>
                  </a:extLst>
                </a:gridCol>
                <a:gridCol w="1941945">
                  <a:extLst>
                    <a:ext uri="{9D8B030D-6E8A-4147-A177-3AD203B41FA5}">
                      <a16:colId xmlns:a16="http://schemas.microsoft.com/office/drawing/2014/main" val="1678641016"/>
                    </a:ext>
                  </a:extLst>
                </a:gridCol>
                <a:gridCol w="1941945">
                  <a:extLst>
                    <a:ext uri="{9D8B030D-6E8A-4147-A177-3AD203B41FA5}">
                      <a16:colId xmlns:a16="http://schemas.microsoft.com/office/drawing/2014/main" val="2973720151"/>
                    </a:ext>
                  </a:extLst>
                </a:gridCol>
                <a:gridCol w="1941945">
                  <a:extLst>
                    <a:ext uri="{9D8B030D-6E8A-4147-A177-3AD203B41FA5}">
                      <a16:colId xmlns:a16="http://schemas.microsoft.com/office/drawing/2014/main" val="1771803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pp速度</a:t>
                      </a:r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t</a:t>
                      </a:r>
                      <a:r>
                        <a:rPr lang="en-CN" sz="1600"/>
                        <a:t>okens/s</a:t>
                      </a:r>
                      <a:r>
                        <a:rPr lang="zh-CN" altLang="en-US" sz="1600"/>
                        <a:t>）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延迟</a:t>
                      </a:r>
                      <a:r>
                        <a:rPr lang="zh-CN" altLang="en-US" sz="1600"/>
                        <a:t>（</a:t>
                      </a:r>
                      <a:r>
                        <a:rPr lang="en-CN" sz="1600"/>
                        <a:t>ms/token</a:t>
                      </a:r>
                      <a:r>
                        <a:rPr lang="zh-CN" altLang="en-US" sz="1600"/>
                        <a:t>）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tg速度</a:t>
                      </a:r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tokens/s</a:t>
                      </a:r>
                      <a:r>
                        <a:rPr lang="zh-CN" altLang="en-US" sz="1600"/>
                        <a:t>）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延迟</a:t>
                      </a:r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ms/token</a:t>
                      </a:r>
                      <a:r>
                        <a:rPr lang="zh-CN" altLang="en-US" sz="1600"/>
                        <a:t>）</a:t>
                      </a:r>
                      <a:endParaRPr lang="en-C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202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792.02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1.26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68.17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14.7</a:t>
                      </a:r>
                      <a:endParaRPr lang="en-C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88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799.53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1.25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70.56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14.2</a:t>
                      </a:r>
                      <a:endParaRPr lang="en-C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50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811.13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1.23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72.60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13.7</a:t>
                      </a:r>
                      <a:endParaRPr lang="en-C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00963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4BECD1-CCFA-965E-036E-D011755FD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409142"/>
              </p:ext>
            </p:extLst>
          </p:nvPr>
        </p:nvGraphicFramePr>
        <p:xfrm>
          <a:off x="1399855" y="4575407"/>
          <a:ext cx="9709725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6814">
                  <a:extLst>
                    <a:ext uri="{9D8B030D-6E8A-4147-A177-3AD203B41FA5}">
                      <a16:colId xmlns:a16="http://schemas.microsoft.com/office/drawing/2014/main" val="3903281494"/>
                    </a:ext>
                  </a:extLst>
                </a:gridCol>
                <a:gridCol w="4282153">
                  <a:extLst>
                    <a:ext uri="{9D8B030D-6E8A-4147-A177-3AD203B41FA5}">
                      <a16:colId xmlns:a16="http://schemas.microsoft.com/office/drawing/2014/main" val="193776537"/>
                    </a:ext>
                  </a:extLst>
                </a:gridCol>
                <a:gridCol w="4320758">
                  <a:extLst>
                    <a:ext uri="{9D8B030D-6E8A-4147-A177-3AD203B41FA5}">
                      <a16:colId xmlns:a16="http://schemas.microsoft.com/office/drawing/2014/main" val="3446516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pp阶段</a:t>
                      </a:r>
                      <a:r>
                        <a:rPr lang="en-US" altLang="zh-CN" sz="1600" b="1" dirty="0"/>
                        <a:t>llama_kv_cache: Metal KV buffer size </a:t>
                      </a:r>
                      <a:endParaRPr lang="en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tg阶段</a:t>
                      </a:r>
                      <a:r>
                        <a:rPr lang="en-US" altLang="zh-CN" sz="1600" b="1" dirty="0"/>
                        <a:t>llama_kv_cache: Metal KV buffer size </a:t>
                      </a:r>
                      <a:endParaRPr lang="en-C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938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11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2.75 MiB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139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5.84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1.46 MiB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68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3.09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/>
                        <a:t>0.77 MiB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109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122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7F3F-3574-1519-A7B8-B24C6CA6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4291-C749-E059-5712-4A0001A9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实验结果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D837C-D2F4-C4A6-CF2E-26C475955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9939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使用演示</a:t>
            </a:r>
            <a:endParaRPr lang="en-US" altLang="zh-CN" b="1" dirty="0"/>
          </a:p>
        </p:txBody>
      </p:sp>
      <p:pic>
        <p:nvPicPr>
          <p:cNvPr id="5" name="video-1">
            <a:hlinkClick r:id="" action="ppaction://media"/>
            <a:extLst>
              <a:ext uri="{FF2B5EF4-FFF2-40B4-BE49-F238E27FC236}">
                <a16:creationId xmlns:a16="http://schemas.microsoft.com/office/drawing/2014/main" id="{437BD9A6-BDAF-C546-02E5-853180890E6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87540" y="1367338"/>
            <a:ext cx="1949773" cy="4337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video-2">
            <a:hlinkClick r:id="" action="ppaction://media"/>
            <a:extLst>
              <a:ext uri="{FF2B5EF4-FFF2-40B4-BE49-F238E27FC236}">
                <a16:creationId xmlns:a16="http://schemas.microsoft.com/office/drawing/2014/main" id="{162EEFD3-A142-D538-AA8A-E9A2FD45F64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54689" y="1367339"/>
            <a:ext cx="1949772" cy="4337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2D48BC-6919-A908-7830-F16456F4EFB2}"/>
              </a:ext>
            </a:extLst>
          </p:cNvPr>
          <p:cNvSpPr txBox="1"/>
          <p:nvPr/>
        </p:nvSpPr>
        <p:spPr>
          <a:xfrm>
            <a:off x="3133274" y="5844839"/>
            <a:ext cx="1058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>
                <a:latin typeface="+mn-ea"/>
              </a:rPr>
              <a:t>Llama</a:t>
            </a:r>
            <a:r>
              <a:rPr lang="en-US" altLang="zh-CN" sz="2000">
                <a:latin typeface="+mn-ea"/>
              </a:rPr>
              <a:t>2</a:t>
            </a:r>
            <a:endParaRPr lang="en-CN" sz="200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AF602-7329-DC79-A2C0-5671CA900D4C}"/>
              </a:ext>
            </a:extLst>
          </p:cNvPr>
          <p:cNvSpPr txBox="1"/>
          <p:nvPr/>
        </p:nvSpPr>
        <p:spPr>
          <a:xfrm>
            <a:off x="8005104" y="5844839"/>
            <a:ext cx="1048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>
                <a:latin typeface="+mn-ea"/>
              </a:rPr>
              <a:t>Qwen</a:t>
            </a:r>
            <a:r>
              <a:rPr lang="en-US" altLang="zh-CN" sz="2000">
                <a:latin typeface="+mn-ea"/>
              </a:rPr>
              <a:t>3</a:t>
            </a:r>
            <a:endParaRPr lang="en-CN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230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429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2ECA-86F4-D920-1810-ECE5995A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CEC1-706F-9675-2315-E9D274EF1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实验结果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5C32C-2328-3D63-BEE8-8C237398A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9939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语音转文本</a:t>
            </a:r>
            <a:endParaRPr lang="en-US" altLang="zh-CN" b="1" dirty="0"/>
          </a:p>
        </p:txBody>
      </p:sp>
      <p:pic>
        <p:nvPicPr>
          <p:cNvPr id="4" name="ed0b24a2c6b76e4d1731bc79a8561479">
            <a:hlinkClick r:id="" action="ppaction://media"/>
            <a:extLst>
              <a:ext uri="{FF2B5EF4-FFF2-40B4-BE49-F238E27FC236}">
                <a16:creationId xmlns:a16="http://schemas.microsoft.com/office/drawing/2014/main" id="{52D0B9A1-DFF6-5ABC-163A-9AF2010469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13856" y="1258207"/>
            <a:ext cx="2164287" cy="4826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105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C34F-40C8-C729-9751-A69A725F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F70E-783F-F27E-02B6-B8DDE016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实验结果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E7DEB-BCA1-E378-6DBA-3BC3B12AD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9939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两种主题</a:t>
            </a:r>
            <a:endParaRPr lang="en-US" altLang="zh-CN" b="1" dirty="0"/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AF82741-9DEF-4014-F56A-AC06DD5FF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932" y="1549400"/>
            <a:ext cx="2026292" cy="4508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1FCF6C1A-784C-94A6-94FB-93D72106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778" y="1549400"/>
            <a:ext cx="2026292" cy="4508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6194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BA38-FD07-4228-2803-F5E8B99B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1D6486F7-0A1B-A298-D85D-E30322C94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376" y="3882421"/>
            <a:ext cx="6011063" cy="22135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BF6428-4C6F-BB9C-42F8-D76AA2F0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目标达成情况对照表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C40A-B114-0F4B-2316-C4DF7CD96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50689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本节介绍项目对应的技术方案评级的完成情况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en-US" altLang="zh-CN" b="1" dirty="0"/>
              <a:t>✅</a:t>
            </a:r>
            <a:r>
              <a:rPr lang="zh-CN" altLang="en-US" b="1" dirty="0"/>
              <a:t>挑战性要求：</a:t>
            </a:r>
            <a:r>
              <a:rPr lang="zh-CN" altLang="en-US" sz="2000" b="1" dirty="0"/>
              <a:t>开发</a:t>
            </a:r>
            <a:r>
              <a:rPr lang="en-US" altLang="zh-CN" sz="2000" b="1" dirty="0"/>
              <a:t>LlamaBot</a:t>
            </a:r>
            <a:r>
              <a:rPr lang="zh-CN" altLang="en-US" sz="2000" dirty="0"/>
              <a:t>在手机设备上进行交互，并具有</a:t>
            </a:r>
            <a:r>
              <a:rPr lang="zh-CN" altLang="en-US" sz="2000" b="1" dirty="0"/>
              <a:t>语音识别功能（</a:t>
            </a:r>
            <a:r>
              <a:rPr lang="en-US" altLang="zh-CN" sz="2000" b="1" dirty="0"/>
              <a:t>100%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en-US" altLang="zh-CN" b="1" dirty="0"/>
              <a:t>✅</a:t>
            </a:r>
            <a:r>
              <a:rPr lang="zh-CN" altLang="en-US" b="1" dirty="0"/>
              <a:t>突破性要求：</a:t>
            </a:r>
            <a:r>
              <a:rPr lang="zh-CN" altLang="en-US" sz="2000" dirty="0"/>
              <a:t>在</a:t>
            </a:r>
            <a:r>
              <a:rPr lang="zh-CN" altLang="en-US" sz="2000" b="1" dirty="0"/>
              <a:t>小米</a:t>
            </a:r>
            <a:r>
              <a:rPr lang="en-US" altLang="zh-CN" sz="2000" b="1" dirty="0"/>
              <a:t>14</a:t>
            </a:r>
            <a:r>
              <a:rPr lang="zh-CN" altLang="en-US" sz="2000" dirty="0"/>
              <a:t>完成</a:t>
            </a:r>
            <a:r>
              <a:rPr lang="zh-CN" altLang="en-CN" sz="2000" dirty="0"/>
              <a:t>大语言</a:t>
            </a:r>
            <a:r>
              <a:rPr lang="zh-CN" altLang="en-US" sz="2000" dirty="0"/>
              <a:t>模型部署及推理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100%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en-US" altLang="zh-CN" b="1" dirty="0"/>
              <a:t>✅</a:t>
            </a:r>
            <a:r>
              <a:rPr lang="zh-CN" altLang="en-US" b="1" dirty="0"/>
              <a:t>进阶要求：</a:t>
            </a:r>
            <a:r>
              <a:rPr lang="zh-CN" altLang="en-US" sz="2000" dirty="0"/>
              <a:t>模型推理优化，</a:t>
            </a:r>
            <a:r>
              <a:rPr lang="zh-CN" altLang="en-US" sz="2000" b="1" dirty="0"/>
              <a:t>模型量化 </a:t>
            </a:r>
            <a:r>
              <a:rPr lang="en-US" altLang="zh-CN" sz="2000" dirty="0"/>
              <a:t>+</a:t>
            </a:r>
            <a:r>
              <a:rPr lang="zh-CN" altLang="en-US" sz="2000" dirty="0"/>
              <a:t> </a:t>
            </a:r>
            <a:r>
              <a:rPr lang="en-US" altLang="zh-CN" sz="2000" b="1" dirty="0"/>
              <a:t>KV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量化优化（</a:t>
            </a:r>
            <a:r>
              <a:rPr lang="en-US" altLang="zh-CN" sz="2000" b="1" dirty="0"/>
              <a:t>100%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en-US" altLang="zh-CN" b="1" dirty="0"/>
              <a:t>✅</a:t>
            </a:r>
            <a:r>
              <a:rPr lang="zh-CN" altLang="en-US" b="1" dirty="0"/>
              <a:t>基础要求：</a:t>
            </a:r>
            <a:r>
              <a:rPr lang="en-US" altLang="zh-CN" sz="2000" dirty="0"/>
              <a:t>GPU</a:t>
            </a:r>
            <a:r>
              <a:rPr lang="zh-CN" altLang="en-US" sz="2000" dirty="0"/>
              <a:t>平台大模型推理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100%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4E63A-5919-9648-547C-30539893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955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CB96-FBBE-9FEE-55A2-FD9094A8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60540-71DC-E11F-E2EF-A51129F8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77BF1C-A212-14BF-7EE8-6E779A6A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A9EB57C-9662-A3AA-21F8-2127A20A2AA8}"/>
              </a:ext>
            </a:extLst>
          </p:cNvPr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ACDB111-014A-4C97-4625-81A72F8B0ABE}"/>
                </a:ext>
              </a:extLst>
            </p:cNvPr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DD8AE41-EE33-617A-5B57-30EF06550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17B3C2C-E1E0-90BE-77E4-B1B2573E7F67}"/>
                  </a:ext>
                </a:extLst>
              </p:cNvPr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141D8D4-4952-AB7B-2AC4-FC1C13A8FC3E}"/>
                </a:ext>
              </a:extLst>
            </p:cNvPr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917F193-2F87-F68D-BCE8-06700F2E4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EC445FF-EEB5-ADDB-9830-82439FE6016D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E33F05A-CF31-56FA-2DDA-9A6042CF5C4D}"/>
                </a:ext>
              </a:extLst>
            </p:cNvPr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E6218A74-C2C9-3C4A-AC44-158375624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52A503A-8A67-6EF8-E9C5-4D8335DD75B1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5A94C9A-C558-6B7E-63BE-EDB1F0E5D5C8}"/>
                </a:ext>
              </a:extLst>
            </p:cNvPr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C88ED47E-8BFF-6428-0BE8-B6B81550C1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CB70BE2-E96D-40B3-0389-C19483F41A57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663F74B-8942-F468-F0B1-5A6B7271E70A}"/>
                </a:ext>
              </a:extLst>
            </p:cNvPr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CD7E04B-79CA-3EEB-C2B5-7C7392DF8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F647D52-C512-5BEF-8BE7-005B09BA8AC2}"/>
                  </a:ext>
                </a:extLst>
              </p:cNvPr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5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总结与讨论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1712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D28C-430E-58AF-CBA4-833AE005B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90FD-8B3D-78F6-4139-A4B214D6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总结与展望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F308-F17D-47F5-5AE6-49E60143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276387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本节对课题进行总结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创新性：</a:t>
            </a:r>
            <a:r>
              <a:rPr lang="zh-CN" altLang="en-US" sz="2000" dirty="0"/>
              <a:t>轻量化部署方案创新、</a:t>
            </a:r>
            <a:r>
              <a:rPr lang="en-US" altLang="zh-CN" sz="2000" dirty="0"/>
              <a:t>KV-Cache </a:t>
            </a:r>
            <a:r>
              <a:rPr lang="zh-CN" altLang="en-US" sz="2000" dirty="0"/>
              <a:t>优化适配创新、全流程本地交互创新、跨层架构复用创新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局限性：</a:t>
            </a:r>
            <a:r>
              <a:rPr lang="zh-CN" altLang="en-US" sz="2000" dirty="0"/>
              <a:t>硬件适配范围有限、推理速度仍有优化空间、语音识别精度待提升、模型能力依赖基础模型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收获：</a:t>
            </a:r>
            <a:r>
              <a:rPr lang="zh-CN" altLang="en-US" sz="2000" dirty="0"/>
              <a:t>技术能力提升、工程实践经验、问题解决思维、产品思维培养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未来可继续探索的方向：</a:t>
            </a:r>
            <a:r>
              <a:rPr lang="zh-CN" altLang="en-US" sz="2000" dirty="0"/>
              <a:t>硬件适配拓展、推理性能深度优化、模型能力升级与扩展、动态</a:t>
            </a:r>
            <a:r>
              <a:rPr lang="en-US" altLang="zh-CN" sz="2000" dirty="0"/>
              <a:t>KV</a:t>
            </a:r>
            <a:r>
              <a:rPr lang="zh-CN" altLang="en-US" sz="2000" dirty="0"/>
              <a:t> </a:t>
            </a:r>
            <a:r>
              <a:rPr lang="en-US" altLang="zh-CN" sz="2000" dirty="0"/>
              <a:t>Cache</a:t>
            </a:r>
            <a:r>
              <a:rPr lang="zh-CN" altLang="en-US" sz="2000" dirty="0"/>
              <a:t>优化策略落地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A28D-C43E-00D8-9327-40C05773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8148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D28C-430E-58AF-CBA4-833AE005B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90FD-8B3D-78F6-4139-A4B214D6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相关课程支撑目标情况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F308-F17D-47F5-5AE6-49E60143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5054751"/>
          </a:xfrm>
        </p:spPr>
        <p:txBody>
          <a:bodyPr numCol="2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相关课程支撑目标情况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核心支撑课程与技术栈对应关系</a:t>
            </a:r>
            <a:br>
              <a:rPr lang="en-US" altLang="zh-CN" b="1" dirty="0"/>
            </a:br>
            <a:r>
              <a:rPr lang="zh-CN" altLang="en-US" sz="2000" b="1" dirty="0"/>
              <a:t>编程基础类课程：</a:t>
            </a:r>
            <a:r>
              <a:rPr lang="en-US" altLang="zh-CN" sz="2000" dirty="0"/>
              <a:t>C++ </a:t>
            </a:r>
            <a:r>
              <a:rPr lang="zh-CN" altLang="en-US" sz="2000" dirty="0"/>
              <a:t>程序设计、</a:t>
            </a:r>
            <a:r>
              <a:rPr lang="en-US" altLang="zh-CN" sz="2000" dirty="0"/>
              <a:t>Java </a:t>
            </a:r>
            <a:r>
              <a:rPr lang="zh-CN" altLang="en-US" sz="2000" dirty="0"/>
              <a:t>编程基础</a:t>
            </a:r>
            <a:br>
              <a:rPr lang="en-US" altLang="zh-CN" sz="2000" dirty="0"/>
            </a:br>
            <a:r>
              <a:rPr lang="zh-CN" altLang="en-US" sz="2000" b="1" dirty="0"/>
              <a:t>计算机系统类课程：</a:t>
            </a:r>
            <a:r>
              <a:rPr lang="zh-CN" altLang="en-US" sz="2000" dirty="0"/>
              <a:t>计算机组成原理、操作系统帮助理解安卓设备 </a:t>
            </a:r>
            <a:r>
              <a:rPr lang="en-US" altLang="zh-CN" sz="2000" dirty="0"/>
              <a:t>CPU </a:t>
            </a:r>
            <a:r>
              <a:rPr lang="zh-CN" altLang="en-US" sz="2000" dirty="0"/>
              <a:t>架构、内存管理机制</a:t>
            </a:r>
            <a:br>
              <a:rPr lang="en-US" altLang="zh-CN" sz="2000" dirty="0"/>
            </a:br>
            <a:r>
              <a:rPr lang="zh-CN" altLang="en-US" sz="2000" b="1" dirty="0"/>
              <a:t>移动开发类课程：</a:t>
            </a:r>
            <a:r>
              <a:rPr lang="en-US" altLang="zh-CN" sz="2000" dirty="0"/>
              <a:t>Android </a:t>
            </a:r>
            <a:r>
              <a:rPr lang="zh-CN" altLang="en-US" sz="2000" dirty="0"/>
              <a:t>应用开发课程</a:t>
            </a:r>
            <a:br>
              <a:rPr lang="en-US" altLang="zh-CN" sz="2000" dirty="0"/>
            </a:br>
            <a:r>
              <a:rPr lang="zh-CN" altLang="en-US" sz="2000" b="1" dirty="0"/>
              <a:t>人工智能类课程：</a:t>
            </a:r>
            <a:r>
              <a:rPr lang="zh-CN" altLang="en-US" sz="2000" dirty="0"/>
              <a:t>人工智能导论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000" b="1" dirty="0"/>
          </a:p>
          <a:p>
            <a:pPr lvl="1">
              <a:lnSpc>
                <a:spcPct val="150000"/>
              </a:lnSpc>
            </a:pPr>
            <a:endParaRPr lang="zh-CN" altLang="en-US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课程目标设计评价</a:t>
            </a:r>
            <a:br>
              <a:rPr lang="en-US" altLang="zh-CN" b="1" dirty="0"/>
            </a:br>
            <a:r>
              <a:rPr lang="zh-CN" altLang="en-US" sz="2000" b="1" dirty="0"/>
              <a:t>很好地体现了 “顶点课程” 的核心需求：</a:t>
            </a:r>
            <a:br>
              <a:rPr lang="en-US" altLang="zh-CN" sz="2000" b="1" dirty="0"/>
            </a:br>
            <a:r>
              <a:rPr lang="zh-CN" altLang="en-US" sz="2000" b="1" dirty="0"/>
              <a:t>综合性强：</a:t>
            </a:r>
            <a:r>
              <a:rPr lang="zh-CN" altLang="en-US" sz="2000" dirty="0"/>
              <a:t>融合移动开发、人工智能、跨语言编程、工程编译等多领域知识</a:t>
            </a:r>
            <a:br>
              <a:rPr lang="en-US" altLang="zh-CN" sz="2000" dirty="0"/>
            </a:br>
            <a:r>
              <a:rPr lang="zh-CN" altLang="en-US" sz="2000" b="1" dirty="0"/>
              <a:t>实践性突出：</a:t>
            </a:r>
            <a:r>
              <a:rPr lang="zh-CN" altLang="en-US" sz="2000" dirty="0"/>
              <a:t>以 “端侧大模型部署” 这问题为载体，检验了工程实践能力</a:t>
            </a:r>
            <a:br>
              <a:rPr lang="en-US" altLang="zh-CN" sz="2000" dirty="0"/>
            </a:br>
            <a:r>
              <a:rPr lang="zh-CN" altLang="en-US" sz="2000" b="1" dirty="0"/>
              <a:t>挑战性适配：</a:t>
            </a:r>
            <a:r>
              <a:rPr lang="zh-CN" altLang="en-US" sz="2000" dirty="0"/>
              <a:t>课题面临安卓硬件限制，需要探索解决方案</a:t>
            </a:r>
            <a:br>
              <a:rPr lang="en-US" altLang="zh-CN" sz="2000" dirty="0"/>
            </a:br>
            <a:r>
              <a:rPr lang="zh-CN" altLang="en-US" sz="2000" b="1" dirty="0"/>
              <a:t>价值导向明确：</a:t>
            </a:r>
            <a:r>
              <a:rPr lang="zh-CN" altLang="en-US" sz="2000" dirty="0"/>
              <a:t>项目聚焦 “隐私保护、轻量化部署” 实际需求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A28D-C43E-00D8-9327-40C05773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744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D28C-430E-58AF-CBA4-833AE005B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90FD-8B3D-78F6-4139-A4B214D6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课程建议与意见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F308-F17D-47F5-5AE6-49E60143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824451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b="1" dirty="0"/>
              <a:t>意见和建议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感谢助教和老师的辛苦付出，和精心编写的教程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针对端侧设备提供更多优化的方案</a:t>
            </a:r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A28D-C43E-00D8-9327-40C05773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6175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4CB15-FD51-EA99-A67C-8C868D60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F8F0-E043-CF13-2572-F0B426CD0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 结语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FAC49-9B53-C7FA-2E65-B714D8BDD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03" y="2614083"/>
            <a:ext cx="11235193" cy="2112641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CN" sz="7200" b="1" dirty="0">
                <a:latin typeface="SimSun" panose="02010600030101010101" pitchFamily="2" charset="-122"/>
                <a:ea typeface="SimSun" panose="02010600030101010101" pitchFamily="2" charset="-122"/>
              </a:rPr>
              <a:t>谢谢</a:t>
            </a:r>
            <a:r>
              <a:rPr lang="zh-CN" altLang="en-US" sz="7200" b="1" dirty="0">
                <a:latin typeface="SimSun" panose="02010600030101010101" pitchFamily="2" charset="-122"/>
                <a:ea typeface="SimSun" panose="02010600030101010101" pitchFamily="2" charset="-122"/>
              </a:rPr>
              <a:t>！</a:t>
            </a:r>
            <a:endParaRPr lang="en-US" altLang="zh-CN" sz="7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A4F03-157E-D49A-1648-7E9ACA74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9641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3490</TotalTime>
  <Words>1624</Words>
  <Application>Microsoft Macintosh PowerPoint</Application>
  <PresentationFormat>Widescreen</PresentationFormat>
  <Paragraphs>215</Paragraphs>
  <Slides>27</Slides>
  <Notes>14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微软雅黑</vt:lpstr>
      <vt:lpstr>SimSun</vt:lpstr>
      <vt:lpstr>Arial</vt:lpstr>
      <vt:lpstr>Calibri</vt:lpstr>
      <vt:lpstr>Wingdings</vt:lpstr>
      <vt:lpstr>Office 主题​​</vt:lpstr>
      <vt:lpstr>顶点课程期末答辩</vt:lpstr>
      <vt:lpstr>目录</vt:lpstr>
      <vt:lpstr>1 研究背景与意义</vt:lpstr>
      <vt:lpstr>1 研究背景与意义</vt:lpstr>
      <vt:lpstr>1 研究背景与意义</vt:lpstr>
      <vt:lpstr>目录</vt:lpstr>
      <vt:lpstr>2.1 研究目标 </vt:lpstr>
      <vt:lpstr>2.1 研究目标 </vt:lpstr>
      <vt:lpstr>目录</vt:lpstr>
      <vt:lpstr>3.1 系统总体设计</vt:lpstr>
      <vt:lpstr>3.2 系统具体实现</vt:lpstr>
      <vt:lpstr>3.2 系统具体实现</vt:lpstr>
      <vt:lpstr>3.2 系统具体实现</vt:lpstr>
      <vt:lpstr>3.3 项目进展路线图</vt:lpstr>
      <vt:lpstr>3.4 项目分工</vt:lpstr>
      <vt:lpstr>目录</vt:lpstr>
      <vt:lpstr>4.1 实验方案</vt:lpstr>
      <vt:lpstr>4.2 实验结果</vt:lpstr>
      <vt:lpstr>4.2 实验结果</vt:lpstr>
      <vt:lpstr>4.2 实验结果</vt:lpstr>
      <vt:lpstr>4.2 实验结果</vt:lpstr>
      <vt:lpstr>4.3 目标达成情况对照表</vt:lpstr>
      <vt:lpstr>目录</vt:lpstr>
      <vt:lpstr>5.1 总结与展望</vt:lpstr>
      <vt:lpstr>5.2 相关课程支撑目标情况</vt:lpstr>
      <vt:lpstr>5.3 课程建议与意见</vt:lpstr>
      <vt:lpstr>6. 结语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Yingjie Qi</dc:creator>
  <cp:lastModifiedBy>e99384</cp:lastModifiedBy>
  <cp:revision>731</cp:revision>
  <dcterms:created xsi:type="dcterms:W3CDTF">2021-12-28T08:11:42Z</dcterms:created>
  <dcterms:modified xsi:type="dcterms:W3CDTF">2026-01-10T19:21:56Z</dcterms:modified>
</cp:coreProperties>
</file>